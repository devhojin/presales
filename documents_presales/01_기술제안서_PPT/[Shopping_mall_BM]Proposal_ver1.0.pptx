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46"/>
  </p:notesMasterIdLst>
  <p:sldIdLst>
    <p:sldId id="1026" r:id="rId2"/>
    <p:sldId id="828" r:id="rId3"/>
    <p:sldId id="829" r:id="rId4"/>
    <p:sldId id="830" r:id="rId5"/>
    <p:sldId id="838" r:id="rId6"/>
    <p:sldId id="839" r:id="rId7"/>
    <p:sldId id="841" r:id="rId8"/>
    <p:sldId id="842" r:id="rId9"/>
    <p:sldId id="748" r:id="rId10"/>
    <p:sldId id="632" r:id="rId11"/>
    <p:sldId id="749" r:id="rId12"/>
    <p:sldId id="634" r:id="rId13"/>
    <p:sldId id="750" r:id="rId14"/>
    <p:sldId id="751" r:id="rId15"/>
    <p:sldId id="756" r:id="rId16"/>
    <p:sldId id="730" r:id="rId17"/>
    <p:sldId id="737" r:id="rId18"/>
    <p:sldId id="821" r:id="rId19"/>
    <p:sldId id="824" r:id="rId20"/>
    <p:sldId id="743" r:id="rId21"/>
    <p:sldId id="744" r:id="rId22"/>
    <p:sldId id="746" r:id="rId23"/>
    <p:sldId id="813" r:id="rId24"/>
    <p:sldId id="816" r:id="rId25"/>
    <p:sldId id="817" r:id="rId26"/>
    <p:sldId id="826" r:id="rId27"/>
    <p:sldId id="843" r:id="rId28"/>
    <p:sldId id="844" r:id="rId29"/>
    <p:sldId id="845" r:id="rId30"/>
    <p:sldId id="846" r:id="rId31"/>
    <p:sldId id="852" r:id="rId32"/>
    <p:sldId id="864" r:id="rId33"/>
    <p:sldId id="867" r:id="rId34"/>
    <p:sldId id="868" r:id="rId35"/>
    <p:sldId id="870" r:id="rId36"/>
    <p:sldId id="914" r:id="rId37"/>
    <p:sldId id="915" r:id="rId38"/>
    <p:sldId id="965" r:id="rId39"/>
    <p:sldId id="993" r:id="rId40"/>
    <p:sldId id="994" r:id="rId41"/>
    <p:sldId id="997" r:id="rId42"/>
    <p:sldId id="1017" r:id="rId43"/>
    <p:sldId id="1027" r:id="rId44"/>
    <p:sldId id="1025" r:id="rId45"/>
  </p:sldIdLst>
  <p:sldSz cx="9906000" cy="6858000" type="A4"/>
  <p:notesSz cx="6858000" cy="9144000"/>
  <p:defaultTextStyle>
    <a:defPPr>
      <a:defRPr lang="ko-KR"/>
    </a:defPPr>
    <a:lvl1pPr algn="ctr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맑은 고딕" pitchFamily="50" charset="-127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맑은 고딕" pitchFamily="50" charset="-127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맑은 고딕" pitchFamily="50" charset="-127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맑은 고딕" pitchFamily="50" charset="-127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맑은 고딕" pitchFamily="50" charset="-127"/>
        <a:cs typeface="+mn-cs"/>
      </a:defRPr>
    </a:lvl6pPr>
    <a:lvl7pPr marL="27432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맑은 고딕" pitchFamily="50" charset="-127"/>
        <a:cs typeface="+mn-cs"/>
      </a:defRPr>
    </a:lvl7pPr>
    <a:lvl8pPr marL="32004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맑은 고딕" pitchFamily="50" charset="-127"/>
        <a:cs typeface="+mn-cs"/>
      </a:defRPr>
    </a:lvl8pPr>
    <a:lvl9pPr marL="36576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>
          <p15:clr>
            <a:srgbClr val="A4A3A4"/>
          </p15:clr>
        </p15:guide>
        <p15:guide id="2" orient="horz" pos="119">
          <p15:clr>
            <a:srgbClr val="A4A3A4"/>
          </p15:clr>
        </p15:guide>
        <p15:guide id="3" pos="6068">
          <p15:clr>
            <a:srgbClr val="A4A3A4"/>
          </p15:clr>
        </p15:guide>
        <p15:guide id="4" pos="104">
          <p15:clr>
            <a:srgbClr val="A4A3A4"/>
          </p15:clr>
        </p15:guide>
        <p15:guide id="5" pos="2893">
          <p15:clr>
            <a:srgbClr val="A4A3A4"/>
          </p15:clr>
        </p15:guide>
        <p15:guide id="6" pos="3120">
          <p15:clr>
            <a:srgbClr val="A4A3A4"/>
          </p15:clr>
        </p15:guide>
        <p15:guide id="7" pos="33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C0C0C0"/>
    <a:srgbClr val="F8F8F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34" autoAdjust="0"/>
    <p:restoredTop sz="94660"/>
  </p:normalViewPr>
  <p:slideViewPr>
    <p:cSldViewPr>
      <p:cViewPr varScale="1">
        <p:scale>
          <a:sx n="223" d="100"/>
          <a:sy n="223" d="100"/>
        </p:scale>
        <p:origin x="912" y="192"/>
      </p:cViewPr>
      <p:guideLst>
        <p:guide orient="horz" pos="4065"/>
        <p:guide orient="horz" pos="119"/>
        <p:guide pos="6068"/>
        <p:guide pos="104"/>
        <p:guide pos="2893"/>
        <p:guide pos="3120"/>
        <p:guide pos="334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98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latinLnBrk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latinLnBrk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1">
              <a:defRPr kumimoji="1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F4DF546-D311-4DBF-A648-2B6B857AB1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08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296863" y="2638425"/>
            <a:ext cx="9312275" cy="9620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/>
          <a:lstStyle>
            <a:lvl1pPr>
              <a:defRPr sz="2000">
                <a:latin typeface="+mj-ea"/>
                <a:ea typeface="+mj-ea"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93E4D27-4D3F-3653-BF7B-36B8E5DEB6BB}"/>
              </a:ext>
            </a:extLst>
          </p:cNvPr>
          <p:cNvSpPr/>
          <p:nvPr userDrawn="1"/>
        </p:nvSpPr>
        <p:spPr bwMode="auto">
          <a:xfrm>
            <a:off x="8258449" y="112308"/>
            <a:ext cx="1470025" cy="4603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제안사 로고</a:t>
            </a:r>
            <a:endParaRPr kumimoji="0" lang="ko-Kore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5F6D87-8966-B127-9F85-884E5EDB46C8}"/>
              </a:ext>
            </a:extLst>
          </p:cNvPr>
          <p:cNvSpPr/>
          <p:nvPr userDrawn="1"/>
        </p:nvSpPr>
        <p:spPr bwMode="auto">
          <a:xfrm>
            <a:off x="6969225" y="6314034"/>
            <a:ext cx="2759250" cy="4603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제안사 카피라이트</a:t>
            </a:r>
            <a:endParaRPr kumimoji="0" lang="ko-Kore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D276FD-B366-DD55-0AFF-93B0E04D8011}"/>
              </a:ext>
            </a:extLst>
          </p:cNvPr>
          <p:cNvSpPr/>
          <p:nvPr userDrawn="1"/>
        </p:nvSpPr>
        <p:spPr bwMode="auto">
          <a:xfrm>
            <a:off x="260350" y="1246779"/>
            <a:ext cx="1200262" cy="9620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ore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고객사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로고</a:t>
            </a:r>
            <a:endParaRPr kumimoji="0" lang="ko-Kore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4134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147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0350" y="434975"/>
            <a:ext cx="2476500" cy="2476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260350" y="914400"/>
            <a:ext cx="4606925" cy="5111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9675" y="914400"/>
            <a:ext cx="4608513" cy="5111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6889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0350" y="434975"/>
            <a:ext cx="2476500" cy="2476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260350" y="914400"/>
            <a:ext cx="9367838" cy="511175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99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8DBEC05-59AD-6EAA-1CFB-945A11FAA66B}"/>
              </a:ext>
            </a:extLst>
          </p:cNvPr>
          <p:cNvSpPr/>
          <p:nvPr userDrawn="1"/>
        </p:nvSpPr>
        <p:spPr bwMode="auto">
          <a:xfrm>
            <a:off x="56456" y="80628"/>
            <a:ext cx="9721080" cy="677737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ore-KR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맑은 고딕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09F898-740B-0200-2278-C99D8BE5A288}"/>
              </a:ext>
            </a:extLst>
          </p:cNvPr>
          <p:cNvSpPr/>
          <p:nvPr userDrawn="1"/>
        </p:nvSpPr>
        <p:spPr bwMode="auto">
          <a:xfrm>
            <a:off x="1244588" y="1287463"/>
            <a:ext cx="6800552" cy="701377"/>
          </a:xfrm>
          <a:prstGeom prst="rect">
            <a:avLst/>
          </a:prstGeom>
          <a:solidFill>
            <a:srgbClr val="00206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ore-KR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825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7" name="Text Box 3"/>
          <p:cNvSpPr txBox="1">
            <a:spLocks noChangeArrowheads="1"/>
          </p:cNvSpPr>
          <p:nvPr/>
        </p:nvSpPr>
        <p:spPr bwMode="auto">
          <a:xfrm>
            <a:off x="4872038" y="6588125"/>
            <a:ext cx="1555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latinLnBrk="1"/>
            <a:fld id="{B46AD70B-8878-4076-B916-C23100E3F9AB}" type="slidenum">
              <a:rPr lang="ko-KR" altLang="en-US" sz="1000">
                <a:solidFill>
                  <a:srgbClr val="666666"/>
                </a:solidFill>
                <a:latin typeface="+mj-ea"/>
                <a:ea typeface="+mj-ea"/>
                <a:cs typeface="Arial" charset="0"/>
              </a:rPr>
              <a:pPr latinLnBrk="1"/>
              <a:t>‹#›</a:t>
            </a:fld>
            <a:endParaRPr lang="en-US" altLang="ko-KR" sz="1000">
              <a:solidFill>
                <a:srgbClr val="666666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323588" name="Rectangle 14"/>
          <p:cNvSpPr>
            <a:spLocks noGrp="1" noChangeArrowheads="1"/>
          </p:cNvSpPr>
          <p:nvPr>
            <p:ph type="title"/>
          </p:nvPr>
        </p:nvSpPr>
        <p:spPr bwMode="gray">
          <a:xfrm>
            <a:off x="260350" y="434975"/>
            <a:ext cx="24765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23589" name="Rectangle 3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0350" y="914400"/>
            <a:ext cx="9367838" cy="493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ko-KR" altLang="en-US" dirty="0"/>
              <a:t>마스터 내용을 입력하는 영역</a:t>
            </a:r>
            <a:endParaRPr lang="en-US" altLang="ko-KR" dirty="0"/>
          </a:p>
          <a:p>
            <a:pPr lvl="0"/>
            <a:r>
              <a:rPr lang="ko-KR" altLang="en-US" dirty="0"/>
              <a:t>두줄까지 입력하는 것이 좋다</a:t>
            </a:r>
          </a:p>
        </p:txBody>
      </p:sp>
      <p:sp>
        <p:nvSpPr>
          <p:cNvPr id="1027" name="Rectangle 3"/>
          <p:cNvSpPr>
            <a:spLocks noChangeArrowheads="1"/>
          </p:cNvSpPr>
          <p:nvPr userDrawn="1"/>
        </p:nvSpPr>
        <p:spPr bwMode="auto">
          <a:xfrm>
            <a:off x="260350" y="793750"/>
            <a:ext cx="9367838" cy="36513"/>
          </a:xfrm>
          <a:prstGeom prst="rect">
            <a:avLst/>
          </a:prstGeom>
          <a:solidFill>
            <a:schemeClr val="bg2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>
            <a:noAutofit/>
          </a:bodyPr>
          <a:lstStyle/>
          <a:p>
            <a:pPr algn="l" latinLnBrk="1">
              <a:defRPr/>
            </a:pPr>
            <a:endParaRPr kumimoji="1" lang="ko-KR" altLang="en-US" sz="1800" b="0"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92DFF6-F3BD-23A8-9429-D2158C781B22}"/>
              </a:ext>
            </a:extLst>
          </p:cNvPr>
          <p:cNvSpPr/>
          <p:nvPr userDrawn="1"/>
        </p:nvSpPr>
        <p:spPr bwMode="auto">
          <a:xfrm>
            <a:off x="260350" y="6443663"/>
            <a:ext cx="3648534" cy="3587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ore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고객사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로고와 슬로건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,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프로젝트 명 등</a:t>
            </a:r>
            <a:endParaRPr kumimoji="0" lang="ko-Kore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B43977-AD52-2E71-FFC8-86800C22CBF3}"/>
              </a:ext>
            </a:extLst>
          </p:cNvPr>
          <p:cNvSpPr/>
          <p:nvPr userDrawn="1"/>
        </p:nvSpPr>
        <p:spPr bwMode="auto">
          <a:xfrm>
            <a:off x="5979654" y="6443663"/>
            <a:ext cx="3648534" cy="3587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자사 기업명과 슬로건 등</a:t>
            </a:r>
            <a:endParaRPr kumimoji="0" lang="ko-Kore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701" r:id="rId4"/>
    <p:sldLayoutId id="2147483702" r:id="rId5"/>
    <p:sldLayoutId id="2147483703" r:id="rId6"/>
  </p:sldLayoutIdLst>
  <p:txStyles>
    <p:titleStyle>
      <a:lvl1pPr algn="l" rtl="0" fontAlgn="base" latinLnBrk="1">
        <a:lnSpc>
          <a:spcPct val="90000"/>
        </a:lnSpc>
        <a:spcBef>
          <a:spcPct val="0"/>
        </a:spcBef>
        <a:spcAft>
          <a:spcPct val="0"/>
        </a:spcAft>
        <a:tabLst>
          <a:tab pos="749300" algn="l"/>
        </a:tabLst>
        <a:defRPr kumimoji="1" b="1">
          <a:solidFill>
            <a:schemeClr val="tx1"/>
          </a:solidFill>
          <a:latin typeface="+mj-ea"/>
          <a:ea typeface="+mj-ea"/>
          <a:cs typeface="+mj-cs"/>
        </a:defRPr>
      </a:lvl1pPr>
      <a:lvl2pPr algn="l" rtl="0" fontAlgn="base" latinLnBrk="1">
        <a:lnSpc>
          <a:spcPct val="90000"/>
        </a:lnSpc>
        <a:spcBef>
          <a:spcPct val="0"/>
        </a:spcBef>
        <a:spcAft>
          <a:spcPct val="0"/>
        </a:spcAft>
        <a:tabLst>
          <a:tab pos="749300" algn="l"/>
        </a:tabLst>
        <a:defRPr kumimoji="1" b="1">
          <a:solidFill>
            <a:schemeClr val="tx1"/>
          </a:solidFill>
          <a:latin typeface="Arial" charset="0"/>
          <a:ea typeface="맑은 고딕" pitchFamily="50" charset="-127"/>
          <a:cs typeface="굴림" pitchFamily="50" charset="-127"/>
        </a:defRPr>
      </a:lvl2pPr>
      <a:lvl3pPr algn="l" rtl="0" fontAlgn="base" latinLnBrk="1">
        <a:lnSpc>
          <a:spcPct val="90000"/>
        </a:lnSpc>
        <a:spcBef>
          <a:spcPct val="0"/>
        </a:spcBef>
        <a:spcAft>
          <a:spcPct val="0"/>
        </a:spcAft>
        <a:tabLst>
          <a:tab pos="749300" algn="l"/>
        </a:tabLst>
        <a:defRPr kumimoji="1" b="1">
          <a:solidFill>
            <a:schemeClr val="tx1"/>
          </a:solidFill>
          <a:latin typeface="Arial" charset="0"/>
          <a:ea typeface="맑은 고딕" pitchFamily="50" charset="-127"/>
          <a:cs typeface="굴림" pitchFamily="50" charset="-127"/>
        </a:defRPr>
      </a:lvl3pPr>
      <a:lvl4pPr algn="l" rtl="0" fontAlgn="base" latinLnBrk="1">
        <a:lnSpc>
          <a:spcPct val="90000"/>
        </a:lnSpc>
        <a:spcBef>
          <a:spcPct val="0"/>
        </a:spcBef>
        <a:spcAft>
          <a:spcPct val="0"/>
        </a:spcAft>
        <a:tabLst>
          <a:tab pos="749300" algn="l"/>
        </a:tabLst>
        <a:defRPr kumimoji="1" b="1">
          <a:solidFill>
            <a:schemeClr val="tx1"/>
          </a:solidFill>
          <a:latin typeface="Arial" charset="0"/>
          <a:ea typeface="맑은 고딕" pitchFamily="50" charset="-127"/>
          <a:cs typeface="굴림" pitchFamily="50" charset="-127"/>
        </a:defRPr>
      </a:lvl4pPr>
      <a:lvl5pPr algn="l" rtl="0" fontAlgn="base" latinLnBrk="1">
        <a:lnSpc>
          <a:spcPct val="90000"/>
        </a:lnSpc>
        <a:spcBef>
          <a:spcPct val="0"/>
        </a:spcBef>
        <a:spcAft>
          <a:spcPct val="0"/>
        </a:spcAft>
        <a:tabLst>
          <a:tab pos="749300" algn="l"/>
        </a:tabLst>
        <a:defRPr kumimoji="1" b="1">
          <a:solidFill>
            <a:schemeClr val="tx1"/>
          </a:solidFill>
          <a:latin typeface="Arial" charset="0"/>
          <a:ea typeface="맑은 고딕" pitchFamily="50" charset="-127"/>
          <a:cs typeface="굴림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tabLst>
          <a:tab pos="749300" algn="l"/>
        </a:tabLst>
        <a:defRPr kumimoji="1" b="1">
          <a:solidFill>
            <a:schemeClr val="tx1"/>
          </a:solidFill>
          <a:latin typeface="Arial" charset="0"/>
          <a:ea typeface="맑은 고딕" pitchFamily="50" charset="-127"/>
          <a:cs typeface="굴림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tabLst>
          <a:tab pos="749300" algn="l"/>
        </a:tabLst>
        <a:defRPr kumimoji="1" b="1">
          <a:solidFill>
            <a:schemeClr val="tx1"/>
          </a:solidFill>
          <a:latin typeface="Arial" charset="0"/>
          <a:ea typeface="맑은 고딕" pitchFamily="50" charset="-127"/>
          <a:cs typeface="굴림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tabLst>
          <a:tab pos="749300" algn="l"/>
        </a:tabLst>
        <a:defRPr kumimoji="1" b="1">
          <a:solidFill>
            <a:schemeClr val="tx1"/>
          </a:solidFill>
          <a:latin typeface="Arial" charset="0"/>
          <a:ea typeface="맑은 고딕" pitchFamily="50" charset="-127"/>
          <a:cs typeface="굴림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tabLst>
          <a:tab pos="749300" algn="l"/>
        </a:tabLst>
        <a:defRPr kumimoji="1" b="1">
          <a:solidFill>
            <a:schemeClr val="tx1"/>
          </a:solidFill>
          <a:latin typeface="Arial" charset="0"/>
          <a:ea typeface="맑은 고딕" pitchFamily="50" charset="-127"/>
          <a:cs typeface="굴림" pitchFamily="50" charset="-127"/>
        </a:defRPr>
      </a:lvl9pPr>
    </p:titleStyle>
    <p:bodyStyle>
      <a:lvl1pPr algn="l" rtl="0" fontAlgn="base" latinLnBrk="1">
        <a:lnSpc>
          <a:spcPct val="120000"/>
        </a:lnSpc>
        <a:spcBef>
          <a:spcPct val="0"/>
        </a:spcBef>
        <a:spcAft>
          <a:spcPct val="0"/>
        </a:spcAft>
        <a:buFont typeface="Wingdings" pitchFamily="2" charset="2"/>
        <a:defRPr kumimoji="1" sz="1400" b="1">
          <a:solidFill>
            <a:schemeClr val="tx1"/>
          </a:solidFill>
          <a:latin typeface="+mj-ea"/>
          <a:ea typeface="+mj-ea"/>
          <a:cs typeface="+mn-cs"/>
        </a:defRPr>
      </a:lvl1pPr>
      <a:lvl2pPr marL="457200" algn="l" rtl="0" fontAlgn="base" latinLnBrk="1">
        <a:spcBef>
          <a:spcPct val="25000"/>
        </a:spcBef>
        <a:spcAft>
          <a:spcPct val="15000"/>
        </a:spcAft>
        <a:buClr>
          <a:schemeClr val="accent2"/>
        </a:buClr>
        <a:buFont typeface="Arial Narrow" pitchFamily="34" charset="0"/>
        <a:buChar char="–"/>
        <a:defRPr kumimoji="1">
          <a:solidFill>
            <a:schemeClr val="tx1"/>
          </a:solidFill>
          <a:latin typeface="굴림" pitchFamily="50" charset="-127"/>
          <a:ea typeface="굴림" pitchFamily="50" charset="-127"/>
          <a:cs typeface="+mn-cs"/>
        </a:defRPr>
      </a:lvl2pPr>
      <a:lvl3pPr marL="9144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>
          <a:solidFill>
            <a:schemeClr val="tx1"/>
          </a:solidFill>
          <a:latin typeface="굴림" pitchFamily="50" charset="-127"/>
          <a:ea typeface="굴림" pitchFamily="50" charset="-127"/>
          <a:cs typeface="+mn-cs"/>
        </a:defRPr>
      </a:lvl3pPr>
      <a:lvl4pPr marL="1371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Arial Narrow" pitchFamily="34" charset="0"/>
        <a:buChar char="–"/>
        <a:defRPr kumimoji="1">
          <a:solidFill>
            <a:schemeClr val="tx1"/>
          </a:solidFill>
          <a:latin typeface="굴림" pitchFamily="50" charset="-127"/>
          <a:ea typeface="굴림" pitchFamily="50" charset="-127"/>
          <a:cs typeface="+mn-cs"/>
        </a:defRPr>
      </a:lvl4pPr>
      <a:lvl5pPr marL="18288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Arial Narrow" pitchFamily="34" charset="0"/>
        <a:buChar char="&gt;"/>
        <a:defRPr kumimoji="1">
          <a:solidFill>
            <a:schemeClr val="tx1"/>
          </a:solidFill>
          <a:latin typeface="굴림" pitchFamily="50" charset="-127"/>
          <a:ea typeface="굴림" pitchFamily="50" charset="-127"/>
          <a:cs typeface="+mn-cs"/>
        </a:defRPr>
      </a:lvl5pPr>
      <a:lvl6pPr marL="22860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Arial Narrow" pitchFamily="34" charset="0"/>
        <a:buChar char="&gt;"/>
        <a:defRPr kumimoji="1">
          <a:solidFill>
            <a:schemeClr val="tx1"/>
          </a:solidFill>
          <a:latin typeface="굴림" pitchFamily="50" charset="-127"/>
          <a:ea typeface="굴림" pitchFamily="50" charset="-127"/>
          <a:cs typeface="+mn-cs"/>
        </a:defRPr>
      </a:lvl6pPr>
      <a:lvl7pPr marL="27432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Arial Narrow" pitchFamily="34" charset="0"/>
        <a:buChar char="&gt;"/>
        <a:defRPr kumimoji="1">
          <a:solidFill>
            <a:schemeClr val="tx1"/>
          </a:solidFill>
          <a:latin typeface="굴림" pitchFamily="50" charset="-127"/>
          <a:ea typeface="굴림" pitchFamily="50" charset="-127"/>
          <a:cs typeface="+mn-cs"/>
        </a:defRPr>
      </a:lvl7pPr>
      <a:lvl8pPr marL="32004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Arial Narrow" pitchFamily="34" charset="0"/>
        <a:buChar char="&gt;"/>
        <a:defRPr kumimoji="1">
          <a:solidFill>
            <a:schemeClr val="tx1"/>
          </a:solidFill>
          <a:latin typeface="굴림" pitchFamily="50" charset="-127"/>
          <a:ea typeface="굴림" pitchFamily="50" charset="-127"/>
          <a:cs typeface="+mn-cs"/>
        </a:defRPr>
      </a:lvl8pPr>
      <a:lvl9pPr marL="3657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Arial Narrow" pitchFamily="34" charset="0"/>
        <a:buChar char="&gt;"/>
        <a:defRPr kumimoji="1">
          <a:solidFill>
            <a:schemeClr val="tx1"/>
          </a:solidFill>
          <a:latin typeface="굴림" pitchFamily="50" charset="-127"/>
          <a:ea typeface="굴림" pitchFamily="50" charset="-127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6863" y="2564904"/>
            <a:ext cx="9312275" cy="619126"/>
          </a:xfrm>
        </p:spPr>
        <p:txBody>
          <a:bodyPr/>
          <a:lstStyle/>
          <a:p>
            <a:r>
              <a:rPr lang="en-US" altLang="ko-KR" sz="2200" dirty="0">
                <a:solidFill>
                  <a:srgbClr val="000000"/>
                </a:solidFill>
                <a:latin typeface="맑은 고딕" pitchFamily="50" charset="-127"/>
              </a:rPr>
              <a:t>eMall BM (Business Model) </a:t>
            </a:r>
            <a:r>
              <a:rPr lang="ko-KR" altLang="en-US" sz="2200" dirty="0">
                <a:solidFill>
                  <a:srgbClr val="000000"/>
                </a:solidFill>
                <a:latin typeface="맑은 고딕" pitchFamily="50" charset="-127"/>
              </a:rPr>
              <a:t>개선 제안서</a:t>
            </a:r>
            <a:endParaRPr lang="en-US" altLang="ko-KR" sz="2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43DE6-BAEB-9468-EAD1-7279AF12F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3054845"/>
            <a:ext cx="9312275" cy="482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sz="20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2pPr>
            <a:lvl3pPr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3pPr>
            <a:lvl4pPr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4pPr>
            <a:lvl5pPr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5pPr>
            <a:lvl6pPr marL="4572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6pPr>
            <a:lvl7pPr marL="9144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7pPr>
            <a:lvl8pPr marL="13716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8pPr>
            <a:lvl9pPr marL="1828800" algn="l" rtl="0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9pPr>
          </a:lstStyle>
          <a:p>
            <a:r>
              <a:rPr lang="ko-KR" altLang="en-US" sz="1600" b="0" kern="0" dirty="0">
                <a:solidFill>
                  <a:srgbClr val="000000"/>
                </a:solidFill>
                <a:latin typeface="맑은 고딕" pitchFamily="50" charset="-127"/>
              </a:rPr>
              <a:t>본 제안은 차세대 </a:t>
            </a:r>
            <a:r>
              <a:rPr lang="en-US" altLang="ko-KR" sz="1600" b="0" kern="0" dirty="0">
                <a:solidFill>
                  <a:srgbClr val="000000"/>
                </a:solidFill>
                <a:latin typeface="맑은 고딕" pitchFamily="50" charset="-127"/>
              </a:rPr>
              <a:t>Shopping eMall </a:t>
            </a:r>
            <a:r>
              <a:rPr lang="ko-KR" altLang="en-US" sz="1600" b="0" kern="0" dirty="0">
                <a:solidFill>
                  <a:srgbClr val="000000"/>
                </a:solidFill>
                <a:latin typeface="맑은 고딕" pitchFamily="50" charset="-127"/>
              </a:rPr>
              <a:t>을 위한</a:t>
            </a:r>
            <a:r>
              <a:rPr lang="en-US" altLang="ko-KR" sz="1600" b="0" kern="0" dirty="0">
                <a:solidFill>
                  <a:srgbClr val="000000"/>
                </a:solidFill>
                <a:latin typeface="맑은 고딕" pitchFamily="50" charset="-127"/>
              </a:rPr>
              <a:t> Business Model </a:t>
            </a:r>
            <a:r>
              <a:rPr lang="ko-KR" altLang="en-US" sz="1600" b="0" kern="0" dirty="0">
                <a:solidFill>
                  <a:srgbClr val="000000"/>
                </a:solidFill>
                <a:latin typeface="맑은 고딕" pitchFamily="50" charset="-127"/>
              </a:rPr>
              <a:t>변화를 위한 제안입니다</a:t>
            </a:r>
            <a:endParaRPr lang="en-US" altLang="ko-KR" sz="1600" b="0" kern="0" dirty="0">
              <a:solidFill>
                <a:srgbClr val="000000"/>
              </a:solidFill>
              <a:latin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1401763" y="1513295"/>
            <a:ext cx="41293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/>
            <a:r>
              <a:rPr kumimoji="1" lang="en-US" altLang="ko-KR" sz="1800" dirty="0">
                <a:solidFill>
                  <a:schemeClr val="bg1"/>
                </a:solidFill>
                <a:latin typeface="+mj-ea"/>
                <a:ea typeface="+mj-ea"/>
              </a:rPr>
              <a:t>eMall BM (Business Model) </a:t>
            </a:r>
            <a:r>
              <a:rPr kumimoji="1" lang="ko-KR" altLang="en-US" sz="1800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9F3726-86F0-1AAF-E274-00BDDC9C5DF1}"/>
              </a:ext>
            </a:extLst>
          </p:cNvPr>
          <p:cNvSpPr/>
          <p:nvPr/>
        </p:nvSpPr>
        <p:spPr>
          <a:xfrm>
            <a:off x="1262850" y="2238256"/>
            <a:ext cx="4050190" cy="432000"/>
          </a:xfrm>
          <a:prstGeom prst="rect">
            <a:avLst/>
          </a:prstGeom>
          <a:solidFill>
            <a:srgbClr val="000066">
              <a:alpha val="1693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08000" indent="-108000" algn="ctr" latinLnBrk="0">
              <a:buFont typeface="Arial" panose="020B0604020202020204" pitchFamily="34" charset="0"/>
              <a:buChar char="•"/>
              <a:defRPr/>
            </a:pPr>
            <a:endParaRPr lang="ko-KR" altLang="en-US" sz="1050" kern="0" dirty="0">
              <a:solidFill>
                <a:srgbClr val="646464"/>
              </a:solidFill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04650-B8F5-8E92-C399-E31BF32971B2}"/>
              </a:ext>
            </a:extLst>
          </p:cNvPr>
          <p:cNvSpPr txBox="1"/>
          <p:nvPr/>
        </p:nvSpPr>
        <p:spPr>
          <a:xfrm>
            <a:off x="1405373" y="2198975"/>
            <a:ext cx="2571217" cy="16550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제안개요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eMall BM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개선 전략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PI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컨설팅 추진 방안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dirty="0">
                <a:solidFill>
                  <a:prstClr val="black"/>
                </a:solidFill>
                <a:latin typeface="+mj-ea"/>
                <a:ea typeface="+mj-ea"/>
              </a:rPr>
              <a:t>프로젝트 관리 및 추진 계획</a:t>
            </a:r>
            <a:endParaRPr lang="en-US" altLang="ko-KR" sz="1400" dirty="0">
              <a:solidFill>
                <a:prstClr val="black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1231900" cy="247650"/>
          </a:xfrm>
        </p:spPr>
        <p:txBody>
          <a:bodyPr/>
          <a:lstStyle/>
          <a:p>
            <a:r>
              <a:rPr lang="ko-KR" altLang="en-US" dirty="0"/>
              <a:t>제안 배경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온라인 채널의 시장 대비 초과 성장을 위한 </a:t>
            </a:r>
            <a:r>
              <a:rPr lang="en-US" altLang="ko-KR" dirty="0"/>
              <a:t>BM </a:t>
            </a:r>
            <a:r>
              <a:rPr lang="ko-KR" altLang="en-US" dirty="0"/>
              <a:t>개발과 필요한 프로세스</a:t>
            </a:r>
            <a:r>
              <a:rPr lang="en-US" altLang="ko-KR" dirty="0"/>
              <a:t>, </a:t>
            </a:r>
            <a:r>
              <a:rPr lang="ko-KR" altLang="en-US" dirty="0"/>
              <a:t>조직 및 시스템의 </a:t>
            </a:r>
            <a:r>
              <a:rPr lang="en-US" altLang="ko-KR" dirty="0"/>
              <a:t>Process Transformation</a:t>
            </a:r>
            <a:r>
              <a:rPr lang="ko-KR" altLang="en-US" dirty="0"/>
              <a:t>을 </a:t>
            </a:r>
            <a:r>
              <a:rPr lang="en-US" altLang="ko-KR" dirty="0"/>
              <a:t>eMall</a:t>
            </a:r>
            <a:r>
              <a:rPr lang="ko-KR" altLang="en-US" dirty="0"/>
              <a:t>이 계획 및 실행 할 수 있도록 </a:t>
            </a:r>
            <a:r>
              <a:rPr lang="en-US" altLang="ko-KR" dirty="0"/>
              <a:t>, </a:t>
            </a:r>
            <a:r>
              <a:rPr lang="ko-KR" altLang="en-US" dirty="0"/>
              <a:t>제안기업은 전략적 파트너로서 성장 </a:t>
            </a:r>
            <a:r>
              <a:rPr lang="en-US" altLang="ko-KR" dirty="0"/>
              <a:t>BM</a:t>
            </a:r>
            <a:r>
              <a:rPr lang="ko-KR" altLang="en-US" dirty="0"/>
              <a:t>의 방향과 구체적 이행 계획을 제시하고자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1205" name="AutoShape 5"/>
          <p:cNvSpPr>
            <a:spLocks noChangeArrowheads="1"/>
          </p:cNvSpPr>
          <p:nvPr/>
        </p:nvSpPr>
        <p:spPr bwMode="gray">
          <a:xfrm>
            <a:off x="1673225" y="4795838"/>
            <a:ext cx="6618288" cy="1370012"/>
          </a:xfrm>
          <a:prstGeom prst="upArrow">
            <a:avLst>
              <a:gd name="adj1" fmla="val 100000"/>
              <a:gd name="adj2" fmla="val 44222"/>
            </a:avLst>
          </a:prstGeom>
          <a:gradFill rotWithShape="1">
            <a:gsLst>
              <a:gs pos="0">
                <a:srgbClr val="EDEDFF"/>
              </a:gs>
              <a:gs pos="100000">
                <a:schemeClr val="bg1"/>
              </a:gs>
            </a:gsLst>
            <a:lin ang="5400000" scaled="1"/>
          </a:gradFill>
          <a:ln w="6350" cap="rnd" algn="ctr">
            <a:solidFill>
              <a:schemeClr val="bg2"/>
            </a:solidFill>
            <a:prstDash val="sysDot"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90000" tIns="46800" rIns="90000" bIns="46800" anchor="ctr"/>
          <a:lstStyle/>
          <a:p>
            <a:pPr eaLnBrk="0" hangingPunct="0">
              <a:buClr>
                <a:schemeClr val="accent2"/>
              </a:buClr>
            </a:pPr>
            <a:endParaRPr lang="ko-KR" altLang="en-US">
              <a:latin typeface="+mj-ea"/>
              <a:ea typeface="+mj-ea"/>
            </a:endParaRPr>
          </a:p>
        </p:txBody>
      </p:sp>
      <p:sp>
        <p:nvSpPr>
          <p:cNvPr id="51206" name="AutoShape 6"/>
          <p:cNvSpPr>
            <a:spLocks noChangeArrowheads="1"/>
          </p:cNvSpPr>
          <p:nvPr/>
        </p:nvSpPr>
        <p:spPr bwMode="gray">
          <a:xfrm>
            <a:off x="4021138" y="2671763"/>
            <a:ext cx="1863725" cy="2028825"/>
          </a:xfrm>
          <a:prstGeom prst="rightArrow">
            <a:avLst>
              <a:gd name="adj1" fmla="val 74648"/>
              <a:gd name="adj2" fmla="val 34755"/>
            </a:avLst>
          </a:prstGeom>
          <a:gradFill rotWithShape="1">
            <a:gsLst>
              <a:gs pos="0">
                <a:schemeClr val="bg1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1207" name="Oval 7"/>
          <p:cNvSpPr>
            <a:spLocks noChangeArrowheads="1"/>
          </p:cNvSpPr>
          <p:nvPr/>
        </p:nvSpPr>
        <p:spPr bwMode="gray">
          <a:xfrm>
            <a:off x="2138363" y="1590675"/>
            <a:ext cx="5580062" cy="593725"/>
          </a:xfrm>
          <a:prstGeom prst="ellipse">
            <a:avLst/>
          </a:prstGeom>
          <a:gradFill rotWithShape="1">
            <a:gsLst>
              <a:gs pos="0">
                <a:srgbClr val="EDEDFF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eaLnBrk="0" hangingPunct="0">
              <a:lnSpc>
                <a:spcPct val="120000"/>
              </a:lnSpc>
              <a:buClr>
                <a:schemeClr val="accent2"/>
              </a:buClr>
            </a:pPr>
            <a:r>
              <a:rPr lang="en-US" altLang="ko-KR" sz="1600" u="sng" dirty="0">
                <a:latin typeface="+mj-ea"/>
                <a:ea typeface="+mj-ea"/>
              </a:rPr>
              <a:t>eMall</a:t>
            </a:r>
            <a:r>
              <a:rPr lang="ko-KR" altLang="en-US" sz="1600" u="sng" dirty="0">
                <a:latin typeface="+mj-ea"/>
                <a:ea typeface="+mj-ea"/>
              </a:rPr>
              <a:t> </a:t>
            </a:r>
            <a:r>
              <a:rPr lang="en-US" altLang="ko-KR" sz="1600" u="sng" dirty="0">
                <a:latin typeface="+mj-ea"/>
                <a:ea typeface="+mj-ea"/>
              </a:rPr>
              <a:t>– 0000</a:t>
            </a:r>
            <a:r>
              <a:rPr lang="ko-KR" altLang="en-US" sz="1600" u="sng" dirty="0">
                <a:latin typeface="+mj-ea"/>
                <a:ea typeface="+mj-ea"/>
              </a:rPr>
              <a:t> 년 매출 </a:t>
            </a:r>
            <a:r>
              <a:rPr lang="en-US" altLang="ko-KR" sz="1600" u="sng" dirty="0">
                <a:latin typeface="+mj-ea"/>
                <a:ea typeface="+mj-ea"/>
              </a:rPr>
              <a:t>0000</a:t>
            </a:r>
            <a:r>
              <a:rPr lang="ko-KR" altLang="en-US" sz="1600" u="sng" dirty="0">
                <a:latin typeface="+mj-ea"/>
                <a:ea typeface="+mj-ea"/>
              </a:rPr>
              <a:t> 억원 </a:t>
            </a:r>
            <a:r>
              <a:rPr lang="en-US" altLang="ko-KR" sz="1600" u="sng" dirty="0">
                <a:latin typeface="+mj-ea"/>
                <a:ea typeface="+mj-ea"/>
              </a:rPr>
              <a:t>(eMall 0000</a:t>
            </a:r>
            <a:r>
              <a:rPr lang="ko-KR" altLang="en-US" sz="1600" u="sng" dirty="0">
                <a:latin typeface="+mj-ea"/>
                <a:ea typeface="+mj-ea"/>
              </a:rPr>
              <a:t> 억원</a:t>
            </a:r>
            <a:r>
              <a:rPr lang="en-US" altLang="ko-KR" sz="1600" u="sng" dirty="0">
                <a:latin typeface="+mj-ea"/>
                <a:ea typeface="+mj-ea"/>
              </a:rPr>
              <a:t>) </a:t>
            </a:r>
            <a:r>
              <a:rPr lang="ko-KR" altLang="en-US" sz="1600" u="sng" dirty="0">
                <a:latin typeface="+mj-ea"/>
                <a:ea typeface="+mj-ea"/>
              </a:rPr>
              <a:t>목표 달성</a:t>
            </a:r>
          </a:p>
        </p:txBody>
      </p:sp>
      <p:sp>
        <p:nvSpPr>
          <p:cNvPr id="51208" name="Rectangle 8"/>
          <p:cNvSpPr>
            <a:spLocks noChangeArrowheads="1"/>
          </p:cNvSpPr>
          <p:nvPr/>
        </p:nvSpPr>
        <p:spPr bwMode="gray">
          <a:xfrm>
            <a:off x="639763" y="2590800"/>
            <a:ext cx="3625850" cy="2655888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92075" indent="-9207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ko-KR" altLang="en-US" sz="1300" dirty="0">
                <a:latin typeface="+mj-ea"/>
                <a:ea typeface="+mj-ea"/>
              </a:rPr>
              <a:t>온라인 쇼핑몰 시장에서 시장 대비 초과 성장을 위한 </a:t>
            </a:r>
            <a:r>
              <a:rPr lang="en-US" altLang="ko-KR" sz="1300" dirty="0">
                <a:latin typeface="+mj-ea"/>
                <a:ea typeface="+mj-ea"/>
              </a:rPr>
              <a:t>eMall</a:t>
            </a:r>
            <a:r>
              <a:rPr lang="ko-KR" altLang="en-US" sz="1300" dirty="0">
                <a:latin typeface="+mj-ea"/>
                <a:ea typeface="+mj-ea"/>
              </a:rPr>
              <a:t>의 성장 </a:t>
            </a:r>
            <a:r>
              <a:rPr lang="en-US" altLang="ko-KR" sz="1300" dirty="0">
                <a:latin typeface="+mj-ea"/>
                <a:ea typeface="+mj-ea"/>
              </a:rPr>
              <a:t>BM </a:t>
            </a:r>
            <a:r>
              <a:rPr lang="ko-KR" altLang="en-US" sz="1300" dirty="0">
                <a:latin typeface="+mj-ea"/>
                <a:ea typeface="+mj-ea"/>
              </a:rPr>
              <a:t>필요성 대두</a:t>
            </a:r>
          </a:p>
          <a:p>
            <a:pPr algn="l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ko-KR" altLang="en-US" sz="1300" dirty="0">
                <a:latin typeface="+mj-ea"/>
                <a:ea typeface="+mj-ea"/>
              </a:rPr>
              <a:t>오프라인몰 상품 의존도 심화</a:t>
            </a:r>
          </a:p>
          <a:p>
            <a:pPr algn="l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ko-KR" altLang="en-US" sz="1300" dirty="0">
                <a:latin typeface="+mj-ea"/>
                <a:ea typeface="+mj-ea"/>
              </a:rPr>
              <a:t>기업내 타 사업부와의 공유 활동 부족</a:t>
            </a:r>
          </a:p>
          <a:p>
            <a:pPr algn="l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ko-KR" altLang="en-US" sz="1300" dirty="0">
                <a:latin typeface="+mj-ea"/>
                <a:ea typeface="+mj-ea"/>
              </a:rPr>
              <a:t>분석 기반의 마케팅 실행 및 연계 활동 수행 미흡 </a:t>
            </a:r>
          </a:p>
          <a:p>
            <a:pPr algn="l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ko-KR" altLang="en-US" sz="1300" dirty="0">
                <a:latin typeface="+mj-ea"/>
                <a:ea typeface="+mj-ea"/>
              </a:rPr>
              <a:t>고객 가치 중심의 성장 </a:t>
            </a:r>
            <a:r>
              <a:rPr lang="en-US" altLang="ko-KR" sz="1300" dirty="0">
                <a:latin typeface="+mj-ea"/>
                <a:ea typeface="+mj-ea"/>
              </a:rPr>
              <a:t>BM</a:t>
            </a:r>
            <a:r>
              <a:rPr lang="ko-KR" altLang="en-US" sz="1300" dirty="0">
                <a:latin typeface="+mj-ea"/>
                <a:ea typeface="+mj-ea"/>
              </a:rPr>
              <a:t>을 수용하기 위한 전사 시스템 인프라 필요성 대두</a:t>
            </a:r>
          </a:p>
        </p:txBody>
      </p:sp>
      <p:sp>
        <p:nvSpPr>
          <p:cNvPr id="51209" name="Rectangle 9"/>
          <p:cNvSpPr>
            <a:spLocks noChangeArrowheads="1"/>
          </p:cNvSpPr>
          <p:nvPr/>
        </p:nvSpPr>
        <p:spPr bwMode="gray">
          <a:xfrm>
            <a:off x="639763" y="2233613"/>
            <a:ext cx="3625850" cy="355600"/>
          </a:xfrm>
          <a:prstGeom prst="rect">
            <a:avLst/>
          </a:prstGeom>
          <a:solidFill>
            <a:schemeClr val="bg2"/>
          </a:solidFill>
          <a:ln w="63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rIns="54000" anchor="ctr"/>
          <a:lstStyle>
            <a:lvl1pPr marL="85725" indent="-857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57188" indent="-9207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5255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70497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8843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341563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798763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255963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713163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buClr>
                <a:schemeClr val="accent2"/>
              </a:buClr>
            </a:pPr>
            <a:r>
              <a:rPr lang="en-US" altLang="ko-KR" sz="140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As-is</a:t>
            </a:r>
            <a:endParaRPr lang="ko-KR" altLang="en-US" sz="1400">
              <a:solidFill>
                <a:srgbClr val="FFFFFF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51210" name="Rectangle 10"/>
          <p:cNvSpPr>
            <a:spLocks noChangeArrowheads="1"/>
          </p:cNvSpPr>
          <p:nvPr/>
        </p:nvSpPr>
        <p:spPr bwMode="gray">
          <a:xfrm>
            <a:off x="5699125" y="2590800"/>
            <a:ext cx="3625850" cy="2655888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182563" indent="-182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ct val="60000"/>
              </a:spcBef>
              <a:buClr>
                <a:schemeClr val="tx1"/>
              </a:buClr>
              <a:buFontTx/>
              <a:buChar char="•"/>
            </a:pPr>
            <a:r>
              <a:rPr lang="ko-KR" altLang="en-US" sz="1300" dirty="0">
                <a:latin typeface="+mj-ea"/>
                <a:ea typeface="+mj-ea"/>
              </a:rPr>
              <a:t>온라인 쇼핑 국내 </a:t>
            </a:r>
            <a:r>
              <a:rPr lang="en-US" altLang="ko-KR" sz="1300" dirty="0">
                <a:latin typeface="+mj-ea"/>
                <a:ea typeface="+mj-ea"/>
              </a:rPr>
              <a:t>TOP Tier</a:t>
            </a:r>
            <a:r>
              <a:rPr lang="ko-KR" altLang="en-US" sz="1300" dirty="0">
                <a:latin typeface="+mj-ea"/>
                <a:ea typeface="+mj-ea"/>
              </a:rPr>
              <a:t>로 성장</a:t>
            </a:r>
          </a:p>
          <a:p>
            <a:pPr algn="l">
              <a:spcBef>
                <a:spcPct val="100000"/>
              </a:spcBef>
              <a:buClr>
                <a:schemeClr val="tx1"/>
              </a:buClr>
              <a:buFontTx/>
              <a:buChar char="•"/>
            </a:pPr>
            <a:r>
              <a:rPr lang="ko-KR" altLang="en-US" sz="1300" dirty="0">
                <a:latin typeface="+mj-ea"/>
                <a:ea typeface="+mj-ea"/>
              </a:rPr>
              <a:t>그룹 내 성장 </a:t>
            </a:r>
            <a:r>
              <a:rPr lang="ko-KR" altLang="en-US" sz="1300" dirty="0" err="1">
                <a:latin typeface="+mj-ea"/>
                <a:ea typeface="+mj-ea"/>
              </a:rPr>
              <a:t>동력으로서의</a:t>
            </a:r>
            <a:r>
              <a:rPr lang="ko-KR" altLang="en-US" sz="1300" dirty="0">
                <a:latin typeface="+mj-ea"/>
                <a:ea typeface="+mj-ea"/>
              </a:rPr>
              <a:t> 역할 수행</a:t>
            </a:r>
          </a:p>
          <a:p>
            <a:pPr algn="l">
              <a:spcBef>
                <a:spcPct val="100000"/>
              </a:spcBef>
              <a:buClr>
                <a:schemeClr val="tx1"/>
              </a:buClr>
              <a:buFontTx/>
              <a:buChar char="•"/>
            </a:pPr>
            <a:r>
              <a:rPr lang="ko-KR" altLang="en-US" sz="1300" dirty="0">
                <a:latin typeface="+mj-ea"/>
                <a:ea typeface="+mj-ea"/>
              </a:rPr>
              <a:t>성장 </a:t>
            </a:r>
            <a:r>
              <a:rPr lang="en-US" altLang="ko-KR" sz="1300" dirty="0">
                <a:latin typeface="+mj-ea"/>
                <a:ea typeface="+mj-ea"/>
              </a:rPr>
              <a:t>BM</a:t>
            </a:r>
            <a:r>
              <a:rPr lang="ko-KR" altLang="en-US" sz="1300" dirty="0">
                <a:latin typeface="+mj-ea"/>
                <a:ea typeface="+mj-ea"/>
              </a:rPr>
              <a:t>을 성공적 이행을 위한 개선 과제 추진 및 운영 모델 수립 </a:t>
            </a:r>
          </a:p>
          <a:p>
            <a:pPr algn="l">
              <a:spcBef>
                <a:spcPct val="100000"/>
              </a:spcBef>
              <a:buClr>
                <a:schemeClr val="tx1"/>
              </a:buClr>
              <a:buFontTx/>
              <a:buChar char="•"/>
            </a:pPr>
            <a:r>
              <a:rPr lang="ko-KR" altLang="en-US" sz="1300" dirty="0">
                <a:latin typeface="+mj-ea"/>
                <a:ea typeface="+mj-ea"/>
              </a:rPr>
              <a:t>업계 최고 수준의 시스템 인프라 구축 및 활용 </a:t>
            </a:r>
            <a:r>
              <a:rPr lang="en-US" altLang="ko-KR" sz="1300" dirty="0">
                <a:latin typeface="+mj-ea"/>
                <a:ea typeface="+mj-ea"/>
              </a:rPr>
              <a:t>(</a:t>
            </a:r>
            <a:r>
              <a:rPr lang="ko-KR" altLang="en-US" sz="1300" dirty="0">
                <a:latin typeface="+mj-ea"/>
                <a:ea typeface="+mj-ea"/>
              </a:rPr>
              <a:t>가시성</a:t>
            </a:r>
            <a:r>
              <a:rPr lang="en-US" altLang="ko-KR" sz="1300" dirty="0">
                <a:latin typeface="+mj-ea"/>
                <a:ea typeface="+mj-ea"/>
              </a:rPr>
              <a:t>, </a:t>
            </a:r>
            <a:r>
              <a:rPr lang="ko-KR" altLang="en-US" sz="1300" dirty="0">
                <a:latin typeface="+mj-ea"/>
                <a:ea typeface="+mj-ea"/>
              </a:rPr>
              <a:t>편의성</a:t>
            </a:r>
            <a:r>
              <a:rPr lang="en-US" altLang="ko-KR" sz="1300" dirty="0">
                <a:latin typeface="+mj-ea"/>
                <a:ea typeface="+mj-ea"/>
              </a:rPr>
              <a:t>, </a:t>
            </a:r>
            <a:r>
              <a:rPr lang="ko-KR" altLang="en-US" sz="1300" dirty="0">
                <a:latin typeface="+mj-ea"/>
                <a:ea typeface="+mj-ea"/>
              </a:rPr>
              <a:t>효율성 확보</a:t>
            </a:r>
            <a:r>
              <a:rPr lang="en-US" altLang="ko-KR" sz="1300" dirty="0">
                <a:latin typeface="+mj-ea"/>
                <a:ea typeface="+mj-ea"/>
              </a:rPr>
              <a:t>)</a:t>
            </a:r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gray">
          <a:xfrm>
            <a:off x="5699125" y="2233613"/>
            <a:ext cx="3625850" cy="355600"/>
          </a:xfrm>
          <a:prstGeom prst="rect">
            <a:avLst/>
          </a:prstGeom>
          <a:solidFill>
            <a:srgbClr val="000066"/>
          </a:solidFill>
          <a:ln w="63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54000" rIns="54000" anchor="ctr"/>
          <a:lstStyle>
            <a:lvl1pPr marL="85725" indent="-857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57188" indent="-9207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5255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70497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8843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341563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798763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255963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713163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buClr>
                <a:schemeClr val="accent2"/>
              </a:buClr>
            </a:pPr>
            <a:r>
              <a:rPr lang="en-US" altLang="ko-KR" sz="140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To-be</a:t>
            </a:r>
          </a:p>
        </p:txBody>
      </p:sp>
      <p:sp>
        <p:nvSpPr>
          <p:cNvPr id="51212" name="Rectangle 12"/>
          <p:cNvSpPr>
            <a:spLocks noChangeArrowheads="1"/>
          </p:cNvSpPr>
          <p:nvPr/>
        </p:nvSpPr>
        <p:spPr bwMode="gray">
          <a:xfrm>
            <a:off x="4535426" y="3457939"/>
            <a:ext cx="833562" cy="456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2"/>
              </a:buClr>
            </a:pPr>
            <a:r>
              <a:rPr lang="ko-KR" altLang="en-US" sz="1300" i="1" dirty="0">
                <a:solidFill>
                  <a:schemeClr val="bg2"/>
                </a:solidFill>
                <a:latin typeface="+mj-ea"/>
                <a:ea typeface="+mj-ea"/>
              </a:rPr>
              <a:t>필수불가결</a:t>
            </a:r>
            <a:endParaRPr lang="en-US" altLang="ko-KR" sz="1300" i="1" dirty="0">
              <a:solidFill>
                <a:schemeClr val="bg2"/>
              </a:solidFill>
              <a:latin typeface="+mj-ea"/>
              <a:ea typeface="+mj-ea"/>
            </a:endParaRPr>
          </a:p>
          <a:p>
            <a:pPr eaLnBrk="0" hangingPunct="0">
              <a:lnSpc>
                <a:spcPct val="120000"/>
              </a:lnSpc>
              <a:buClr>
                <a:schemeClr val="accent2"/>
              </a:buClr>
            </a:pPr>
            <a:r>
              <a:rPr lang="ko-KR" altLang="en-US" sz="1300" i="1" dirty="0">
                <a:solidFill>
                  <a:schemeClr val="bg2"/>
                </a:solidFill>
                <a:latin typeface="+mj-ea"/>
                <a:ea typeface="+mj-ea"/>
              </a:rPr>
              <a:t>도전목표</a:t>
            </a:r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gray">
          <a:xfrm>
            <a:off x="4534321" y="5083175"/>
            <a:ext cx="897683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>
              <a:buClr>
                <a:schemeClr val="accent2"/>
              </a:buClr>
            </a:pPr>
            <a:r>
              <a:rPr lang="ko-KR" altLang="en-US" sz="1400" dirty="0">
                <a:latin typeface="+mj-ea"/>
                <a:ea typeface="+mj-ea"/>
              </a:rPr>
              <a:t>제안기업은</a:t>
            </a: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gray">
          <a:xfrm>
            <a:off x="2101850" y="5854700"/>
            <a:ext cx="5762625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hangingPunct="0">
              <a:buClr>
                <a:schemeClr val="accent2"/>
              </a:buClr>
            </a:pPr>
            <a:r>
              <a:rPr lang="en-US" altLang="ko-KR" sz="1300" dirty="0">
                <a:latin typeface="+mj-ea"/>
                <a:ea typeface="+mj-ea"/>
              </a:rPr>
              <a:t>eMall</a:t>
            </a:r>
            <a:r>
              <a:rPr lang="ko-KR" altLang="en-US" sz="1300" dirty="0">
                <a:latin typeface="+mj-ea"/>
                <a:ea typeface="+mj-ea"/>
              </a:rPr>
              <a:t>의 성공적인 </a:t>
            </a:r>
            <a:r>
              <a:rPr lang="en-US" altLang="ko-KR" sz="1300" dirty="0">
                <a:latin typeface="+mj-ea"/>
                <a:ea typeface="+mj-ea"/>
              </a:rPr>
              <a:t>BM </a:t>
            </a:r>
            <a:r>
              <a:rPr lang="ko-KR" altLang="en-US" sz="1300" dirty="0">
                <a:latin typeface="+mj-ea"/>
                <a:ea typeface="+mj-ea"/>
              </a:rPr>
              <a:t>수립과 </a:t>
            </a:r>
            <a:r>
              <a:rPr lang="en-US" altLang="ko-KR" sz="1300" dirty="0">
                <a:latin typeface="+mj-ea"/>
                <a:ea typeface="+mj-ea"/>
              </a:rPr>
              <a:t>Process Transformation </a:t>
            </a:r>
            <a:r>
              <a:rPr lang="ko-KR" altLang="en-US" sz="1300" dirty="0">
                <a:latin typeface="+mj-ea"/>
                <a:ea typeface="+mj-ea"/>
              </a:rPr>
              <a:t>진행을 지원 </a:t>
            </a:r>
          </a:p>
        </p:txBody>
      </p:sp>
      <p:sp>
        <p:nvSpPr>
          <p:cNvPr id="51215" name="Rectangle 15"/>
          <p:cNvSpPr>
            <a:spLocks noChangeArrowheads="1"/>
          </p:cNvSpPr>
          <p:nvPr/>
        </p:nvSpPr>
        <p:spPr bwMode="gray">
          <a:xfrm>
            <a:off x="7558088" y="5476875"/>
            <a:ext cx="51616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>
              <a:buClr>
                <a:schemeClr val="accent2"/>
              </a:buClr>
            </a:pPr>
            <a:r>
              <a:rPr lang="ko-KR" altLang="en-US">
                <a:latin typeface="+mj-ea"/>
                <a:ea typeface="+mj-ea"/>
              </a:rPr>
              <a:t>를 통해</a:t>
            </a:r>
          </a:p>
        </p:txBody>
      </p:sp>
      <p:sp>
        <p:nvSpPr>
          <p:cNvPr id="51216" name="AutoShape 16"/>
          <p:cNvSpPr>
            <a:spLocks noChangeArrowheads="1"/>
          </p:cNvSpPr>
          <p:nvPr/>
        </p:nvSpPr>
        <p:spPr bwMode="gray">
          <a:xfrm>
            <a:off x="1965325" y="5408613"/>
            <a:ext cx="1692275" cy="3206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algn="ctr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eaLnBrk="0" hangingPunct="0">
              <a:buClr>
                <a:schemeClr val="accent2"/>
              </a:buClr>
            </a:pPr>
            <a:r>
              <a:rPr lang="ko-KR" altLang="en-US" sz="1300">
                <a:latin typeface="+mj-ea"/>
                <a:ea typeface="+mj-ea"/>
              </a:rPr>
              <a:t>유통 전문가</a:t>
            </a:r>
          </a:p>
        </p:txBody>
      </p:sp>
      <p:sp>
        <p:nvSpPr>
          <p:cNvPr id="51217" name="AutoShape 17"/>
          <p:cNvSpPr>
            <a:spLocks noChangeArrowheads="1"/>
          </p:cNvSpPr>
          <p:nvPr/>
        </p:nvSpPr>
        <p:spPr bwMode="gray">
          <a:xfrm>
            <a:off x="3868738" y="5408613"/>
            <a:ext cx="1692275" cy="3206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algn="ctr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eaLnBrk="0" hangingPunct="0">
              <a:buClr>
                <a:schemeClr val="accent2"/>
              </a:buClr>
            </a:pPr>
            <a:r>
              <a:rPr lang="ko-KR" altLang="en-US" sz="1300">
                <a:latin typeface="+mj-ea"/>
                <a:ea typeface="+mj-ea"/>
              </a:rPr>
              <a:t>고객 정보 분석 역량</a:t>
            </a:r>
          </a:p>
        </p:txBody>
      </p:sp>
      <p:sp>
        <p:nvSpPr>
          <p:cNvPr id="51218" name="AutoShape 18"/>
          <p:cNvSpPr>
            <a:spLocks noChangeArrowheads="1"/>
          </p:cNvSpPr>
          <p:nvPr/>
        </p:nvSpPr>
        <p:spPr bwMode="gray">
          <a:xfrm>
            <a:off x="5773738" y="5408613"/>
            <a:ext cx="1692275" cy="3206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 algn="ctr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eaLnBrk="0" hangingPunct="0">
              <a:buClr>
                <a:schemeClr val="accent2"/>
              </a:buClr>
            </a:pPr>
            <a:r>
              <a:rPr lang="ko-KR" altLang="en-US" sz="1300">
                <a:latin typeface="+mj-ea"/>
                <a:ea typeface="+mj-ea"/>
              </a:rPr>
              <a:t>체계적 추진 방법론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2"/>
          <p:cNvGrpSpPr>
            <a:grpSpLocks/>
          </p:cNvGrpSpPr>
          <p:nvPr/>
        </p:nvGrpSpPr>
        <p:grpSpPr bwMode="auto">
          <a:xfrm>
            <a:off x="5819775" y="4376738"/>
            <a:ext cx="3489325" cy="1931987"/>
            <a:chOff x="3598" y="1737"/>
            <a:chExt cx="2198" cy="1239"/>
          </a:xfrm>
        </p:grpSpPr>
        <p:sp>
          <p:nvSpPr>
            <p:cNvPr id="52227" name="AutoShape 3"/>
            <p:cNvSpPr>
              <a:spLocks noChangeArrowheads="1"/>
            </p:cNvSpPr>
            <p:nvPr/>
          </p:nvSpPr>
          <p:spPr bwMode="gray">
            <a:xfrm flipH="1">
              <a:off x="3598" y="1737"/>
              <a:ext cx="697" cy="1239"/>
            </a:xfrm>
            <a:prstGeom prst="homePlate">
              <a:avLst>
                <a:gd name="adj" fmla="val 48815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86275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2000" tIns="72000" rIns="72000" bIns="7200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52228" name="AutoShape 4"/>
            <p:cNvSpPr>
              <a:spLocks noChangeArrowheads="1"/>
            </p:cNvSpPr>
            <p:nvPr/>
          </p:nvSpPr>
          <p:spPr bwMode="gray">
            <a:xfrm flipH="1">
              <a:off x="3605" y="1737"/>
              <a:ext cx="2191" cy="1239"/>
            </a:xfrm>
            <a:prstGeom prst="homePlate">
              <a:avLst>
                <a:gd name="adj" fmla="val 25076"/>
              </a:avLst>
            </a:prstGeom>
            <a:noFill/>
            <a:ln w="19050" algn="ctr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52229" name="Group 5"/>
          <p:cNvGrpSpPr>
            <a:grpSpLocks/>
          </p:cNvGrpSpPr>
          <p:nvPr/>
        </p:nvGrpSpPr>
        <p:grpSpPr bwMode="auto">
          <a:xfrm>
            <a:off x="739775" y="4376738"/>
            <a:ext cx="3460750" cy="1931987"/>
            <a:chOff x="398" y="1737"/>
            <a:chExt cx="2180" cy="1239"/>
          </a:xfrm>
        </p:grpSpPr>
        <p:sp>
          <p:nvSpPr>
            <p:cNvPr id="52230" name="AutoShape 6"/>
            <p:cNvSpPr>
              <a:spLocks noChangeArrowheads="1"/>
            </p:cNvSpPr>
            <p:nvPr/>
          </p:nvSpPr>
          <p:spPr bwMode="gray">
            <a:xfrm>
              <a:off x="1855" y="1737"/>
              <a:ext cx="723" cy="1239"/>
            </a:xfrm>
            <a:prstGeom prst="homePlate">
              <a:avLst>
                <a:gd name="adj" fmla="val 39282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86275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72000" tIns="72000" rIns="72000" bIns="7200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52231" name="AutoShape 7"/>
            <p:cNvSpPr>
              <a:spLocks noChangeArrowheads="1"/>
            </p:cNvSpPr>
            <p:nvPr/>
          </p:nvSpPr>
          <p:spPr bwMode="gray">
            <a:xfrm>
              <a:off x="398" y="1737"/>
              <a:ext cx="2180" cy="1239"/>
            </a:xfrm>
            <a:prstGeom prst="homePlate">
              <a:avLst>
                <a:gd name="adj" fmla="val 23167"/>
              </a:avLst>
            </a:prstGeom>
            <a:noFill/>
            <a:ln w="19050" algn="ctr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52232" name="AutoShape 8"/>
          <p:cNvSpPr>
            <a:spLocks noChangeArrowheads="1"/>
          </p:cNvSpPr>
          <p:nvPr/>
        </p:nvSpPr>
        <p:spPr bwMode="gray">
          <a:xfrm rot="5400000" flipH="1" flipV="1">
            <a:off x="4735512" y="1727201"/>
            <a:ext cx="568325" cy="2565400"/>
          </a:xfrm>
          <a:prstGeom prst="homePlate">
            <a:avLst>
              <a:gd name="adj" fmla="val 6960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2000" tIns="72000" rIns="72000" bIns="7200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2233" name="AutoShape 9"/>
          <p:cNvSpPr>
            <a:spLocks noChangeArrowheads="1"/>
          </p:cNvSpPr>
          <p:nvPr/>
        </p:nvSpPr>
        <p:spPr bwMode="gray">
          <a:xfrm rot="16200000" flipV="1">
            <a:off x="4181475" y="2254250"/>
            <a:ext cx="1692275" cy="2600325"/>
          </a:xfrm>
          <a:prstGeom prst="homePlate">
            <a:avLst>
              <a:gd name="adj" fmla="val 25000"/>
            </a:avLst>
          </a:prstGeom>
          <a:noFill/>
          <a:ln w="19050" algn="ctr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2234" name="Rectangle 10"/>
          <p:cNvSpPr>
            <a:spLocks noChangeArrowheads="1"/>
          </p:cNvSpPr>
          <p:nvPr/>
        </p:nvSpPr>
        <p:spPr bwMode="gray">
          <a:xfrm>
            <a:off x="3725863" y="3140075"/>
            <a:ext cx="2600325" cy="3048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rIns="54000" anchor="ctr"/>
          <a:lstStyle>
            <a:lvl1pPr marL="85725" indent="-857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buClr>
                <a:schemeClr val="accent2"/>
              </a:buClr>
            </a:pPr>
            <a:r>
              <a:rPr lang="en-US" altLang="en-US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eMall BM </a:t>
            </a:r>
            <a:r>
              <a:rPr lang="en-US" altLang="en-US" dirty="0" err="1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혁신</a:t>
            </a:r>
            <a:endParaRPr lang="en-US" altLang="en-US" dirty="0">
              <a:solidFill>
                <a:srgbClr val="FFFFFF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52235" name="Rectangle 11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1231900" cy="247650"/>
          </a:xfrm>
        </p:spPr>
        <p:txBody>
          <a:bodyPr/>
          <a:lstStyle/>
          <a:p>
            <a:r>
              <a:rPr lang="ko-KR" altLang="en-US" dirty="0"/>
              <a:t>제안 목적</a:t>
            </a:r>
          </a:p>
        </p:txBody>
      </p:sp>
      <p:sp>
        <p:nvSpPr>
          <p:cNvPr id="52236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비전 달성을 위해 </a:t>
            </a:r>
            <a:r>
              <a:rPr lang="en-US" altLang="ko-KR" dirty="0"/>
              <a:t>eMall</a:t>
            </a:r>
            <a:r>
              <a:rPr lang="ko-KR" altLang="en-US" dirty="0"/>
              <a:t>의 </a:t>
            </a:r>
            <a:r>
              <a:rPr lang="en-US" altLang="ko-KR" dirty="0"/>
              <a:t>Simple &amp; Useful eMall BM </a:t>
            </a:r>
            <a:r>
              <a:rPr lang="ko-KR" altLang="en-US" dirty="0"/>
              <a:t>혁신과 경쟁력을 갖춘 전사 업무 </a:t>
            </a:r>
            <a:r>
              <a:rPr lang="en-US" altLang="ko-KR" dirty="0"/>
              <a:t>Process Transformation </a:t>
            </a:r>
            <a:r>
              <a:rPr lang="ko-KR" altLang="en-US" dirty="0"/>
              <a:t>및 시스템 기본 설계를 통해 향후 미래 지향적 통합정보시스템을 구축하는 것을 목적으로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3763963" y="3525838"/>
            <a:ext cx="26289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179388" indent="-1793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 typeface="Wingdings" pitchFamily="2" charset="2"/>
              <a:buChar char="§"/>
            </a:pPr>
            <a:r>
              <a:rPr lang="ko-KR" altLang="en-US" dirty="0">
                <a:latin typeface="+mj-ea"/>
                <a:ea typeface="+mj-ea"/>
              </a:rPr>
              <a:t>비전 달성을 위한 상품 혁신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고객 이해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협력사 관계 강화 기반의 고객관점에서 </a:t>
            </a:r>
            <a:r>
              <a:rPr lang="en-US" altLang="ko-KR" dirty="0">
                <a:latin typeface="+mj-ea"/>
                <a:ea typeface="+mj-ea"/>
              </a:rPr>
              <a:t>BM </a:t>
            </a:r>
            <a:r>
              <a:rPr lang="ko-KR" altLang="en-US" dirty="0">
                <a:latin typeface="+mj-ea"/>
                <a:ea typeface="+mj-ea"/>
              </a:rPr>
              <a:t>혁신</a:t>
            </a:r>
          </a:p>
        </p:txBody>
      </p:sp>
      <p:sp>
        <p:nvSpPr>
          <p:cNvPr id="52238" name="Rectangle 14"/>
          <p:cNvSpPr>
            <a:spLocks noChangeArrowheads="1"/>
          </p:cNvSpPr>
          <p:nvPr/>
        </p:nvSpPr>
        <p:spPr bwMode="auto">
          <a:xfrm>
            <a:off x="776288" y="4772025"/>
            <a:ext cx="3168650" cy="1218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179388" indent="-1793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en-US" altLang="ko-KR" dirty="0">
                <a:latin typeface="+mj-ea"/>
                <a:ea typeface="+mj-ea"/>
              </a:rPr>
              <a:t>BM </a:t>
            </a:r>
            <a:r>
              <a:rPr lang="ko-KR" altLang="en-US" dirty="0">
                <a:latin typeface="+mj-ea"/>
                <a:ea typeface="+mj-ea"/>
              </a:rPr>
              <a:t>중심의 </a:t>
            </a:r>
            <a:r>
              <a:rPr lang="en-US" altLang="ko-KR" dirty="0">
                <a:latin typeface="+mj-ea"/>
                <a:ea typeface="+mj-ea"/>
              </a:rPr>
              <a:t>eMall</a:t>
            </a:r>
            <a:r>
              <a:rPr lang="ko-KR" altLang="en-US" dirty="0">
                <a:latin typeface="+mj-ea"/>
                <a:ea typeface="+mj-ea"/>
              </a:rPr>
              <a:t>과 성장전략에 맞는 </a:t>
            </a:r>
            <a:r>
              <a:rPr lang="en-US" altLang="ko-KR" dirty="0">
                <a:latin typeface="+mj-ea"/>
                <a:ea typeface="+mj-ea"/>
              </a:rPr>
              <a:t>Process Transformation </a:t>
            </a:r>
            <a:r>
              <a:rPr lang="ko-KR" altLang="en-US" dirty="0">
                <a:latin typeface="+mj-ea"/>
                <a:ea typeface="+mj-ea"/>
              </a:rPr>
              <a:t>운영 모델 수립</a:t>
            </a:r>
          </a:p>
          <a:p>
            <a:pPr algn="l" eaLnBrk="1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dirty="0">
                <a:latin typeface="+mj-ea"/>
                <a:ea typeface="+mj-ea"/>
              </a:rPr>
              <a:t>다채널 업무 혁신에 필요한 역량 설계</a:t>
            </a:r>
          </a:p>
          <a:p>
            <a:pPr algn="l" eaLnBrk="1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dirty="0">
                <a:latin typeface="+mj-ea"/>
                <a:ea typeface="+mj-ea"/>
              </a:rPr>
              <a:t>전사 표준화의 유연하고 통합된 업무 프로세스 설계</a:t>
            </a:r>
          </a:p>
          <a:p>
            <a:pPr algn="l" eaLnBrk="1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dirty="0">
                <a:latin typeface="+mj-ea"/>
                <a:ea typeface="+mj-ea"/>
              </a:rPr>
              <a:t>업무 실행을 위한 조직과 </a:t>
            </a:r>
            <a:r>
              <a:rPr lang="en-US" altLang="ko-KR" dirty="0">
                <a:latin typeface="+mj-ea"/>
                <a:ea typeface="+mj-ea"/>
              </a:rPr>
              <a:t>R&amp;R </a:t>
            </a:r>
            <a:r>
              <a:rPr lang="ko-KR" altLang="en-US" dirty="0">
                <a:latin typeface="+mj-ea"/>
                <a:ea typeface="+mj-ea"/>
              </a:rPr>
              <a:t>방안 설계</a:t>
            </a:r>
          </a:p>
        </p:txBody>
      </p:sp>
      <p:sp>
        <p:nvSpPr>
          <p:cNvPr id="52240" name="Rectangle 16"/>
          <p:cNvSpPr>
            <a:spLocks noChangeArrowheads="1"/>
          </p:cNvSpPr>
          <p:nvPr/>
        </p:nvSpPr>
        <p:spPr bwMode="auto">
          <a:xfrm>
            <a:off x="6213475" y="4760913"/>
            <a:ext cx="3168650" cy="1403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179388" indent="-1793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>
                <a:latin typeface="+mj-ea"/>
                <a:ea typeface="+mj-ea"/>
              </a:rPr>
              <a:t>전사 표준화 업무를 지원하는 시스템 아키텍처 설계</a:t>
            </a:r>
          </a:p>
          <a:p>
            <a:pPr algn="l" eaLnBrk="1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>
                <a:latin typeface="+mj-ea"/>
                <a:ea typeface="+mj-ea"/>
              </a:rPr>
              <a:t>신기술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업무 요건의 신속한 </a:t>
            </a:r>
            <a:r>
              <a:rPr lang="en-US" altLang="ko-KR">
                <a:latin typeface="+mj-ea"/>
                <a:ea typeface="+mj-ea"/>
              </a:rPr>
              <a:t>IT </a:t>
            </a:r>
            <a:r>
              <a:rPr lang="ko-KR" altLang="en-US">
                <a:latin typeface="+mj-ea"/>
                <a:ea typeface="+mj-ea"/>
              </a:rPr>
              <a:t>반영을 위한 유연한 시스템 아키텍처 설계</a:t>
            </a:r>
          </a:p>
          <a:p>
            <a:pPr algn="l" eaLnBrk="1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>
                <a:latin typeface="+mj-ea"/>
                <a:ea typeface="+mj-ea"/>
              </a:rPr>
              <a:t>다채널 업무 지원의 통합된 시스템 구축 방안 수립</a:t>
            </a:r>
          </a:p>
          <a:p>
            <a:pPr algn="l" eaLnBrk="1" hangingPunct="1"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>
                <a:latin typeface="+mj-ea"/>
                <a:ea typeface="+mj-ea"/>
              </a:rPr>
              <a:t>안정적 차세대 시스템 구축 방안 수립</a:t>
            </a:r>
          </a:p>
        </p:txBody>
      </p:sp>
      <p:sp>
        <p:nvSpPr>
          <p:cNvPr id="7184" name="TextBox 120"/>
          <p:cNvSpPr txBox="1">
            <a:spLocks noChangeArrowheads="1"/>
          </p:cNvSpPr>
          <p:nvPr/>
        </p:nvSpPr>
        <p:spPr bwMode="auto">
          <a:xfrm>
            <a:off x="2184122" y="2012950"/>
            <a:ext cx="56060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latinLnBrk="1" hangingPunct="1"/>
            <a:r>
              <a:rPr kumimoji="1" lang="ko-KR" altLang="en-US" sz="1600" dirty="0">
                <a:solidFill>
                  <a:srgbClr val="000066"/>
                </a:solidFill>
                <a:latin typeface="+mj-ea"/>
                <a:ea typeface="+mj-ea"/>
              </a:rPr>
              <a:t>“</a:t>
            </a:r>
            <a:r>
              <a:rPr kumimoji="1" lang="en-US" altLang="ko-KR" sz="1600" dirty="0">
                <a:solidFill>
                  <a:srgbClr val="000066"/>
                </a:solidFill>
                <a:latin typeface="+mj-ea"/>
                <a:ea typeface="+mj-ea"/>
              </a:rPr>
              <a:t>0000</a:t>
            </a:r>
            <a:r>
              <a:rPr kumimoji="1" lang="ko-KR" altLang="en-US" sz="1600" dirty="0">
                <a:solidFill>
                  <a:srgbClr val="000066"/>
                </a:solidFill>
                <a:latin typeface="+mj-ea"/>
                <a:ea typeface="+mj-ea"/>
              </a:rPr>
              <a:t>년 전사</a:t>
            </a:r>
            <a:r>
              <a:rPr kumimoji="1" lang="ko-KR" altLang="en-US" sz="1600" b="0" dirty="0">
                <a:solidFill>
                  <a:srgbClr val="000066"/>
                </a:solidFill>
                <a:latin typeface="+mj-ea"/>
                <a:ea typeface="+mj-ea"/>
              </a:rPr>
              <a:t> </a:t>
            </a:r>
            <a:r>
              <a:rPr kumimoji="1" lang="en-US" altLang="ko-KR" sz="1600" dirty="0">
                <a:solidFill>
                  <a:srgbClr val="000066"/>
                </a:solidFill>
                <a:latin typeface="+mj-ea"/>
                <a:ea typeface="+mj-ea"/>
              </a:rPr>
              <a:t>0000</a:t>
            </a:r>
            <a:r>
              <a:rPr kumimoji="1" lang="ko-KR" altLang="en-US" sz="1600" dirty="0">
                <a:solidFill>
                  <a:srgbClr val="000066"/>
                </a:solidFill>
                <a:latin typeface="+mj-ea"/>
                <a:ea typeface="+mj-ea"/>
              </a:rPr>
              <a:t> 억원 </a:t>
            </a:r>
            <a:r>
              <a:rPr kumimoji="1" lang="en-US" altLang="ko-KR" sz="1600" dirty="0">
                <a:solidFill>
                  <a:srgbClr val="000066"/>
                </a:solidFill>
                <a:latin typeface="+mj-ea"/>
                <a:ea typeface="+mj-ea"/>
              </a:rPr>
              <a:t>(eMall 0000</a:t>
            </a:r>
            <a:r>
              <a:rPr kumimoji="1" lang="ko-KR" altLang="en-US" sz="1600" dirty="0">
                <a:solidFill>
                  <a:srgbClr val="000066"/>
                </a:solidFill>
                <a:latin typeface="+mj-ea"/>
                <a:ea typeface="+mj-ea"/>
              </a:rPr>
              <a:t> 억원</a:t>
            </a:r>
            <a:r>
              <a:rPr kumimoji="1" lang="en-US" altLang="ko-KR" sz="1600" dirty="0">
                <a:solidFill>
                  <a:srgbClr val="000066"/>
                </a:solidFill>
                <a:latin typeface="+mj-ea"/>
                <a:ea typeface="+mj-ea"/>
              </a:rPr>
              <a:t>) </a:t>
            </a:r>
            <a:r>
              <a:rPr kumimoji="1" lang="ko-KR" altLang="en-US" sz="1600" dirty="0">
                <a:solidFill>
                  <a:srgbClr val="000066"/>
                </a:solidFill>
                <a:latin typeface="+mj-ea"/>
                <a:ea typeface="+mj-ea"/>
              </a:rPr>
              <a:t>매출액 달성”</a:t>
            </a:r>
          </a:p>
        </p:txBody>
      </p:sp>
      <p:grpSp>
        <p:nvGrpSpPr>
          <p:cNvPr id="52242" name="Group 18"/>
          <p:cNvGrpSpPr>
            <a:grpSpLocks/>
          </p:cNvGrpSpPr>
          <p:nvPr/>
        </p:nvGrpSpPr>
        <p:grpSpPr bwMode="auto">
          <a:xfrm>
            <a:off x="3944938" y="4327525"/>
            <a:ext cx="1955800" cy="1978025"/>
            <a:chOff x="5643" y="450"/>
            <a:chExt cx="306" cy="292"/>
          </a:xfrm>
        </p:grpSpPr>
        <p:sp>
          <p:nvSpPr>
            <p:cNvPr id="52243" name="AutoShape 19"/>
            <p:cNvSpPr>
              <a:spLocks noChangeArrowheads="1"/>
            </p:cNvSpPr>
            <p:nvPr/>
          </p:nvSpPr>
          <p:spPr bwMode="gray">
            <a:xfrm>
              <a:off x="5643" y="450"/>
              <a:ext cx="306" cy="29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2B2B2">
                    <a:gamma/>
                    <a:tint val="20392"/>
                    <a:invGamma/>
                  </a:srgbClr>
                </a:gs>
                <a:gs pos="100000">
                  <a:srgbClr val="B2B2B2"/>
                </a:gs>
              </a:gsLst>
              <a:lin ang="5400000" scaled="1"/>
            </a:gradFill>
            <a:ln w="3175" algn="ctr">
              <a:solidFill>
                <a:srgbClr val="777777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5F5F5F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52244" name="AutoShape 20"/>
            <p:cNvSpPr>
              <a:spLocks noChangeArrowheads="1"/>
            </p:cNvSpPr>
            <p:nvPr/>
          </p:nvSpPr>
          <p:spPr bwMode="gray">
            <a:xfrm>
              <a:off x="5651" y="463"/>
              <a:ext cx="288" cy="26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2B2B2"/>
                </a:gs>
                <a:gs pos="100000">
                  <a:srgbClr val="777777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 algn="ctr">
                  <a:solidFill>
                    <a:srgbClr val="333333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atinLnBrk="1">
                <a:lnSpc>
                  <a:spcPct val="120000"/>
                </a:lnSpc>
              </a:pPr>
              <a: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ea"/>
                  <a:ea typeface="+mj-ea"/>
                </a:rPr>
                <a:t>선진 온라인 몰 </a:t>
              </a:r>
              <a:b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ea"/>
                  <a:ea typeface="+mj-ea"/>
                </a:rPr>
              </a:br>
              <a: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ea"/>
                  <a:ea typeface="+mj-ea"/>
                </a:rPr>
                <a:t>벤치마킹을 통한</a:t>
              </a:r>
              <a:b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ea"/>
                  <a:ea typeface="+mj-ea"/>
                </a:rPr>
              </a:br>
              <a: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ea"/>
                  <a:ea typeface="+mj-ea"/>
                </a:rPr>
                <a:t>최적의 시스템 구축</a:t>
              </a:r>
              <a:r>
                <a:rPr lang="ko-KR" altLang="en-US" sz="1400" dirty="0">
                  <a:solidFill>
                    <a:schemeClr val="bg1"/>
                  </a:solidFill>
                  <a:latin typeface="+mj-ea"/>
                  <a:ea typeface="+mj-ea"/>
                </a:rPr>
                <a:t> </a:t>
              </a:r>
            </a:p>
          </p:txBody>
        </p:sp>
      </p:grpSp>
      <p:grpSp>
        <p:nvGrpSpPr>
          <p:cNvPr id="52246" name="Group 22"/>
          <p:cNvGrpSpPr>
            <a:grpSpLocks/>
          </p:cNvGrpSpPr>
          <p:nvPr/>
        </p:nvGrpSpPr>
        <p:grpSpPr bwMode="auto">
          <a:xfrm>
            <a:off x="741363" y="4383088"/>
            <a:ext cx="3132137" cy="304800"/>
            <a:chOff x="399" y="1741"/>
            <a:chExt cx="1973" cy="192"/>
          </a:xfrm>
        </p:grpSpPr>
        <p:sp>
          <p:nvSpPr>
            <p:cNvPr id="52247" name="Rectangle 23"/>
            <p:cNvSpPr>
              <a:spLocks noChangeArrowheads="1"/>
            </p:cNvSpPr>
            <p:nvPr/>
          </p:nvSpPr>
          <p:spPr bwMode="gray">
            <a:xfrm>
              <a:off x="399" y="1741"/>
              <a:ext cx="1882" cy="19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>
              <a:lvl1pPr marL="85725" indent="-85725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>
                <a:buClr>
                  <a:schemeClr val="accent2"/>
                </a:buClr>
              </a:pPr>
              <a:r>
                <a:rPr lang="ko-KR" altLang="en-US" dirty="0">
                  <a:solidFill>
                    <a:srgbClr val="FFFFFF"/>
                  </a:solidFill>
                  <a:latin typeface="+mj-ea"/>
                  <a:ea typeface="+mj-ea"/>
                  <a:cs typeface="Arial" charset="0"/>
                </a:rPr>
                <a:t>업무 </a:t>
              </a:r>
              <a:r>
                <a:rPr lang="en-US" altLang="ko-KR" dirty="0">
                  <a:solidFill>
                    <a:srgbClr val="FFFFFF"/>
                  </a:solidFill>
                  <a:latin typeface="+mj-ea"/>
                  <a:ea typeface="+mj-ea"/>
                  <a:cs typeface="Arial" charset="0"/>
                </a:rPr>
                <a:t>Process Transformation</a:t>
              </a:r>
            </a:p>
          </p:txBody>
        </p:sp>
        <p:sp>
          <p:nvSpPr>
            <p:cNvPr id="52248" name="AutoShape 24"/>
            <p:cNvSpPr>
              <a:spLocks noChangeArrowheads="1"/>
            </p:cNvSpPr>
            <p:nvPr/>
          </p:nvSpPr>
          <p:spPr bwMode="gray">
            <a:xfrm>
              <a:off x="2281" y="1741"/>
              <a:ext cx="91" cy="192"/>
            </a:xfrm>
            <a:prstGeom prst="rtTriangl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>
              <a:lvl1pPr marL="85725" indent="-85725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>
                <a:buClr>
                  <a:schemeClr val="accent2"/>
                </a:buClr>
              </a:pPr>
              <a:endParaRPr lang="en-US" altLang="en-US">
                <a:solidFill>
                  <a:srgbClr val="FFFFFF"/>
                </a:solidFill>
                <a:latin typeface="+mj-ea"/>
                <a:ea typeface="+mj-ea"/>
                <a:cs typeface="Arial" charset="0"/>
              </a:endParaRPr>
            </a:p>
          </p:txBody>
        </p:sp>
      </p:grpSp>
      <p:grpSp>
        <p:nvGrpSpPr>
          <p:cNvPr id="52249" name="Group 25"/>
          <p:cNvGrpSpPr>
            <a:grpSpLocks/>
          </p:cNvGrpSpPr>
          <p:nvPr/>
        </p:nvGrpSpPr>
        <p:grpSpPr bwMode="auto">
          <a:xfrm>
            <a:off x="6176963" y="4383088"/>
            <a:ext cx="3132137" cy="304800"/>
            <a:chOff x="3823" y="1741"/>
            <a:chExt cx="1973" cy="192"/>
          </a:xfrm>
        </p:grpSpPr>
        <p:sp>
          <p:nvSpPr>
            <p:cNvPr id="52250" name="Rectangle 26"/>
            <p:cNvSpPr>
              <a:spLocks noChangeArrowheads="1"/>
            </p:cNvSpPr>
            <p:nvPr/>
          </p:nvSpPr>
          <p:spPr bwMode="gray">
            <a:xfrm>
              <a:off x="3914" y="1741"/>
              <a:ext cx="1882" cy="19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>
              <a:lvl1pPr marL="85725" indent="-85725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>
                <a:buClr>
                  <a:schemeClr val="accent2"/>
                </a:buClr>
              </a:pPr>
              <a:r>
                <a:rPr lang="ko-KR" altLang="en-US" dirty="0">
                  <a:solidFill>
                    <a:srgbClr val="FFFFFF"/>
                  </a:solidFill>
                  <a:latin typeface="+mj-ea"/>
                  <a:ea typeface="+mj-ea"/>
                  <a:cs typeface="Arial" charset="0"/>
                </a:rPr>
                <a:t>시스템 혁신</a:t>
              </a:r>
            </a:p>
          </p:txBody>
        </p:sp>
        <p:sp>
          <p:nvSpPr>
            <p:cNvPr id="52251" name="AutoShape 27"/>
            <p:cNvSpPr>
              <a:spLocks noChangeArrowheads="1"/>
            </p:cNvSpPr>
            <p:nvPr/>
          </p:nvSpPr>
          <p:spPr bwMode="gray">
            <a:xfrm flipH="1">
              <a:off x="3823" y="1741"/>
              <a:ext cx="91" cy="192"/>
            </a:xfrm>
            <a:prstGeom prst="rtTriangl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80808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rIns="54000" anchor="ctr"/>
            <a:lstStyle>
              <a:lvl1pPr marL="85725" indent="-85725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>
                <a:buClr>
                  <a:schemeClr val="accent2"/>
                </a:buClr>
              </a:pPr>
              <a:endParaRPr lang="en-US" altLang="en-US">
                <a:solidFill>
                  <a:srgbClr val="FFFFFF"/>
                </a:solidFill>
                <a:latin typeface="+mj-ea"/>
                <a:ea typeface="+mj-ea"/>
                <a:cs typeface="Arial" charset="0"/>
              </a:endParaRPr>
            </a:p>
          </p:txBody>
        </p:sp>
      </p:grpSp>
      <p:sp>
        <p:nvSpPr>
          <p:cNvPr id="39" name="Rectangle 43"/>
          <p:cNvSpPr>
            <a:spLocks noChangeArrowheads="1"/>
          </p:cNvSpPr>
          <p:nvPr/>
        </p:nvSpPr>
        <p:spPr bwMode="auto">
          <a:xfrm>
            <a:off x="4527222" y="1740614"/>
            <a:ext cx="888065" cy="24622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8953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defTabSz="8953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defTabSz="8953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defTabSz="8953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defTabSz="8953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defTabSz="8953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defTabSz="8953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defTabSz="8953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defTabSz="8953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latinLnBrk="1" hangingPunct="1">
              <a:spcBef>
                <a:spcPct val="20000"/>
              </a:spcBef>
            </a:pPr>
            <a:r>
              <a:rPr kumimoji="1" lang="en-US" altLang="ko-KR" sz="1600" u="sng" dirty="0">
                <a:solidFill>
                  <a:srgbClr val="000066"/>
                </a:solidFill>
                <a:latin typeface="+mj-ea"/>
                <a:ea typeface="+mj-ea"/>
              </a:rPr>
              <a:t>[ Vision ]</a:t>
            </a:r>
          </a:p>
        </p:txBody>
      </p:sp>
      <p:pic>
        <p:nvPicPr>
          <p:cNvPr id="52253" name="Picture 29" descr="13-3"/>
          <p:cNvPicPr>
            <a:picLocks noChangeAspect="1" noChangeArrowheads="1"/>
          </p:cNvPicPr>
          <p:nvPr/>
        </p:nvPicPr>
        <p:blipFill>
          <a:blip r:embed="rId2">
            <a:lum bright="6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613" y="2438400"/>
            <a:ext cx="4889500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4330712" y="2349500"/>
            <a:ext cx="3402001" cy="3995738"/>
          </a:xfrm>
          <a:prstGeom prst="rect">
            <a:avLst/>
          </a:prstGeom>
          <a:solidFill>
            <a:srgbClr val="F2F2F2">
              <a:alpha val="50000"/>
            </a:srgbClr>
          </a:solidFill>
          <a:ln w="28575" algn="ctr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36000" rIns="36000" bIns="3600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1231900" cy="247650"/>
          </a:xfrm>
          <a:noFill/>
          <a:ln/>
        </p:spPr>
        <p:txBody>
          <a:bodyPr/>
          <a:lstStyle/>
          <a:p>
            <a:r>
              <a:rPr lang="ko-KR" altLang="en-US" dirty="0"/>
              <a:t>제안 범위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60350" y="914400"/>
            <a:ext cx="9367838" cy="1022350"/>
          </a:xfrm>
          <a:noFill/>
          <a:ln/>
        </p:spPr>
        <p:txBody>
          <a:bodyPr/>
          <a:lstStyle/>
          <a:p>
            <a:r>
              <a:rPr lang="en-US" altLang="ko-KR" dirty="0"/>
              <a:t>RFP </a:t>
            </a:r>
            <a:r>
              <a:rPr lang="ko-KR" altLang="en-US" dirty="0"/>
              <a:t>등 요구사항의 내용을 기준으로 아래의 내용을 작성합니다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줄</a:t>
            </a:r>
            <a:r>
              <a:rPr lang="en-US" altLang="ko-KR" dirty="0"/>
              <a:t>~3</a:t>
            </a:r>
            <a:r>
              <a:rPr lang="ko-KR" altLang="en-US" dirty="0"/>
              <a:t>줄정도로 내용을 정리해서 작성합니다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0426" name="Rectangle 10"/>
          <p:cNvSpPr>
            <a:spLocks noChangeArrowheads="1"/>
          </p:cNvSpPr>
          <p:nvPr/>
        </p:nvSpPr>
        <p:spPr bwMode="gray">
          <a:xfrm>
            <a:off x="4495812" y="2349500"/>
            <a:ext cx="3195626" cy="3859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96969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179388" indent="-1793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marL="0" indent="0" algn="l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</a:pPr>
            <a:r>
              <a:rPr lang="en-US" altLang="ko-KR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Block</a:t>
            </a: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의 내용을 각각 간단하게 설명합니다</a:t>
            </a:r>
            <a:r>
              <a:rPr lang="en-US" altLang="ko-KR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.</a:t>
            </a:r>
          </a:p>
          <a:p>
            <a:pPr algn="l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제안 범위 내용</a:t>
            </a:r>
            <a:b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간단한 설명</a:t>
            </a:r>
            <a:b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간단한 설명</a:t>
            </a:r>
            <a:endParaRPr lang="en-US" altLang="ko-KR" sz="1100" b="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제안 범위 내용</a:t>
            </a:r>
            <a:b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간단한 설명</a:t>
            </a:r>
            <a:b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간단한 설명</a:t>
            </a:r>
            <a:endParaRPr lang="en-US" altLang="ko-KR" sz="1200" b="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제안 범위 내용</a:t>
            </a:r>
            <a:b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간단한 설명</a:t>
            </a:r>
            <a:b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간단한 설명</a:t>
            </a:r>
            <a:endParaRPr lang="en-US" altLang="ko-KR" b="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제안 범위 내용</a:t>
            </a:r>
            <a:b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간단한 설명</a:t>
            </a:r>
            <a:b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간단한 설명</a:t>
            </a:r>
            <a:endParaRPr lang="en-US" altLang="ko-KR" sz="1200" b="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>
              <a:lnSpc>
                <a:spcPct val="120000"/>
              </a:lnSpc>
              <a:spcBef>
                <a:spcPct val="3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제안 범위 내용</a:t>
            </a:r>
            <a:b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간단한 설명</a:t>
            </a:r>
            <a:b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2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간단한 설명</a:t>
            </a:r>
            <a:endParaRPr lang="en-US" altLang="ko-KR" sz="1200" b="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A4E5A6-3A7C-A4E7-CB0A-2737DBD8123D}"/>
              </a:ext>
            </a:extLst>
          </p:cNvPr>
          <p:cNvSpPr/>
          <p:nvPr/>
        </p:nvSpPr>
        <p:spPr bwMode="auto">
          <a:xfrm>
            <a:off x="260350" y="2349500"/>
            <a:ext cx="3792550" cy="3835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ore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제안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범위 내용을</a:t>
            </a:r>
            <a:endParaRPr kumimoji="0" lang="en-US" altLang="ko-K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+mj-ea"/>
                <a:ea typeface="+mj-ea"/>
              </a:rPr>
              <a:t>도해로 표현합니다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ore-K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ore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Blo</a:t>
            </a:r>
            <a:r>
              <a:rPr lang="en-US" altLang="ko-Kore-KR" dirty="0">
                <a:latin typeface="+mj-ea"/>
                <a:ea typeface="+mj-ea"/>
              </a:rPr>
              <a:t>ck </a:t>
            </a:r>
            <a:r>
              <a:rPr lang="ko-KR" altLang="en-US" dirty="0">
                <a:latin typeface="+mj-ea"/>
                <a:ea typeface="+mj-ea"/>
              </a:rPr>
              <a:t>이 쌓이는 그림이 좋습니다</a:t>
            </a:r>
            <a:endParaRPr kumimoji="0" lang="ko-Kore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60428" name="AutoShape 2"/>
          <p:cNvSpPr>
            <a:spLocks noChangeArrowheads="1"/>
          </p:cNvSpPr>
          <p:nvPr/>
        </p:nvSpPr>
        <p:spPr bwMode="auto">
          <a:xfrm>
            <a:off x="8426450" y="2563813"/>
            <a:ext cx="360363" cy="3744912"/>
          </a:xfrm>
          <a:prstGeom prst="downArrow">
            <a:avLst>
              <a:gd name="adj1" fmla="val 56602"/>
              <a:gd name="adj2" fmla="val 275822"/>
            </a:avLst>
          </a:prstGeom>
          <a:solidFill>
            <a:srgbClr val="CCCCFF">
              <a:alpha val="6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en-US">
              <a:latin typeface="+mj-ea"/>
              <a:ea typeface="+mj-ea"/>
            </a:endParaRPr>
          </a:p>
        </p:txBody>
      </p:sp>
      <p:sp>
        <p:nvSpPr>
          <p:cNvPr id="60429" name="Text Box 13"/>
          <p:cNvSpPr txBox="1">
            <a:spLocks noChangeArrowheads="1"/>
          </p:cNvSpPr>
          <p:nvPr/>
        </p:nvSpPr>
        <p:spPr bwMode="auto">
          <a:xfrm>
            <a:off x="8085961" y="2349500"/>
            <a:ext cx="114294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>
                <a:latin typeface="+mj-ea"/>
                <a:ea typeface="+mj-ea"/>
              </a:rPr>
              <a:t>Business Model</a:t>
            </a:r>
          </a:p>
        </p:txBody>
      </p:sp>
      <p:sp>
        <p:nvSpPr>
          <p:cNvPr id="60430" name="Text Box 14"/>
          <p:cNvSpPr txBox="1">
            <a:spLocks noChangeArrowheads="1"/>
          </p:cNvSpPr>
          <p:nvPr/>
        </p:nvSpPr>
        <p:spPr bwMode="auto">
          <a:xfrm>
            <a:off x="8134058" y="3080068"/>
            <a:ext cx="1045159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운영 모델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방식</a:t>
            </a:r>
          </a:p>
        </p:txBody>
      </p:sp>
      <p:sp>
        <p:nvSpPr>
          <p:cNvPr id="60431" name="Text Box 15"/>
          <p:cNvSpPr txBox="1">
            <a:spLocks noChangeArrowheads="1"/>
          </p:cNvSpPr>
          <p:nvPr/>
        </p:nvSpPr>
        <p:spPr bwMode="auto">
          <a:xfrm>
            <a:off x="8131616" y="4541203"/>
            <a:ext cx="105798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>
                <a:latin typeface="+mj-ea"/>
                <a:ea typeface="+mj-ea"/>
              </a:rPr>
              <a:t>조직 </a:t>
            </a:r>
            <a:r>
              <a:rPr lang="en-US" altLang="ko-KR">
                <a:latin typeface="+mj-ea"/>
                <a:ea typeface="+mj-ea"/>
              </a:rPr>
              <a:t>R&amp;R </a:t>
            </a:r>
            <a:r>
              <a:rPr lang="ko-KR" altLang="en-US">
                <a:latin typeface="+mj-ea"/>
                <a:ea typeface="+mj-ea"/>
              </a:rPr>
              <a:t>정의</a:t>
            </a:r>
          </a:p>
        </p:txBody>
      </p:sp>
      <p:sp>
        <p:nvSpPr>
          <p:cNvPr id="60432" name="Text Box 16"/>
          <p:cNvSpPr txBox="1">
            <a:spLocks noChangeArrowheads="1"/>
          </p:cNvSpPr>
          <p:nvPr/>
        </p:nvSpPr>
        <p:spPr bwMode="auto">
          <a:xfrm>
            <a:off x="8046672" y="5271771"/>
            <a:ext cx="122469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>
                <a:latin typeface="+mj-ea"/>
                <a:ea typeface="+mj-ea"/>
              </a:rPr>
              <a:t>IT </a:t>
            </a:r>
            <a:r>
              <a:rPr lang="ko-KR" altLang="en-US">
                <a:latin typeface="+mj-ea"/>
                <a:ea typeface="+mj-ea"/>
              </a:rPr>
              <a:t>개선 과제 도출</a:t>
            </a:r>
          </a:p>
        </p:txBody>
      </p:sp>
      <p:sp>
        <p:nvSpPr>
          <p:cNvPr id="60433" name="Text Box 17"/>
          <p:cNvSpPr txBox="1">
            <a:spLocks noChangeArrowheads="1"/>
          </p:cNvSpPr>
          <p:nvPr/>
        </p:nvSpPr>
        <p:spPr bwMode="auto">
          <a:xfrm>
            <a:off x="8165340" y="3810636"/>
            <a:ext cx="97783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프로세스 개선</a:t>
            </a:r>
          </a:p>
        </p:txBody>
      </p:sp>
      <p:sp>
        <p:nvSpPr>
          <p:cNvPr id="60434" name="Text Box 18"/>
          <p:cNvSpPr txBox="1">
            <a:spLocks noChangeArrowheads="1"/>
          </p:cNvSpPr>
          <p:nvPr/>
        </p:nvSpPr>
        <p:spPr bwMode="auto">
          <a:xfrm>
            <a:off x="7781368" y="6002337"/>
            <a:ext cx="175689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시스템 구축 및 변화 관리</a:t>
            </a:r>
          </a:p>
        </p:txBody>
      </p:sp>
      <p:sp>
        <p:nvSpPr>
          <p:cNvPr id="3" name="사각형 설명선[R] 2">
            <a:extLst>
              <a:ext uri="{FF2B5EF4-FFF2-40B4-BE49-F238E27FC236}">
                <a16:creationId xmlns:a16="http://schemas.microsoft.com/office/drawing/2014/main" id="{9224EF92-51E5-0FE3-E422-248F68E48418}"/>
              </a:ext>
            </a:extLst>
          </p:cNvPr>
          <p:cNvSpPr/>
          <p:nvPr/>
        </p:nvSpPr>
        <p:spPr bwMode="auto">
          <a:xfrm>
            <a:off x="6429164" y="1340768"/>
            <a:ext cx="2743411" cy="595982"/>
          </a:xfrm>
          <a:prstGeom prst="wedgeRectCallout">
            <a:avLst>
              <a:gd name="adj1" fmla="val 31047"/>
              <a:gd name="adj2" fmla="val 113198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ore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좌측의</a:t>
            </a:r>
            <a:r>
              <a:rPr kumimoji="0" lang="ko-K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내용을 시간의 흐름으로 정리합니다</a:t>
            </a:r>
            <a:r>
              <a:rPr kumimoji="0" lang="en-US" altLang="ko-KR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900" dirty="0" err="1">
                <a:latin typeface="+mj-ea"/>
                <a:ea typeface="+mj-ea"/>
              </a:rPr>
              <a:t>발표할때는</a:t>
            </a:r>
            <a:r>
              <a:rPr lang="ko-KR" altLang="en-US" sz="900" dirty="0">
                <a:latin typeface="+mj-ea"/>
                <a:ea typeface="+mj-ea"/>
              </a:rPr>
              <a:t> 이 내용을 중심으로 설명합니다</a:t>
            </a:r>
            <a:r>
              <a:rPr lang="en-US" altLang="ko-KR" sz="900" dirty="0">
                <a:latin typeface="+mj-ea"/>
                <a:ea typeface="+mj-ea"/>
              </a:rPr>
              <a:t>.</a:t>
            </a:r>
            <a:endParaRPr kumimoji="0" lang="ko-Kore-KR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2" name="Group 2"/>
          <p:cNvGrpSpPr>
            <a:grpSpLocks/>
          </p:cNvGrpSpPr>
          <p:nvPr/>
        </p:nvGrpSpPr>
        <p:grpSpPr bwMode="auto">
          <a:xfrm>
            <a:off x="1457325" y="4787900"/>
            <a:ext cx="6989763" cy="1630363"/>
            <a:chOff x="785" y="1904"/>
            <a:chExt cx="2854" cy="678"/>
          </a:xfrm>
        </p:grpSpPr>
        <p:grpSp>
          <p:nvGrpSpPr>
            <p:cNvPr id="61443" name="Group 3"/>
            <p:cNvGrpSpPr>
              <a:grpSpLocks/>
            </p:cNvGrpSpPr>
            <p:nvPr/>
          </p:nvGrpSpPr>
          <p:grpSpPr bwMode="auto">
            <a:xfrm>
              <a:off x="785" y="2193"/>
              <a:ext cx="2854" cy="382"/>
              <a:chOff x="1080" y="3000"/>
              <a:chExt cx="912" cy="288"/>
            </a:xfrm>
          </p:grpSpPr>
          <p:sp>
            <p:nvSpPr>
              <p:cNvPr id="61444" name="AutoShape 4"/>
              <p:cNvSpPr>
                <a:spLocks/>
              </p:cNvSpPr>
              <p:nvPr/>
            </p:nvSpPr>
            <p:spPr bwMode="auto">
              <a:xfrm rot="-5400000">
                <a:off x="1392" y="2688"/>
                <a:ext cx="288" cy="912"/>
              </a:xfrm>
              <a:prstGeom prst="leftBracket">
                <a:avLst>
                  <a:gd name="adj" fmla="val 158333"/>
                </a:avLst>
              </a:prstGeom>
              <a:gradFill rotWithShape="0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13500000" algn="ctr" rotWithShape="0">
                        <a:schemeClr val="hlink">
                          <a:gamma/>
                          <a:shade val="60000"/>
                          <a:invGamma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61445" name="AutoShape 5"/>
              <p:cNvSpPr>
                <a:spLocks/>
              </p:cNvSpPr>
              <p:nvPr/>
            </p:nvSpPr>
            <p:spPr bwMode="auto">
              <a:xfrm rot="-5400000">
                <a:off x="1392" y="2799"/>
                <a:ext cx="288" cy="690"/>
              </a:xfrm>
              <a:prstGeom prst="leftBracket">
                <a:avLst>
                  <a:gd name="adj" fmla="val 119792"/>
                </a:avLst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13500000" algn="ctr" rotWithShape="0">
                        <a:srgbClr val="FFFFFF">
                          <a:gamma/>
                          <a:shade val="60000"/>
                          <a:invGamma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61446" name="Group 6"/>
            <p:cNvGrpSpPr>
              <a:grpSpLocks/>
            </p:cNvGrpSpPr>
            <p:nvPr/>
          </p:nvGrpSpPr>
          <p:grpSpPr bwMode="auto">
            <a:xfrm>
              <a:off x="1051" y="1904"/>
              <a:ext cx="2322" cy="678"/>
              <a:chOff x="1080" y="3000"/>
              <a:chExt cx="912" cy="288"/>
            </a:xfrm>
          </p:grpSpPr>
          <p:sp>
            <p:nvSpPr>
              <p:cNvPr id="61447" name="AutoShape 7"/>
              <p:cNvSpPr>
                <a:spLocks/>
              </p:cNvSpPr>
              <p:nvPr/>
            </p:nvSpPr>
            <p:spPr bwMode="auto">
              <a:xfrm rot="-5400000">
                <a:off x="1392" y="2688"/>
                <a:ext cx="288" cy="912"/>
              </a:xfrm>
              <a:prstGeom prst="leftBracket">
                <a:avLst>
                  <a:gd name="adj" fmla="val 158333"/>
                </a:avLst>
              </a:prstGeom>
              <a:gradFill rotWithShape="0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13500000" algn="ctr" rotWithShape="0">
                        <a:schemeClr val="hlink">
                          <a:gamma/>
                          <a:shade val="60000"/>
                          <a:invGamma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61448" name="AutoShape 8"/>
              <p:cNvSpPr>
                <a:spLocks/>
              </p:cNvSpPr>
              <p:nvPr/>
            </p:nvSpPr>
            <p:spPr bwMode="auto">
              <a:xfrm rot="-5400000">
                <a:off x="1392" y="2799"/>
                <a:ext cx="288" cy="690"/>
              </a:xfrm>
              <a:prstGeom prst="leftBracket">
                <a:avLst>
                  <a:gd name="adj" fmla="val 119792"/>
                </a:avLst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13500000" algn="ctr" rotWithShape="0">
                        <a:srgbClr val="FFFFFF">
                          <a:gamma/>
                          <a:shade val="60000"/>
                          <a:invGamma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61451" name="AutoShape 11"/>
          <p:cNvSpPr>
            <a:spLocks noChangeArrowheads="1"/>
          </p:cNvSpPr>
          <p:nvPr/>
        </p:nvSpPr>
        <p:spPr bwMode="auto">
          <a:xfrm>
            <a:off x="460159" y="2712903"/>
            <a:ext cx="8985683" cy="2629035"/>
          </a:xfrm>
          <a:prstGeom prst="roundRect">
            <a:avLst>
              <a:gd name="adj" fmla="val 4856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chemeClr val="bg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452" name="AutoShape 12"/>
          <p:cNvSpPr>
            <a:spLocks noChangeArrowheads="1"/>
          </p:cNvSpPr>
          <p:nvPr/>
        </p:nvSpPr>
        <p:spPr bwMode="auto">
          <a:xfrm rot="10800000">
            <a:off x="2130425" y="4868863"/>
            <a:ext cx="5645150" cy="79375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AAAAAA"/>
              </a:gs>
              <a:gs pos="100000">
                <a:srgbClr val="AAAAAA">
                  <a:gamma/>
                  <a:tint val="0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453" name="Rectangle 13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2209800" cy="247650"/>
          </a:xfrm>
        </p:spPr>
        <p:txBody>
          <a:bodyPr/>
          <a:lstStyle/>
          <a:p>
            <a:r>
              <a:rPr lang="ko-KR" altLang="en-US" dirty="0"/>
              <a:t>프로젝트 추진 전략</a:t>
            </a:r>
          </a:p>
        </p:txBody>
      </p:sp>
      <p:sp>
        <p:nvSpPr>
          <p:cNvPr id="61454" name="Rectangle 1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프로젝트를 위하여 </a:t>
            </a:r>
            <a:r>
              <a:rPr lang="en-US" altLang="ko-KR" dirty="0"/>
              <a:t>eMall</a:t>
            </a:r>
            <a:r>
              <a:rPr lang="ko-KR" altLang="en-US" dirty="0"/>
              <a:t>의 차별적 </a:t>
            </a:r>
            <a:r>
              <a:rPr lang="en-US" altLang="ko-KR" dirty="0"/>
              <a:t>BM </a:t>
            </a:r>
            <a:r>
              <a:rPr lang="ko-KR" altLang="en-US" dirty="0"/>
              <a:t>등을 구현</a:t>
            </a:r>
            <a:r>
              <a:rPr lang="en-US" altLang="ko-KR" dirty="0"/>
              <a:t>, BM</a:t>
            </a:r>
            <a:r>
              <a:rPr lang="ko-KR" altLang="en-US" dirty="0"/>
              <a:t>과 연계된 </a:t>
            </a:r>
            <a:r>
              <a:rPr lang="en-US" altLang="ko-KR" dirty="0"/>
              <a:t>Process Transformation</a:t>
            </a:r>
            <a:r>
              <a:rPr lang="ko-KR" altLang="en-US" dirty="0"/>
              <a:t>의 운영 모델 설계</a:t>
            </a:r>
            <a:r>
              <a:rPr lang="en-US" altLang="ko-KR" dirty="0"/>
              <a:t>, eMall</a:t>
            </a:r>
            <a:r>
              <a:rPr lang="ko-KR" altLang="en-US" dirty="0"/>
              <a:t> 특성에 맞는 </a:t>
            </a:r>
            <a:r>
              <a:rPr lang="en-US" altLang="ko-KR" dirty="0"/>
              <a:t>E.A </a:t>
            </a:r>
            <a:r>
              <a:rPr lang="ko-KR" altLang="en-US" dirty="0"/>
              <a:t>및 솔루션 구성을 제안기업</a:t>
            </a:r>
            <a:r>
              <a:rPr lang="en-US" altLang="ko-KR" dirty="0"/>
              <a:t> </a:t>
            </a:r>
            <a:r>
              <a:rPr lang="ko-KR" altLang="en-US" dirty="0"/>
              <a:t>추진 전략으로 본 프로젝트를 수행합니다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61456" name="Group 16"/>
          <p:cNvGrpSpPr>
            <a:grpSpLocks/>
          </p:cNvGrpSpPr>
          <p:nvPr/>
        </p:nvGrpSpPr>
        <p:grpSpPr bwMode="auto">
          <a:xfrm>
            <a:off x="1304925" y="1541463"/>
            <a:ext cx="7297738" cy="1701800"/>
            <a:chOff x="662" y="1490"/>
            <a:chExt cx="4949" cy="1019"/>
          </a:xfrm>
        </p:grpSpPr>
        <p:sp>
          <p:nvSpPr>
            <p:cNvPr id="61457" name="Arc 164"/>
            <p:cNvSpPr>
              <a:spLocks/>
            </p:cNvSpPr>
            <p:nvPr/>
          </p:nvSpPr>
          <p:spPr bwMode="auto">
            <a:xfrm flipV="1">
              <a:off x="662" y="1490"/>
              <a:ext cx="4949" cy="915"/>
            </a:xfrm>
            <a:custGeom>
              <a:avLst/>
              <a:gdLst>
                <a:gd name="T0" fmla="*/ 15 w 43200"/>
                <a:gd name="T1" fmla="*/ 0 h 21884"/>
                <a:gd name="T2" fmla="*/ 0 w 43200"/>
                <a:gd name="T3" fmla="*/ 0 h 21884"/>
                <a:gd name="T4" fmla="*/ 8 w 43200"/>
                <a:gd name="T5" fmla="*/ 0 h 21884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884"/>
                <a:gd name="T11" fmla="*/ 43200 w 43200"/>
                <a:gd name="T12" fmla="*/ 21884 h 218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884" fill="none" extrusionOk="0">
                  <a:moveTo>
                    <a:pt x="43198" y="-1"/>
                  </a:moveTo>
                  <a:cubicBezTo>
                    <a:pt x="43199" y="94"/>
                    <a:pt x="43200" y="189"/>
                    <a:pt x="43200" y="284"/>
                  </a:cubicBezTo>
                  <a:cubicBezTo>
                    <a:pt x="43200" y="12213"/>
                    <a:pt x="33529" y="21884"/>
                    <a:pt x="21600" y="21884"/>
                  </a:cubicBezTo>
                  <a:cubicBezTo>
                    <a:pt x="9670" y="21884"/>
                    <a:pt x="0" y="12213"/>
                    <a:pt x="0" y="284"/>
                  </a:cubicBezTo>
                  <a:cubicBezTo>
                    <a:pt x="-1" y="198"/>
                    <a:pt x="0" y="112"/>
                    <a:pt x="1" y="26"/>
                  </a:cubicBezTo>
                </a:path>
                <a:path w="43200" h="21884" stroke="0" extrusionOk="0">
                  <a:moveTo>
                    <a:pt x="43198" y="-1"/>
                  </a:moveTo>
                  <a:cubicBezTo>
                    <a:pt x="43199" y="94"/>
                    <a:pt x="43200" y="189"/>
                    <a:pt x="43200" y="284"/>
                  </a:cubicBezTo>
                  <a:cubicBezTo>
                    <a:pt x="43200" y="12213"/>
                    <a:pt x="33529" y="21884"/>
                    <a:pt x="21600" y="21884"/>
                  </a:cubicBezTo>
                  <a:cubicBezTo>
                    <a:pt x="9670" y="21884"/>
                    <a:pt x="0" y="12213"/>
                    <a:pt x="0" y="284"/>
                  </a:cubicBezTo>
                  <a:cubicBezTo>
                    <a:pt x="-1" y="198"/>
                    <a:pt x="0" y="112"/>
                    <a:pt x="1" y="26"/>
                  </a:cubicBezTo>
                  <a:lnTo>
                    <a:pt x="21600" y="284"/>
                  </a:lnTo>
                  <a:close/>
                </a:path>
              </a:pathLst>
            </a:custGeom>
            <a:gradFill rotWithShape="0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latinLnBrk="1" hangingPunct="1">
                <a:lnSpc>
                  <a:spcPct val="90000"/>
                </a:lnSpc>
              </a:pPr>
              <a:endParaRPr kumimoji="1" lang="ko-KR" altLang="en-US" sz="700"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61458" name="Arc 165"/>
            <p:cNvSpPr>
              <a:spLocks/>
            </p:cNvSpPr>
            <p:nvPr/>
          </p:nvSpPr>
          <p:spPr bwMode="auto">
            <a:xfrm flipV="1">
              <a:off x="1195" y="1516"/>
              <a:ext cx="3920" cy="993"/>
            </a:xfrm>
            <a:custGeom>
              <a:avLst/>
              <a:gdLst>
                <a:gd name="T0" fmla="*/ 8 w 43200"/>
                <a:gd name="T1" fmla="*/ 0 h 21884"/>
                <a:gd name="T2" fmla="*/ 0 w 43200"/>
                <a:gd name="T3" fmla="*/ 0 h 21884"/>
                <a:gd name="T4" fmla="*/ 4 w 43200"/>
                <a:gd name="T5" fmla="*/ 0 h 21884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884"/>
                <a:gd name="T11" fmla="*/ 43200 w 43200"/>
                <a:gd name="T12" fmla="*/ 21884 h 218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884" fill="none" extrusionOk="0">
                  <a:moveTo>
                    <a:pt x="43198" y="-1"/>
                  </a:moveTo>
                  <a:cubicBezTo>
                    <a:pt x="43199" y="94"/>
                    <a:pt x="43200" y="189"/>
                    <a:pt x="43200" y="284"/>
                  </a:cubicBezTo>
                  <a:cubicBezTo>
                    <a:pt x="43200" y="12213"/>
                    <a:pt x="33529" y="21884"/>
                    <a:pt x="21600" y="21884"/>
                  </a:cubicBezTo>
                  <a:cubicBezTo>
                    <a:pt x="9670" y="21884"/>
                    <a:pt x="0" y="12213"/>
                    <a:pt x="0" y="284"/>
                  </a:cubicBezTo>
                  <a:cubicBezTo>
                    <a:pt x="-1" y="198"/>
                    <a:pt x="0" y="112"/>
                    <a:pt x="1" y="26"/>
                  </a:cubicBezTo>
                </a:path>
                <a:path w="43200" h="21884" stroke="0" extrusionOk="0">
                  <a:moveTo>
                    <a:pt x="43198" y="-1"/>
                  </a:moveTo>
                  <a:cubicBezTo>
                    <a:pt x="43199" y="94"/>
                    <a:pt x="43200" y="189"/>
                    <a:pt x="43200" y="284"/>
                  </a:cubicBezTo>
                  <a:cubicBezTo>
                    <a:pt x="43200" y="12213"/>
                    <a:pt x="33529" y="21884"/>
                    <a:pt x="21600" y="21884"/>
                  </a:cubicBezTo>
                  <a:cubicBezTo>
                    <a:pt x="9670" y="21884"/>
                    <a:pt x="0" y="12213"/>
                    <a:pt x="0" y="284"/>
                  </a:cubicBezTo>
                  <a:cubicBezTo>
                    <a:pt x="-1" y="198"/>
                    <a:pt x="0" y="112"/>
                    <a:pt x="1" y="26"/>
                  </a:cubicBezTo>
                  <a:lnTo>
                    <a:pt x="21600" y="284"/>
                  </a:lnTo>
                  <a:close/>
                </a:path>
              </a:pathLst>
            </a:custGeom>
            <a:gradFill rotWithShape="0">
              <a:gsLst>
                <a:gs pos="0">
                  <a:srgbClr val="DCDCDC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latinLnBrk="1" hangingPunct="1">
                <a:lnSpc>
                  <a:spcPct val="90000"/>
                </a:lnSpc>
              </a:pPr>
              <a:endParaRPr kumimoji="1" lang="ko-KR" altLang="en-US" sz="700">
                <a:latin typeface="+mj-ea"/>
                <a:ea typeface="+mj-ea"/>
                <a:cs typeface="Arial" charset="0"/>
              </a:endParaRPr>
            </a:p>
          </p:txBody>
        </p:sp>
      </p:grpSp>
      <p:sp>
        <p:nvSpPr>
          <p:cNvPr id="61459" name="Text Box 19"/>
          <p:cNvSpPr txBox="1">
            <a:spLocks noChangeArrowheads="1"/>
          </p:cNvSpPr>
          <p:nvPr/>
        </p:nvSpPr>
        <p:spPr bwMode="auto">
          <a:xfrm>
            <a:off x="3214559" y="1954866"/>
            <a:ext cx="347370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ko-KR" altLang="en-US" sz="1800" dirty="0">
                <a:latin typeface="+mj-ea"/>
                <a:ea typeface="+mj-ea"/>
                <a:cs typeface="Arial" charset="0"/>
              </a:rPr>
              <a:t>성공적인 </a:t>
            </a:r>
            <a:r>
              <a:rPr lang="en-US" altLang="ko-KR" sz="1800" dirty="0"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sz="1800" dirty="0">
                <a:latin typeface="+mj-ea"/>
                <a:ea typeface="+mj-ea"/>
                <a:cs typeface="Arial" charset="0"/>
              </a:rPr>
              <a:t>의 </a:t>
            </a:r>
            <a:r>
              <a:rPr lang="en-US" altLang="ko-KR" sz="1800" dirty="0">
                <a:latin typeface="+mj-ea"/>
                <a:ea typeface="+mj-ea"/>
                <a:cs typeface="Arial" charset="0"/>
              </a:rPr>
              <a:t>BM </a:t>
            </a:r>
            <a:r>
              <a:rPr lang="ko-KR" altLang="en-US" sz="1800" dirty="0">
                <a:latin typeface="+mj-ea"/>
                <a:ea typeface="+mj-ea"/>
                <a:cs typeface="Arial" charset="0"/>
              </a:rPr>
              <a:t>프로젝트 </a:t>
            </a:r>
            <a:br>
              <a:rPr lang="ko-KR" altLang="en-US" sz="1800" dirty="0">
                <a:latin typeface="+mj-ea"/>
                <a:ea typeface="+mj-ea"/>
                <a:cs typeface="Arial" charset="0"/>
              </a:rPr>
            </a:br>
            <a:r>
              <a:rPr lang="ko-KR" altLang="en-US" sz="1800" dirty="0">
                <a:latin typeface="+mj-ea"/>
                <a:ea typeface="+mj-ea"/>
                <a:cs typeface="Arial" charset="0"/>
              </a:rPr>
              <a:t>수행을 위한 추진 전략</a:t>
            </a:r>
          </a:p>
        </p:txBody>
      </p:sp>
      <p:sp>
        <p:nvSpPr>
          <p:cNvPr id="127" name="Rectangle 208"/>
          <p:cNvSpPr>
            <a:spLocks noChangeArrowheads="1"/>
          </p:cNvSpPr>
          <p:nvPr/>
        </p:nvSpPr>
        <p:spPr bwMode="auto">
          <a:xfrm>
            <a:off x="598488" y="3169446"/>
            <a:ext cx="2017712" cy="1927225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의 서비스 혁신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차별적 경쟁력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BM 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확보 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그룹내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/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외부 제휴 확대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BM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의 실행력 담보를 </a:t>
            </a:r>
            <a:br>
              <a:rPr lang="ko-KR" altLang="en-US" dirty="0">
                <a:latin typeface="+mj-ea"/>
                <a:ea typeface="+mj-ea"/>
                <a:cs typeface="Arial" charset="0"/>
              </a:rPr>
            </a:br>
            <a:r>
              <a:rPr lang="ko-KR" altLang="en-US" dirty="0">
                <a:latin typeface="+mj-ea"/>
                <a:ea typeface="+mj-ea"/>
                <a:cs typeface="Arial" charset="0"/>
              </a:rPr>
              <a:t>  위한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IT 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인프라 구축</a:t>
            </a:r>
          </a:p>
        </p:txBody>
      </p:sp>
      <p:sp>
        <p:nvSpPr>
          <p:cNvPr id="61461" name="Rectangle 21"/>
          <p:cNvSpPr>
            <a:spLocks noChangeArrowheads="1"/>
          </p:cNvSpPr>
          <p:nvPr/>
        </p:nvSpPr>
        <p:spPr bwMode="auto">
          <a:xfrm>
            <a:off x="545088" y="5634247"/>
            <a:ext cx="881582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/>
            <a:r>
              <a:rPr lang="ko-KR" altLang="en-US" sz="1600" dirty="0">
                <a:latin typeface="+mj-ea"/>
                <a:ea typeface="+mj-ea"/>
                <a:cs typeface="Arial" charset="0"/>
              </a:rPr>
              <a:t>성공적 </a:t>
            </a:r>
            <a:r>
              <a:rPr lang="en-US" altLang="ko-KR" sz="1600" dirty="0"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sz="1600" dirty="0">
                <a:latin typeface="+mj-ea"/>
                <a:ea typeface="+mj-ea"/>
                <a:cs typeface="Arial" charset="0"/>
              </a:rPr>
              <a:t> </a:t>
            </a:r>
            <a:r>
              <a:rPr lang="en-US" altLang="ko-KR" sz="1600" dirty="0">
                <a:latin typeface="+mj-ea"/>
                <a:ea typeface="+mj-ea"/>
                <a:cs typeface="Arial" charset="0"/>
              </a:rPr>
              <a:t>BM </a:t>
            </a:r>
            <a:r>
              <a:rPr lang="ko-KR" altLang="en-US" sz="1600" dirty="0">
                <a:latin typeface="+mj-ea"/>
                <a:ea typeface="+mj-ea"/>
                <a:cs typeface="Arial" charset="0"/>
              </a:rPr>
              <a:t>프로젝트 수립 완수 및 차세대 시스템 구축의 토대 마련</a:t>
            </a:r>
          </a:p>
        </p:txBody>
      </p:sp>
      <p:sp>
        <p:nvSpPr>
          <p:cNvPr id="61462" name="Rectangle 22"/>
          <p:cNvSpPr>
            <a:spLocks noChangeArrowheads="1"/>
          </p:cNvSpPr>
          <p:nvPr/>
        </p:nvSpPr>
        <p:spPr bwMode="auto">
          <a:xfrm>
            <a:off x="604838" y="2727241"/>
            <a:ext cx="2008187" cy="450143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BM 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수립</a:t>
            </a:r>
          </a:p>
        </p:txBody>
      </p:sp>
      <p:sp>
        <p:nvSpPr>
          <p:cNvPr id="2" name="Rectangle 208"/>
          <p:cNvSpPr>
            <a:spLocks noChangeArrowheads="1"/>
          </p:cNvSpPr>
          <p:nvPr/>
        </p:nvSpPr>
        <p:spPr bwMode="auto">
          <a:xfrm>
            <a:off x="2824163" y="3175796"/>
            <a:ext cx="2005012" cy="1927225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BM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과 연계된 실행 </a:t>
            </a:r>
            <a:br>
              <a:rPr lang="ko-KR" altLang="en-US" dirty="0">
                <a:latin typeface="+mj-ea"/>
                <a:ea typeface="+mj-ea"/>
                <a:cs typeface="Arial" charset="0"/>
              </a:rPr>
            </a:br>
            <a:r>
              <a:rPr lang="ko-KR" altLang="en-US" dirty="0">
                <a:latin typeface="+mj-ea"/>
                <a:ea typeface="+mj-ea"/>
                <a:cs typeface="Arial" charset="0"/>
              </a:rPr>
              <a:t>  중심적 개선 과제 도출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현업 주도의 과제 수행 </a:t>
            </a:r>
            <a:br>
              <a:rPr lang="ko-KR" altLang="en-US" dirty="0">
                <a:latin typeface="+mj-ea"/>
                <a:ea typeface="+mj-ea"/>
                <a:cs typeface="Arial" charset="0"/>
              </a:rPr>
            </a:br>
            <a:r>
              <a:rPr lang="ko-KR" altLang="en-US" dirty="0">
                <a:latin typeface="+mj-ea"/>
                <a:ea typeface="+mj-ea"/>
                <a:cs typeface="Arial" charset="0"/>
              </a:rPr>
              <a:t>  체계 구축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개선 과제와 연계된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TO-</a:t>
            </a:r>
            <a:br>
              <a:rPr lang="en-US" altLang="ko-KR" dirty="0">
                <a:latin typeface="+mj-ea"/>
                <a:ea typeface="+mj-ea"/>
                <a:cs typeface="Arial" charset="0"/>
              </a:rPr>
            </a:br>
            <a:r>
              <a:rPr lang="en-US" altLang="ko-KR" dirty="0">
                <a:latin typeface="+mj-ea"/>
                <a:ea typeface="+mj-ea"/>
                <a:cs typeface="Arial" charset="0"/>
              </a:rPr>
              <a:t>  BE 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운영 모델 설계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실행 중심의 변화 관리</a:t>
            </a:r>
          </a:p>
        </p:txBody>
      </p:sp>
      <p:sp>
        <p:nvSpPr>
          <p:cNvPr id="61464" name="Rectangle 24"/>
          <p:cNvSpPr>
            <a:spLocks noChangeArrowheads="1"/>
          </p:cNvSpPr>
          <p:nvPr/>
        </p:nvSpPr>
        <p:spPr bwMode="auto">
          <a:xfrm>
            <a:off x="2820988" y="2733591"/>
            <a:ext cx="2014537" cy="450143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Process Transformation 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운영 모델 설계</a:t>
            </a:r>
          </a:p>
        </p:txBody>
      </p:sp>
      <p:sp>
        <p:nvSpPr>
          <p:cNvPr id="3" name="Rectangle 208"/>
          <p:cNvSpPr>
            <a:spLocks noChangeArrowheads="1"/>
          </p:cNvSpPr>
          <p:nvPr/>
        </p:nvSpPr>
        <p:spPr bwMode="auto">
          <a:xfrm>
            <a:off x="5051426" y="3169446"/>
            <a:ext cx="2012950" cy="1927225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BM 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요건 상세화와 </a:t>
            </a:r>
            <a:br>
              <a:rPr lang="ko-KR" altLang="en-US" dirty="0">
                <a:latin typeface="+mj-ea"/>
                <a:ea typeface="+mj-ea"/>
                <a:cs typeface="Arial" charset="0"/>
              </a:rPr>
            </a:br>
            <a:r>
              <a:rPr lang="ko-KR" altLang="en-US" dirty="0">
                <a:latin typeface="+mj-ea"/>
                <a:ea typeface="+mj-ea"/>
                <a:cs typeface="Arial" charset="0"/>
              </a:rPr>
              <a:t>  아키텍쳐 수립 간의 연계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 특성에 </a:t>
            </a:r>
            <a:br>
              <a:rPr lang="en-US" altLang="ko-KR" dirty="0">
                <a:latin typeface="+mj-ea"/>
                <a:ea typeface="+mj-ea"/>
                <a:cs typeface="Arial" charset="0"/>
              </a:rPr>
            </a:br>
            <a:r>
              <a:rPr lang="en-US" altLang="ko-KR" dirty="0">
                <a:latin typeface="+mj-ea"/>
                <a:ea typeface="+mj-ea"/>
                <a:cs typeface="Arial" charset="0"/>
              </a:rPr>
              <a:t>  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맞는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EA Framework</a:t>
            </a:r>
            <a:endParaRPr lang="ko-KR" altLang="en-US" dirty="0">
              <a:latin typeface="+mj-ea"/>
              <a:ea typeface="+mj-ea"/>
              <a:cs typeface="Arial" charset="0"/>
            </a:endParaRP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제안기업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 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기술 선도 </a:t>
            </a:r>
            <a:br>
              <a:rPr lang="en-US" altLang="ko-KR" dirty="0">
                <a:latin typeface="+mj-ea"/>
                <a:ea typeface="+mj-ea"/>
                <a:cs typeface="Arial" charset="0"/>
              </a:rPr>
            </a:br>
            <a:r>
              <a:rPr lang="en-US" altLang="ko-KR" dirty="0">
                <a:latin typeface="+mj-ea"/>
                <a:ea typeface="+mj-ea"/>
                <a:cs typeface="Arial" charset="0"/>
              </a:rPr>
              <a:t>  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역량을 활용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IT 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아키텍쳐 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 dirty="0">
                <a:latin typeface="+mj-ea"/>
                <a:ea typeface="+mj-ea"/>
                <a:cs typeface="Arial" charset="0"/>
              </a:rPr>
              <a:t> 제안기업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 SO 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운영팀 </a:t>
            </a:r>
            <a:br>
              <a:rPr lang="en-US" altLang="ko-KR" dirty="0">
                <a:latin typeface="+mj-ea"/>
                <a:ea typeface="+mj-ea"/>
                <a:cs typeface="Arial" charset="0"/>
              </a:rPr>
            </a:br>
            <a:r>
              <a:rPr lang="en-US" altLang="ko-KR" dirty="0">
                <a:latin typeface="+mj-ea"/>
                <a:ea typeface="+mj-ea"/>
                <a:cs typeface="Arial" charset="0"/>
              </a:rPr>
              <a:t>  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협업으로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dirty="0">
                <a:latin typeface="+mj-ea"/>
                <a:ea typeface="+mj-ea"/>
                <a:cs typeface="Arial" charset="0"/>
              </a:rPr>
              <a:t> </a:t>
            </a:r>
            <a:r>
              <a:rPr lang="en-US" altLang="ko-KR" dirty="0">
                <a:latin typeface="+mj-ea"/>
                <a:ea typeface="+mj-ea"/>
                <a:cs typeface="Arial" charset="0"/>
              </a:rPr>
              <a:t>Insight</a:t>
            </a:r>
            <a:endParaRPr lang="ko-KR" altLang="en-US" dirty="0">
              <a:latin typeface="+mj-ea"/>
              <a:ea typeface="+mj-ea"/>
              <a:cs typeface="Arial" charset="0"/>
            </a:endParaRPr>
          </a:p>
        </p:txBody>
      </p:sp>
      <p:sp>
        <p:nvSpPr>
          <p:cNvPr id="61466" name="Rectangle 26"/>
          <p:cNvSpPr>
            <a:spLocks noChangeArrowheads="1"/>
          </p:cNvSpPr>
          <p:nvPr/>
        </p:nvSpPr>
        <p:spPr bwMode="auto">
          <a:xfrm>
            <a:off x="5043488" y="2727241"/>
            <a:ext cx="2020887" cy="450143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EA 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구현</a:t>
            </a:r>
          </a:p>
        </p:txBody>
      </p:sp>
      <p:sp>
        <p:nvSpPr>
          <p:cNvPr id="4" name="Rectangle 208"/>
          <p:cNvSpPr>
            <a:spLocks noChangeArrowheads="1"/>
          </p:cNvSpPr>
          <p:nvPr/>
        </p:nvSpPr>
        <p:spPr bwMode="auto">
          <a:xfrm>
            <a:off x="7278688" y="3155159"/>
            <a:ext cx="2017712" cy="1927225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>
                <a:latin typeface="+mj-ea"/>
                <a:ea typeface="+mj-ea"/>
                <a:cs typeface="Arial" charset="0"/>
              </a:rPr>
              <a:t> 프로세스 개선 결과의 </a:t>
            </a:r>
            <a:br>
              <a:rPr lang="ko-KR" altLang="en-US">
                <a:latin typeface="+mj-ea"/>
                <a:ea typeface="+mj-ea"/>
                <a:cs typeface="Arial" charset="0"/>
              </a:rPr>
            </a:br>
            <a:r>
              <a:rPr lang="ko-KR" altLang="en-US">
                <a:latin typeface="+mj-ea"/>
                <a:ea typeface="+mj-ea"/>
                <a:cs typeface="Arial" charset="0"/>
              </a:rPr>
              <a:t>  일관성 있는 실행 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>
                <a:latin typeface="+mj-ea"/>
                <a:ea typeface="+mj-ea"/>
                <a:cs typeface="Arial" charset="0"/>
              </a:rPr>
              <a:t> 참조 모델 기반의 단기 </a:t>
            </a:r>
            <a:br>
              <a:rPr lang="ko-KR" altLang="en-US">
                <a:latin typeface="+mj-ea"/>
                <a:ea typeface="+mj-ea"/>
                <a:cs typeface="Arial" charset="0"/>
              </a:rPr>
            </a:br>
            <a:r>
              <a:rPr lang="ko-KR" altLang="en-US">
                <a:latin typeface="+mj-ea"/>
                <a:ea typeface="+mj-ea"/>
                <a:cs typeface="Arial" charset="0"/>
              </a:rPr>
              <a:t>  완성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ko-KR" altLang="en-US">
                <a:latin typeface="+mj-ea"/>
                <a:ea typeface="+mj-ea"/>
                <a:cs typeface="Arial" charset="0"/>
              </a:rPr>
              <a:t> </a:t>
            </a:r>
            <a:r>
              <a:rPr lang="en-US" altLang="ko-KR">
                <a:latin typeface="+mj-ea"/>
                <a:ea typeface="+mj-ea"/>
                <a:cs typeface="Arial" charset="0"/>
              </a:rPr>
              <a:t>RISK </a:t>
            </a:r>
            <a:r>
              <a:rPr lang="ko-KR" altLang="en-US">
                <a:latin typeface="+mj-ea"/>
                <a:ea typeface="+mj-ea"/>
                <a:cs typeface="Arial" charset="0"/>
              </a:rPr>
              <a:t>최소화</a:t>
            </a:r>
          </a:p>
        </p:txBody>
      </p:sp>
      <p:sp>
        <p:nvSpPr>
          <p:cNvPr id="61468" name="Rectangle 28"/>
          <p:cNvSpPr>
            <a:spLocks noChangeArrowheads="1"/>
          </p:cNvSpPr>
          <p:nvPr/>
        </p:nvSpPr>
        <p:spPr bwMode="auto">
          <a:xfrm>
            <a:off x="7273925" y="2712953"/>
            <a:ext cx="2030413" cy="450143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ko-KR" altLang="en-US">
                <a:solidFill>
                  <a:schemeClr val="bg1"/>
                </a:solidFill>
                <a:latin typeface="+mj-ea"/>
                <a:ea typeface="+mj-ea"/>
              </a:rPr>
              <a:t>솔루션 구성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2209800" cy="247650"/>
          </a:xfrm>
        </p:spPr>
        <p:txBody>
          <a:bodyPr/>
          <a:lstStyle/>
          <a:p>
            <a:r>
              <a:rPr lang="ko-KR" altLang="en-US" dirty="0"/>
              <a:t>프로젝트 추진 방안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프로젝트는 </a:t>
            </a:r>
            <a:r>
              <a:rPr lang="en-US" altLang="ko-KR" dirty="0"/>
              <a:t>eMall</a:t>
            </a:r>
            <a:r>
              <a:rPr lang="ko-KR" altLang="en-US" dirty="0"/>
              <a:t>의 </a:t>
            </a:r>
            <a:r>
              <a:rPr lang="en-US" altLang="ko-KR" dirty="0"/>
              <a:t>BM</a:t>
            </a:r>
            <a:r>
              <a:rPr lang="ko-KR" altLang="en-US" dirty="0"/>
              <a:t>을 구체화하고 전사 현황을 진단하여 개선기회를 도출하는 현황분석 단계</a:t>
            </a:r>
            <a:r>
              <a:rPr lang="en-US" altLang="ko-KR" dirty="0"/>
              <a:t>, eMall</a:t>
            </a:r>
            <a:r>
              <a:rPr lang="ko-KR" altLang="en-US" dirty="0"/>
              <a:t>의 </a:t>
            </a:r>
            <a:r>
              <a:rPr lang="en-US" altLang="ko-KR" dirty="0"/>
              <a:t>TO-BE </a:t>
            </a:r>
            <a:r>
              <a:rPr lang="ko-KR" altLang="en-US" dirty="0"/>
              <a:t>운영 모델 수립 단계 및 향후 프로세스를 설계하고 구축 로드맵을 수립하는 </a:t>
            </a:r>
            <a:r>
              <a:rPr lang="en-US" altLang="ko-KR" dirty="0"/>
              <a:t>TO-BE </a:t>
            </a:r>
            <a:r>
              <a:rPr lang="ko-KR" altLang="en-US" dirty="0"/>
              <a:t>기본 설계의 </a:t>
            </a:r>
            <a:r>
              <a:rPr lang="en-US" altLang="ko-KR" dirty="0"/>
              <a:t>3</a:t>
            </a:r>
            <a:r>
              <a:rPr lang="ko-KR" altLang="en-US" dirty="0"/>
              <a:t>단계로 추진됨</a:t>
            </a:r>
            <a:endParaRPr lang="ko-KR" altLang="en-US" dirty="0">
              <a:cs typeface="Arial" charset="0"/>
            </a:endParaRPr>
          </a:p>
        </p:txBody>
      </p:sp>
      <p:sp>
        <p:nvSpPr>
          <p:cNvPr id="61" name="Rectangle 14" descr="넓은 상향 대각선"/>
          <p:cNvSpPr>
            <a:spLocks noChangeArrowheads="1"/>
          </p:cNvSpPr>
          <p:nvPr/>
        </p:nvSpPr>
        <p:spPr bwMode="auto">
          <a:xfrm>
            <a:off x="261938" y="2055656"/>
            <a:ext cx="9371012" cy="133701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54000" tIns="25200" rIns="54000" bIns="25200" anchor="ctr"/>
          <a:lstStyle/>
          <a:p>
            <a:pPr algn="l"/>
            <a:endParaRPr kumimoji="1" lang="ko-KR" altLang="en-US" sz="900" b="0">
              <a:latin typeface="+mj-ea"/>
              <a:ea typeface="+mj-ea"/>
              <a:cs typeface="Arial" charset="0"/>
            </a:endParaRPr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gray">
          <a:xfrm>
            <a:off x="6116638" y="2113082"/>
            <a:ext cx="2032000" cy="1229519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/>
            <a:r>
              <a:rPr lang="en-US" altLang="ko-KR" sz="1000" dirty="0">
                <a:solidFill>
                  <a:srgbClr val="000000"/>
                </a:solidFill>
                <a:latin typeface="+mj-ea"/>
                <a:ea typeface="+mj-ea"/>
              </a:rPr>
              <a:t>UX/UI </a:t>
            </a: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시안</a:t>
            </a:r>
          </a:p>
          <a:p>
            <a:pPr eaLnBrk="0" hangingPunct="0"/>
            <a:endParaRPr lang="ko-KR" altLang="en-US" sz="1000" dirty="0">
              <a:solidFill>
                <a:srgbClr val="000000"/>
              </a:solidFill>
              <a:latin typeface="+mj-ea"/>
              <a:ea typeface="+mj-ea"/>
            </a:endParaRPr>
          </a:p>
          <a:p>
            <a:pPr eaLnBrk="0" hangingPunct="0"/>
            <a:endParaRPr lang="ko-KR" altLang="en-US" sz="1000" dirty="0">
              <a:solidFill>
                <a:srgbClr val="000000"/>
              </a:solidFill>
              <a:latin typeface="+mj-ea"/>
              <a:ea typeface="+mj-ea"/>
            </a:endParaRPr>
          </a:p>
          <a:p>
            <a:pPr eaLnBrk="0" hangingPunct="0"/>
            <a:endParaRPr lang="ko-KR" altLang="en-US" sz="1000" dirty="0">
              <a:solidFill>
                <a:srgbClr val="000000"/>
              </a:solidFill>
              <a:latin typeface="+mj-ea"/>
              <a:ea typeface="+mj-ea"/>
            </a:endParaRPr>
          </a:p>
          <a:p>
            <a:pPr eaLnBrk="0" hangingPunct="0"/>
            <a:endParaRPr lang="ko-KR" altLang="en-US" sz="1000" dirty="0">
              <a:solidFill>
                <a:srgbClr val="000000"/>
              </a:solidFill>
              <a:latin typeface="+mj-ea"/>
              <a:ea typeface="+mj-ea"/>
            </a:endParaRPr>
          </a:p>
          <a:p>
            <a:pPr eaLnBrk="0" hangingPunct="0"/>
            <a:endParaRPr lang="ko-KR" altLang="en-US" sz="10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2" name="Rectangle 15" descr="넓은 상향 대각선"/>
          <p:cNvSpPr>
            <a:spLocks noChangeArrowheads="1"/>
          </p:cNvSpPr>
          <p:nvPr/>
        </p:nvSpPr>
        <p:spPr bwMode="auto">
          <a:xfrm>
            <a:off x="261938" y="3525189"/>
            <a:ext cx="9371012" cy="289783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54000" tIns="25200" rIns="54000" bIns="25200" anchor="ctr"/>
          <a:lstStyle/>
          <a:p>
            <a:pPr algn="l"/>
            <a:endParaRPr kumimoji="1" lang="ko-KR" altLang="en-US" sz="900" b="0">
              <a:latin typeface="+mj-ea"/>
              <a:ea typeface="+mj-ea"/>
              <a:cs typeface="Arial" charset="0"/>
            </a:endParaRPr>
          </a:p>
        </p:txBody>
      </p:sp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9258300" y="2099830"/>
            <a:ext cx="303212" cy="4211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93700" indent="-209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06000"/>
              </a:lnSpc>
              <a:spcBef>
                <a:spcPct val="50000"/>
              </a:spcBef>
            </a:pPr>
            <a:r>
              <a:rPr lang="ko-KR" altLang="en-US" sz="1000" dirty="0">
                <a:latin typeface="+mj-ea"/>
                <a:ea typeface="+mj-ea"/>
              </a:rPr>
              <a:t>방</a:t>
            </a:r>
            <a:endParaRPr lang="en-US" altLang="ko-KR" sz="1000" dirty="0">
              <a:latin typeface="+mj-ea"/>
              <a:ea typeface="+mj-ea"/>
            </a:endParaRPr>
          </a:p>
          <a:p>
            <a:pPr>
              <a:lnSpc>
                <a:spcPct val="106000"/>
              </a:lnSpc>
              <a:spcBef>
                <a:spcPct val="50000"/>
              </a:spcBef>
            </a:pPr>
            <a:r>
              <a:rPr lang="ko-KR" altLang="en-US" sz="1000" dirty="0">
                <a:latin typeface="+mj-ea"/>
                <a:ea typeface="+mj-ea"/>
              </a:rPr>
              <a:t>향</a:t>
            </a:r>
            <a:endParaRPr lang="en-US" altLang="ko-KR" sz="1000" dirty="0">
              <a:latin typeface="+mj-ea"/>
              <a:ea typeface="+mj-ea"/>
            </a:endParaRPr>
          </a:p>
          <a:p>
            <a:pPr>
              <a:lnSpc>
                <a:spcPct val="106000"/>
              </a:lnSpc>
              <a:spcBef>
                <a:spcPct val="50000"/>
              </a:spcBef>
            </a:pPr>
            <a:r>
              <a:rPr lang="ko-KR" altLang="en-US" sz="1000" dirty="0">
                <a:latin typeface="+mj-ea"/>
                <a:ea typeface="+mj-ea"/>
              </a:rPr>
              <a:t>성</a:t>
            </a:r>
            <a:endParaRPr lang="en-US" altLang="ko-KR" sz="1000" dirty="0">
              <a:latin typeface="+mj-ea"/>
              <a:ea typeface="+mj-ea"/>
            </a:endParaRPr>
          </a:p>
          <a:p>
            <a:pPr>
              <a:lnSpc>
                <a:spcPct val="106000"/>
              </a:lnSpc>
              <a:spcBef>
                <a:spcPct val="50000"/>
              </a:spcBef>
            </a:pPr>
            <a:br>
              <a:rPr lang="en-US" altLang="ko-KR" sz="1000" dirty="0">
                <a:latin typeface="+mj-ea"/>
                <a:ea typeface="+mj-ea"/>
              </a:rPr>
            </a:br>
            <a:r>
              <a:rPr lang="ko-KR" altLang="en-US" sz="1000" dirty="0">
                <a:latin typeface="+mj-ea"/>
                <a:ea typeface="+mj-ea"/>
              </a:rPr>
              <a:t>수</a:t>
            </a:r>
            <a:endParaRPr lang="en-US" altLang="ko-KR" sz="1000" dirty="0">
              <a:latin typeface="+mj-ea"/>
              <a:ea typeface="+mj-ea"/>
            </a:endParaRPr>
          </a:p>
          <a:p>
            <a:pPr>
              <a:lnSpc>
                <a:spcPct val="106000"/>
              </a:lnSpc>
              <a:spcBef>
                <a:spcPct val="50000"/>
              </a:spcBef>
            </a:pPr>
            <a:br>
              <a:rPr lang="ko-KR" altLang="en-US" sz="1000" dirty="0">
                <a:latin typeface="+mj-ea"/>
                <a:ea typeface="+mj-ea"/>
              </a:rPr>
            </a:br>
            <a:r>
              <a:rPr lang="ko-KR" altLang="en-US" sz="1000" dirty="0">
                <a:latin typeface="+mj-ea"/>
                <a:ea typeface="+mj-ea"/>
              </a:rPr>
              <a:t>립</a:t>
            </a:r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gray">
          <a:xfrm>
            <a:off x="1525588" y="3613537"/>
            <a:ext cx="1601787" cy="216307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/>
            <a:endParaRPr lang="ko-KR" altLang="en-US" sz="10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3500" name="Rectangle 12"/>
          <p:cNvSpPr>
            <a:spLocks noChangeArrowheads="1"/>
          </p:cNvSpPr>
          <p:nvPr/>
        </p:nvSpPr>
        <p:spPr bwMode="gray">
          <a:xfrm>
            <a:off x="3216275" y="3606175"/>
            <a:ext cx="390525" cy="271672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eaVert"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buClr>
                <a:schemeClr val="bg1"/>
              </a:buClr>
              <a:buFontTx/>
              <a:buNone/>
            </a:pPr>
            <a:r>
              <a:rPr lang="ko-KR" altLang="en-US" sz="1000" dirty="0">
                <a:latin typeface="+mj-ea"/>
                <a:ea typeface="+mj-ea"/>
              </a:rPr>
              <a:t>이슈</a:t>
            </a:r>
            <a:r>
              <a:rPr lang="en-US" altLang="ko-KR" sz="1000" dirty="0">
                <a:latin typeface="+mj-ea"/>
                <a:ea typeface="+mj-ea"/>
              </a:rPr>
              <a:t>/ </a:t>
            </a:r>
            <a:r>
              <a:rPr lang="ko-KR" altLang="en-US" sz="1000" dirty="0">
                <a:latin typeface="+mj-ea"/>
                <a:ea typeface="+mj-ea"/>
              </a:rPr>
              <a:t>필요역량</a:t>
            </a:r>
            <a:r>
              <a:rPr lang="en-US" altLang="ko-KR" sz="1000" dirty="0">
                <a:latin typeface="+mj-ea"/>
                <a:ea typeface="+mj-ea"/>
              </a:rPr>
              <a:t>,/</a:t>
            </a:r>
            <a:r>
              <a:rPr lang="ko-KR" altLang="en-US" sz="1000" dirty="0">
                <a:latin typeface="+mj-ea"/>
                <a:ea typeface="+mj-ea"/>
              </a:rPr>
              <a:t>개선 기회 도출</a:t>
            </a:r>
          </a:p>
        </p:txBody>
      </p:sp>
      <p:sp>
        <p:nvSpPr>
          <p:cNvPr id="63501" name="Rectangle 13"/>
          <p:cNvSpPr>
            <a:spLocks noChangeArrowheads="1"/>
          </p:cNvSpPr>
          <p:nvPr/>
        </p:nvSpPr>
        <p:spPr bwMode="gray">
          <a:xfrm>
            <a:off x="4187825" y="3606175"/>
            <a:ext cx="396875" cy="271672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buClr>
                <a:schemeClr val="bg1"/>
              </a:buClr>
              <a:buFontTx/>
              <a:buNone/>
            </a:pPr>
            <a:r>
              <a:rPr lang="ko-KR" altLang="en-US" sz="1000" dirty="0">
                <a:latin typeface="+mj-ea"/>
                <a:ea typeface="+mj-ea"/>
              </a:rPr>
              <a:t>개</a:t>
            </a:r>
            <a:endParaRPr lang="en-US" altLang="ko-KR" sz="1000" dirty="0">
              <a:latin typeface="+mj-ea"/>
              <a:ea typeface="+mj-ea"/>
            </a:endParaRPr>
          </a:p>
          <a:p>
            <a:pPr algn="ctr">
              <a:buClr>
                <a:schemeClr val="bg1"/>
              </a:buClr>
              <a:buFontTx/>
              <a:buNone/>
            </a:pPr>
            <a:r>
              <a:rPr lang="ko-KR" altLang="en-US" sz="1000" dirty="0">
                <a:latin typeface="+mj-ea"/>
                <a:ea typeface="+mj-ea"/>
              </a:rPr>
              <a:t>선</a:t>
            </a:r>
            <a:endParaRPr lang="en-US" altLang="ko-KR" sz="1000" dirty="0">
              <a:latin typeface="+mj-ea"/>
              <a:ea typeface="+mj-ea"/>
            </a:endParaRPr>
          </a:p>
          <a:p>
            <a:pPr algn="ctr">
              <a:buClr>
                <a:schemeClr val="bg1"/>
              </a:buClr>
              <a:buFontTx/>
              <a:buNone/>
            </a:pPr>
            <a:endParaRPr lang="ko-KR" altLang="en-US" sz="1000" dirty="0">
              <a:latin typeface="+mj-ea"/>
              <a:ea typeface="+mj-ea"/>
            </a:endParaRPr>
          </a:p>
          <a:p>
            <a:pPr algn="ctr">
              <a:buClr>
                <a:schemeClr val="bg1"/>
              </a:buClr>
              <a:buFontTx/>
              <a:buNone/>
            </a:pPr>
            <a:endParaRPr lang="en-US" altLang="ko-KR" sz="1000" dirty="0">
              <a:latin typeface="+mj-ea"/>
              <a:ea typeface="+mj-ea"/>
            </a:endParaRPr>
          </a:p>
          <a:p>
            <a:pPr algn="ctr">
              <a:buClr>
                <a:schemeClr val="bg1"/>
              </a:buClr>
              <a:buFontTx/>
              <a:buNone/>
            </a:pPr>
            <a:r>
              <a:rPr lang="ko-KR" altLang="en-US" sz="1000" dirty="0">
                <a:latin typeface="+mj-ea"/>
                <a:ea typeface="+mj-ea"/>
              </a:rPr>
              <a:t>과</a:t>
            </a:r>
            <a:endParaRPr lang="en-US" altLang="ko-KR" sz="1000" dirty="0">
              <a:latin typeface="+mj-ea"/>
              <a:ea typeface="+mj-ea"/>
            </a:endParaRPr>
          </a:p>
          <a:p>
            <a:pPr algn="ctr">
              <a:buClr>
                <a:schemeClr val="bg1"/>
              </a:buClr>
              <a:buFontTx/>
              <a:buNone/>
            </a:pPr>
            <a:r>
              <a:rPr lang="ko-KR" altLang="en-US" sz="1000" dirty="0">
                <a:latin typeface="+mj-ea"/>
                <a:ea typeface="+mj-ea"/>
              </a:rPr>
              <a:t>제</a:t>
            </a:r>
            <a:endParaRPr lang="en-US" altLang="ko-KR" sz="1000" dirty="0">
              <a:latin typeface="+mj-ea"/>
              <a:ea typeface="+mj-ea"/>
            </a:endParaRPr>
          </a:p>
          <a:p>
            <a:pPr algn="ctr">
              <a:buClr>
                <a:schemeClr val="bg1"/>
              </a:buClr>
              <a:buFontTx/>
              <a:buNone/>
            </a:pPr>
            <a:endParaRPr lang="en-US" altLang="ko-KR" sz="1000" dirty="0">
              <a:latin typeface="+mj-ea"/>
              <a:ea typeface="+mj-ea"/>
            </a:endParaRPr>
          </a:p>
          <a:p>
            <a:pPr algn="ctr">
              <a:buClr>
                <a:schemeClr val="bg1"/>
              </a:buClr>
              <a:buFontTx/>
              <a:buNone/>
            </a:pPr>
            <a:endParaRPr lang="ko-KR" altLang="en-US" sz="1000" dirty="0">
              <a:latin typeface="+mj-ea"/>
              <a:ea typeface="+mj-ea"/>
            </a:endParaRPr>
          </a:p>
          <a:p>
            <a:pPr algn="ctr">
              <a:buClr>
                <a:schemeClr val="bg1"/>
              </a:buClr>
              <a:buFontTx/>
              <a:buNone/>
            </a:pPr>
            <a:r>
              <a:rPr lang="ko-KR" altLang="en-US" sz="1000" dirty="0">
                <a:latin typeface="+mj-ea"/>
                <a:ea typeface="+mj-ea"/>
              </a:rPr>
              <a:t>정</a:t>
            </a:r>
            <a:endParaRPr lang="en-US" altLang="ko-KR" sz="1000" dirty="0">
              <a:latin typeface="+mj-ea"/>
              <a:ea typeface="+mj-ea"/>
            </a:endParaRPr>
          </a:p>
          <a:p>
            <a:pPr algn="ctr">
              <a:buClr>
                <a:schemeClr val="bg1"/>
              </a:buClr>
              <a:buFontTx/>
              <a:buNone/>
            </a:pPr>
            <a:r>
              <a:rPr lang="ko-KR" altLang="en-US" sz="1000" dirty="0">
                <a:latin typeface="+mj-ea"/>
                <a:ea typeface="+mj-ea"/>
              </a:rPr>
              <a:t>의</a:t>
            </a:r>
          </a:p>
        </p:txBody>
      </p:sp>
      <p:sp>
        <p:nvSpPr>
          <p:cNvPr id="63502" name="Rectangle 14"/>
          <p:cNvSpPr>
            <a:spLocks noChangeArrowheads="1"/>
          </p:cNvSpPr>
          <p:nvPr/>
        </p:nvSpPr>
        <p:spPr bwMode="gray">
          <a:xfrm>
            <a:off x="3702050" y="3606175"/>
            <a:ext cx="390525" cy="271672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eaVert"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buClr>
                <a:schemeClr val="bg1"/>
              </a:buClr>
              <a:buFontTx/>
              <a:buNone/>
            </a:pPr>
            <a:r>
              <a:rPr lang="en-US" altLang="ko-KR" sz="1000">
                <a:latin typeface="+mj-ea"/>
                <a:ea typeface="+mj-ea"/>
              </a:rPr>
              <a:t>To-be Visioning</a:t>
            </a:r>
          </a:p>
        </p:txBody>
      </p:sp>
      <p:sp>
        <p:nvSpPr>
          <p:cNvPr id="63503" name="Rectangle 15"/>
          <p:cNvSpPr>
            <a:spLocks noChangeArrowheads="1"/>
          </p:cNvSpPr>
          <p:nvPr/>
        </p:nvSpPr>
        <p:spPr bwMode="gray">
          <a:xfrm>
            <a:off x="4676775" y="3606175"/>
            <a:ext cx="1008062" cy="1366459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과제별 추진 방안 정의</a:t>
            </a:r>
            <a:endParaRPr lang="en-US" altLang="ko-KR" sz="10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3505" name="Rectangle 17"/>
          <p:cNvSpPr>
            <a:spLocks noChangeArrowheads="1"/>
          </p:cNvSpPr>
          <p:nvPr/>
        </p:nvSpPr>
        <p:spPr bwMode="gray">
          <a:xfrm>
            <a:off x="5740400" y="3606175"/>
            <a:ext cx="1008062" cy="1366459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r>
              <a:rPr lang="en-US" altLang="ko-KR" sz="1000" dirty="0">
                <a:solidFill>
                  <a:srgbClr val="000000"/>
                </a:solidFill>
                <a:latin typeface="+mj-ea"/>
                <a:ea typeface="+mj-ea"/>
              </a:rPr>
              <a:t>TO-BE </a:t>
            </a: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운영 모델 설계</a:t>
            </a:r>
            <a:b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</a:br>
            <a:r>
              <a:rPr lang="en-US" altLang="ko-KR" sz="1000" dirty="0">
                <a:solidFill>
                  <a:srgbClr val="000000"/>
                </a:solidFill>
                <a:latin typeface="+mj-ea"/>
                <a:ea typeface="+mj-ea"/>
              </a:rPr>
              <a:t>R&amp;R 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요구사항 정의</a:t>
            </a:r>
            <a:endParaRPr lang="en-US" altLang="ko-KR" sz="10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3507" name="Rectangle 19"/>
          <p:cNvSpPr>
            <a:spLocks noChangeArrowheads="1"/>
          </p:cNvSpPr>
          <p:nvPr/>
        </p:nvSpPr>
        <p:spPr bwMode="gray">
          <a:xfrm>
            <a:off x="4676775" y="5062455"/>
            <a:ext cx="2087562" cy="588991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r>
              <a:rPr lang="en-US" altLang="ko-KR" sz="1000">
                <a:solidFill>
                  <a:srgbClr val="000000"/>
                </a:solidFill>
                <a:latin typeface="+mj-ea"/>
                <a:ea typeface="+mj-ea"/>
              </a:rPr>
              <a:t>TO-BE </a:t>
            </a: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  <a:t>솔루션 검토</a:t>
            </a: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r>
              <a:rPr lang="en-US" altLang="ko-KR" sz="100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  <a:t>패키지</a:t>
            </a:r>
            <a:r>
              <a:rPr lang="en-US" altLang="ko-KR" sz="100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  <a:t>자체개발</a:t>
            </a:r>
            <a:r>
              <a:rPr lang="en-US" altLang="ko-KR" sz="1000">
                <a:solidFill>
                  <a:srgbClr val="000000"/>
                </a:solidFill>
                <a:latin typeface="+mj-ea"/>
                <a:ea typeface="+mj-ea"/>
              </a:rPr>
              <a:t>,</a:t>
            </a: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  <a:t>기존고도화</a:t>
            </a:r>
            <a:r>
              <a:rPr lang="en-US" altLang="ko-KR" sz="1000">
                <a:solidFill>
                  <a:srgbClr val="000000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63509" name="Rectangle 21"/>
          <p:cNvSpPr>
            <a:spLocks noChangeArrowheads="1"/>
          </p:cNvSpPr>
          <p:nvPr/>
        </p:nvSpPr>
        <p:spPr bwMode="gray">
          <a:xfrm>
            <a:off x="1603375" y="3883001"/>
            <a:ext cx="1439862" cy="3887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lang="ko-KR" altLang="en-US" sz="1000" dirty="0">
                <a:latin typeface="+mj-ea"/>
                <a:ea typeface="+mj-ea"/>
              </a:rPr>
              <a:t>수준 진단 및 </a:t>
            </a:r>
            <a:r>
              <a:rPr lang="en-US" altLang="ko-KR" sz="1000" dirty="0">
                <a:latin typeface="+mj-ea"/>
                <a:ea typeface="+mj-ea"/>
              </a:rPr>
              <a:t>Gap </a:t>
            </a:r>
            <a:r>
              <a:rPr lang="ko-KR" altLang="en-US" sz="1000" dirty="0">
                <a:latin typeface="+mj-ea"/>
                <a:ea typeface="+mj-ea"/>
              </a:rPr>
              <a:t>분석</a:t>
            </a:r>
            <a:endParaRPr lang="en-US" altLang="ko-KR" sz="1000" dirty="0">
              <a:latin typeface="+mj-ea"/>
              <a:ea typeface="+mj-ea"/>
            </a:endParaRPr>
          </a:p>
          <a:p>
            <a:pPr algn="ctr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lang="en-US" altLang="ko-KR" sz="1000" dirty="0">
                <a:latin typeface="+mj-ea"/>
                <a:ea typeface="+mj-ea"/>
              </a:rPr>
              <a:t>(</a:t>
            </a:r>
            <a:r>
              <a:rPr lang="ko-KR" altLang="en-US" sz="1000" dirty="0">
                <a:latin typeface="+mj-ea"/>
                <a:ea typeface="+mj-ea"/>
              </a:rPr>
              <a:t>성숙도분석</a:t>
            </a:r>
            <a:r>
              <a:rPr lang="en-US" altLang="ko-KR" sz="1000" dirty="0">
                <a:latin typeface="+mj-ea"/>
                <a:ea typeface="+mj-ea"/>
              </a:rPr>
              <a:t>)</a:t>
            </a:r>
          </a:p>
        </p:txBody>
      </p:sp>
      <p:sp>
        <p:nvSpPr>
          <p:cNvPr id="63510" name="Rectangle 22"/>
          <p:cNvSpPr>
            <a:spLocks noChangeArrowheads="1"/>
          </p:cNvSpPr>
          <p:nvPr/>
        </p:nvSpPr>
        <p:spPr bwMode="gray">
          <a:xfrm>
            <a:off x="1603375" y="4351249"/>
            <a:ext cx="1439862" cy="3887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buClr>
                <a:schemeClr val="bg1"/>
              </a:buClr>
              <a:buFontTx/>
              <a:buNone/>
            </a:pPr>
            <a:r>
              <a:rPr lang="en-US" altLang="ko-KR" sz="1000">
                <a:latin typeface="+mj-ea"/>
                <a:ea typeface="+mj-ea"/>
              </a:rPr>
              <a:t>VoC </a:t>
            </a:r>
            <a:r>
              <a:rPr lang="ko-KR" altLang="en-US" sz="1000">
                <a:latin typeface="+mj-ea"/>
                <a:ea typeface="+mj-ea"/>
              </a:rPr>
              <a:t>분석</a:t>
            </a:r>
          </a:p>
        </p:txBody>
      </p:sp>
      <p:sp>
        <p:nvSpPr>
          <p:cNvPr id="63511" name="Rectangle 23"/>
          <p:cNvSpPr>
            <a:spLocks noChangeArrowheads="1"/>
          </p:cNvSpPr>
          <p:nvPr/>
        </p:nvSpPr>
        <p:spPr bwMode="gray">
          <a:xfrm>
            <a:off x="1603375" y="4818024"/>
            <a:ext cx="1439862" cy="3887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lang="ko-KR" altLang="en-US" sz="1000">
                <a:latin typeface="+mj-ea"/>
                <a:ea typeface="+mj-ea"/>
              </a:rPr>
              <a:t>조직</a:t>
            </a:r>
            <a:r>
              <a:rPr lang="en-US" altLang="ko-KR" sz="1000">
                <a:latin typeface="+mj-ea"/>
                <a:ea typeface="+mj-ea"/>
              </a:rPr>
              <a:t>/</a:t>
            </a:r>
            <a:r>
              <a:rPr lang="ko-KR" altLang="en-US" sz="1000">
                <a:latin typeface="+mj-ea"/>
                <a:ea typeface="+mj-ea"/>
              </a:rPr>
              <a:t>프로세스</a:t>
            </a:r>
          </a:p>
          <a:p>
            <a:pPr algn="ctr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lang="ko-KR" altLang="en-US" sz="1000">
                <a:latin typeface="+mj-ea"/>
                <a:ea typeface="+mj-ea"/>
              </a:rPr>
              <a:t>현황 분석</a:t>
            </a:r>
          </a:p>
        </p:txBody>
      </p:sp>
      <p:sp>
        <p:nvSpPr>
          <p:cNvPr id="63512" name="Rectangle 24"/>
          <p:cNvSpPr>
            <a:spLocks noChangeArrowheads="1"/>
          </p:cNvSpPr>
          <p:nvPr/>
        </p:nvSpPr>
        <p:spPr bwMode="gray">
          <a:xfrm>
            <a:off x="1603375" y="5286272"/>
            <a:ext cx="1439862" cy="3887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lang="ko-KR" altLang="en-US" sz="1000">
                <a:latin typeface="+mj-ea"/>
                <a:ea typeface="+mj-ea"/>
              </a:rPr>
              <a:t>선진사례 분석 및 </a:t>
            </a:r>
            <a:br>
              <a:rPr lang="ko-KR" altLang="en-US" sz="1000">
                <a:latin typeface="+mj-ea"/>
                <a:ea typeface="+mj-ea"/>
              </a:rPr>
            </a:br>
            <a:r>
              <a:rPr lang="ko-KR" altLang="en-US" sz="1000">
                <a:latin typeface="+mj-ea"/>
                <a:ea typeface="+mj-ea"/>
              </a:rPr>
              <a:t>벤치마킹</a:t>
            </a:r>
          </a:p>
        </p:txBody>
      </p:sp>
      <p:sp>
        <p:nvSpPr>
          <p:cNvPr id="63513" name="Rectangle 25"/>
          <p:cNvSpPr>
            <a:spLocks noChangeArrowheads="1"/>
          </p:cNvSpPr>
          <p:nvPr/>
        </p:nvSpPr>
        <p:spPr bwMode="gray">
          <a:xfrm>
            <a:off x="6837363" y="3598813"/>
            <a:ext cx="2365375" cy="2051162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b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</a:br>
            <a:endParaRPr lang="ko-KR" altLang="en-US" sz="10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3514" name="Oval 26"/>
          <p:cNvSpPr>
            <a:spLocks noChangeArrowheads="1"/>
          </p:cNvSpPr>
          <p:nvPr/>
        </p:nvSpPr>
        <p:spPr bwMode="gray">
          <a:xfrm>
            <a:off x="7021513" y="4230506"/>
            <a:ext cx="534987" cy="374009"/>
          </a:xfrm>
          <a:prstGeom prst="ellipse">
            <a:avLst/>
          </a:prstGeom>
          <a:solidFill>
            <a:srgbClr val="EAEAEA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lang="ko-KR" altLang="en-US" sz="900">
                <a:latin typeface="+mj-ea"/>
                <a:ea typeface="+mj-ea"/>
              </a:rPr>
              <a:t>자체 개발</a:t>
            </a:r>
          </a:p>
        </p:txBody>
      </p:sp>
      <p:sp>
        <p:nvSpPr>
          <p:cNvPr id="63515" name="Rectangle 27"/>
          <p:cNvSpPr>
            <a:spLocks noChangeArrowheads="1"/>
          </p:cNvSpPr>
          <p:nvPr/>
        </p:nvSpPr>
        <p:spPr bwMode="gray">
          <a:xfrm>
            <a:off x="7651750" y="4230506"/>
            <a:ext cx="696912" cy="3342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00000"/>
              </a:lnSpc>
              <a:buClr>
                <a:schemeClr val="bg1"/>
              </a:buClr>
              <a:buFontTx/>
              <a:buNone/>
            </a:pPr>
            <a:r>
              <a:rPr lang="ko-KR" altLang="en-US" sz="900">
                <a:latin typeface="+mj-ea"/>
                <a:ea typeface="+mj-ea"/>
              </a:rPr>
              <a:t>기능요구</a:t>
            </a:r>
            <a:br>
              <a:rPr lang="ko-KR" altLang="en-US" sz="900">
                <a:latin typeface="+mj-ea"/>
                <a:ea typeface="+mj-ea"/>
              </a:rPr>
            </a:br>
            <a:r>
              <a:rPr lang="ko-KR" altLang="en-US" sz="900">
                <a:latin typeface="+mj-ea"/>
                <a:ea typeface="+mj-ea"/>
              </a:rPr>
              <a:t>사항 정의</a:t>
            </a:r>
          </a:p>
        </p:txBody>
      </p:sp>
      <p:sp>
        <p:nvSpPr>
          <p:cNvPr id="63516" name="Rectangle 28"/>
          <p:cNvSpPr>
            <a:spLocks noChangeArrowheads="1"/>
          </p:cNvSpPr>
          <p:nvPr/>
        </p:nvSpPr>
        <p:spPr bwMode="gray">
          <a:xfrm>
            <a:off x="6935788" y="3844716"/>
            <a:ext cx="2138362" cy="3062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buClr>
                <a:schemeClr val="bg1"/>
              </a:buClr>
              <a:buFontTx/>
              <a:buNone/>
            </a:pPr>
            <a:r>
              <a:rPr lang="en-US" altLang="en-US" sz="1000" dirty="0">
                <a:latin typeface="+mj-ea"/>
                <a:ea typeface="+mj-ea"/>
              </a:rPr>
              <a:t>TO-BE 프로세스 설계</a:t>
            </a:r>
            <a:endParaRPr lang="en-US" altLang="ko-KR" sz="1000" dirty="0">
              <a:latin typeface="+mj-ea"/>
              <a:ea typeface="+mj-ea"/>
            </a:endParaRPr>
          </a:p>
        </p:txBody>
      </p:sp>
      <p:sp>
        <p:nvSpPr>
          <p:cNvPr id="63517" name="Rectangle 29"/>
          <p:cNvSpPr>
            <a:spLocks noChangeArrowheads="1"/>
          </p:cNvSpPr>
          <p:nvPr/>
        </p:nvSpPr>
        <p:spPr bwMode="gray">
          <a:xfrm>
            <a:off x="8426450" y="4230506"/>
            <a:ext cx="647700" cy="3342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lang="ko-KR" altLang="en-US" sz="900">
                <a:latin typeface="+mj-ea"/>
                <a:ea typeface="+mj-ea"/>
              </a:rPr>
              <a:t>화면설계</a:t>
            </a:r>
          </a:p>
        </p:txBody>
      </p:sp>
      <p:sp>
        <p:nvSpPr>
          <p:cNvPr id="63518" name="Oval 30"/>
          <p:cNvSpPr>
            <a:spLocks noChangeArrowheads="1"/>
          </p:cNvSpPr>
          <p:nvPr/>
        </p:nvSpPr>
        <p:spPr bwMode="gray">
          <a:xfrm>
            <a:off x="7027863" y="4692864"/>
            <a:ext cx="534987" cy="374009"/>
          </a:xfrm>
          <a:prstGeom prst="ellipse">
            <a:avLst/>
          </a:prstGeom>
          <a:solidFill>
            <a:srgbClr val="EAEAEA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lang="ko-KR" altLang="en-US" sz="900">
                <a:latin typeface="+mj-ea"/>
                <a:ea typeface="+mj-ea"/>
              </a:rPr>
              <a:t>기존 고도화</a:t>
            </a:r>
          </a:p>
        </p:txBody>
      </p:sp>
      <p:sp>
        <p:nvSpPr>
          <p:cNvPr id="63519" name="Rectangle 31"/>
          <p:cNvSpPr>
            <a:spLocks noChangeArrowheads="1"/>
          </p:cNvSpPr>
          <p:nvPr/>
        </p:nvSpPr>
        <p:spPr bwMode="gray">
          <a:xfrm>
            <a:off x="7658100" y="4658997"/>
            <a:ext cx="696912" cy="4152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00000"/>
              </a:lnSpc>
              <a:buClr>
                <a:schemeClr val="bg1"/>
              </a:buClr>
              <a:buFontTx/>
              <a:buNone/>
            </a:pPr>
            <a:r>
              <a:rPr lang="ko-KR" altLang="en-US" sz="900">
                <a:latin typeface="+mj-ea"/>
                <a:ea typeface="+mj-ea"/>
              </a:rPr>
              <a:t>기능 요구</a:t>
            </a:r>
            <a:br>
              <a:rPr lang="ko-KR" altLang="en-US" sz="900">
                <a:latin typeface="+mj-ea"/>
                <a:ea typeface="+mj-ea"/>
              </a:rPr>
            </a:br>
            <a:r>
              <a:rPr lang="ko-KR" altLang="en-US" sz="900">
                <a:latin typeface="+mj-ea"/>
                <a:ea typeface="+mj-ea"/>
              </a:rPr>
              <a:t>사항 </a:t>
            </a:r>
            <a:r>
              <a:rPr lang="en-US" altLang="ko-KR" sz="900">
                <a:latin typeface="+mj-ea"/>
                <a:ea typeface="+mj-ea"/>
              </a:rPr>
              <a:t>(</a:t>
            </a:r>
            <a:r>
              <a:rPr lang="ko-KR" altLang="en-US" sz="900">
                <a:latin typeface="+mj-ea"/>
                <a:ea typeface="+mj-ea"/>
              </a:rPr>
              <a:t>변경분</a:t>
            </a:r>
            <a:r>
              <a:rPr lang="en-US" altLang="ko-KR" sz="900">
                <a:latin typeface="+mj-ea"/>
                <a:ea typeface="+mj-ea"/>
              </a:rPr>
              <a:t>)</a:t>
            </a:r>
          </a:p>
        </p:txBody>
      </p:sp>
      <p:sp>
        <p:nvSpPr>
          <p:cNvPr id="63520" name="Rectangle 32"/>
          <p:cNvSpPr>
            <a:spLocks noChangeArrowheads="1"/>
          </p:cNvSpPr>
          <p:nvPr/>
        </p:nvSpPr>
        <p:spPr bwMode="gray">
          <a:xfrm>
            <a:off x="8432800" y="4658997"/>
            <a:ext cx="647700" cy="4152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lang="ko-KR" altLang="en-US" sz="900">
                <a:latin typeface="+mj-ea"/>
                <a:ea typeface="+mj-ea"/>
              </a:rPr>
              <a:t>수정화면</a:t>
            </a:r>
            <a:br>
              <a:rPr lang="ko-KR" altLang="en-US" sz="900">
                <a:latin typeface="+mj-ea"/>
                <a:ea typeface="+mj-ea"/>
              </a:rPr>
            </a:br>
            <a:r>
              <a:rPr lang="ko-KR" altLang="en-US" sz="900">
                <a:latin typeface="+mj-ea"/>
                <a:ea typeface="+mj-ea"/>
              </a:rPr>
              <a:t>설계</a:t>
            </a:r>
          </a:p>
        </p:txBody>
      </p:sp>
      <p:sp>
        <p:nvSpPr>
          <p:cNvPr id="63521" name="Oval 33"/>
          <p:cNvSpPr>
            <a:spLocks noChangeArrowheads="1"/>
          </p:cNvSpPr>
          <p:nvPr/>
        </p:nvSpPr>
        <p:spPr bwMode="gray">
          <a:xfrm>
            <a:off x="7027863" y="5197923"/>
            <a:ext cx="534987" cy="375482"/>
          </a:xfrm>
          <a:prstGeom prst="ellipse">
            <a:avLst/>
          </a:prstGeom>
          <a:solidFill>
            <a:srgbClr val="EAEAEA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lang="ko-KR" altLang="en-US" sz="900">
                <a:latin typeface="+mj-ea"/>
                <a:ea typeface="+mj-ea"/>
              </a:rPr>
              <a:t>패키지</a:t>
            </a:r>
          </a:p>
        </p:txBody>
      </p:sp>
      <p:sp>
        <p:nvSpPr>
          <p:cNvPr id="63522" name="Rectangle 34"/>
          <p:cNvSpPr>
            <a:spLocks noChangeArrowheads="1"/>
          </p:cNvSpPr>
          <p:nvPr/>
        </p:nvSpPr>
        <p:spPr bwMode="gray">
          <a:xfrm>
            <a:off x="7658100" y="5178781"/>
            <a:ext cx="696912" cy="4137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00000"/>
              </a:lnSpc>
              <a:buClr>
                <a:schemeClr val="bg1"/>
              </a:buClr>
              <a:buFontTx/>
              <a:buNone/>
            </a:pPr>
            <a:r>
              <a:rPr lang="en-US" altLang="ko-KR" sz="900">
                <a:latin typeface="+mj-ea"/>
                <a:ea typeface="+mj-ea"/>
              </a:rPr>
              <a:t>FIT/Gap</a:t>
            </a:r>
            <a:br>
              <a:rPr lang="en-US" altLang="ko-KR" sz="900">
                <a:latin typeface="+mj-ea"/>
                <a:ea typeface="+mj-ea"/>
              </a:rPr>
            </a:br>
            <a:r>
              <a:rPr lang="ko-KR" altLang="en-US" sz="900">
                <a:latin typeface="+mj-ea"/>
                <a:ea typeface="+mj-ea"/>
              </a:rPr>
              <a:t>분석</a:t>
            </a:r>
          </a:p>
        </p:txBody>
      </p:sp>
      <p:sp>
        <p:nvSpPr>
          <p:cNvPr id="63523" name="Rectangle 35"/>
          <p:cNvSpPr>
            <a:spLocks noChangeArrowheads="1"/>
          </p:cNvSpPr>
          <p:nvPr/>
        </p:nvSpPr>
        <p:spPr bwMode="gray">
          <a:xfrm>
            <a:off x="8432800" y="5178781"/>
            <a:ext cx="647700" cy="4137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lang="ko-KR" altLang="en-US" sz="900">
                <a:latin typeface="+mj-ea"/>
                <a:ea typeface="+mj-ea"/>
              </a:rPr>
              <a:t>패키지 적용 방안</a:t>
            </a:r>
          </a:p>
        </p:txBody>
      </p:sp>
      <p:cxnSp>
        <p:nvCxnSpPr>
          <p:cNvPr id="63524" name="AutoShape 36"/>
          <p:cNvCxnSpPr>
            <a:cxnSpLocks noChangeShapeType="1"/>
            <a:stCxn id="63516" idx="1"/>
            <a:endCxn id="63514" idx="2"/>
          </p:cNvCxnSpPr>
          <p:nvPr/>
        </p:nvCxnSpPr>
        <p:spPr bwMode="auto">
          <a:xfrm rot="10800000" flipH="1" flipV="1">
            <a:off x="6935788" y="3997854"/>
            <a:ext cx="85725" cy="419656"/>
          </a:xfrm>
          <a:prstGeom prst="bentConnector3">
            <a:avLst>
              <a:gd name="adj1" fmla="val -64819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25" name="AutoShape 37"/>
          <p:cNvCxnSpPr>
            <a:cxnSpLocks noChangeShapeType="1"/>
            <a:stCxn id="63516" idx="1"/>
            <a:endCxn id="63518" idx="2"/>
          </p:cNvCxnSpPr>
          <p:nvPr/>
        </p:nvCxnSpPr>
        <p:spPr bwMode="auto">
          <a:xfrm rot="10800000" flipH="1" flipV="1">
            <a:off x="6935788" y="3997854"/>
            <a:ext cx="92075" cy="882014"/>
          </a:xfrm>
          <a:prstGeom prst="bentConnector3">
            <a:avLst>
              <a:gd name="adj1" fmla="val -63796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26" name="AutoShape 38"/>
          <p:cNvCxnSpPr>
            <a:cxnSpLocks noChangeShapeType="1"/>
            <a:stCxn id="63516" idx="1"/>
            <a:endCxn id="63521" idx="2"/>
          </p:cNvCxnSpPr>
          <p:nvPr/>
        </p:nvCxnSpPr>
        <p:spPr bwMode="auto">
          <a:xfrm rot="10800000" flipH="1" flipV="1">
            <a:off x="6935788" y="3997854"/>
            <a:ext cx="92075" cy="1387074"/>
          </a:xfrm>
          <a:prstGeom prst="bentConnector3">
            <a:avLst>
              <a:gd name="adj1" fmla="val -60347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3530" name="Rectangle 42"/>
          <p:cNvSpPr>
            <a:spLocks noChangeArrowheads="1"/>
          </p:cNvSpPr>
          <p:nvPr/>
        </p:nvSpPr>
        <p:spPr bwMode="gray">
          <a:xfrm>
            <a:off x="1530350" y="5835506"/>
            <a:ext cx="1601787" cy="480028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/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현황 분석</a:t>
            </a:r>
          </a:p>
        </p:txBody>
      </p:sp>
      <p:sp>
        <p:nvSpPr>
          <p:cNvPr id="63532" name="Rectangle 44"/>
          <p:cNvSpPr>
            <a:spLocks noChangeArrowheads="1"/>
          </p:cNvSpPr>
          <p:nvPr/>
        </p:nvSpPr>
        <p:spPr bwMode="gray">
          <a:xfrm>
            <a:off x="4676775" y="5723598"/>
            <a:ext cx="2087562" cy="591936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/>
            <a:r>
              <a:rPr lang="en-US" altLang="ko-KR" sz="1000" dirty="0">
                <a:solidFill>
                  <a:srgbClr val="000000"/>
                </a:solidFill>
                <a:latin typeface="+mj-ea"/>
                <a:ea typeface="+mj-ea"/>
              </a:rPr>
              <a:t>TO-BE </a:t>
            </a: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아키텍쳐 수</a:t>
            </a:r>
            <a:r>
              <a:rPr lang="ko-KR" altLang="ko-KR" sz="1000" dirty="0">
                <a:solidFill>
                  <a:srgbClr val="000000"/>
                </a:solidFill>
                <a:latin typeface="+mj-ea"/>
                <a:ea typeface="+mj-ea"/>
              </a:rPr>
              <a:t>립</a:t>
            </a:r>
            <a:endParaRPr lang="ko-KR" altLang="en-US" sz="10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3534" name="Rectangle 46"/>
          <p:cNvSpPr>
            <a:spLocks noChangeArrowheads="1"/>
          </p:cNvSpPr>
          <p:nvPr/>
        </p:nvSpPr>
        <p:spPr bwMode="gray">
          <a:xfrm>
            <a:off x="6842125" y="5710346"/>
            <a:ext cx="1206500" cy="591936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/>
            <a:r>
              <a:rPr lang="en-US" altLang="ko-KR" sz="1000" dirty="0">
                <a:solidFill>
                  <a:srgbClr val="000000"/>
                </a:solidFill>
                <a:latin typeface="+mj-ea"/>
                <a:ea typeface="+mj-ea"/>
              </a:rPr>
              <a:t>EA </a:t>
            </a:r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영역간 연계</a:t>
            </a:r>
            <a:endParaRPr lang="en-US" altLang="ko-KR" sz="10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3536" name="Rectangle 48"/>
          <p:cNvSpPr>
            <a:spLocks noChangeArrowheads="1"/>
          </p:cNvSpPr>
          <p:nvPr/>
        </p:nvSpPr>
        <p:spPr bwMode="gray">
          <a:xfrm>
            <a:off x="8139113" y="5710346"/>
            <a:ext cx="1062037" cy="591936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/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  <a:t>차세대 시스템</a:t>
            </a:r>
          </a:p>
          <a:p>
            <a:pPr eaLnBrk="0" hangingPunct="0"/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</a:rPr>
              <a:t>구현 방안 수립</a:t>
            </a:r>
          </a:p>
        </p:txBody>
      </p:sp>
      <p:sp>
        <p:nvSpPr>
          <p:cNvPr id="123" name="AutoShape 16"/>
          <p:cNvSpPr>
            <a:spLocks noChangeArrowheads="1"/>
          </p:cNvSpPr>
          <p:nvPr/>
        </p:nvSpPr>
        <p:spPr bwMode="auto">
          <a:xfrm>
            <a:off x="6869113" y="1606550"/>
            <a:ext cx="2676525" cy="348977"/>
          </a:xfrm>
          <a:prstGeom prst="homePlate">
            <a:avLst>
              <a:gd name="adj" fmla="val 29477"/>
            </a:avLst>
          </a:prstGeom>
          <a:solidFill>
            <a:srgbClr val="6666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anchor="ctr"/>
          <a:lstStyle/>
          <a:p>
            <a:r>
              <a:rPr kumimoji="1" lang="en-US" altLang="ko-KR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TO-BE </a:t>
            </a:r>
            <a:r>
              <a:rPr kumimoji="1" lang="ko-KR" altLang="en-US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기본 설계 </a:t>
            </a:r>
            <a:r>
              <a:rPr kumimoji="1" lang="en-US" altLang="ko-KR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(00</a:t>
            </a:r>
            <a:r>
              <a:rPr kumimoji="1" lang="ko-KR" altLang="en-US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주</a:t>
            </a:r>
            <a:r>
              <a:rPr kumimoji="1" lang="en-US" altLang="ko-KR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)</a:t>
            </a:r>
          </a:p>
        </p:txBody>
      </p:sp>
      <p:sp>
        <p:nvSpPr>
          <p:cNvPr id="124" name="AutoShape 17"/>
          <p:cNvSpPr>
            <a:spLocks noChangeArrowheads="1"/>
          </p:cNvSpPr>
          <p:nvPr/>
        </p:nvSpPr>
        <p:spPr bwMode="auto">
          <a:xfrm>
            <a:off x="4202113" y="1606550"/>
            <a:ext cx="2611437" cy="348977"/>
          </a:xfrm>
          <a:prstGeom prst="homePlate">
            <a:avLst>
              <a:gd name="adj" fmla="val 16838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en-US" altLang="ko-KR" dirty="0">
                <a:latin typeface="+mj-ea"/>
                <a:ea typeface="+mj-ea"/>
              </a:rPr>
              <a:t>TO-BE </a:t>
            </a:r>
            <a:r>
              <a:rPr lang="ko-KR" altLang="en-US" dirty="0">
                <a:latin typeface="+mj-ea"/>
                <a:ea typeface="+mj-ea"/>
              </a:rPr>
              <a:t>운영 모델 설계 </a:t>
            </a:r>
            <a:r>
              <a:rPr lang="en-US" altLang="ko-KR" dirty="0">
                <a:latin typeface="+mj-ea"/>
                <a:ea typeface="+mj-ea"/>
              </a:rPr>
              <a:t>(00</a:t>
            </a:r>
            <a:r>
              <a:rPr lang="ko-KR" altLang="en-US" dirty="0">
                <a:latin typeface="+mj-ea"/>
                <a:ea typeface="+mj-ea"/>
              </a:rPr>
              <a:t>주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</p:txBody>
      </p:sp>
      <p:sp>
        <p:nvSpPr>
          <p:cNvPr id="125" name="AutoShape 18"/>
          <p:cNvSpPr>
            <a:spLocks noChangeArrowheads="1"/>
          </p:cNvSpPr>
          <p:nvPr/>
        </p:nvSpPr>
        <p:spPr bwMode="auto">
          <a:xfrm>
            <a:off x="1519238" y="1606550"/>
            <a:ext cx="2608262" cy="348977"/>
          </a:xfrm>
          <a:prstGeom prst="homePlate">
            <a:avLst>
              <a:gd name="adj" fmla="val 29559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ko-KR" altLang="en-US" dirty="0">
                <a:latin typeface="+mj-ea"/>
                <a:ea typeface="+mj-ea"/>
              </a:rPr>
              <a:t>현황 분석 </a:t>
            </a:r>
            <a:r>
              <a:rPr lang="en-US" altLang="ko-KR" dirty="0">
                <a:latin typeface="+mj-ea"/>
                <a:ea typeface="+mj-ea"/>
              </a:rPr>
              <a:t>(00</a:t>
            </a:r>
            <a:r>
              <a:rPr lang="ko-KR" altLang="en-US" dirty="0">
                <a:latin typeface="+mj-ea"/>
                <a:ea typeface="+mj-ea"/>
              </a:rPr>
              <a:t>주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</p:txBody>
      </p:sp>
      <p:sp>
        <p:nvSpPr>
          <p:cNvPr id="91" name="Text Box 75"/>
          <p:cNvSpPr txBox="1">
            <a:spLocks noChangeArrowheads="1"/>
          </p:cNvSpPr>
          <p:nvPr/>
        </p:nvSpPr>
        <p:spPr bwMode="auto">
          <a:xfrm>
            <a:off x="422275" y="2179343"/>
            <a:ext cx="1177925" cy="198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155575" indent="-15557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ko-KR" sz="1300">
                <a:latin typeface="+mj-ea"/>
                <a:ea typeface="+mj-ea"/>
              </a:rPr>
              <a:t>A. BM</a:t>
            </a:r>
          </a:p>
        </p:txBody>
      </p:sp>
      <p:sp>
        <p:nvSpPr>
          <p:cNvPr id="2" name="Text Box 75"/>
          <p:cNvSpPr txBox="1">
            <a:spLocks noChangeArrowheads="1"/>
          </p:cNvSpPr>
          <p:nvPr/>
        </p:nvSpPr>
        <p:spPr bwMode="auto">
          <a:xfrm>
            <a:off x="366713" y="3698179"/>
            <a:ext cx="1255712" cy="198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marL="155575" indent="-15557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ko-KR" sz="1300" dirty="0">
                <a:latin typeface="+mj-ea"/>
                <a:ea typeface="+mj-ea"/>
              </a:rPr>
              <a:t>B. PI/EA </a:t>
            </a:r>
          </a:p>
        </p:txBody>
      </p:sp>
      <p:sp>
        <p:nvSpPr>
          <p:cNvPr id="63544" name="Rectangle 56"/>
          <p:cNvSpPr>
            <a:spLocks noChangeArrowheads="1"/>
          </p:cNvSpPr>
          <p:nvPr/>
        </p:nvSpPr>
        <p:spPr bwMode="auto">
          <a:xfrm>
            <a:off x="1136650" y="2113082"/>
            <a:ext cx="303212" cy="420981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93700" indent="-209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06000"/>
              </a:lnSpc>
              <a:spcBef>
                <a:spcPct val="50000"/>
              </a:spcBef>
            </a:pPr>
            <a:r>
              <a:rPr lang="ko-KR" altLang="en-US" sz="1100">
                <a:latin typeface="+mj-ea"/>
                <a:ea typeface="+mj-ea"/>
              </a:rPr>
              <a:t>프 로 젝 트</a:t>
            </a:r>
          </a:p>
          <a:p>
            <a:pPr>
              <a:lnSpc>
                <a:spcPct val="106000"/>
              </a:lnSpc>
              <a:spcBef>
                <a:spcPct val="50000"/>
              </a:spcBef>
            </a:pPr>
            <a:endParaRPr lang="ko-KR" altLang="en-US" sz="1100">
              <a:latin typeface="+mj-ea"/>
              <a:ea typeface="+mj-ea"/>
            </a:endParaRPr>
          </a:p>
          <a:p>
            <a:pPr>
              <a:lnSpc>
                <a:spcPct val="106000"/>
              </a:lnSpc>
              <a:spcBef>
                <a:spcPct val="50000"/>
              </a:spcBef>
            </a:pPr>
            <a:r>
              <a:rPr lang="ko-KR" altLang="en-US" sz="1100">
                <a:latin typeface="+mj-ea"/>
                <a:ea typeface="+mj-ea"/>
              </a:rPr>
              <a:t>준 비</a:t>
            </a:r>
          </a:p>
        </p:txBody>
      </p:sp>
      <p:sp>
        <p:nvSpPr>
          <p:cNvPr id="63546" name="Rectangle 58"/>
          <p:cNvSpPr>
            <a:spLocks noChangeArrowheads="1"/>
          </p:cNvSpPr>
          <p:nvPr/>
        </p:nvSpPr>
        <p:spPr bwMode="gray">
          <a:xfrm>
            <a:off x="1525588" y="2113082"/>
            <a:ext cx="1350962" cy="46677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/>
            <a:r>
              <a:rPr lang="en-US" altLang="ko-KR" sz="1000" dirty="0">
                <a:solidFill>
                  <a:srgbClr val="000000"/>
                </a:solidFill>
                <a:latin typeface="+mj-ea"/>
                <a:ea typeface="+mj-ea"/>
              </a:rPr>
              <a:t>As-Is </a:t>
            </a:r>
            <a:br>
              <a:rPr lang="en-US" altLang="ko-KR" sz="1000" dirty="0">
                <a:solidFill>
                  <a:srgbClr val="000000"/>
                </a:solidFill>
                <a:latin typeface="+mj-ea"/>
                <a:ea typeface="+mj-ea"/>
              </a:rPr>
            </a:br>
            <a:r>
              <a:rPr lang="en-US" altLang="ko-KR" sz="1000" dirty="0">
                <a:solidFill>
                  <a:srgbClr val="000000"/>
                </a:solidFill>
                <a:latin typeface="+mj-ea"/>
                <a:ea typeface="+mj-ea"/>
              </a:rPr>
              <a:t>Review  </a:t>
            </a:r>
          </a:p>
        </p:txBody>
      </p:sp>
      <p:sp>
        <p:nvSpPr>
          <p:cNvPr id="63548" name="Rectangle 60"/>
          <p:cNvSpPr>
            <a:spLocks noChangeArrowheads="1"/>
          </p:cNvSpPr>
          <p:nvPr/>
        </p:nvSpPr>
        <p:spPr bwMode="gray">
          <a:xfrm>
            <a:off x="1516063" y="2637284"/>
            <a:ext cx="5321300" cy="70531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/>
            <a:endParaRPr lang="ko-KR" altLang="en-US" sz="10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3550" name="Line 62"/>
          <p:cNvSpPr>
            <a:spLocks noChangeShapeType="1"/>
          </p:cNvSpPr>
          <p:nvPr/>
        </p:nvSpPr>
        <p:spPr bwMode="auto">
          <a:xfrm>
            <a:off x="3209925" y="3049578"/>
            <a:ext cx="0" cy="586046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3551" name="Line 63"/>
          <p:cNvSpPr>
            <a:spLocks noChangeShapeType="1"/>
          </p:cNvSpPr>
          <p:nvPr/>
        </p:nvSpPr>
        <p:spPr bwMode="auto">
          <a:xfrm>
            <a:off x="4389438" y="3049578"/>
            <a:ext cx="0" cy="586046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3552" name="Text Box 64"/>
          <p:cNvSpPr txBox="1">
            <a:spLocks noChangeArrowheads="1"/>
          </p:cNvSpPr>
          <p:nvPr/>
        </p:nvSpPr>
        <p:spPr bwMode="auto">
          <a:xfrm>
            <a:off x="3300413" y="3349964"/>
            <a:ext cx="639762" cy="23117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 latinLnBrk="1"/>
            <a:r>
              <a:rPr kumimoji="1" lang="en-US" altLang="ko-KR" sz="900" i="1">
                <a:solidFill>
                  <a:srgbClr val="000066"/>
                </a:solidFill>
                <a:latin typeface="+mj-ea"/>
                <a:ea typeface="+mj-ea"/>
              </a:rPr>
              <a:t>BM </a:t>
            </a:r>
            <a:r>
              <a:rPr kumimoji="1" lang="ko-KR" altLang="en-US" sz="900" i="1">
                <a:solidFill>
                  <a:srgbClr val="000066"/>
                </a:solidFill>
                <a:latin typeface="+mj-ea"/>
                <a:ea typeface="+mj-ea"/>
              </a:rPr>
              <a:t>반영</a:t>
            </a:r>
          </a:p>
        </p:txBody>
      </p:sp>
      <p:sp>
        <p:nvSpPr>
          <p:cNvPr id="63553" name="AutoShape 65"/>
          <p:cNvSpPr>
            <a:spLocks noChangeArrowheads="1"/>
          </p:cNvSpPr>
          <p:nvPr/>
        </p:nvSpPr>
        <p:spPr bwMode="auto">
          <a:xfrm rot="16200000">
            <a:off x="3232679" y="3416099"/>
            <a:ext cx="135468" cy="125412"/>
          </a:xfrm>
          <a:prstGeom prst="triangle">
            <a:avLst>
              <a:gd name="adj" fmla="val 50551"/>
            </a:avLst>
          </a:prstGeom>
          <a:solidFill>
            <a:srgbClr val="0000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3554" name="Text Box 66"/>
          <p:cNvSpPr txBox="1">
            <a:spLocks noChangeArrowheads="1"/>
          </p:cNvSpPr>
          <p:nvPr/>
        </p:nvSpPr>
        <p:spPr bwMode="auto">
          <a:xfrm>
            <a:off x="4476750" y="3348491"/>
            <a:ext cx="639762" cy="23117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 latinLnBrk="1"/>
            <a:r>
              <a:rPr kumimoji="1" lang="en-US" altLang="ko-KR" sz="900" i="1">
                <a:solidFill>
                  <a:srgbClr val="000066"/>
                </a:solidFill>
                <a:latin typeface="+mj-ea"/>
                <a:ea typeface="+mj-ea"/>
              </a:rPr>
              <a:t>BM </a:t>
            </a:r>
            <a:r>
              <a:rPr kumimoji="1" lang="ko-KR" altLang="en-US" sz="900" i="1">
                <a:solidFill>
                  <a:srgbClr val="000066"/>
                </a:solidFill>
                <a:latin typeface="+mj-ea"/>
                <a:ea typeface="+mj-ea"/>
              </a:rPr>
              <a:t>반영</a:t>
            </a:r>
          </a:p>
        </p:txBody>
      </p:sp>
      <p:sp>
        <p:nvSpPr>
          <p:cNvPr id="63555" name="AutoShape 67"/>
          <p:cNvSpPr>
            <a:spLocks noChangeArrowheads="1"/>
          </p:cNvSpPr>
          <p:nvPr/>
        </p:nvSpPr>
        <p:spPr bwMode="auto">
          <a:xfrm rot="16200000">
            <a:off x="4409016" y="3414627"/>
            <a:ext cx="135468" cy="125412"/>
          </a:xfrm>
          <a:prstGeom prst="triangle">
            <a:avLst>
              <a:gd name="adj" fmla="val 50551"/>
            </a:avLst>
          </a:prstGeom>
          <a:solidFill>
            <a:srgbClr val="0000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3556" name="Rectangle 68"/>
          <p:cNvSpPr>
            <a:spLocks noChangeArrowheads="1"/>
          </p:cNvSpPr>
          <p:nvPr/>
        </p:nvSpPr>
        <p:spPr bwMode="gray">
          <a:xfrm>
            <a:off x="2965450" y="2113082"/>
            <a:ext cx="3079750" cy="46677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/>
            <a:r>
              <a:rPr lang="en-US" altLang="en-US" sz="1000">
                <a:solidFill>
                  <a:srgbClr val="000000"/>
                </a:solidFill>
                <a:latin typeface="+mj-ea"/>
                <a:ea typeface="+mj-ea"/>
              </a:rPr>
              <a:t>Target 고객분석</a:t>
            </a:r>
          </a:p>
        </p:txBody>
      </p:sp>
      <p:sp>
        <p:nvSpPr>
          <p:cNvPr id="63560" name="Rectangle 72"/>
          <p:cNvSpPr>
            <a:spLocks noChangeArrowheads="1"/>
          </p:cNvSpPr>
          <p:nvPr/>
        </p:nvSpPr>
        <p:spPr bwMode="gray">
          <a:xfrm>
            <a:off x="8202613" y="2113082"/>
            <a:ext cx="998537" cy="1229519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prstDash val="dash"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/>
            <a:r>
              <a:rPr lang="en-US" altLang="ko-KR" sz="1000" dirty="0">
                <a:solidFill>
                  <a:srgbClr val="000000"/>
                </a:solidFill>
                <a:latin typeface="+mj-ea"/>
                <a:ea typeface="+mj-ea"/>
              </a:rPr>
              <a:t>BM</a:t>
            </a:r>
          </a:p>
          <a:p>
            <a:pPr eaLnBrk="0" hangingPunct="0"/>
            <a:r>
              <a:rPr lang="ko-KR" altLang="en-US" sz="1000" dirty="0">
                <a:solidFill>
                  <a:srgbClr val="000000"/>
                </a:solidFill>
                <a:latin typeface="+mj-ea"/>
                <a:ea typeface="+mj-ea"/>
              </a:rPr>
              <a:t>이행</a:t>
            </a:r>
          </a:p>
        </p:txBody>
      </p:sp>
      <p:sp>
        <p:nvSpPr>
          <p:cNvPr id="63561" name="Rectangle 73"/>
          <p:cNvSpPr>
            <a:spLocks noChangeArrowheads="1"/>
          </p:cNvSpPr>
          <p:nvPr/>
        </p:nvSpPr>
        <p:spPr bwMode="gray">
          <a:xfrm>
            <a:off x="4448175" y="2793367"/>
            <a:ext cx="2325687" cy="4387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buClr>
                <a:schemeClr val="bg1"/>
              </a:buClr>
              <a:buFontTx/>
              <a:buNone/>
            </a:pPr>
            <a:r>
              <a:rPr lang="en-US" altLang="ko-KR" sz="1000" dirty="0">
                <a:latin typeface="+mj-ea"/>
                <a:ea typeface="+mj-ea"/>
              </a:rPr>
              <a:t>BM </a:t>
            </a:r>
            <a:r>
              <a:rPr lang="ko-KR" altLang="en-US" sz="1000" dirty="0">
                <a:latin typeface="+mj-ea"/>
                <a:ea typeface="+mj-ea"/>
              </a:rPr>
              <a:t>상세 설계</a:t>
            </a:r>
          </a:p>
        </p:txBody>
      </p:sp>
      <p:sp>
        <p:nvSpPr>
          <p:cNvPr id="63562" name="Rectangle 74"/>
          <p:cNvSpPr>
            <a:spLocks noChangeArrowheads="1"/>
          </p:cNvSpPr>
          <p:nvPr/>
        </p:nvSpPr>
        <p:spPr bwMode="gray">
          <a:xfrm>
            <a:off x="1787525" y="2793367"/>
            <a:ext cx="1328737" cy="4387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buClr>
                <a:schemeClr val="bg1"/>
              </a:buClr>
              <a:buFontTx/>
              <a:buNone/>
            </a:pPr>
            <a:r>
              <a:rPr lang="ko-KR" altLang="en-US" sz="1000" dirty="0">
                <a:latin typeface="+mj-ea"/>
                <a:ea typeface="+mj-ea"/>
              </a:rPr>
              <a:t>시장조사</a:t>
            </a:r>
            <a:endParaRPr lang="en-US" altLang="en-US" sz="1000" dirty="0">
              <a:latin typeface="+mj-ea"/>
              <a:ea typeface="+mj-ea"/>
            </a:endParaRPr>
          </a:p>
        </p:txBody>
      </p:sp>
      <p:sp>
        <p:nvSpPr>
          <p:cNvPr id="63563" name="Rectangle 75"/>
          <p:cNvSpPr>
            <a:spLocks noChangeArrowheads="1"/>
          </p:cNvSpPr>
          <p:nvPr/>
        </p:nvSpPr>
        <p:spPr bwMode="gray">
          <a:xfrm>
            <a:off x="3189288" y="2793367"/>
            <a:ext cx="1187450" cy="4387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>
              <a:buClr>
                <a:schemeClr val="bg1"/>
              </a:buClr>
              <a:buFontTx/>
              <a:buNone/>
            </a:pPr>
            <a:r>
              <a:rPr lang="ko-KR" altLang="en-US" sz="1000" dirty="0">
                <a:latin typeface="+mj-ea"/>
                <a:ea typeface="+mj-ea"/>
              </a:rPr>
              <a:t>구체화 및 선정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1401763" y="1513295"/>
            <a:ext cx="41293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/>
            <a:r>
              <a:rPr kumimoji="1" lang="en-US" altLang="ko-KR" sz="1800" dirty="0">
                <a:solidFill>
                  <a:schemeClr val="bg1"/>
                </a:solidFill>
                <a:latin typeface="+mj-ea"/>
                <a:ea typeface="+mj-ea"/>
              </a:rPr>
              <a:t>eMall BM (Business Model) </a:t>
            </a:r>
            <a:r>
              <a:rPr kumimoji="1" lang="ko-KR" altLang="en-US" sz="1800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</a:p>
        </p:txBody>
      </p:sp>
      <p:sp>
        <p:nvSpPr>
          <p:cNvPr id="64553" name="Text Box 41"/>
          <p:cNvSpPr txBox="1">
            <a:spLocks noChangeArrowheads="1"/>
          </p:cNvSpPr>
          <p:nvPr/>
        </p:nvSpPr>
        <p:spPr bwMode="auto">
          <a:xfrm>
            <a:off x="5455563" y="2600908"/>
            <a:ext cx="4211699" cy="146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lnSpc>
                <a:spcPct val="130000"/>
              </a:lnSpc>
            </a:pPr>
            <a:r>
              <a:rPr kumimoji="1" lang="en-US" altLang="ko-KR" sz="1400" b="0" dirty="0">
                <a:latin typeface="+mj-ea"/>
                <a:ea typeface="+mj-ea"/>
              </a:rPr>
              <a:t>1. eMall BM </a:t>
            </a:r>
            <a:r>
              <a:rPr kumimoji="1" lang="ko-KR" altLang="en-US" sz="1400" b="0" dirty="0">
                <a:latin typeface="+mj-ea"/>
                <a:ea typeface="+mj-ea"/>
              </a:rPr>
              <a:t>전략 방향</a:t>
            </a:r>
          </a:p>
          <a:p>
            <a:pPr algn="l" eaLnBrk="1" latinLnBrk="1" hangingPunct="1">
              <a:lnSpc>
                <a:spcPct val="130000"/>
              </a:lnSpc>
            </a:pPr>
            <a:r>
              <a:rPr kumimoji="1" lang="en-US" altLang="ko-KR" sz="1400" b="0" dirty="0">
                <a:latin typeface="+mj-ea"/>
                <a:ea typeface="+mj-ea"/>
              </a:rPr>
              <a:t>2. </a:t>
            </a:r>
            <a:r>
              <a:rPr kumimoji="1" lang="ko-KR" altLang="en-US" sz="1400" b="0" dirty="0">
                <a:latin typeface="+mj-ea"/>
                <a:ea typeface="+mj-ea"/>
              </a:rPr>
              <a:t>벤치마킹 </a:t>
            </a:r>
            <a:r>
              <a:rPr kumimoji="1" lang="en-US" altLang="ko-KR" sz="1400" b="0" dirty="0">
                <a:latin typeface="+mj-ea"/>
                <a:ea typeface="+mj-ea"/>
              </a:rPr>
              <a:t>BM</a:t>
            </a:r>
          </a:p>
          <a:p>
            <a:pPr algn="l" eaLnBrk="1" latinLnBrk="1" hangingPunct="1">
              <a:lnSpc>
                <a:spcPct val="130000"/>
              </a:lnSpc>
            </a:pPr>
            <a:r>
              <a:rPr kumimoji="1" lang="en-US" altLang="ko-KR" sz="1400" b="0" dirty="0">
                <a:latin typeface="+mj-ea"/>
                <a:ea typeface="+mj-ea"/>
              </a:rPr>
              <a:t>3. </a:t>
            </a:r>
            <a:r>
              <a:rPr kumimoji="1" lang="ko-KR" altLang="en-US" sz="1400" b="0" dirty="0">
                <a:latin typeface="+mj-ea"/>
                <a:ea typeface="+mj-ea"/>
              </a:rPr>
              <a:t>개발 </a:t>
            </a:r>
            <a:r>
              <a:rPr kumimoji="1" lang="en-US" altLang="ko-KR" sz="1400" b="0" dirty="0">
                <a:latin typeface="+mj-ea"/>
                <a:ea typeface="+mj-ea"/>
              </a:rPr>
              <a:t>BM</a:t>
            </a:r>
          </a:p>
          <a:p>
            <a:pPr algn="l" eaLnBrk="1" latinLnBrk="1" hangingPunct="1">
              <a:lnSpc>
                <a:spcPct val="130000"/>
              </a:lnSpc>
            </a:pPr>
            <a:r>
              <a:rPr kumimoji="1" lang="en-US" altLang="ko-KR" sz="1400" b="0" dirty="0">
                <a:latin typeface="+mj-ea"/>
                <a:ea typeface="+mj-ea"/>
              </a:rPr>
              <a:t>4. eMall </a:t>
            </a:r>
            <a:r>
              <a:rPr kumimoji="1" lang="ko-KR" altLang="en-US" sz="1400" b="0" dirty="0">
                <a:latin typeface="+mj-ea"/>
                <a:ea typeface="+mj-ea"/>
              </a:rPr>
              <a:t>성장전략에 따른 </a:t>
            </a:r>
            <a:r>
              <a:rPr kumimoji="1" lang="en-US" altLang="ko-KR" sz="1400" b="0" dirty="0">
                <a:latin typeface="+mj-ea"/>
                <a:ea typeface="+mj-ea"/>
              </a:rPr>
              <a:t>BM </a:t>
            </a:r>
            <a:r>
              <a:rPr kumimoji="1" lang="ko-KR" altLang="en-US" sz="1400" b="0" dirty="0">
                <a:latin typeface="+mj-ea"/>
                <a:ea typeface="+mj-ea"/>
              </a:rPr>
              <a:t>적용 전략</a:t>
            </a:r>
          </a:p>
          <a:p>
            <a:pPr algn="l" eaLnBrk="1" latinLnBrk="1" hangingPunct="1">
              <a:lnSpc>
                <a:spcPct val="130000"/>
              </a:lnSpc>
            </a:pPr>
            <a:r>
              <a:rPr kumimoji="1" lang="en-US" altLang="ko-KR" sz="1400" b="0" dirty="0">
                <a:latin typeface="+mj-ea"/>
                <a:ea typeface="+mj-ea"/>
              </a:rPr>
              <a:t>5. BM </a:t>
            </a:r>
            <a:r>
              <a:rPr kumimoji="1" lang="ko-KR" altLang="en-US" sz="1400" b="0" dirty="0">
                <a:latin typeface="+mj-ea"/>
                <a:ea typeface="+mj-ea"/>
              </a:rPr>
              <a:t>추진 전략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9C6EC5-E68F-15B3-CD67-DA2A98910054}"/>
              </a:ext>
            </a:extLst>
          </p:cNvPr>
          <p:cNvSpPr/>
          <p:nvPr/>
        </p:nvSpPr>
        <p:spPr>
          <a:xfrm>
            <a:off x="1262850" y="2672916"/>
            <a:ext cx="4050190" cy="432000"/>
          </a:xfrm>
          <a:prstGeom prst="rect">
            <a:avLst/>
          </a:prstGeom>
          <a:solidFill>
            <a:srgbClr val="000066">
              <a:alpha val="1693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08000" indent="-108000" algn="ctr" latinLnBrk="0">
              <a:buFont typeface="Arial" panose="020B0604020202020204" pitchFamily="34" charset="0"/>
              <a:buChar char="•"/>
              <a:defRPr/>
            </a:pPr>
            <a:endParaRPr lang="ko-KR" altLang="en-US" sz="1050" kern="0" dirty="0">
              <a:solidFill>
                <a:srgbClr val="646464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397A2-F727-66CE-3817-2A25209A7FE7}"/>
              </a:ext>
            </a:extLst>
          </p:cNvPr>
          <p:cNvSpPr txBox="1"/>
          <p:nvPr/>
        </p:nvSpPr>
        <p:spPr>
          <a:xfrm>
            <a:off x="1405373" y="2198975"/>
            <a:ext cx="2571217" cy="16550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제안개요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eMall BM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개선 전략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PI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컨설팅 추진 방안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dirty="0">
                <a:solidFill>
                  <a:prstClr val="black"/>
                </a:solidFill>
                <a:latin typeface="+mj-ea"/>
                <a:ea typeface="+mj-ea"/>
              </a:rPr>
              <a:t>프로젝트 관리 및 추진 계획</a:t>
            </a:r>
            <a:endParaRPr lang="en-US" sz="1400" b="1" dirty="0">
              <a:solidFill>
                <a:prstClr val="black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8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2755900" cy="247650"/>
          </a:xfrm>
        </p:spPr>
        <p:txBody>
          <a:bodyPr>
            <a:noAutofit/>
          </a:bodyPr>
          <a:lstStyle/>
          <a:p>
            <a:r>
              <a:rPr lang="en-US" altLang="ko-KR" dirty="0"/>
              <a:t>BM </a:t>
            </a:r>
            <a:r>
              <a:rPr lang="ko-KR" altLang="en-US" dirty="0"/>
              <a:t>추진 핵심 전략 방향</a:t>
            </a:r>
          </a:p>
        </p:txBody>
      </p:sp>
      <p:sp>
        <p:nvSpPr>
          <p:cNvPr id="27" name="Rectangle 29"/>
          <p:cNvSpPr txBox="1">
            <a:spLocks noChangeArrowheads="1"/>
          </p:cNvSpPr>
          <p:nvPr/>
        </p:nvSpPr>
        <p:spPr bwMode="auto">
          <a:xfrm>
            <a:off x="260350" y="914400"/>
            <a:ext cx="9367838" cy="511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noAutofit/>
          </a:bodyPr>
          <a:lstStyle/>
          <a:p>
            <a:pPr algn="l" latinLnBrk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kumimoji="1" lang="ko-KR" altLang="en-US" sz="1400" kern="0" dirty="0">
                <a:latin typeface="+mj-ea"/>
                <a:ea typeface="+mj-ea"/>
              </a:rPr>
              <a:t>시장 환경 및 </a:t>
            </a:r>
            <a:r>
              <a:rPr kumimoji="1" lang="en-US" altLang="ko-KR" sz="1400" kern="0" dirty="0">
                <a:latin typeface="+mj-ea"/>
                <a:ea typeface="+mj-ea"/>
              </a:rPr>
              <a:t>eMall</a:t>
            </a:r>
            <a:r>
              <a:rPr kumimoji="1" lang="ko-KR" altLang="en-US" sz="1400" kern="0" dirty="0">
                <a:latin typeface="+mj-ea"/>
                <a:ea typeface="+mj-ea"/>
              </a:rPr>
              <a:t>의 </a:t>
            </a:r>
            <a:r>
              <a:rPr kumimoji="1" lang="en-US" altLang="ko-KR" sz="1400" kern="0" dirty="0">
                <a:latin typeface="+mj-ea"/>
                <a:ea typeface="+mj-ea"/>
              </a:rPr>
              <a:t>As-Is</a:t>
            </a:r>
            <a:r>
              <a:rPr kumimoji="1" lang="ko-KR" altLang="en-US" sz="1400" kern="0" dirty="0" err="1">
                <a:latin typeface="+mj-ea"/>
                <a:ea typeface="+mj-ea"/>
              </a:rPr>
              <a:t>를</a:t>
            </a:r>
            <a:r>
              <a:rPr kumimoji="1" lang="ko-KR" altLang="en-US" sz="1400" kern="0" dirty="0">
                <a:latin typeface="+mj-ea"/>
                <a:ea typeface="+mj-ea"/>
              </a:rPr>
              <a:t> 고려하여</a:t>
            </a:r>
            <a:r>
              <a:rPr kumimoji="1" lang="en-US" altLang="ko-KR" sz="1400" kern="0" dirty="0">
                <a:latin typeface="+mj-ea"/>
                <a:ea typeface="+mj-ea"/>
              </a:rPr>
              <a:t>, </a:t>
            </a:r>
            <a:r>
              <a:rPr kumimoji="1" lang="ko-KR" altLang="en-US" sz="1400" kern="0" dirty="0">
                <a:latin typeface="+mj-ea"/>
                <a:ea typeface="+mj-ea"/>
              </a:rPr>
              <a:t>본 프로젝트를 추진하는 핵심적인 전략 방향성을 정의하고 이를 프로젝트 추진 원칙으로 삼고자 함</a:t>
            </a:r>
          </a:p>
        </p:txBody>
      </p:sp>
      <p:sp>
        <p:nvSpPr>
          <p:cNvPr id="5125" name="AutoShape 7"/>
          <p:cNvSpPr>
            <a:spLocks noChangeArrowheads="1"/>
          </p:cNvSpPr>
          <p:nvPr/>
        </p:nvSpPr>
        <p:spPr bwMode="auto">
          <a:xfrm rot="5400000">
            <a:off x="3617913" y="3689350"/>
            <a:ext cx="2244725" cy="473075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847D76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ko-KR">
              <a:latin typeface="+mj-ea"/>
              <a:ea typeface="+mj-ea"/>
            </a:endParaRPr>
          </a:p>
        </p:txBody>
      </p:sp>
      <p:sp>
        <p:nvSpPr>
          <p:cNvPr id="29" name="AutoShape 8"/>
          <p:cNvSpPr>
            <a:spLocks noChangeArrowheads="1"/>
          </p:cNvSpPr>
          <p:nvPr/>
        </p:nvSpPr>
        <p:spPr bwMode="auto">
          <a:xfrm rot="16200000" flipV="1">
            <a:off x="1682750" y="3421063"/>
            <a:ext cx="1606550" cy="3397250"/>
          </a:xfrm>
          <a:prstGeom prst="homePlate">
            <a:avLst>
              <a:gd name="adj" fmla="val 14120"/>
            </a:avLst>
          </a:prstGeom>
          <a:solidFill>
            <a:srgbClr val="FFFFFF"/>
          </a:solidFill>
          <a:ln w="9525" algn="ctr">
            <a:solidFill>
              <a:srgbClr val="96969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noAutofit/>
          </a:bodyPr>
          <a:lstStyle/>
          <a:p>
            <a:pPr algn="l">
              <a:buFontTx/>
              <a:buChar char="•"/>
              <a:defRPr/>
            </a:pPr>
            <a:endParaRPr lang="ko-KR" altLang="en-US">
              <a:latin typeface="+mj-ea"/>
              <a:ea typeface="+mj-ea"/>
            </a:endParaRPr>
          </a:p>
        </p:txBody>
      </p:sp>
      <p:sp>
        <p:nvSpPr>
          <p:cNvPr id="30" name="AutoShape 9"/>
          <p:cNvSpPr>
            <a:spLocks noChangeArrowheads="1"/>
          </p:cNvSpPr>
          <p:nvPr/>
        </p:nvSpPr>
        <p:spPr bwMode="auto">
          <a:xfrm rot="5400000">
            <a:off x="1712118" y="1097757"/>
            <a:ext cx="1547813" cy="3397250"/>
          </a:xfrm>
          <a:prstGeom prst="homePlate">
            <a:avLst>
              <a:gd name="adj" fmla="val 14120"/>
            </a:avLst>
          </a:prstGeom>
          <a:solidFill>
            <a:srgbClr val="FFFFFF"/>
          </a:solidFill>
          <a:ln w="9525" algn="ctr">
            <a:solidFill>
              <a:srgbClr val="96969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noAutofit/>
          </a:bodyPr>
          <a:lstStyle/>
          <a:p>
            <a:pPr algn="l">
              <a:buFontTx/>
              <a:buChar char="•"/>
              <a:defRPr/>
            </a:pPr>
            <a:endParaRPr lang="ko-KR" altLang="en-US">
              <a:latin typeface="+mj-ea"/>
              <a:ea typeface="+mj-ea"/>
            </a:endParaRPr>
          </a:p>
        </p:txBody>
      </p:sp>
      <p:sp>
        <p:nvSpPr>
          <p:cNvPr id="5128" name="Text Box 10"/>
          <p:cNvSpPr txBox="1">
            <a:spLocks noChangeArrowheads="1"/>
          </p:cNvSpPr>
          <p:nvPr/>
        </p:nvSpPr>
        <p:spPr bwMode="auto">
          <a:xfrm>
            <a:off x="847725" y="2227263"/>
            <a:ext cx="330517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Online Commerce </a:t>
            </a: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는 빠르게 성장하고 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시장에서 살아남기 위해서는 </a:t>
            </a: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Critical </a:t>
            </a:r>
            <a:b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Mass</a:t>
            </a: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에 조속히 도달하여야 하며</a:t>
            </a:r>
          </a:p>
          <a:p>
            <a:pPr algn="l">
              <a:buFont typeface="Wingdings" pitchFamily="2" charset="2"/>
              <a:buChar char="§"/>
            </a:pP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Mobile </a:t>
            </a: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및 </a:t>
            </a: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S</a:t>
            </a: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등 새로운 기술</a:t>
            </a: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/</a:t>
            </a: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매체 등의</a:t>
            </a:r>
            <a:b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trend</a:t>
            </a: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에 대응하여야 함</a:t>
            </a:r>
          </a:p>
        </p:txBody>
      </p:sp>
      <p:sp>
        <p:nvSpPr>
          <p:cNvPr id="5129" name="Text Box 11"/>
          <p:cNvSpPr txBox="1">
            <a:spLocks noChangeArrowheads="1"/>
          </p:cNvSpPr>
          <p:nvPr/>
        </p:nvSpPr>
        <p:spPr bwMode="auto">
          <a:xfrm>
            <a:off x="842963" y="4567238"/>
            <a:ext cx="3305175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</a:t>
            </a: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은 차별적 </a:t>
            </a: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</a:t>
            </a: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 개발 및 매력적 </a:t>
            </a: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contents</a:t>
            </a:r>
            <a:r>
              <a:rPr kumimoji="1" lang="ko-KR" altLang="en-US" sz="1300" b="0" dirty="0" err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를</a:t>
            </a: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확보하고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고객 중심으로 제공할 수 있는 </a:t>
            </a: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</a:t>
            </a: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 </a:t>
            </a:r>
            <a:b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혁신이 요구되나</a:t>
            </a: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홈쇼핑 사업 중심의 </a:t>
            </a:r>
            <a:r>
              <a:rPr kumimoji="1" lang="en-US" altLang="ko-KR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Infra </a:t>
            </a:r>
            <a:r>
              <a:rPr kumimoji="1" lang="ko-KR" altLang="en-US" sz="13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및 운영 환경에서는 혁신의 한계가 존재하였음</a:t>
            </a:r>
          </a:p>
        </p:txBody>
      </p:sp>
      <p:sp>
        <p:nvSpPr>
          <p:cNvPr id="5130" name="AutoShape 12"/>
          <p:cNvSpPr>
            <a:spLocks noChangeArrowheads="1"/>
          </p:cNvSpPr>
          <p:nvPr/>
        </p:nvSpPr>
        <p:spPr bwMode="auto">
          <a:xfrm>
            <a:off x="776288" y="3546475"/>
            <a:ext cx="3421062" cy="831850"/>
          </a:xfrm>
          <a:prstGeom prst="bevel">
            <a:avLst>
              <a:gd name="adj" fmla="val 12500"/>
            </a:avLst>
          </a:prstGeom>
          <a:solidFill>
            <a:schemeClr val="bg1"/>
          </a:solidFill>
          <a:ln w="9525" algn="ctr">
            <a:solidFill>
              <a:srgbClr val="DDDDDD"/>
            </a:solidFill>
            <a:miter lim="800000"/>
            <a:headEnd/>
            <a:tailEnd/>
          </a:ln>
        </p:spPr>
        <p:txBody>
          <a:bodyPr wrap="none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ko-KR" altLang="en-US" i="1" dirty="0">
                <a:solidFill>
                  <a:srgbClr val="1C1C1C"/>
                </a:solidFill>
                <a:latin typeface="+mj-ea"/>
                <a:ea typeface="+mj-ea"/>
                <a:cs typeface="Arial" charset="0"/>
              </a:rPr>
              <a:t>시장에서 요구되는 </a:t>
            </a:r>
            <a:r>
              <a:rPr kumimoji="1" lang="en-US" altLang="ko-KR" i="1" dirty="0">
                <a:solidFill>
                  <a:srgbClr val="1C1C1C"/>
                </a:solidFill>
                <a:latin typeface="+mj-ea"/>
                <a:ea typeface="+mj-ea"/>
                <a:cs typeface="Arial" charset="0"/>
              </a:rPr>
              <a:t>Omni Channel </a:t>
            </a:r>
            <a:r>
              <a:rPr kumimoji="1" lang="ko-KR" altLang="en-US" i="1" dirty="0">
                <a:solidFill>
                  <a:srgbClr val="1C1C1C"/>
                </a:solidFill>
                <a:latin typeface="+mj-ea"/>
                <a:ea typeface="+mj-ea"/>
                <a:cs typeface="Arial" charset="0"/>
              </a:rPr>
              <a:t>상의</a:t>
            </a:r>
            <a:br>
              <a:rPr kumimoji="1" lang="ko-KR" altLang="en-US" i="1" dirty="0">
                <a:solidFill>
                  <a:srgbClr val="1C1C1C"/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i="1" dirty="0">
                <a:solidFill>
                  <a:srgbClr val="1C1C1C"/>
                </a:solidFill>
                <a:latin typeface="+mj-ea"/>
                <a:ea typeface="+mj-ea"/>
                <a:cs typeface="Arial" charset="0"/>
              </a:rPr>
              <a:t>marketing</a:t>
            </a:r>
            <a:r>
              <a:rPr kumimoji="1" lang="ko-KR" altLang="en-US" i="1" dirty="0">
                <a:solidFill>
                  <a:srgbClr val="1C1C1C"/>
                </a:solidFill>
                <a:latin typeface="+mj-ea"/>
                <a:ea typeface="+mj-ea"/>
                <a:cs typeface="Arial" charset="0"/>
              </a:rPr>
              <a:t>을 적시에</a:t>
            </a:r>
            <a:br>
              <a:rPr kumimoji="1" lang="ko-KR" altLang="en-US" i="1" dirty="0">
                <a:solidFill>
                  <a:srgbClr val="1C1C1C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i="1" dirty="0">
                <a:solidFill>
                  <a:srgbClr val="1C1C1C"/>
                </a:solidFill>
                <a:latin typeface="+mj-ea"/>
                <a:ea typeface="+mj-ea"/>
                <a:cs typeface="Arial" charset="0"/>
              </a:rPr>
              <a:t>구현할 수 있는 역량 확보 필요</a:t>
            </a:r>
          </a:p>
        </p:txBody>
      </p:sp>
      <p:sp>
        <p:nvSpPr>
          <p:cNvPr id="34" name="Rectangle 13"/>
          <p:cNvSpPr>
            <a:spLocks noChangeArrowheads="1"/>
          </p:cNvSpPr>
          <p:nvPr/>
        </p:nvSpPr>
        <p:spPr bwMode="gray">
          <a:xfrm>
            <a:off x="787400" y="1781175"/>
            <a:ext cx="3397250" cy="338138"/>
          </a:xfrm>
          <a:prstGeom prst="rect">
            <a:avLst/>
          </a:prstGeom>
          <a:solidFill>
            <a:srgbClr val="5F5F5F"/>
          </a:solidFill>
          <a:ln w="9525" algn="ctr">
            <a:solidFill>
              <a:srgbClr val="091C5A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no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ko-KR" altLang="en-US" sz="140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시장 환경</a:t>
            </a: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gray">
          <a:xfrm>
            <a:off x="787400" y="5935663"/>
            <a:ext cx="3397250" cy="338137"/>
          </a:xfrm>
          <a:prstGeom prst="rect">
            <a:avLst/>
          </a:prstGeom>
          <a:solidFill>
            <a:srgbClr val="5F5F5F"/>
          </a:solidFill>
          <a:ln w="9525" algn="ctr">
            <a:solidFill>
              <a:srgbClr val="091C5A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noAutofit/>
          </a:bodyPr>
          <a:lstStyle/>
          <a:p>
            <a:pPr>
              <a:spcBef>
                <a:spcPct val="30000"/>
              </a:spcBef>
              <a:defRPr/>
            </a:pPr>
            <a:r>
              <a:rPr kumimoji="1" lang="en-US" altLang="ko-KR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eMall </a:t>
            </a:r>
            <a:r>
              <a:rPr kumimoji="1" lang="ko-KR" altLang="en-US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환경</a:t>
            </a:r>
          </a:p>
        </p:txBody>
      </p:sp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5238750" y="2116138"/>
            <a:ext cx="4286250" cy="854075"/>
          </a:xfrm>
          <a:prstGeom prst="rect">
            <a:avLst/>
          </a:prstGeom>
          <a:solidFill>
            <a:srgbClr val="000066"/>
          </a:solidFill>
          <a:ln w="9525" algn="ctr">
            <a:solidFill>
              <a:srgbClr val="FFFF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noAutofit/>
          </a:bodyPr>
          <a:lstStyle/>
          <a:p>
            <a:pPr eaLnBrk="0" hangingPunct="0">
              <a:buFont typeface="Wingdings" pitchFamily="2" charset="2"/>
              <a:buNone/>
              <a:defRPr/>
            </a:pPr>
            <a:r>
              <a:rPr lang="en-US" altLang="ko-KR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eMall BM</a:t>
            </a: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는 본원적 경쟁력인 </a:t>
            </a:r>
            <a:b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서비스 혁신으로 시작된다</a:t>
            </a:r>
          </a:p>
        </p:txBody>
      </p:sp>
      <p:sp>
        <p:nvSpPr>
          <p:cNvPr id="5135" name="AutoShape 17"/>
          <p:cNvSpPr>
            <a:spLocks noChangeArrowheads="1"/>
          </p:cNvSpPr>
          <p:nvPr/>
        </p:nvSpPr>
        <p:spPr bwMode="auto">
          <a:xfrm rot="10800000">
            <a:off x="7245350" y="3032125"/>
            <a:ext cx="273050" cy="149225"/>
          </a:xfrm>
          <a:prstGeom prst="triangle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ko-KR">
              <a:latin typeface="+mj-ea"/>
              <a:ea typeface="+mj-ea"/>
            </a:endParaRPr>
          </a:p>
        </p:txBody>
      </p:sp>
      <p:sp>
        <p:nvSpPr>
          <p:cNvPr id="39" name="Rectangle 18"/>
          <p:cNvSpPr>
            <a:spLocks noChangeArrowheads="1"/>
          </p:cNvSpPr>
          <p:nvPr/>
        </p:nvSpPr>
        <p:spPr bwMode="auto">
          <a:xfrm>
            <a:off x="5238750" y="3186113"/>
            <a:ext cx="4286250" cy="854075"/>
          </a:xfrm>
          <a:prstGeom prst="rect">
            <a:avLst/>
          </a:prstGeom>
          <a:solidFill>
            <a:srgbClr val="000066"/>
          </a:solidFill>
          <a:ln w="9525" algn="ctr">
            <a:solidFill>
              <a:srgbClr val="FFFF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noAutofit/>
          </a:bodyPr>
          <a:lstStyle/>
          <a:p>
            <a:pPr eaLnBrk="0" hangingPunct="0">
              <a:buFont typeface="Wingdings" pitchFamily="2" charset="2"/>
              <a:buNone/>
              <a:defRPr/>
            </a:pP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서비스의 혁신은 우선적으로</a:t>
            </a:r>
            <a:b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차별적 경쟁력 </a:t>
            </a:r>
            <a:r>
              <a:rPr lang="en-US" altLang="ko-KR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BM</a:t>
            </a: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의 </a:t>
            </a:r>
            <a:r>
              <a:rPr lang="ko-KR" altLang="en-US" sz="1500" dirty="0" err="1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확보하에</a:t>
            </a:r>
            <a:b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의 채널 </a:t>
            </a:r>
            <a:r>
              <a:rPr lang="en-US" altLang="ko-KR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Total Value</a:t>
            </a: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로 확대한다</a:t>
            </a:r>
          </a:p>
        </p:txBody>
      </p:sp>
      <p:sp>
        <p:nvSpPr>
          <p:cNvPr id="5138" name="AutoShape 20"/>
          <p:cNvSpPr>
            <a:spLocks noChangeArrowheads="1"/>
          </p:cNvSpPr>
          <p:nvPr/>
        </p:nvSpPr>
        <p:spPr bwMode="auto">
          <a:xfrm rot="10800000">
            <a:off x="7245350" y="4102100"/>
            <a:ext cx="273050" cy="149225"/>
          </a:xfrm>
          <a:prstGeom prst="triangle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ko-KR">
              <a:latin typeface="+mj-ea"/>
              <a:ea typeface="+mj-ea"/>
            </a:endParaRPr>
          </a:p>
        </p:txBody>
      </p:sp>
      <p:sp>
        <p:nvSpPr>
          <p:cNvPr id="42" name="Rectangle 21"/>
          <p:cNvSpPr>
            <a:spLocks noChangeArrowheads="1"/>
          </p:cNvSpPr>
          <p:nvPr/>
        </p:nvSpPr>
        <p:spPr bwMode="auto">
          <a:xfrm>
            <a:off x="5238750" y="4270375"/>
            <a:ext cx="4286250" cy="854075"/>
          </a:xfrm>
          <a:prstGeom prst="rect">
            <a:avLst/>
          </a:prstGeom>
          <a:solidFill>
            <a:srgbClr val="000066"/>
          </a:solidFill>
          <a:ln w="9525" algn="ctr">
            <a:solidFill>
              <a:srgbClr val="FFFF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noAutofit/>
          </a:bodyPr>
          <a:lstStyle/>
          <a:p>
            <a:pPr eaLnBrk="0" hangingPunct="0">
              <a:buFont typeface="Wingdings" pitchFamily="2" charset="2"/>
              <a:buNone/>
              <a:defRPr/>
            </a:pP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조기 성장 기반 마련을 위해서</a:t>
            </a:r>
            <a:b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그룹 내외부의 제휴 확대도</a:t>
            </a:r>
            <a:b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혁신 영역으로 고려되어야 한다</a:t>
            </a:r>
          </a:p>
        </p:txBody>
      </p:sp>
      <p:sp>
        <p:nvSpPr>
          <p:cNvPr id="5141" name="AutoShape 23"/>
          <p:cNvSpPr>
            <a:spLocks noChangeArrowheads="1"/>
          </p:cNvSpPr>
          <p:nvPr/>
        </p:nvSpPr>
        <p:spPr bwMode="auto">
          <a:xfrm rot="10800000">
            <a:off x="7245350" y="5186363"/>
            <a:ext cx="273050" cy="149225"/>
          </a:xfrm>
          <a:prstGeom prst="triangle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ko-KR">
              <a:latin typeface="+mj-ea"/>
              <a:ea typeface="+mj-ea"/>
            </a:endParaRPr>
          </a:p>
        </p:txBody>
      </p:sp>
      <p:sp>
        <p:nvSpPr>
          <p:cNvPr id="45" name="Rectangle 24"/>
          <p:cNvSpPr>
            <a:spLocks noChangeArrowheads="1"/>
          </p:cNvSpPr>
          <p:nvPr/>
        </p:nvSpPr>
        <p:spPr bwMode="auto">
          <a:xfrm>
            <a:off x="5238750" y="5346700"/>
            <a:ext cx="4286250" cy="854075"/>
          </a:xfrm>
          <a:prstGeom prst="rect">
            <a:avLst/>
          </a:prstGeom>
          <a:solidFill>
            <a:srgbClr val="000066"/>
          </a:solidFill>
          <a:ln w="9525" algn="ctr">
            <a:solidFill>
              <a:srgbClr val="FFFFFF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noAutofit/>
          </a:bodyPr>
          <a:lstStyle/>
          <a:p>
            <a:pPr eaLnBrk="0" hangingPunct="0">
              <a:buFont typeface="Wingdings" pitchFamily="2" charset="2"/>
              <a:buNone/>
              <a:defRPr/>
            </a:pPr>
            <a:r>
              <a:rPr lang="en-US" altLang="ko-KR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BM</a:t>
            </a: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의 결정 후 실행을 위한 조직</a:t>
            </a:r>
            <a:r>
              <a:rPr lang="en-US" altLang="ko-KR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프로세스</a:t>
            </a:r>
            <a:r>
              <a:rPr lang="en-US" altLang="ko-KR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,</a:t>
            </a:r>
          </a:p>
          <a:p>
            <a:pPr eaLnBrk="0" hangingPunct="0">
              <a:buFont typeface="Wingdings" pitchFamily="2" charset="2"/>
              <a:buNone/>
              <a:defRPr/>
            </a:pPr>
            <a:r>
              <a:rPr lang="en-US" altLang="ko-KR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 IT</a:t>
            </a: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의 변화는 </a:t>
            </a:r>
            <a:r>
              <a:rPr lang="en-US" altLang="ko-KR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eMall </a:t>
            </a:r>
            <a:r>
              <a:rPr lang="ko-KR" altLang="en-US" sz="1500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전사적으로 추진하여야 한다</a:t>
            </a:r>
            <a:endParaRPr lang="en-US" altLang="ko-KR" sz="1500" dirty="0">
              <a:solidFill>
                <a:schemeClr val="bg1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5144" name="Freeform 26"/>
          <p:cNvSpPr>
            <a:spLocks/>
          </p:cNvSpPr>
          <p:nvPr/>
        </p:nvSpPr>
        <p:spPr bwMode="auto">
          <a:xfrm>
            <a:off x="5280025" y="1844675"/>
            <a:ext cx="4208463" cy="234950"/>
          </a:xfrm>
          <a:custGeom>
            <a:avLst/>
            <a:gdLst>
              <a:gd name="T0" fmla="*/ 0 w 2244"/>
              <a:gd name="T1" fmla="*/ 2147483647 h 240"/>
              <a:gd name="T2" fmla="*/ 0 w 2244"/>
              <a:gd name="T3" fmla="*/ 0 h 240"/>
              <a:gd name="T4" fmla="*/ 2147483647 w 2244"/>
              <a:gd name="T5" fmla="*/ 0 h 240"/>
              <a:gd name="T6" fmla="*/ 2147483647 w 2244"/>
              <a:gd name="T7" fmla="*/ 2147483647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244"/>
              <a:gd name="T13" fmla="*/ 0 h 240"/>
              <a:gd name="T14" fmla="*/ 2244 w 2244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44" h="240">
                <a:moveTo>
                  <a:pt x="0" y="228"/>
                </a:moveTo>
                <a:lnTo>
                  <a:pt x="0" y="0"/>
                </a:lnTo>
                <a:lnTo>
                  <a:pt x="2244" y="0"/>
                </a:lnTo>
                <a:lnTo>
                  <a:pt x="2244" y="240"/>
                </a:lnTo>
              </a:path>
            </a:pathLst>
          </a:custGeom>
          <a:noFill/>
          <a:ln w="31750" cap="flat" cmpd="sng">
            <a:solidFill>
              <a:srgbClr val="888888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145" name="Text Box 27"/>
          <p:cNvSpPr txBox="1">
            <a:spLocks noChangeArrowheads="1"/>
          </p:cNvSpPr>
          <p:nvPr/>
        </p:nvSpPr>
        <p:spPr bwMode="auto">
          <a:xfrm>
            <a:off x="6224588" y="1674813"/>
            <a:ext cx="2354262" cy="317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buFont typeface="Wingdings" pitchFamily="2" charset="2"/>
              <a:buNone/>
            </a:pPr>
            <a:r>
              <a:rPr kumimoji="1" lang="en-US" altLang="ko-KR" sz="15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5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추진 핵심 전략 방향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172"/>
          <p:cNvSpPr>
            <a:spLocks noChangeArrowheads="1"/>
          </p:cNvSpPr>
          <p:nvPr/>
        </p:nvSpPr>
        <p:spPr bwMode="gray">
          <a:xfrm flipV="1">
            <a:off x="1277938" y="5275263"/>
            <a:ext cx="611187" cy="144462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ko-KR">
              <a:latin typeface="+mj-ea"/>
              <a:ea typeface="+mj-ea"/>
            </a:endParaRPr>
          </a:p>
        </p:txBody>
      </p:sp>
      <p:sp>
        <p:nvSpPr>
          <p:cNvPr id="6147" name="AutoShape 173"/>
          <p:cNvSpPr>
            <a:spLocks noChangeArrowheads="1"/>
          </p:cNvSpPr>
          <p:nvPr/>
        </p:nvSpPr>
        <p:spPr bwMode="gray">
          <a:xfrm flipV="1">
            <a:off x="2530475" y="5275263"/>
            <a:ext cx="611188" cy="144462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ko-KR">
              <a:latin typeface="+mj-ea"/>
              <a:ea typeface="+mj-ea"/>
            </a:endParaRPr>
          </a:p>
        </p:txBody>
      </p:sp>
      <p:sp>
        <p:nvSpPr>
          <p:cNvPr id="6148" name="AutoShape 174"/>
          <p:cNvSpPr>
            <a:spLocks noChangeArrowheads="1"/>
          </p:cNvSpPr>
          <p:nvPr/>
        </p:nvSpPr>
        <p:spPr bwMode="gray">
          <a:xfrm flipV="1">
            <a:off x="3784600" y="5275263"/>
            <a:ext cx="611188" cy="144462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ko-KR">
              <a:latin typeface="+mj-ea"/>
              <a:ea typeface="+mj-ea"/>
            </a:endParaRPr>
          </a:p>
        </p:txBody>
      </p:sp>
      <p:sp>
        <p:nvSpPr>
          <p:cNvPr id="66" name="AutoShape 9" descr="넓은 상향 대각선"/>
          <p:cNvSpPr>
            <a:spLocks noChangeArrowheads="1"/>
          </p:cNvSpPr>
          <p:nvPr/>
        </p:nvSpPr>
        <p:spPr bwMode="gray">
          <a:xfrm>
            <a:off x="950913" y="5400675"/>
            <a:ext cx="3743325" cy="712788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44000" tIns="36000" rIns="18000" bIns="46800">
            <a:noAutofit/>
          </a:bodyPr>
          <a:lstStyle/>
          <a:p>
            <a:pPr algn="l">
              <a:buFont typeface="Arial" pitchFamily="34" charset="0"/>
              <a:buNone/>
              <a:defRPr/>
            </a:pPr>
            <a:r>
              <a:rPr lang="ko-KR" altLang="en-US" u="sng" dirty="0">
                <a:latin typeface="+mj-ea"/>
                <a:ea typeface="+mj-ea"/>
              </a:rPr>
              <a:t>제휴업체</a:t>
            </a:r>
          </a:p>
        </p:txBody>
      </p:sp>
      <p:sp>
        <p:nvSpPr>
          <p:cNvPr id="6150" name="Rectangle 60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1651000" cy="247650"/>
          </a:xfrm>
        </p:spPr>
        <p:txBody>
          <a:bodyPr>
            <a:noAutofit/>
          </a:bodyPr>
          <a:lstStyle/>
          <a:p>
            <a:r>
              <a:rPr lang="en-US" altLang="ko-KR" dirty="0"/>
              <a:t>BM </a:t>
            </a:r>
            <a:r>
              <a:rPr lang="ko-KR" altLang="en-US" dirty="0"/>
              <a:t>도출 영역</a:t>
            </a:r>
          </a:p>
        </p:txBody>
      </p:sp>
      <p:sp>
        <p:nvSpPr>
          <p:cNvPr id="6151" name="Rectangle 61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eMall BM </a:t>
            </a:r>
            <a:r>
              <a:rPr lang="ko-KR" altLang="en-US" dirty="0"/>
              <a:t>영역은 크게 </a:t>
            </a:r>
            <a:r>
              <a:rPr lang="en-US" altLang="ko-KR" dirty="0"/>
              <a:t>3</a:t>
            </a:r>
            <a:r>
              <a:rPr lang="ko-KR" altLang="en-US" dirty="0"/>
              <a:t>개 영역이며</a:t>
            </a:r>
            <a:r>
              <a:rPr lang="en-US" altLang="ko-KR" dirty="0"/>
              <a:t>, </a:t>
            </a:r>
            <a:r>
              <a:rPr lang="ko-KR" altLang="en-US" dirty="0"/>
              <a:t>제안기업은 각 영역별 가설적 </a:t>
            </a:r>
            <a:r>
              <a:rPr lang="en-US" altLang="ko-KR" dirty="0"/>
              <a:t>To-Be Business Model</a:t>
            </a:r>
            <a:r>
              <a:rPr lang="ko-KR" altLang="en-US" dirty="0"/>
              <a:t>의 </a:t>
            </a:r>
            <a:r>
              <a:rPr lang="en-US" altLang="ko-KR" dirty="0"/>
              <a:t>eMall </a:t>
            </a:r>
            <a:r>
              <a:rPr lang="ko-KR" altLang="en-US" dirty="0"/>
              <a:t>적용에 집중하여 신속하고 실질적인 혁신이 되도록 프로젝트를 추진하고자 함</a:t>
            </a:r>
          </a:p>
        </p:txBody>
      </p:sp>
      <p:sp>
        <p:nvSpPr>
          <p:cNvPr id="6153" name="AutoShape 171"/>
          <p:cNvSpPr>
            <a:spLocks noChangeArrowheads="1"/>
          </p:cNvSpPr>
          <p:nvPr/>
        </p:nvSpPr>
        <p:spPr bwMode="gray">
          <a:xfrm>
            <a:off x="954088" y="2179638"/>
            <a:ext cx="3743325" cy="3052762"/>
          </a:xfrm>
          <a:prstGeom prst="roundRect">
            <a:avLst>
              <a:gd name="adj" fmla="val 4597"/>
            </a:avLst>
          </a:prstGeom>
          <a:solidFill>
            <a:srgbClr val="F2F2F2"/>
          </a:solidFill>
          <a:ln w="9525" algn="ctr">
            <a:solidFill>
              <a:srgbClr val="969696"/>
            </a:solidFill>
            <a:round/>
            <a:headEnd/>
            <a:tailEnd/>
          </a:ln>
        </p:spPr>
        <p:txBody>
          <a:bodyPr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ko-KR">
              <a:latin typeface="+mj-ea"/>
              <a:ea typeface="+mj-ea"/>
            </a:endParaRPr>
          </a:p>
        </p:txBody>
      </p:sp>
      <p:sp>
        <p:nvSpPr>
          <p:cNvPr id="6154" name="AutoShape 176"/>
          <p:cNvSpPr>
            <a:spLocks noChangeArrowheads="1"/>
          </p:cNvSpPr>
          <p:nvPr/>
        </p:nvSpPr>
        <p:spPr bwMode="gray">
          <a:xfrm>
            <a:off x="952500" y="3006725"/>
            <a:ext cx="3060700" cy="2232025"/>
          </a:xfrm>
          <a:prstGeom prst="roundRect">
            <a:avLst>
              <a:gd name="adj" fmla="val 6755"/>
            </a:avLst>
          </a:prstGeom>
          <a:solidFill>
            <a:srgbClr val="BFBFBF"/>
          </a:solidFill>
          <a:ln w="9525" algn="ctr">
            <a:solidFill>
              <a:srgbClr val="BFBFBF"/>
            </a:solidFill>
            <a:round/>
            <a:headEnd/>
            <a:tailEnd/>
          </a:ln>
        </p:spPr>
        <p:txBody>
          <a:bodyPr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ko-KR">
              <a:latin typeface="+mj-ea"/>
              <a:ea typeface="+mj-ea"/>
            </a:endParaRPr>
          </a:p>
        </p:txBody>
      </p:sp>
      <p:sp>
        <p:nvSpPr>
          <p:cNvPr id="6155" name="AutoShape 178"/>
          <p:cNvSpPr>
            <a:spLocks noChangeArrowheads="1"/>
          </p:cNvSpPr>
          <p:nvPr/>
        </p:nvSpPr>
        <p:spPr bwMode="gray">
          <a:xfrm>
            <a:off x="958850" y="4259263"/>
            <a:ext cx="1435100" cy="979487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 w="9525" algn="ctr">
            <a:solidFill>
              <a:srgbClr val="7F7F7F"/>
            </a:solidFill>
            <a:round/>
            <a:headEnd/>
            <a:tailEnd/>
          </a:ln>
        </p:spPr>
        <p:txBody>
          <a:bodyPr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latinLnBrk="1" hangingPunct="1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eMall</a:t>
            </a:r>
          </a:p>
        </p:txBody>
      </p:sp>
      <p:sp>
        <p:nvSpPr>
          <p:cNvPr id="6156" name="Text Box 180"/>
          <p:cNvSpPr txBox="1">
            <a:spLocks noChangeArrowheads="1"/>
          </p:cNvSpPr>
          <p:nvPr/>
        </p:nvSpPr>
        <p:spPr bwMode="gray">
          <a:xfrm>
            <a:off x="1825625" y="3001963"/>
            <a:ext cx="617775" cy="28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 u="sng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</a:t>
            </a:r>
            <a:endParaRPr lang="ko-KR" altLang="en-US" u="sng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6157" name="Line 181"/>
          <p:cNvSpPr>
            <a:spLocks noChangeShapeType="1"/>
          </p:cNvSpPr>
          <p:nvPr/>
        </p:nvSpPr>
        <p:spPr bwMode="gray">
          <a:xfrm>
            <a:off x="628650" y="2179638"/>
            <a:ext cx="0" cy="309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58" name="Text Box 182"/>
          <p:cNvSpPr txBox="1">
            <a:spLocks noChangeArrowheads="1"/>
          </p:cNvSpPr>
          <p:nvPr/>
        </p:nvSpPr>
        <p:spPr bwMode="gray">
          <a:xfrm>
            <a:off x="381000" y="2646363"/>
            <a:ext cx="500063" cy="2016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내</a:t>
            </a:r>
          </a:p>
        </p:txBody>
      </p:sp>
      <p:sp>
        <p:nvSpPr>
          <p:cNvPr id="6159" name="Line 183"/>
          <p:cNvSpPr>
            <a:spLocks noChangeShapeType="1"/>
          </p:cNvSpPr>
          <p:nvPr/>
        </p:nvSpPr>
        <p:spPr bwMode="gray">
          <a:xfrm>
            <a:off x="557213" y="5275263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60" name="Line 184"/>
          <p:cNvSpPr>
            <a:spLocks noChangeShapeType="1"/>
          </p:cNvSpPr>
          <p:nvPr/>
        </p:nvSpPr>
        <p:spPr bwMode="gray">
          <a:xfrm>
            <a:off x="557213" y="2179638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61" name="Line 185"/>
          <p:cNvSpPr>
            <a:spLocks noChangeShapeType="1"/>
          </p:cNvSpPr>
          <p:nvPr/>
        </p:nvSpPr>
        <p:spPr bwMode="gray">
          <a:xfrm>
            <a:off x="557213" y="6103938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62" name="Line 186"/>
          <p:cNvSpPr>
            <a:spLocks noChangeShapeType="1"/>
          </p:cNvSpPr>
          <p:nvPr/>
        </p:nvSpPr>
        <p:spPr bwMode="gray">
          <a:xfrm>
            <a:off x="557213" y="5386388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63" name="Line 187"/>
          <p:cNvSpPr>
            <a:spLocks noChangeShapeType="1"/>
          </p:cNvSpPr>
          <p:nvPr/>
        </p:nvSpPr>
        <p:spPr bwMode="gray">
          <a:xfrm>
            <a:off x="628650" y="5383213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64" name="Text Box 188"/>
          <p:cNvSpPr txBox="1">
            <a:spLocks noChangeArrowheads="1"/>
          </p:cNvSpPr>
          <p:nvPr/>
        </p:nvSpPr>
        <p:spPr bwMode="gray">
          <a:xfrm>
            <a:off x="381000" y="5613400"/>
            <a:ext cx="500063" cy="2016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외</a:t>
            </a:r>
          </a:p>
        </p:txBody>
      </p:sp>
      <p:sp>
        <p:nvSpPr>
          <p:cNvPr id="6165" name="Oval 189"/>
          <p:cNvSpPr>
            <a:spLocks noChangeArrowheads="1"/>
          </p:cNvSpPr>
          <p:nvPr/>
        </p:nvSpPr>
        <p:spPr bwMode="gray">
          <a:xfrm>
            <a:off x="2141538" y="4303713"/>
            <a:ext cx="250825" cy="2508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1</a:t>
            </a:r>
          </a:p>
        </p:txBody>
      </p:sp>
      <p:sp>
        <p:nvSpPr>
          <p:cNvPr id="6166" name="Oval 190"/>
          <p:cNvSpPr>
            <a:spLocks noChangeArrowheads="1"/>
          </p:cNvSpPr>
          <p:nvPr/>
        </p:nvSpPr>
        <p:spPr bwMode="gray">
          <a:xfrm>
            <a:off x="3149600" y="2214563"/>
            <a:ext cx="250825" cy="2508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3</a:t>
            </a:r>
          </a:p>
        </p:txBody>
      </p:sp>
      <p:sp>
        <p:nvSpPr>
          <p:cNvPr id="6172" name="Text Box 196"/>
          <p:cNvSpPr txBox="1">
            <a:spLocks noChangeArrowheads="1"/>
          </p:cNvSpPr>
          <p:nvPr/>
        </p:nvSpPr>
        <p:spPr bwMode="gray">
          <a:xfrm>
            <a:off x="2105025" y="2179638"/>
            <a:ext cx="1265238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 u="sng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000</a:t>
            </a:r>
            <a:r>
              <a:rPr lang="ko-KR" altLang="en-US" u="sng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그룹</a:t>
            </a:r>
          </a:p>
        </p:txBody>
      </p:sp>
      <p:sp>
        <p:nvSpPr>
          <p:cNvPr id="6173" name="Rectangle 197"/>
          <p:cNvSpPr>
            <a:spLocks noChangeArrowheads="1"/>
          </p:cNvSpPr>
          <p:nvPr/>
        </p:nvSpPr>
        <p:spPr bwMode="gray">
          <a:xfrm>
            <a:off x="1133475" y="5745163"/>
            <a:ext cx="866775" cy="250825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accent1"/>
            </a:solidFill>
            <a:miter lim="800000"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신선</a:t>
            </a:r>
            <a:r>
              <a:rPr lang="en-US" altLang="ko-KR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/</a:t>
            </a: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가공식품</a:t>
            </a:r>
          </a:p>
        </p:txBody>
      </p:sp>
      <p:sp>
        <p:nvSpPr>
          <p:cNvPr id="6174" name="Rectangle 198"/>
          <p:cNvSpPr>
            <a:spLocks noChangeArrowheads="1"/>
          </p:cNvSpPr>
          <p:nvPr/>
        </p:nvSpPr>
        <p:spPr bwMode="gray">
          <a:xfrm>
            <a:off x="2105025" y="5745163"/>
            <a:ext cx="866775" cy="250825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accent1"/>
            </a:solidFill>
            <a:miter lim="800000"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포털사이트</a:t>
            </a:r>
          </a:p>
        </p:txBody>
      </p:sp>
      <p:sp>
        <p:nvSpPr>
          <p:cNvPr id="6175" name="Rectangle 199"/>
          <p:cNvSpPr>
            <a:spLocks noChangeArrowheads="1"/>
          </p:cNvSpPr>
          <p:nvPr/>
        </p:nvSpPr>
        <p:spPr bwMode="gray">
          <a:xfrm>
            <a:off x="3078163" y="5745163"/>
            <a:ext cx="866775" cy="250825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accent1"/>
            </a:solidFill>
            <a:miter lim="800000"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 sz="10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Retailer</a:t>
            </a:r>
          </a:p>
        </p:txBody>
      </p:sp>
      <p:sp>
        <p:nvSpPr>
          <p:cNvPr id="6176" name="Oval 200"/>
          <p:cNvSpPr>
            <a:spLocks noChangeArrowheads="1"/>
          </p:cNvSpPr>
          <p:nvPr/>
        </p:nvSpPr>
        <p:spPr bwMode="gray">
          <a:xfrm>
            <a:off x="4086225" y="5851525"/>
            <a:ext cx="95250" cy="95250"/>
          </a:xfrm>
          <a:prstGeom prst="ellipse">
            <a:avLst/>
          </a:prstGeom>
          <a:solidFill>
            <a:srgbClr val="EAEAEA"/>
          </a:solidFill>
          <a:ln w="9525" algn="ctr">
            <a:solidFill>
              <a:schemeClr val="accent1"/>
            </a:solidFill>
            <a:miter lim="800000"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</a:pPr>
            <a:endParaRPr lang="ko-KR" altLang="ko-KR" sz="100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6177" name="Oval 201"/>
          <p:cNvSpPr>
            <a:spLocks noChangeArrowheads="1"/>
          </p:cNvSpPr>
          <p:nvPr/>
        </p:nvSpPr>
        <p:spPr bwMode="gray">
          <a:xfrm>
            <a:off x="4229100" y="5851525"/>
            <a:ext cx="95250" cy="95250"/>
          </a:xfrm>
          <a:prstGeom prst="ellipse">
            <a:avLst/>
          </a:prstGeom>
          <a:solidFill>
            <a:srgbClr val="EAEAEA"/>
          </a:solidFill>
          <a:ln w="9525" algn="ctr">
            <a:solidFill>
              <a:schemeClr val="accent1"/>
            </a:solidFill>
            <a:miter lim="800000"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</a:pPr>
            <a:endParaRPr lang="ko-KR" altLang="ko-KR" sz="100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6178" name="Oval 202"/>
          <p:cNvSpPr>
            <a:spLocks noChangeArrowheads="1"/>
          </p:cNvSpPr>
          <p:nvPr/>
        </p:nvSpPr>
        <p:spPr bwMode="gray">
          <a:xfrm>
            <a:off x="4373563" y="5851525"/>
            <a:ext cx="95250" cy="95250"/>
          </a:xfrm>
          <a:prstGeom prst="ellipse">
            <a:avLst/>
          </a:prstGeom>
          <a:solidFill>
            <a:srgbClr val="EAEAEA"/>
          </a:solidFill>
          <a:ln w="9525" algn="ctr">
            <a:solidFill>
              <a:schemeClr val="accent1"/>
            </a:solidFill>
            <a:miter lim="800000"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</a:pPr>
            <a:endParaRPr lang="ko-KR" altLang="ko-KR" sz="100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6179" name="Rectangle 203"/>
          <p:cNvSpPr>
            <a:spLocks noChangeArrowheads="1"/>
          </p:cNvSpPr>
          <p:nvPr/>
        </p:nvSpPr>
        <p:spPr bwMode="gray">
          <a:xfrm>
            <a:off x="1077913" y="1676400"/>
            <a:ext cx="28797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ko-KR" sz="1400">
                <a:latin typeface="+mj-ea"/>
                <a:ea typeface="+mj-ea"/>
                <a:cs typeface="Arial" charset="0"/>
              </a:rPr>
              <a:t>To-Be Business Model </a:t>
            </a:r>
            <a:r>
              <a:rPr lang="ko-KR" altLang="en-US" sz="1400">
                <a:latin typeface="+mj-ea"/>
                <a:ea typeface="+mj-ea"/>
                <a:cs typeface="Arial" charset="0"/>
              </a:rPr>
              <a:t>강화 </a:t>
            </a:r>
            <a:r>
              <a:rPr lang="en-US" altLang="ko-KR" sz="1400">
                <a:latin typeface="+mj-ea"/>
                <a:ea typeface="+mj-ea"/>
                <a:cs typeface="Arial" charset="0"/>
              </a:rPr>
              <a:t>Image</a:t>
            </a:r>
          </a:p>
        </p:txBody>
      </p:sp>
      <p:sp>
        <p:nvSpPr>
          <p:cNvPr id="6180" name="Line 204"/>
          <p:cNvSpPr>
            <a:spLocks noChangeShapeType="1"/>
          </p:cNvSpPr>
          <p:nvPr/>
        </p:nvSpPr>
        <p:spPr bwMode="gray">
          <a:xfrm>
            <a:off x="341313" y="1936750"/>
            <a:ext cx="43561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81" name="Rectangle 205"/>
          <p:cNvSpPr>
            <a:spLocks noChangeArrowheads="1"/>
          </p:cNvSpPr>
          <p:nvPr/>
        </p:nvSpPr>
        <p:spPr bwMode="gray">
          <a:xfrm>
            <a:off x="6024563" y="1676400"/>
            <a:ext cx="27225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ko-KR" sz="1400">
                <a:latin typeface="+mj-ea"/>
                <a:ea typeface="+mj-ea"/>
                <a:cs typeface="Arial" charset="0"/>
              </a:rPr>
              <a:t>To-Be Business Model </a:t>
            </a:r>
            <a:r>
              <a:rPr lang="ko-KR" altLang="en-US" sz="1400">
                <a:latin typeface="+mj-ea"/>
                <a:ea typeface="+mj-ea"/>
                <a:cs typeface="Arial" charset="0"/>
              </a:rPr>
              <a:t>도출 영역</a:t>
            </a:r>
          </a:p>
        </p:txBody>
      </p:sp>
      <p:sp>
        <p:nvSpPr>
          <p:cNvPr id="6182" name="Line 206"/>
          <p:cNvSpPr>
            <a:spLocks noChangeShapeType="1"/>
          </p:cNvSpPr>
          <p:nvPr/>
        </p:nvSpPr>
        <p:spPr bwMode="gray">
          <a:xfrm>
            <a:off x="5208588" y="1936750"/>
            <a:ext cx="43561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183" name="Rectangle 207"/>
          <p:cNvSpPr>
            <a:spLocks noChangeArrowheads="1"/>
          </p:cNvSpPr>
          <p:nvPr/>
        </p:nvSpPr>
        <p:spPr bwMode="gray">
          <a:xfrm>
            <a:off x="5461000" y="2454275"/>
            <a:ext cx="29972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noAutofit/>
          </a:bodyPr>
          <a:lstStyle>
            <a:lvl1pPr marL="179388" indent="-1793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266700" indent="-889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 </a:t>
            </a: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서비스</a:t>
            </a:r>
            <a:r>
              <a:rPr lang="en-US" altLang="ko-KR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/</a:t>
            </a: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기능의 강화</a:t>
            </a:r>
          </a:p>
          <a:p>
            <a:pPr lvl="1" algn="l">
              <a:lnSpc>
                <a:spcPct val="110000"/>
              </a:lnSpc>
              <a:buClr>
                <a:srgbClr val="000000"/>
              </a:buClr>
              <a:buFont typeface="Arial" charset="0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직관적 </a:t>
            </a:r>
            <a:r>
              <a:rPr lang="en-US" altLang="ko-KR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Simple </a:t>
            </a: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디자인 </a:t>
            </a:r>
            <a:r>
              <a:rPr lang="en-US" altLang="ko-KR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. </a:t>
            </a: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개인화 지원</a:t>
            </a:r>
            <a:endParaRPr lang="ko-KR" altLang="en-US" sz="130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>
              <a:lnSpc>
                <a:spcPct val="11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선진 </a:t>
            </a:r>
            <a:r>
              <a:rPr lang="en-US" altLang="ko-KR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</a:t>
            </a: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 차별화 서비스 도입</a:t>
            </a:r>
          </a:p>
          <a:p>
            <a:pPr lvl="1" algn="l">
              <a:lnSpc>
                <a:spcPct val="110000"/>
              </a:lnSpc>
              <a:buClr>
                <a:srgbClr val="000000"/>
              </a:buClr>
              <a:buFont typeface="Arial" charset="0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양방향 쇼핑 편의성 개선</a:t>
            </a:r>
            <a:r>
              <a:rPr lang="en-US" altLang="ko-KR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. B2B </a:t>
            </a: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마켓 지원</a:t>
            </a:r>
          </a:p>
        </p:txBody>
      </p:sp>
      <p:sp>
        <p:nvSpPr>
          <p:cNvPr id="6184" name="Rectangle 208"/>
          <p:cNvSpPr>
            <a:spLocks noChangeArrowheads="1"/>
          </p:cNvSpPr>
          <p:nvPr/>
        </p:nvSpPr>
        <p:spPr bwMode="gray">
          <a:xfrm>
            <a:off x="5461000" y="3776663"/>
            <a:ext cx="2997200" cy="131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noAutofit/>
          </a:bodyPr>
          <a:lstStyle>
            <a:lvl1pPr marL="179388" indent="-1793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266700" indent="-889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채널 시너지 극대화</a:t>
            </a:r>
          </a:p>
          <a:p>
            <a:pPr lvl="1" algn="l">
              <a:lnSpc>
                <a:spcPct val="110000"/>
              </a:lnSpc>
              <a:buClr>
                <a:schemeClr val="tx1"/>
              </a:buClr>
              <a:buFont typeface="Arial" charset="0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마케팅</a:t>
            </a:r>
            <a:r>
              <a:rPr lang="en-US" altLang="ko-KR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/</a:t>
            </a: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세일즈</a:t>
            </a:r>
            <a:r>
              <a:rPr lang="en-US" altLang="ko-KR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/</a:t>
            </a: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소싱 역량 강화</a:t>
            </a:r>
          </a:p>
          <a:p>
            <a:pPr algn="l">
              <a:lnSpc>
                <a:spcPct val="11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Mobile Commerce </a:t>
            </a: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개선</a:t>
            </a:r>
          </a:p>
          <a:p>
            <a:pPr lvl="1" algn="l">
              <a:lnSpc>
                <a:spcPct val="110000"/>
              </a:lnSpc>
              <a:buClr>
                <a:srgbClr val="000000"/>
              </a:buClr>
              <a:buFont typeface="Arial" charset="0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브랜드 인지도 개선</a:t>
            </a:r>
            <a:r>
              <a:rPr lang="en-US" altLang="ko-KR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. </a:t>
            </a: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모바일 고객 </a:t>
            </a:r>
            <a:r>
              <a:rPr lang="ko-KR" altLang="en-US" sz="1100" b="0" dirty="0" err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모객</a:t>
            </a:r>
            <a:endParaRPr lang="ko-KR" altLang="en-US" sz="130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>
              <a:lnSpc>
                <a:spcPct val="11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소셜 마케팅</a:t>
            </a:r>
            <a:r>
              <a:rPr lang="en-US" altLang="ko-KR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(SNS) </a:t>
            </a: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개선</a:t>
            </a:r>
          </a:p>
          <a:p>
            <a:pPr lvl="1" algn="l">
              <a:lnSpc>
                <a:spcPct val="110000"/>
              </a:lnSpc>
              <a:buClr>
                <a:srgbClr val="000000"/>
              </a:buClr>
              <a:buFont typeface="Arial" charset="0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확장된 고객 응대</a:t>
            </a:r>
            <a:r>
              <a:rPr lang="en-US" altLang="ko-KR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. Advocate </a:t>
            </a: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확충</a:t>
            </a:r>
          </a:p>
        </p:txBody>
      </p:sp>
      <p:sp>
        <p:nvSpPr>
          <p:cNvPr id="6185" name="Rectangle 209"/>
          <p:cNvSpPr>
            <a:spLocks noChangeArrowheads="1"/>
          </p:cNvSpPr>
          <p:nvPr/>
        </p:nvSpPr>
        <p:spPr bwMode="gray">
          <a:xfrm>
            <a:off x="5461000" y="5451475"/>
            <a:ext cx="29972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noAutofit/>
          </a:bodyPr>
          <a:lstStyle>
            <a:lvl1pPr marL="179388" indent="-1793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266700" indent="-889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온라인 통합 </a:t>
            </a:r>
            <a:r>
              <a:rPr lang="en-US" altLang="ko-KR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Platform</a:t>
            </a:r>
          </a:p>
          <a:p>
            <a:pPr lvl="1" algn="l">
              <a:lnSpc>
                <a:spcPct val="110000"/>
              </a:lnSpc>
              <a:buClr>
                <a:srgbClr val="000000"/>
              </a:buClr>
              <a:buFont typeface="Arial" charset="0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 통합 운영 및 협력사 온라인 대행</a:t>
            </a:r>
            <a:endParaRPr lang="ko-KR" altLang="en-US" sz="130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>
              <a:lnSpc>
                <a:spcPct val="11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통합 고객 멤버십</a:t>
            </a:r>
          </a:p>
          <a:p>
            <a:pPr lvl="1" algn="l">
              <a:lnSpc>
                <a:spcPct val="110000"/>
              </a:lnSpc>
              <a:buClr>
                <a:srgbClr val="000000"/>
              </a:buClr>
              <a:buFont typeface="Arial" charset="0"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그룹사 제휴통한 멤버십 확장</a:t>
            </a:r>
            <a:r>
              <a:rPr lang="en-US" altLang="ko-KR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. </a:t>
            </a:r>
            <a:r>
              <a:rPr lang="ko-KR" altLang="en-US" sz="11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통합 운영</a:t>
            </a:r>
          </a:p>
        </p:txBody>
      </p:sp>
      <p:sp>
        <p:nvSpPr>
          <p:cNvPr id="6186" name="Text Box 210"/>
          <p:cNvSpPr txBox="1">
            <a:spLocks noChangeArrowheads="1"/>
          </p:cNvSpPr>
          <p:nvPr/>
        </p:nvSpPr>
        <p:spPr bwMode="gray">
          <a:xfrm>
            <a:off x="5461000" y="2108200"/>
            <a:ext cx="2960688" cy="325438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</p:spPr>
        <p:txBody>
          <a:bodyPr lIns="25200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Clr>
                <a:schemeClr val="tx1"/>
              </a:buClr>
            </a:pPr>
            <a:r>
              <a:rPr lang="en-US" altLang="ko-KR" sz="1400" i="1" dirty="0">
                <a:solidFill>
                  <a:schemeClr val="bg1"/>
                </a:solidFill>
                <a:latin typeface="+mj-ea"/>
                <a:ea typeface="+mj-ea"/>
              </a:rPr>
              <a:t>eMall </a:t>
            </a:r>
            <a:r>
              <a:rPr lang="ko-KR" altLang="en-US" sz="1400" i="1" dirty="0">
                <a:solidFill>
                  <a:schemeClr val="bg1"/>
                </a:solidFill>
                <a:latin typeface="+mj-ea"/>
                <a:ea typeface="+mj-ea"/>
              </a:rPr>
              <a:t>자체 </a:t>
            </a:r>
            <a:r>
              <a:rPr lang="en-US" altLang="ko-KR" sz="1400" i="1" dirty="0">
                <a:solidFill>
                  <a:schemeClr val="bg1"/>
                </a:solidFill>
                <a:latin typeface="+mj-ea"/>
                <a:ea typeface="+mj-ea"/>
              </a:rPr>
              <a:t>BM </a:t>
            </a:r>
            <a:r>
              <a:rPr lang="ko-KR" altLang="en-US" sz="1400" i="1" dirty="0">
                <a:solidFill>
                  <a:schemeClr val="bg1"/>
                </a:solidFill>
                <a:latin typeface="+mj-ea"/>
                <a:ea typeface="+mj-ea"/>
              </a:rPr>
              <a:t>강화</a:t>
            </a:r>
          </a:p>
        </p:txBody>
      </p:sp>
      <p:sp>
        <p:nvSpPr>
          <p:cNvPr id="6187" name="Text Box 211"/>
          <p:cNvSpPr txBox="1">
            <a:spLocks noChangeArrowheads="1"/>
          </p:cNvSpPr>
          <p:nvPr/>
        </p:nvSpPr>
        <p:spPr bwMode="gray">
          <a:xfrm>
            <a:off x="5461000" y="3429000"/>
            <a:ext cx="2960688" cy="325438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</p:spPr>
        <p:txBody>
          <a:bodyPr lIns="25200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Clr>
                <a:schemeClr val="tx1"/>
              </a:buClr>
            </a:pPr>
            <a:r>
              <a:rPr lang="ko-KR" altLang="en-US" sz="1400" i="1">
                <a:solidFill>
                  <a:schemeClr val="bg1"/>
                </a:solidFill>
                <a:latin typeface="+mj-ea"/>
                <a:ea typeface="+mj-ea"/>
              </a:rPr>
              <a:t>채널 </a:t>
            </a:r>
            <a:r>
              <a:rPr lang="en-US" altLang="ko-KR" sz="1400" i="1">
                <a:solidFill>
                  <a:schemeClr val="bg1"/>
                </a:solidFill>
                <a:latin typeface="+mj-ea"/>
                <a:ea typeface="+mj-ea"/>
              </a:rPr>
              <a:t>Synergy BM</a:t>
            </a:r>
          </a:p>
        </p:txBody>
      </p:sp>
      <p:sp>
        <p:nvSpPr>
          <p:cNvPr id="6188" name="Text Box 212"/>
          <p:cNvSpPr txBox="1">
            <a:spLocks noChangeArrowheads="1"/>
          </p:cNvSpPr>
          <p:nvPr/>
        </p:nvSpPr>
        <p:spPr bwMode="gray">
          <a:xfrm>
            <a:off x="5461000" y="5110163"/>
            <a:ext cx="2960688" cy="325437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</p:spPr>
        <p:txBody>
          <a:bodyPr lIns="25200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Clr>
                <a:schemeClr val="tx1"/>
              </a:buClr>
            </a:pPr>
            <a:r>
              <a:rPr lang="ko-KR" altLang="en-US" sz="1400" i="1">
                <a:solidFill>
                  <a:schemeClr val="bg1"/>
                </a:solidFill>
                <a:latin typeface="+mj-ea"/>
                <a:ea typeface="+mj-ea"/>
              </a:rPr>
              <a:t>그룹 </a:t>
            </a:r>
            <a:r>
              <a:rPr lang="en-US" altLang="ko-KR" sz="1400" i="1">
                <a:solidFill>
                  <a:schemeClr val="bg1"/>
                </a:solidFill>
                <a:latin typeface="+mj-ea"/>
                <a:ea typeface="+mj-ea"/>
              </a:rPr>
              <a:t>Online </a:t>
            </a:r>
            <a:r>
              <a:rPr lang="ko-KR" altLang="en-US" sz="1400" i="1">
                <a:solidFill>
                  <a:schemeClr val="bg1"/>
                </a:solidFill>
                <a:latin typeface="+mj-ea"/>
                <a:ea typeface="+mj-ea"/>
              </a:rPr>
              <a:t>플랫폼</a:t>
            </a:r>
          </a:p>
        </p:txBody>
      </p:sp>
      <p:sp>
        <p:nvSpPr>
          <p:cNvPr id="6189" name="Oval 214"/>
          <p:cNvSpPr>
            <a:spLocks noChangeArrowheads="1"/>
          </p:cNvSpPr>
          <p:nvPr/>
        </p:nvSpPr>
        <p:spPr bwMode="gray">
          <a:xfrm>
            <a:off x="5281613" y="2108200"/>
            <a:ext cx="323850" cy="323850"/>
          </a:xfrm>
          <a:prstGeom prst="ellipse">
            <a:avLst/>
          </a:prstGeom>
          <a:solidFill>
            <a:schemeClr val="tx1"/>
          </a:solidFill>
          <a:ln w="9525" algn="ctr">
            <a:solidFill>
              <a:srgbClr val="969696"/>
            </a:solidFill>
            <a:round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1</a:t>
            </a:r>
          </a:p>
        </p:txBody>
      </p:sp>
      <p:sp>
        <p:nvSpPr>
          <p:cNvPr id="6190" name="Oval 215"/>
          <p:cNvSpPr>
            <a:spLocks noChangeArrowheads="1"/>
          </p:cNvSpPr>
          <p:nvPr/>
        </p:nvSpPr>
        <p:spPr bwMode="gray">
          <a:xfrm>
            <a:off x="5281613" y="3429000"/>
            <a:ext cx="323850" cy="323850"/>
          </a:xfrm>
          <a:prstGeom prst="ellipse">
            <a:avLst/>
          </a:prstGeom>
          <a:solidFill>
            <a:schemeClr val="tx1"/>
          </a:solidFill>
          <a:ln w="9525" algn="ctr">
            <a:solidFill>
              <a:srgbClr val="969696"/>
            </a:solidFill>
            <a:round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2</a:t>
            </a:r>
          </a:p>
        </p:txBody>
      </p:sp>
      <p:sp>
        <p:nvSpPr>
          <p:cNvPr id="6191" name="Oval 216"/>
          <p:cNvSpPr>
            <a:spLocks noChangeArrowheads="1"/>
          </p:cNvSpPr>
          <p:nvPr/>
        </p:nvSpPr>
        <p:spPr bwMode="gray">
          <a:xfrm>
            <a:off x="5281613" y="5110163"/>
            <a:ext cx="323850" cy="323850"/>
          </a:xfrm>
          <a:prstGeom prst="ellipse">
            <a:avLst/>
          </a:prstGeom>
          <a:solidFill>
            <a:schemeClr val="tx1"/>
          </a:solidFill>
          <a:ln w="9525" algn="ctr">
            <a:solidFill>
              <a:srgbClr val="969696"/>
            </a:solidFill>
            <a:round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3</a:t>
            </a:r>
          </a:p>
        </p:txBody>
      </p:sp>
      <p:sp>
        <p:nvSpPr>
          <p:cNvPr id="6192" name="AutoShape 217"/>
          <p:cNvSpPr>
            <a:spLocks noChangeArrowheads="1"/>
          </p:cNvSpPr>
          <p:nvPr/>
        </p:nvSpPr>
        <p:spPr bwMode="gray">
          <a:xfrm>
            <a:off x="2754313" y="3357563"/>
            <a:ext cx="1150937" cy="3333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TV</a:t>
            </a:r>
          </a:p>
        </p:txBody>
      </p:sp>
      <p:sp>
        <p:nvSpPr>
          <p:cNvPr id="6193" name="AutoShape 218"/>
          <p:cNvSpPr>
            <a:spLocks noChangeArrowheads="1"/>
          </p:cNvSpPr>
          <p:nvPr/>
        </p:nvSpPr>
        <p:spPr bwMode="gray">
          <a:xfrm>
            <a:off x="2754313" y="3897313"/>
            <a:ext cx="1150937" cy="3333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Shopping Book</a:t>
            </a:r>
          </a:p>
        </p:txBody>
      </p:sp>
      <p:sp>
        <p:nvSpPr>
          <p:cNvPr id="6194" name="AutoShape 219"/>
          <p:cNvSpPr>
            <a:spLocks noChangeArrowheads="1"/>
          </p:cNvSpPr>
          <p:nvPr/>
        </p:nvSpPr>
        <p:spPr bwMode="gray">
          <a:xfrm>
            <a:off x="2754313" y="4365625"/>
            <a:ext cx="1150937" cy="3333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마트</a:t>
            </a:r>
          </a:p>
        </p:txBody>
      </p:sp>
      <p:sp>
        <p:nvSpPr>
          <p:cNvPr id="6195" name="AutoShape 220"/>
          <p:cNvSpPr>
            <a:spLocks noChangeArrowheads="1"/>
          </p:cNvSpPr>
          <p:nvPr/>
        </p:nvSpPr>
        <p:spPr bwMode="gray">
          <a:xfrm>
            <a:off x="2754313" y="4833938"/>
            <a:ext cx="1150937" cy="3333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모바일</a:t>
            </a:r>
          </a:p>
        </p:txBody>
      </p:sp>
      <p:cxnSp>
        <p:nvCxnSpPr>
          <p:cNvPr id="6196" name="AutoShape 221"/>
          <p:cNvCxnSpPr>
            <a:cxnSpLocks noChangeShapeType="1"/>
            <a:stCxn id="6155" idx="3"/>
            <a:endCxn id="6192" idx="1"/>
          </p:cNvCxnSpPr>
          <p:nvPr/>
        </p:nvCxnSpPr>
        <p:spPr bwMode="gray">
          <a:xfrm flipV="1">
            <a:off x="2393950" y="3524250"/>
            <a:ext cx="360363" cy="1225550"/>
          </a:xfrm>
          <a:prstGeom prst="straightConnector1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97" name="AutoShape 222"/>
          <p:cNvCxnSpPr>
            <a:cxnSpLocks noChangeShapeType="1"/>
            <a:stCxn id="6155" idx="3"/>
            <a:endCxn id="6193" idx="1"/>
          </p:cNvCxnSpPr>
          <p:nvPr/>
        </p:nvCxnSpPr>
        <p:spPr bwMode="gray">
          <a:xfrm flipV="1">
            <a:off x="2393950" y="4064000"/>
            <a:ext cx="360363" cy="685800"/>
          </a:xfrm>
          <a:prstGeom prst="straightConnector1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98" name="AutoShape 223"/>
          <p:cNvCxnSpPr>
            <a:cxnSpLocks noChangeShapeType="1"/>
            <a:stCxn id="6155" idx="3"/>
            <a:endCxn id="6194" idx="1"/>
          </p:cNvCxnSpPr>
          <p:nvPr/>
        </p:nvCxnSpPr>
        <p:spPr bwMode="gray">
          <a:xfrm flipV="1">
            <a:off x="2393950" y="4532313"/>
            <a:ext cx="360363" cy="217487"/>
          </a:xfrm>
          <a:prstGeom prst="straightConnector1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99" name="AutoShape 224"/>
          <p:cNvCxnSpPr>
            <a:cxnSpLocks noChangeShapeType="1"/>
            <a:stCxn id="6155" idx="3"/>
            <a:endCxn id="6195" idx="1"/>
          </p:cNvCxnSpPr>
          <p:nvPr/>
        </p:nvCxnSpPr>
        <p:spPr bwMode="gray">
          <a:xfrm>
            <a:off x="2393950" y="4749800"/>
            <a:ext cx="360363" cy="250825"/>
          </a:xfrm>
          <a:prstGeom prst="straightConnector1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00" name="Oval 225"/>
          <p:cNvSpPr>
            <a:spLocks noChangeArrowheads="1"/>
          </p:cNvSpPr>
          <p:nvPr/>
        </p:nvSpPr>
        <p:spPr bwMode="gray">
          <a:xfrm>
            <a:off x="2465388" y="3798888"/>
            <a:ext cx="250825" cy="2508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2</a:t>
            </a:r>
          </a:p>
        </p:txBody>
      </p:sp>
      <p:sp>
        <p:nvSpPr>
          <p:cNvPr id="68" name="AutoShape 45" descr="넓은 상향 대각선"/>
          <p:cNvSpPr>
            <a:spLocks noChangeArrowheads="1"/>
          </p:cNvSpPr>
          <p:nvPr/>
        </p:nvSpPr>
        <p:spPr bwMode="gray">
          <a:xfrm>
            <a:off x="8421688" y="2108200"/>
            <a:ext cx="1058862" cy="4162425"/>
          </a:xfrm>
          <a:prstGeom prst="leftArrowCallout">
            <a:avLst>
              <a:gd name="adj1" fmla="val 92598"/>
              <a:gd name="adj2" fmla="val 64363"/>
              <a:gd name="adj3" fmla="val 12661"/>
              <a:gd name="adj4" fmla="val 75771"/>
            </a:avLst>
          </a:prstGeom>
          <a:solidFill>
            <a:schemeClr val="bg1">
              <a:lumMod val="50000"/>
            </a:schemeClr>
          </a:solidFill>
          <a:ln w="9525" algn="ctr">
            <a:solidFill>
              <a:srgbClr val="96969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8000" tIns="46800" rIns="18000" bIns="46800"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ko-KR" altLang="en-US" sz="1400" i="1" kern="0" dirty="0">
                <a:solidFill>
                  <a:schemeClr val="bg1"/>
                </a:solidFill>
                <a:latin typeface="+mj-ea"/>
                <a:ea typeface="+mj-ea"/>
              </a:rPr>
              <a:t>외부</a:t>
            </a:r>
            <a:br>
              <a:rPr lang="ko-KR" altLang="en-US" sz="1400" i="1" kern="0" dirty="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 i="1" kern="0" dirty="0">
                <a:solidFill>
                  <a:schemeClr val="bg1"/>
                </a:solidFill>
                <a:latin typeface="+mj-ea"/>
                <a:ea typeface="+mj-ea"/>
              </a:rPr>
              <a:t>제휴를</a:t>
            </a:r>
            <a:br>
              <a:rPr lang="ko-KR" altLang="en-US" sz="1400" i="1" kern="0" dirty="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 i="1" kern="0" dirty="0">
                <a:solidFill>
                  <a:schemeClr val="bg1"/>
                </a:solidFill>
                <a:latin typeface="+mj-ea"/>
                <a:ea typeface="+mj-ea"/>
              </a:rPr>
              <a:t>통한</a:t>
            </a:r>
            <a:br>
              <a:rPr lang="ko-KR" altLang="en-US" sz="1400" i="1" kern="0" dirty="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 i="1" kern="0" dirty="0">
                <a:solidFill>
                  <a:schemeClr val="bg1"/>
                </a:solidFill>
                <a:latin typeface="+mj-ea"/>
                <a:ea typeface="+mj-ea"/>
              </a:rPr>
              <a:t>경쟁력</a:t>
            </a:r>
            <a:br>
              <a:rPr lang="ko-KR" altLang="en-US" sz="1400" i="1" kern="0" dirty="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 i="1" kern="0" dirty="0">
                <a:solidFill>
                  <a:schemeClr val="bg1"/>
                </a:solidFill>
                <a:latin typeface="+mj-ea"/>
                <a:ea typeface="+mj-ea"/>
              </a:rPr>
              <a:t>강화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863C7E-1039-D806-DEF4-7A852CA7DB33}"/>
              </a:ext>
            </a:extLst>
          </p:cNvPr>
          <p:cNvSpPr/>
          <p:nvPr/>
        </p:nvSpPr>
        <p:spPr bwMode="auto">
          <a:xfrm>
            <a:off x="1277938" y="2564904"/>
            <a:ext cx="938758" cy="2830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ore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그룹사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로고</a:t>
            </a:r>
            <a:endParaRPr kumimoji="0" lang="ko-Kore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3E28B80-F6EF-4DE4-809D-92B0B32D7F13}"/>
              </a:ext>
            </a:extLst>
          </p:cNvPr>
          <p:cNvSpPr/>
          <p:nvPr/>
        </p:nvSpPr>
        <p:spPr bwMode="auto">
          <a:xfrm>
            <a:off x="2615234" y="2564904"/>
            <a:ext cx="866857" cy="2830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ore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그룹사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로고</a:t>
            </a:r>
            <a:endParaRPr kumimoji="0" lang="ko-Kore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73257B-4B2F-E31B-A0E1-F0D64DFB4135}"/>
              </a:ext>
            </a:extLst>
          </p:cNvPr>
          <p:cNvSpPr/>
          <p:nvPr/>
        </p:nvSpPr>
        <p:spPr bwMode="auto">
          <a:xfrm>
            <a:off x="3738481" y="2564904"/>
            <a:ext cx="866857" cy="2830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ore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그룹사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로고</a:t>
            </a:r>
            <a:endParaRPr kumimoji="0" lang="ko-Kore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6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2362200" cy="247650"/>
          </a:xfrm>
        </p:spPr>
        <p:txBody>
          <a:bodyPr/>
          <a:lstStyle/>
          <a:p>
            <a:r>
              <a:rPr lang="en-US" altLang="ko-KR" dirty="0"/>
              <a:t>Benchmarking </a:t>
            </a:r>
            <a:r>
              <a:rPr lang="ko-KR" altLang="en-US" dirty="0"/>
              <a:t>방향</a:t>
            </a:r>
          </a:p>
        </p:txBody>
      </p:sp>
      <p:sp>
        <p:nvSpPr>
          <p:cNvPr id="7171" name="Rectangle 57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ko-KR" dirty="0"/>
              <a:t>BM </a:t>
            </a:r>
            <a:r>
              <a:rPr lang="ko-KR" altLang="en-US" dirty="0"/>
              <a:t>도출 영역별 과제에 대한 선진 </a:t>
            </a:r>
            <a:r>
              <a:rPr lang="en-US" altLang="ko-KR" dirty="0"/>
              <a:t>Benchmark </a:t>
            </a:r>
            <a:r>
              <a:rPr lang="ko-KR" altLang="en-US" dirty="0" err="1"/>
              <a:t>대상들과의</a:t>
            </a:r>
            <a:r>
              <a:rPr lang="ko-KR" altLang="en-US" dirty="0"/>
              <a:t> 구체적 비교를 통해 시사점을 도출하고 제안기업의 </a:t>
            </a:r>
            <a:r>
              <a:rPr lang="en-US" altLang="ko-KR" dirty="0"/>
              <a:t>Business Model </a:t>
            </a:r>
            <a:r>
              <a:rPr lang="ko-KR" altLang="en-US" dirty="0"/>
              <a:t>도출 방법론 및 국내외 유통 산업 중심 그룹사 통합 관점의 경험과 지식을 프로젝트에 적극 활용</a:t>
            </a:r>
          </a:p>
        </p:txBody>
      </p:sp>
      <p:sp>
        <p:nvSpPr>
          <p:cNvPr id="7173" name="Rectangle 32"/>
          <p:cNvSpPr>
            <a:spLocks noChangeArrowheads="1"/>
          </p:cNvSpPr>
          <p:nvPr/>
        </p:nvSpPr>
        <p:spPr bwMode="gray">
          <a:xfrm>
            <a:off x="1069920" y="1566863"/>
            <a:ext cx="165269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 typeface="돋움체" pitchFamily="49" charset="-127"/>
              <a:buNone/>
            </a:pPr>
            <a:r>
              <a:rPr lang="en-US" altLang="ko-KR" sz="1400" dirty="0">
                <a:cs typeface="Arial" charset="0"/>
              </a:rPr>
              <a:t>eMall BM </a:t>
            </a:r>
            <a:r>
              <a:rPr lang="ko-KR" altLang="en-US" sz="1400" dirty="0">
                <a:cs typeface="Arial" charset="0"/>
              </a:rPr>
              <a:t>도출 영역</a:t>
            </a:r>
          </a:p>
        </p:txBody>
      </p:sp>
      <p:sp>
        <p:nvSpPr>
          <p:cNvPr id="7174" name="Line 33"/>
          <p:cNvSpPr>
            <a:spLocks noChangeShapeType="1"/>
          </p:cNvSpPr>
          <p:nvPr/>
        </p:nvSpPr>
        <p:spPr bwMode="gray">
          <a:xfrm>
            <a:off x="347663" y="1827213"/>
            <a:ext cx="28797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/>
          </a:p>
        </p:txBody>
      </p:sp>
      <p:sp>
        <p:nvSpPr>
          <p:cNvPr id="7175" name="Text Box 41"/>
          <p:cNvSpPr txBox="1">
            <a:spLocks noChangeArrowheads="1"/>
          </p:cNvSpPr>
          <p:nvPr/>
        </p:nvSpPr>
        <p:spPr bwMode="auto">
          <a:xfrm>
            <a:off x="4708525" y="1968500"/>
            <a:ext cx="2365375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Simple &amp; Useful </a:t>
            </a:r>
            <a:r>
              <a:rPr kumimoji="1" lang="ko-KR" altLang="en-US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디자인원칙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고객 니즈 기반 상품 제시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고객 </a:t>
            </a:r>
            <a:r>
              <a:rPr kumimoji="1" lang="en-US" altLang="ko-KR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Clustering </a:t>
            </a:r>
            <a:r>
              <a:rPr kumimoji="1" lang="ko-KR" altLang="en-US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통한 </a:t>
            </a:r>
            <a:r>
              <a:rPr kumimoji="1" lang="en-US" altLang="ko-KR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1:1 </a:t>
            </a:r>
            <a:r>
              <a:rPr kumimoji="1" lang="ko-KR" altLang="en-US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마케팅</a:t>
            </a:r>
            <a:r>
              <a:rPr kumimoji="1" lang="en-US" altLang="ko-KR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/</a:t>
            </a:r>
            <a:r>
              <a:rPr kumimoji="1" lang="ko-KR" altLang="en-US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서비스 강화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고품질 상품 컨텐츠 제공</a:t>
            </a:r>
          </a:p>
        </p:txBody>
      </p:sp>
      <p:sp>
        <p:nvSpPr>
          <p:cNvPr id="9229" name="Text Box 42"/>
          <p:cNvSpPr txBox="1">
            <a:spLocks noChangeArrowheads="1"/>
          </p:cNvSpPr>
          <p:nvPr/>
        </p:nvSpPr>
        <p:spPr bwMode="auto">
          <a:xfrm>
            <a:off x="4708525" y="3244850"/>
            <a:ext cx="2365375" cy="1936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18000" tIns="44450" rIns="18000" bIns="44450">
            <a:spAutoFit/>
          </a:bodyPr>
          <a:lstStyle/>
          <a:p>
            <a:pPr marL="176400" indent="-177800" algn="l" eaLnBrk="0" hangingPunct="0">
              <a:lnSpc>
                <a:spcPts val="1600"/>
              </a:lnSpc>
              <a:buFont typeface="Wingdings" pitchFamily="2" charset="2"/>
              <a:buChar char="§"/>
              <a:defRPr/>
            </a:pPr>
            <a:r>
              <a:rPr kumimoji="1" lang="ko-KR" altLang="en-US" b="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일관된 마케팅 의사소통</a:t>
            </a:r>
          </a:p>
          <a:p>
            <a:pPr marL="176400" indent="-177800" algn="l" eaLnBrk="0" hangingPunct="0">
              <a:lnSpc>
                <a:spcPts val="1600"/>
              </a:lnSpc>
              <a:buFont typeface="Wingdings" pitchFamily="2" charset="2"/>
              <a:buChar char="§"/>
              <a:defRPr/>
            </a:pPr>
            <a:r>
              <a:rPr kumimoji="1" lang="en-US" altLang="ko-KR" b="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Multi-Channel Integration</a:t>
            </a:r>
          </a:p>
          <a:p>
            <a:pPr marL="266700" lvl="1" indent="-88900" algn="l" eaLnBrk="0" hangingPunct="0">
              <a:lnSpc>
                <a:spcPts val="1600"/>
              </a:lnSpc>
              <a:buFont typeface="맑은 고딕" pitchFamily="50" charset="-127"/>
              <a:buChar char="–"/>
              <a:defRPr/>
            </a:pPr>
            <a:r>
              <a:rPr kumimoji="1" lang="ko-KR" altLang="en-US" sz="1050" b="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동일 정보</a:t>
            </a:r>
            <a:r>
              <a:rPr kumimoji="1" lang="en-US" altLang="ko-KR" sz="1050" b="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, </a:t>
            </a:r>
            <a:r>
              <a:rPr kumimoji="1" lang="ko-KR" altLang="en-US" sz="1050" b="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이력 공유의 쇼핑 서비스 제공</a:t>
            </a:r>
            <a:endParaRPr kumimoji="1" lang="en-US" altLang="ko-KR" sz="1050" b="0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  <a:p>
            <a:pPr marL="176400" indent="-177800" algn="l" eaLnBrk="0" hangingPunct="0">
              <a:lnSpc>
                <a:spcPts val="1600"/>
              </a:lnSpc>
              <a:buFont typeface="Wingdings" pitchFamily="2" charset="2"/>
              <a:buChar char="§"/>
              <a:defRPr/>
            </a:pPr>
            <a:r>
              <a:rPr kumimoji="1" lang="ko-KR" altLang="en-US" b="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모바일 사용자 중심 서비스</a:t>
            </a:r>
            <a:endParaRPr kumimoji="1" lang="en-US" altLang="ko-KR" b="0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  <a:p>
            <a:pPr marL="265113" lvl="1" indent="-87313" algn="l" eaLnBrk="0" hangingPunct="0">
              <a:lnSpc>
                <a:spcPts val="1600"/>
              </a:lnSpc>
              <a:buFont typeface="맑은 고딕" pitchFamily="50" charset="-127"/>
              <a:buChar char="–"/>
              <a:defRPr/>
            </a:pPr>
            <a:r>
              <a:rPr kumimoji="1" lang="ko-KR" altLang="en-US" sz="1050" b="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정보와 의사 소통 강화</a:t>
            </a:r>
          </a:p>
          <a:p>
            <a:pPr marL="176400" indent="-177800" algn="l" eaLnBrk="0" hangingPunct="0">
              <a:lnSpc>
                <a:spcPts val="1600"/>
              </a:lnSpc>
              <a:buFont typeface="Wingdings" pitchFamily="2" charset="2"/>
              <a:buChar char="§"/>
              <a:defRPr/>
            </a:pPr>
            <a:r>
              <a:rPr kumimoji="1" lang="en-US" altLang="ko-KR" b="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S</a:t>
            </a:r>
            <a:r>
              <a:rPr kumimoji="1" lang="ko-KR" altLang="en-US" b="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채널 연계 시너지 강화</a:t>
            </a:r>
            <a:endParaRPr kumimoji="1" lang="en-US" altLang="ko-KR" b="0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  <a:p>
            <a:pPr marL="176400" indent="-177800" algn="l" eaLnBrk="0" hangingPunct="0">
              <a:lnSpc>
                <a:spcPts val="1600"/>
              </a:lnSpc>
              <a:buFont typeface="Wingdings" pitchFamily="2" charset="2"/>
              <a:buChar char="§"/>
              <a:defRPr/>
            </a:pPr>
            <a:r>
              <a:rPr kumimoji="1" lang="en-US" altLang="ko-KR" b="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Viral </a:t>
            </a:r>
            <a:r>
              <a:rPr kumimoji="1" lang="ko-KR" altLang="en-US" b="0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마케팅의 정보 확산에 초점</a:t>
            </a:r>
          </a:p>
        </p:txBody>
      </p:sp>
      <p:sp>
        <p:nvSpPr>
          <p:cNvPr id="7177" name="Text Box 43"/>
          <p:cNvSpPr txBox="1">
            <a:spLocks noChangeArrowheads="1"/>
          </p:cNvSpPr>
          <p:nvPr/>
        </p:nvSpPr>
        <p:spPr bwMode="auto">
          <a:xfrm>
            <a:off x="4708525" y="5192713"/>
            <a:ext cx="2365375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563"/>
              </a:lnSpc>
              <a:buFont typeface="Wingdings" pitchFamily="2" charset="2"/>
              <a:buChar char="§"/>
            </a:pPr>
            <a:r>
              <a:rPr kumimoji="1" lang="ko-KR" altLang="en-US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그룹사 유통 채널別 고객특화 쇼핑몰 통합 운영</a:t>
            </a:r>
          </a:p>
          <a:p>
            <a:pPr algn="l">
              <a:lnSpc>
                <a:spcPts val="1563"/>
              </a:lnSpc>
              <a:buFont typeface="Wingdings" pitchFamily="2" charset="2"/>
              <a:buChar char="§"/>
            </a:pPr>
            <a:r>
              <a:rPr kumimoji="1" lang="ko-KR" altLang="en-US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그룹 계열사 온라인 업무 대행으로 안정적 수익 확보</a:t>
            </a:r>
          </a:p>
          <a:p>
            <a:pPr algn="l">
              <a:lnSpc>
                <a:spcPts val="1563"/>
              </a:lnSpc>
              <a:buFont typeface="Wingdings" pitchFamily="2" charset="2"/>
              <a:buChar char="§"/>
            </a:pPr>
            <a:r>
              <a:rPr kumimoji="1" lang="ko-KR" altLang="en-US" b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그룹 통합적 접근 통한 개별사 마케팅 역량 강화</a:t>
            </a:r>
          </a:p>
        </p:txBody>
      </p:sp>
      <p:sp>
        <p:nvSpPr>
          <p:cNvPr id="7178" name="Rectangle 45"/>
          <p:cNvSpPr>
            <a:spLocks noChangeArrowheads="1"/>
          </p:cNvSpPr>
          <p:nvPr/>
        </p:nvSpPr>
        <p:spPr bwMode="gray">
          <a:xfrm>
            <a:off x="3325813" y="1566863"/>
            <a:ext cx="13716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 typeface="돋움체" pitchFamily="49" charset="-127"/>
              <a:buNone/>
            </a:pPr>
            <a:r>
              <a:rPr lang="en-US" altLang="ko-KR" sz="1400">
                <a:cs typeface="Arial" charset="0"/>
              </a:rPr>
              <a:t>Benchmark </a:t>
            </a:r>
            <a:r>
              <a:rPr lang="ko-KR" altLang="en-US" sz="1400">
                <a:cs typeface="Arial" charset="0"/>
              </a:rPr>
              <a:t>대상</a:t>
            </a:r>
          </a:p>
        </p:txBody>
      </p:sp>
      <p:sp>
        <p:nvSpPr>
          <p:cNvPr id="7179" name="Line 46"/>
          <p:cNvSpPr>
            <a:spLocks noChangeShapeType="1"/>
          </p:cNvSpPr>
          <p:nvPr/>
        </p:nvSpPr>
        <p:spPr bwMode="gray">
          <a:xfrm>
            <a:off x="3273425" y="1827213"/>
            <a:ext cx="14398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/>
          </a:p>
        </p:txBody>
      </p:sp>
      <p:sp>
        <p:nvSpPr>
          <p:cNvPr id="7180" name="Rectangle 47"/>
          <p:cNvSpPr>
            <a:spLocks noChangeArrowheads="1"/>
          </p:cNvSpPr>
          <p:nvPr/>
        </p:nvSpPr>
        <p:spPr bwMode="gray">
          <a:xfrm>
            <a:off x="5172075" y="1566863"/>
            <a:ext cx="15652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 typeface="돋움체" pitchFamily="49" charset="-127"/>
              <a:buNone/>
            </a:pPr>
            <a:r>
              <a:rPr lang="en-US" altLang="ko-KR" sz="1400">
                <a:cs typeface="Arial" charset="0"/>
              </a:rPr>
              <a:t>Benchmark </a:t>
            </a:r>
            <a:r>
              <a:rPr lang="ko-KR" altLang="en-US" sz="1400">
                <a:cs typeface="Arial" charset="0"/>
              </a:rPr>
              <a:t>시사점</a:t>
            </a:r>
          </a:p>
        </p:txBody>
      </p:sp>
      <p:sp>
        <p:nvSpPr>
          <p:cNvPr id="7181" name="Line 48"/>
          <p:cNvSpPr>
            <a:spLocks noChangeShapeType="1"/>
          </p:cNvSpPr>
          <p:nvPr/>
        </p:nvSpPr>
        <p:spPr bwMode="gray">
          <a:xfrm>
            <a:off x="4818063" y="1827213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/>
          </a:p>
        </p:txBody>
      </p:sp>
      <p:sp>
        <p:nvSpPr>
          <p:cNvPr id="7182" name="Rectangle 29"/>
          <p:cNvSpPr>
            <a:spLocks noChangeArrowheads="1"/>
          </p:cNvSpPr>
          <p:nvPr/>
        </p:nvSpPr>
        <p:spPr bwMode="auto">
          <a:xfrm>
            <a:off x="350838" y="2195513"/>
            <a:ext cx="1122362" cy="722312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en-US" altLang="ko-KR" dirty="0">
                <a:solidFill>
                  <a:schemeClr val="bg1"/>
                </a:solidFill>
                <a:latin typeface="맑은 고딕" pitchFamily="50" charset="-127"/>
              </a:rPr>
              <a:t>eMall</a:t>
            </a:r>
            <a:br>
              <a:rPr lang="en-US" altLang="ko-KR" dirty="0">
                <a:solidFill>
                  <a:schemeClr val="bg1"/>
                </a:solidFill>
                <a:latin typeface="맑은 고딕" pitchFamily="50" charset="-127"/>
              </a:rPr>
            </a:br>
            <a:r>
              <a:rPr lang="ko-KR" altLang="en-US" dirty="0">
                <a:solidFill>
                  <a:schemeClr val="bg1"/>
                </a:solidFill>
                <a:latin typeface="맑은 고딕" pitchFamily="50" charset="-127"/>
              </a:rPr>
              <a:t>자체 </a:t>
            </a:r>
            <a:r>
              <a:rPr lang="en-US" altLang="ko-KR" dirty="0">
                <a:solidFill>
                  <a:schemeClr val="bg1"/>
                </a:solidFill>
                <a:latin typeface="맑은 고딕" pitchFamily="50" charset="-127"/>
              </a:rPr>
              <a:t>BM </a:t>
            </a:r>
            <a:r>
              <a:rPr lang="ko-KR" altLang="en-US" dirty="0">
                <a:solidFill>
                  <a:schemeClr val="bg1"/>
                </a:solidFill>
                <a:latin typeface="맑은 고딕" pitchFamily="50" charset="-127"/>
              </a:rPr>
              <a:t>강화</a:t>
            </a:r>
          </a:p>
        </p:txBody>
      </p:sp>
      <p:sp>
        <p:nvSpPr>
          <p:cNvPr id="7183" name="Rectangle 29"/>
          <p:cNvSpPr>
            <a:spLocks noChangeArrowheads="1"/>
          </p:cNvSpPr>
          <p:nvPr/>
        </p:nvSpPr>
        <p:spPr bwMode="auto">
          <a:xfrm>
            <a:off x="350838" y="3813175"/>
            <a:ext cx="1122362" cy="722313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ko-KR" altLang="en-US">
                <a:solidFill>
                  <a:schemeClr val="bg1"/>
                </a:solidFill>
                <a:latin typeface="맑은 고딕" pitchFamily="50" charset="-127"/>
              </a:rPr>
              <a:t>채널</a:t>
            </a:r>
            <a:br>
              <a:rPr lang="ko-KR" altLang="en-US">
                <a:solidFill>
                  <a:schemeClr val="bg1"/>
                </a:solidFill>
                <a:latin typeface="맑은 고딕" pitchFamily="50" charset="-127"/>
              </a:rPr>
            </a:br>
            <a:r>
              <a:rPr lang="en-US" altLang="ko-KR">
                <a:solidFill>
                  <a:schemeClr val="bg1"/>
                </a:solidFill>
                <a:latin typeface="맑은 고딕" pitchFamily="50" charset="-127"/>
              </a:rPr>
              <a:t>Synergy BM</a:t>
            </a:r>
          </a:p>
        </p:txBody>
      </p:sp>
      <p:sp>
        <p:nvSpPr>
          <p:cNvPr id="7184" name="Rectangle 29"/>
          <p:cNvSpPr>
            <a:spLocks noChangeArrowheads="1"/>
          </p:cNvSpPr>
          <p:nvPr/>
        </p:nvSpPr>
        <p:spPr bwMode="auto">
          <a:xfrm>
            <a:off x="350838" y="5410200"/>
            <a:ext cx="1122362" cy="722313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ko-KR" altLang="en-US">
                <a:solidFill>
                  <a:schemeClr val="bg1"/>
                </a:solidFill>
                <a:latin typeface="맑은 고딕" pitchFamily="50" charset="-127"/>
              </a:rPr>
              <a:t>그룹 </a:t>
            </a:r>
            <a:r>
              <a:rPr lang="en-US" altLang="ko-KR">
                <a:solidFill>
                  <a:schemeClr val="bg1"/>
                </a:solidFill>
                <a:latin typeface="맑은 고딕" pitchFamily="50" charset="-127"/>
              </a:rPr>
              <a:t>Online</a:t>
            </a:r>
            <a:br>
              <a:rPr lang="en-US" altLang="ko-KR">
                <a:solidFill>
                  <a:schemeClr val="bg1"/>
                </a:solidFill>
                <a:latin typeface="맑은 고딕" pitchFamily="50" charset="-127"/>
              </a:rPr>
            </a:br>
            <a:r>
              <a:rPr lang="ko-KR" altLang="en-US">
                <a:solidFill>
                  <a:schemeClr val="bg1"/>
                </a:solidFill>
                <a:latin typeface="맑은 고딕" pitchFamily="50" charset="-127"/>
              </a:rPr>
              <a:t>플랫폼</a:t>
            </a:r>
          </a:p>
        </p:txBody>
      </p:sp>
      <p:sp>
        <p:nvSpPr>
          <p:cNvPr id="36" name="Rectangle 29"/>
          <p:cNvSpPr>
            <a:spLocks noChangeArrowheads="1"/>
          </p:cNvSpPr>
          <p:nvPr/>
        </p:nvSpPr>
        <p:spPr bwMode="auto">
          <a:xfrm>
            <a:off x="1722438" y="2005013"/>
            <a:ext cx="1506537" cy="4937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eMall </a:t>
            </a: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서비스</a:t>
            </a: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기능의 강화</a:t>
            </a:r>
          </a:p>
        </p:txBody>
      </p:sp>
      <p:sp>
        <p:nvSpPr>
          <p:cNvPr id="37" name="Rectangle 29"/>
          <p:cNvSpPr>
            <a:spLocks noChangeArrowheads="1"/>
          </p:cNvSpPr>
          <p:nvPr/>
        </p:nvSpPr>
        <p:spPr bwMode="auto">
          <a:xfrm>
            <a:off x="1722438" y="2620963"/>
            <a:ext cx="1506537" cy="4937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선진 </a:t>
            </a: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BM</a:t>
            </a: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의</a:t>
            </a:r>
            <a:b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차별화 서비스</a:t>
            </a:r>
          </a:p>
        </p:txBody>
      </p:sp>
      <p:sp>
        <p:nvSpPr>
          <p:cNvPr id="38" name="Rectangle 29"/>
          <p:cNvSpPr>
            <a:spLocks noChangeArrowheads="1"/>
          </p:cNvSpPr>
          <p:nvPr/>
        </p:nvSpPr>
        <p:spPr bwMode="auto">
          <a:xfrm>
            <a:off x="1722438" y="3311525"/>
            <a:ext cx="1506537" cy="4937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en-US" altLang="ko-KR" sz="1300">
                <a:solidFill>
                  <a:srgbClr val="000000"/>
                </a:solidFill>
                <a:latin typeface="맑은 고딕" pitchFamily="50" charset="-127"/>
              </a:rPr>
              <a:t>TV/SB/</a:t>
            </a:r>
            <a:r>
              <a:rPr lang="ko-KR" altLang="en-US" sz="1300">
                <a:solidFill>
                  <a:srgbClr val="000000"/>
                </a:solidFill>
                <a:latin typeface="맑은 고딕" pitchFamily="50" charset="-127"/>
              </a:rPr>
              <a:t>마트와의</a:t>
            </a:r>
            <a:br>
              <a:rPr lang="ko-KR" altLang="en-US" sz="1300">
                <a:solidFill>
                  <a:srgbClr val="000000"/>
                </a:solidFill>
                <a:latin typeface="맑은 고딕" pitchFamily="50" charset="-127"/>
              </a:rPr>
            </a:br>
            <a:r>
              <a:rPr lang="ko-KR" altLang="en-US" sz="1300">
                <a:solidFill>
                  <a:srgbClr val="000000"/>
                </a:solidFill>
                <a:latin typeface="맑은 고딕" pitchFamily="50" charset="-127"/>
              </a:rPr>
              <a:t>시너지 극대화</a:t>
            </a:r>
          </a:p>
        </p:txBody>
      </p:sp>
      <p:sp>
        <p:nvSpPr>
          <p:cNvPr id="39" name="Rectangle 29"/>
          <p:cNvSpPr>
            <a:spLocks noChangeArrowheads="1"/>
          </p:cNvSpPr>
          <p:nvPr/>
        </p:nvSpPr>
        <p:spPr bwMode="auto">
          <a:xfrm>
            <a:off x="1722438" y="3927475"/>
            <a:ext cx="1506537" cy="4937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en-US" altLang="ko-KR" sz="1300">
                <a:solidFill>
                  <a:srgbClr val="000000"/>
                </a:solidFill>
                <a:latin typeface="맑은 고딕" pitchFamily="50" charset="-127"/>
              </a:rPr>
              <a:t>Mobile Commerce</a:t>
            </a:r>
            <a:br>
              <a:rPr lang="en-US" altLang="ko-KR" sz="1300">
                <a:solidFill>
                  <a:srgbClr val="000000"/>
                </a:solidFill>
                <a:latin typeface="맑은 고딕" pitchFamily="50" charset="-127"/>
              </a:rPr>
            </a:br>
            <a:r>
              <a:rPr lang="ko-KR" altLang="en-US" sz="1300">
                <a:solidFill>
                  <a:srgbClr val="000000"/>
                </a:solidFill>
                <a:latin typeface="맑은 고딕" pitchFamily="50" charset="-127"/>
              </a:rPr>
              <a:t>개선</a:t>
            </a:r>
          </a:p>
        </p:txBody>
      </p:sp>
      <p:sp>
        <p:nvSpPr>
          <p:cNvPr id="40" name="Rectangle 29"/>
          <p:cNvSpPr>
            <a:spLocks noChangeArrowheads="1"/>
          </p:cNvSpPr>
          <p:nvPr/>
        </p:nvSpPr>
        <p:spPr bwMode="auto">
          <a:xfrm>
            <a:off x="1722438" y="4543425"/>
            <a:ext cx="1506537" cy="4937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소셜 마케팅 </a:t>
            </a: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(SNS)</a:t>
            </a:r>
            <a:b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개선</a:t>
            </a:r>
          </a:p>
        </p:txBody>
      </p:sp>
      <p:sp>
        <p:nvSpPr>
          <p:cNvPr id="41" name="Rectangle 29"/>
          <p:cNvSpPr>
            <a:spLocks noChangeArrowheads="1"/>
          </p:cNvSpPr>
          <p:nvPr/>
        </p:nvSpPr>
        <p:spPr bwMode="auto">
          <a:xfrm>
            <a:off x="1722438" y="5233988"/>
            <a:ext cx="1506537" cy="4937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그룹 온라인 </a:t>
            </a:r>
            <a:b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통합 </a:t>
            </a: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Platform</a:t>
            </a:r>
          </a:p>
        </p:txBody>
      </p:sp>
      <p:sp>
        <p:nvSpPr>
          <p:cNvPr id="42" name="Rectangle 29"/>
          <p:cNvSpPr>
            <a:spLocks noChangeArrowheads="1"/>
          </p:cNvSpPr>
          <p:nvPr/>
        </p:nvSpPr>
        <p:spPr bwMode="auto">
          <a:xfrm>
            <a:off x="1722438" y="5862638"/>
            <a:ext cx="1506537" cy="4937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300">
                <a:solidFill>
                  <a:srgbClr val="000000"/>
                </a:solidFill>
                <a:latin typeface="맑은 고딕" pitchFamily="50" charset="-127"/>
              </a:rPr>
              <a:t>그룹 통합 고객 멤버십</a:t>
            </a:r>
          </a:p>
        </p:txBody>
      </p:sp>
      <p:cxnSp>
        <p:nvCxnSpPr>
          <p:cNvPr id="7192" name="AutoShape 16"/>
          <p:cNvCxnSpPr>
            <a:cxnSpLocks noChangeShapeType="1"/>
            <a:stCxn id="7182" idx="3"/>
            <a:endCxn id="36" idx="1"/>
          </p:cNvCxnSpPr>
          <p:nvPr/>
        </p:nvCxnSpPr>
        <p:spPr bwMode="auto">
          <a:xfrm flipV="1">
            <a:off x="1473200" y="2252663"/>
            <a:ext cx="249238" cy="304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3" name="AutoShape 17"/>
          <p:cNvCxnSpPr>
            <a:cxnSpLocks noChangeShapeType="1"/>
            <a:stCxn id="7182" idx="3"/>
            <a:endCxn id="37" idx="1"/>
          </p:cNvCxnSpPr>
          <p:nvPr/>
        </p:nvCxnSpPr>
        <p:spPr bwMode="auto">
          <a:xfrm>
            <a:off x="1473200" y="2557463"/>
            <a:ext cx="249238" cy="3111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4" name="AutoShape 18"/>
          <p:cNvCxnSpPr>
            <a:cxnSpLocks noChangeShapeType="1"/>
            <a:stCxn id="7183" idx="3"/>
            <a:endCxn id="38" idx="1"/>
          </p:cNvCxnSpPr>
          <p:nvPr/>
        </p:nvCxnSpPr>
        <p:spPr bwMode="auto">
          <a:xfrm flipV="1">
            <a:off x="1473200" y="3559175"/>
            <a:ext cx="249238" cy="6159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5" name="AutoShape 19"/>
          <p:cNvCxnSpPr>
            <a:cxnSpLocks noChangeShapeType="1"/>
            <a:stCxn id="7183" idx="3"/>
            <a:endCxn id="39" idx="1"/>
          </p:cNvCxnSpPr>
          <p:nvPr/>
        </p:nvCxnSpPr>
        <p:spPr bwMode="auto">
          <a:xfrm>
            <a:off x="1473200" y="4175125"/>
            <a:ext cx="249238" cy="127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6" name="AutoShape 20"/>
          <p:cNvCxnSpPr>
            <a:cxnSpLocks noChangeShapeType="1"/>
            <a:stCxn id="7183" idx="3"/>
            <a:endCxn id="40" idx="1"/>
          </p:cNvCxnSpPr>
          <p:nvPr/>
        </p:nvCxnSpPr>
        <p:spPr bwMode="auto">
          <a:xfrm>
            <a:off x="1473200" y="4175125"/>
            <a:ext cx="249238" cy="6159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7" name="AutoShape 21"/>
          <p:cNvCxnSpPr>
            <a:cxnSpLocks noChangeShapeType="1"/>
            <a:stCxn id="7184" idx="3"/>
            <a:endCxn id="41" idx="1"/>
          </p:cNvCxnSpPr>
          <p:nvPr/>
        </p:nvCxnSpPr>
        <p:spPr bwMode="auto">
          <a:xfrm flipV="1">
            <a:off x="1473200" y="5481638"/>
            <a:ext cx="249238" cy="29051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8" name="AutoShape 22"/>
          <p:cNvCxnSpPr>
            <a:cxnSpLocks noChangeShapeType="1"/>
            <a:stCxn id="7184" idx="3"/>
            <a:endCxn id="42" idx="1"/>
          </p:cNvCxnSpPr>
          <p:nvPr/>
        </p:nvCxnSpPr>
        <p:spPr bwMode="auto">
          <a:xfrm>
            <a:off x="1473200" y="5772150"/>
            <a:ext cx="249238" cy="3381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Straight Connector 70"/>
          <p:cNvCxnSpPr/>
          <p:nvPr/>
        </p:nvCxnSpPr>
        <p:spPr bwMode="auto">
          <a:xfrm>
            <a:off x="376238" y="3208338"/>
            <a:ext cx="6624637" cy="0"/>
          </a:xfrm>
          <a:prstGeom prst="line">
            <a:avLst/>
          </a:prstGeom>
          <a:solidFill>
            <a:srgbClr val="FFFF99"/>
          </a:solidFill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/>
          <p:nvPr/>
        </p:nvCxnSpPr>
        <p:spPr bwMode="auto">
          <a:xfrm>
            <a:off x="376238" y="5133975"/>
            <a:ext cx="6624637" cy="0"/>
          </a:xfrm>
          <a:prstGeom prst="line">
            <a:avLst/>
          </a:prstGeom>
          <a:solidFill>
            <a:srgbClr val="FFFF99"/>
          </a:solidFill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7201" name="Rectangle 47"/>
          <p:cNvSpPr>
            <a:spLocks noChangeArrowheads="1"/>
          </p:cNvSpPr>
          <p:nvPr/>
        </p:nvSpPr>
        <p:spPr bwMode="gray">
          <a:xfrm>
            <a:off x="7778750" y="1566863"/>
            <a:ext cx="13255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 typeface="돋움체" pitchFamily="49" charset="-127"/>
              <a:buNone/>
            </a:pPr>
            <a:r>
              <a:rPr lang="en-US" altLang="ko-KR" sz="1400" dirty="0">
                <a:cs typeface="Arial" charset="0"/>
              </a:rPr>
              <a:t>BM </a:t>
            </a:r>
            <a:r>
              <a:rPr lang="ko-KR" altLang="en-US" sz="1400" dirty="0">
                <a:cs typeface="Arial" charset="0"/>
              </a:rPr>
              <a:t>도출 방향성</a:t>
            </a:r>
          </a:p>
        </p:txBody>
      </p:sp>
      <p:sp>
        <p:nvSpPr>
          <p:cNvPr id="7202" name="Line 48"/>
          <p:cNvSpPr>
            <a:spLocks noChangeShapeType="1"/>
          </p:cNvSpPr>
          <p:nvPr/>
        </p:nvSpPr>
        <p:spPr bwMode="gray">
          <a:xfrm>
            <a:off x="7572375" y="1827213"/>
            <a:ext cx="172878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/>
          </a:p>
        </p:txBody>
      </p:sp>
      <p:pic>
        <p:nvPicPr>
          <p:cNvPr id="7203" name="Picture 3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063" y="3857625"/>
            <a:ext cx="82708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04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395663"/>
            <a:ext cx="10001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05" name="그림 7" descr="SK M&amp;C abb E.jpg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8" t="43307" r="7578" b="43903"/>
          <a:stretch>
            <a:fillRect/>
          </a:stretch>
        </p:blipFill>
        <p:spPr bwMode="auto">
          <a:xfrm>
            <a:off x="3405188" y="4565650"/>
            <a:ext cx="11461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06" name="Picture 13" descr="아모레퍼시픽로고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188" y="4845050"/>
            <a:ext cx="114617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07" name="Picture 3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2114550"/>
            <a:ext cx="106680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08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5645150"/>
            <a:ext cx="581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09" name="그림 7" descr="SK M&amp;C abb E.jpg"/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8" t="43307" r="7578" b="43903"/>
          <a:stretch>
            <a:fillRect/>
          </a:stretch>
        </p:blipFill>
        <p:spPr bwMode="auto">
          <a:xfrm>
            <a:off x="3429000" y="6057900"/>
            <a:ext cx="11461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10" name="Picture 12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5360988"/>
            <a:ext cx="11779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Text Box 92"/>
          <p:cNvSpPr txBox="1">
            <a:spLocks noChangeArrowheads="1"/>
          </p:cNvSpPr>
          <p:nvPr/>
        </p:nvSpPr>
        <p:spPr bwMode="auto">
          <a:xfrm>
            <a:off x="7458075" y="1981200"/>
            <a:ext cx="1979613" cy="7239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18000" tIns="44450" rIns="18000" bIns="44450">
            <a:spAutoFit/>
          </a:bodyPr>
          <a:lstStyle/>
          <a:p>
            <a:pPr marL="176213" indent="-176213" algn="l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고객의 쇼핑 구매 과정을 기본 구분으로 개선된 </a:t>
            </a: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eMall 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구체적 제시</a:t>
            </a:r>
          </a:p>
        </p:txBody>
      </p:sp>
      <p:sp>
        <p:nvSpPr>
          <p:cNvPr id="77" name="Text Box 93"/>
          <p:cNvSpPr txBox="1">
            <a:spLocks noChangeArrowheads="1"/>
          </p:cNvSpPr>
          <p:nvPr/>
        </p:nvSpPr>
        <p:spPr bwMode="auto">
          <a:xfrm>
            <a:off x="7458075" y="3265488"/>
            <a:ext cx="1979613" cy="7445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18000" tIns="44450" rIns="18000" bIns="44450">
            <a:spAutoFit/>
          </a:bodyPr>
          <a:lstStyle/>
          <a:p>
            <a:pPr marL="176213" indent="-176213" algn="l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eMall Brand Identity 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유지</a:t>
            </a: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/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강화 관점의 개선된 </a:t>
            </a: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eMall 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제시</a:t>
            </a:r>
            <a:endParaRPr lang="en-US" altLang="ko-KR" b="0" kern="0" dirty="0">
              <a:solidFill>
                <a:sysClr val="windowText" lastClr="000000"/>
              </a:solidFill>
              <a:latin typeface="+mj-lt"/>
              <a:ea typeface="+mj-ea"/>
            </a:endParaRPr>
          </a:p>
        </p:txBody>
      </p:sp>
      <p:sp>
        <p:nvSpPr>
          <p:cNvPr id="78" name="Text Box 94"/>
          <p:cNvSpPr txBox="1">
            <a:spLocks noChangeArrowheads="1"/>
          </p:cNvSpPr>
          <p:nvPr/>
        </p:nvSpPr>
        <p:spPr bwMode="auto">
          <a:xfrm>
            <a:off x="7458075" y="5205413"/>
            <a:ext cx="1979613" cy="9620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18000" tIns="44450" rIns="18000" bIns="44450">
            <a:spAutoFit/>
          </a:bodyPr>
          <a:lstStyle/>
          <a:p>
            <a:pPr marL="176213" indent="-176213" algn="l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eMall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 타 채널</a:t>
            </a: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, 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모바일</a:t>
            </a: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 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및 </a:t>
            </a: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SNS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의 신규 채널과의 시너지를 위한 개선된 </a:t>
            </a: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eMall 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제시</a:t>
            </a:r>
          </a:p>
        </p:txBody>
      </p:sp>
      <p:sp>
        <p:nvSpPr>
          <p:cNvPr id="79" name="Text Box 95"/>
          <p:cNvSpPr txBox="1">
            <a:spLocks noChangeArrowheads="1"/>
          </p:cNvSpPr>
          <p:nvPr/>
        </p:nvSpPr>
        <p:spPr bwMode="auto">
          <a:xfrm>
            <a:off x="7458075" y="4017963"/>
            <a:ext cx="1979613" cy="116006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18000" tIns="44450" rIns="18000" bIns="44450">
            <a:spAutoFit/>
          </a:bodyPr>
          <a:lstStyle/>
          <a:p>
            <a:pPr marL="176213" indent="-176213" algn="l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eMall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의 경쟁력 강화를 위해 아마존</a:t>
            </a: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, QVC 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이외 국내 경쟁사들의 우수 </a:t>
            </a: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Biz. Model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을 수용하는 </a:t>
            </a: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eMall 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제시</a:t>
            </a:r>
          </a:p>
        </p:txBody>
      </p:sp>
      <p:sp>
        <p:nvSpPr>
          <p:cNvPr id="85" name="Text Box 92"/>
          <p:cNvSpPr txBox="1">
            <a:spLocks noChangeArrowheads="1"/>
          </p:cNvSpPr>
          <p:nvPr/>
        </p:nvSpPr>
        <p:spPr bwMode="auto">
          <a:xfrm>
            <a:off x="7458075" y="2732088"/>
            <a:ext cx="1979613" cy="50603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18000" tIns="44450" rIns="18000" bIns="44450">
            <a:spAutoFit/>
          </a:bodyPr>
          <a:lstStyle/>
          <a:p>
            <a:pPr marL="176213" indent="-176213" algn="l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다차원적 고객 속성을 고려한 개선된 </a:t>
            </a:r>
            <a:r>
              <a:rPr lang="en-US" altLang="ko-KR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eMall </a:t>
            </a:r>
            <a:r>
              <a:rPr lang="ko-KR" altLang="en-US" b="0" kern="0" dirty="0">
                <a:solidFill>
                  <a:sysClr val="windowText" lastClr="000000"/>
                </a:solidFill>
                <a:latin typeface="+mj-lt"/>
                <a:ea typeface="+mj-ea"/>
              </a:rPr>
              <a:t>제시</a:t>
            </a:r>
          </a:p>
        </p:txBody>
      </p:sp>
      <p:sp>
        <p:nvSpPr>
          <p:cNvPr id="7216" name="AutoShape 7"/>
          <p:cNvSpPr>
            <a:spLocks noChangeArrowheads="1"/>
          </p:cNvSpPr>
          <p:nvPr/>
        </p:nvSpPr>
        <p:spPr bwMode="auto">
          <a:xfrm rot="5400000">
            <a:off x="5432425" y="4005263"/>
            <a:ext cx="3563938" cy="360362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847D76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ko-KR"/>
          </a:p>
        </p:txBody>
      </p:sp>
      <p:sp>
        <p:nvSpPr>
          <p:cNvPr id="7217" name="Oval 214"/>
          <p:cNvSpPr>
            <a:spLocks noChangeArrowheads="1"/>
          </p:cNvSpPr>
          <p:nvPr/>
        </p:nvSpPr>
        <p:spPr bwMode="gray">
          <a:xfrm>
            <a:off x="192088" y="2044700"/>
            <a:ext cx="323850" cy="323850"/>
          </a:xfrm>
          <a:prstGeom prst="ellipse">
            <a:avLst/>
          </a:prstGeom>
          <a:solidFill>
            <a:schemeClr val="tx1"/>
          </a:solidFill>
          <a:ln w="9525" algn="ctr">
            <a:solidFill>
              <a:srgbClr val="969696"/>
            </a:solidFill>
            <a:round/>
            <a:headEnd/>
            <a:tailEnd/>
          </a:ln>
        </p:spPr>
        <p:txBody>
          <a:bodyPr wrap="none" lIns="18000" tIns="46800" rIns="18000" bIns="468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>
                <a:solidFill>
                  <a:schemeClr val="bg1"/>
                </a:solidFill>
                <a:cs typeface="Arial" charset="0"/>
              </a:rPr>
              <a:t>1</a:t>
            </a:r>
          </a:p>
        </p:txBody>
      </p:sp>
      <p:sp>
        <p:nvSpPr>
          <p:cNvPr id="7218" name="Oval 215"/>
          <p:cNvSpPr>
            <a:spLocks noChangeArrowheads="1"/>
          </p:cNvSpPr>
          <p:nvPr/>
        </p:nvSpPr>
        <p:spPr bwMode="gray">
          <a:xfrm>
            <a:off x="192088" y="3652838"/>
            <a:ext cx="323850" cy="323850"/>
          </a:xfrm>
          <a:prstGeom prst="ellipse">
            <a:avLst/>
          </a:prstGeom>
          <a:solidFill>
            <a:schemeClr val="tx1"/>
          </a:solidFill>
          <a:ln w="9525" algn="ctr">
            <a:solidFill>
              <a:srgbClr val="969696"/>
            </a:solidFill>
            <a:round/>
            <a:headEnd/>
            <a:tailEnd/>
          </a:ln>
        </p:spPr>
        <p:txBody>
          <a:bodyPr wrap="none" lIns="18000" tIns="46800" rIns="18000" bIns="468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>
                <a:solidFill>
                  <a:schemeClr val="bg1"/>
                </a:solidFill>
                <a:cs typeface="Arial" charset="0"/>
              </a:rPr>
              <a:t>2</a:t>
            </a:r>
          </a:p>
        </p:txBody>
      </p:sp>
      <p:sp>
        <p:nvSpPr>
          <p:cNvPr id="7219" name="Oval 216"/>
          <p:cNvSpPr>
            <a:spLocks noChangeArrowheads="1"/>
          </p:cNvSpPr>
          <p:nvPr/>
        </p:nvSpPr>
        <p:spPr bwMode="gray">
          <a:xfrm>
            <a:off x="192088" y="5259388"/>
            <a:ext cx="323850" cy="323850"/>
          </a:xfrm>
          <a:prstGeom prst="ellipse">
            <a:avLst/>
          </a:prstGeom>
          <a:solidFill>
            <a:schemeClr val="tx1"/>
          </a:solidFill>
          <a:ln w="9525" algn="ctr">
            <a:solidFill>
              <a:srgbClr val="969696"/>
            </a:solidFill>
            <a:round/>
            <a:headEnd/>
            <a:tailEnd/>
          </a:ln>
        </p:spPr>
        <p:txBody>
          <a:bodyPr wrap="none" lIns="18000" tIns="46800" rIns="18000" bIns="468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Arial" charset="0"/>
              <a:buNone/>
            </a:pPr>
            <a:r>
              <a:rPr lang="en-US" altLang="ko-KR">
                <a:solidFill>
                  <a:schemeClr val="bg1"/>
                </a:solidFill>
                <a:cs typeface="Arial" charset="0"/>
              </a:rPr>
              <a:t>3</a:t>
            </a:r>
          </a:p>
        </p:txBody>
      </p:sp>
      <p:pic>
        <p:nvPicPr>
          <p:cNvPr id="7220" name="Picture 25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97" t="42265" r="60155" b="38000"/>
          <a:stretch>
            <a:fillRect/>
          </a:stretch>
        </p:blipFill>
        <p:spPr bwMode="gray">
          <a:xfrm>
            <a:off x="3784600" y="2541588"/>
            <a:ext cx="836613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21" name="Picture 3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488" y="2662238"/>
            <a:ext cx="3968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22" name="Picture 3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300" y="3752850"/>
            <a:ext cx="4413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23" name="Picture 6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113" y="4203700"/>
            <a:ext cx="82708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5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3924300" cy="247650"/>
          </a:xfrm>
        </p:spPr>
        <p:txBody>
          <a:bodyPr/>
          <a:lstStyle/>
          <a:p>
            <a:r>
              <a:rPr lang="en-US" altLang="ko-KR" dirty="0"/>
              <a:t>BM </a:t>
            </a:r>
            <a:r>
              <a:rPr lang="ko-KR" altLang="en-US" dirty="0"/>
              <a:t>도출 영역별 과제 및 </a:t>
            </a:r>
            <a:r>
              <a:rPr lang="en-US" altLang="ko-KR" dirty="0"/>
              <a:t>BM </a:t>
            </a:r>
            <a:r>
              <a:rPr lang="ko-KR" altLang="en-US" dirty="0"/>
              <a:t>리스트</a:t>
            </a:r>
          </a:p>
        </p:txBody>
      </p:sp>
      <p:sp>
        <p:nvSpPr>
          <p:cNvPr id="8195" name="AutoShape 2"/>
          <p:cNvSpPr>
            <a:spLocks noChangeArrowheads="1"/>
          </p:cNvSpPr>
          <p:nvPr/>
        </p:nvSpPr>
        <p:spPr bwMode="auto">
          <a:xfrm>
            <a:off x="647700" y="1620838"/>
            <a:ext cx="757238" cy="4103687"/>
          </a:xfrm>
          <a:prstGeom prst="downArrow">
            <a:avLst>
              <a:gd name="adj1" fmla="val 56602"/>
              <a:gd name="adj2" fmla="val 143837"/>
            </a:avLst>
          </a:prstGeom>
          <a:solidFill>
            <a:schemeClr val="bg1">
              <a:lumMod val="85000"/>
              <a:alpha val="65097"/>
            </a:schemeClr>
          </a:solidFill>
          <a:ln>
            <a:noFill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endParaRPr lang="ko-KR" altLang="ko-KR"/>
          </a:p>
        </p:txBody>
      </p:sp>
      <p:sp>
        <p:nvSpPr>
          <p:cNvPr id="8196" name="Rectangle 29"/>
          <p:cNvSpPr>
            <a:spLocks noChangeArrowheads="1"/>
          </p:cNvSpPr>
          <p:nvPr/>
        </p:nvSpPr>
        <p:spPr bwMode="auto">
          <a:xfrm>
            <a:off x="330200" y="1585913"/>
            <a:ext cx="1395413" cy="703262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en-US" altLang="ko-KR" dirty="0">
                <a:solidFill>
                  <a:schemeClr val="bg1"/>
                </a:solidFill>
                <a:latin typeface="맑은 고딕" pitchFamily="50" charset="-127"/>
              </a:rPr>
              <a:t>eMall</a:t>
            </a:r>
            <a:br>
              <a:rPr lang="en-US" altLang="ko-KR" dirty="0">
                <a:solidFill>
                  <a:schemeClr val="bg1"/>
                </a:solidFill>
                <a:latin typeface="맑은 고딕" pitchFamily="50" charset="-127"/>
              </a:rPr>
            </a:br>
            <a:r>
              <a:rPr lang="ko-KR" altLang="en-US" dirty="0">
                <a:solidFill>
                  <a:schemeClr val="bg1"/>
                </a:solidFill>
                <a:latin typeface="맑은 고딕" pitchFamily="50" charset="-127"/>
              </a:rPr>
              <a:t>자체 </a:t>
            </a:r>
            <a:r>
              <a:rPr lang="en-US" altLang="ko-KR" dirty="0">
                <a:solidFill>
                  <a:schemeClr val="bg1"/>
                </a:solidFill>
                <a:latin typeface="맑은 고딕" pitchFamily="50" charset="-127"/>
              </a:rPr>
              <a:t>BM </a:t>
            </a:r>
            <a:r>
              <a:rPr lang="ko-KR" altLang="en-US" dirty="0">
                <a:solidFill>
                  <a:schemeClr val="bg1"/>
                </a:solidFill>
                <a:latin typeface="맑은 고딕" pitchFamily="50" charset="-127"/>
              </a:rPr>
              <a:t>강화</a:t>
            </a:r>
          </a:p>
        </p:txBody>
      </p:sp>
      <p:sp>
        <p:nvSpPr>
          <p:cNvPr id="8197" name="Rectangle 29"/>
          <p:cNvSpPr>
            <a:spLocks noChangeArrowheads="1"/>
          </p:cNvSpPr>
          <p:nvPr/>
        </p:nvSpPr>
        <p:spPr bwMode="auto">
          <a:xfrm>
            <a:off x="330200" y="3581400"/>
            <a:ext cx="1395413" cy="703263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ko-KR" altLang="en-US">
                <a:solidFill>
                  <a:schemeClr val="bg1"/>
                </a:solidFill>
                <a:latin typeface="맑은 고딕" pitchFamily="50" charset="-127"/>
              </a:rPr>
              <a:t>채널</a:t>
            </a:r>
            <a:br>
              <a:rPr lang="ko-KR" altLang="en-US">
                <a:solidFill>
                  <a:schemeClr val="bg1"/>
                </a:solidFill>
                <a:latin typeface="맑은 고딕" pitchFamily="50" charset="-127"/>
              </a:rPr>
            </a:br>
            <a:r>
              <a:rPr lang="en-US" altLang="ko-KR">
                <a:solidFill>
                  <a:schemeClr val="bg1"/>
                </a:solidFill>
                <a:latin typeface="맑은 고딕" pitchFamily="50" charset="-127"/>
              </a:rPr>
              <a:t>Synergy BM</a:t>
            </a:r>
          </a:p>
        </p:txBody>
      </p:sp>
      <p:sp>
        <p:nvSpPr>
          <p:cNvPr id="8198" name="Rectangle 29"/>
          <p:cNvSpPr>
            <a:spLocks noChangeArrowheads="1"/>
          </p:cNvSpPr>
          <p:nvPr/>
        </p:nvSpPr>
        <p:spPr bwMode="auto">
          <a:xfrm>
            <a:off x="330200" y="5316538"/>
            <a:ext cx="1395413" cy="703262"/>
          </a:xfrm>
          <a:prstGeom prst="rect">
            <a:avLst/>
          </a:prstGeom>
          <a:solidFill>
            <a:srgbClr val="000066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ko-KR" altLang="en-US">
                <a:solidFill>
                  <a:schemeClr val="bg1"/>
                </a:solidFill>
                <a:latin typeface="맑은 고딕" pitchFamily="50" charset="-127"/>
              </a:rPr>
              <a:t>그룹 </a:t>
            </a:r>
            <a:r>
              <a:rPr lang="en-US" altLang="ko-KR">
                <a:solidFill>
                  <a:schemeClr val="bg1"/>
                </a:solidFill>
                <a:latin typeface="맑은 고딕" pitchFamily="50" charset="-127"/>
              </a:rPr>
              <a:t>Online</a:t>
            </a:r>
            <a:br>
              <a:rPr lang="en-US" altLang="ko-KR">
                <a:solidFill>
                  <a:schemeClr val="bg1"/>
                </a:solidFill>
                <a:latin typeface="맑은 고딕" pitchFamily="50" charset="-127"/>
              </a:rPr>
            </a:br>
            <a:r>
              <a:rPr lang="ko-KR" altLang="en-US">
                <a:solidFill>
                  <a:schemeClr val="bg1"/>
                </a:solidFill>
                <a:latin typeface="맑은 고딕" pitchFamily="50" charset="-127"/>
              </a:rPr>
              <a:t>플랫폼</a:t>
            </a:r>
          </a:p>
        </p:txBody>
      </p:sp>
      <p:sp>
        <p:nvSpPr>
          <p:cNvPr id="10249" name="Rectangle 29"/>
          <p:cNvSpPr>
            <a:spLocks noChangeArrowheads="1"/>
          </p:cNvSpPr>
          <p:nvPr/>
        </p:nvSpPr>
        <p:spPr bwMode="auto">
          <a:xfrm>
            <a:off x="2025650" y="1347788"/>
            <a:ext cx="19050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eMall </a:t>
            </a: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서비스</a:t>
            </a: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기능의</a:t>
            </a:r>
            <a:b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강화</a:t>
            </a:r>
          </a:p>
        </p:txBody>
      </p:sp>
      <p:sp>
        <p:nvSpPr>
          <p:cNvPr id="10250" name="Rectangle 29"/>
          <p:cNvSpPr>
            <a:spLocks noChangeArrowheads="1"/>
          </p:cNvSpPr>
          <p:nvPr/>
        </p:nvSpPr>
        <p:spPr bwMode="auto">
          <a:xfrm>
            <a:off x="2025650" y="1985963"/>
            <a:ext cx="1905000" cy="5349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선진 </a:t>
            </a: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BM</a:t>
            </a: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의</a:t>
            </a:r>
            <a:b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차별화 서비스</a:t>
            </a:r>
          </a:p>
        </p:txBody>
      </p:sp>
      <p:sp>
        <p:nvSpPr>
          <p:cNvPr id="10251" name="Rectangle 29"/>
          <p:cNvSpPr>
            <a:spLocks noChangeArrowheads="1"/>
          </p:cNvSpPr>
          <p:nvPr/>
        </p:nvSpPr>
        <p:spPr bwMode="auto">
          <a:xfrm>
            <a:off x="2025650" y="2854325"/>
            <a:ext cx="19050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TV/SB/</a:t>
            </a: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마트와의</a:t>
            </a:r>
            <a:b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시너지 극대화</a:t>
            </a:r>
          </a:p>
        </p:txBody>
      </p:sp>
      <p:sp>
        <p:nvSpPr>
          <p:cNvPr id="10252" name="Rectangle 29"/>
          <p:cNvSpPr>
            <a:spLocks noChangeArrowheads="1"/>
          </p:cNvSpPr>
          <p:nvPr/>
        </p:nvSpPr>
        <p:spPr bwMode="auto">
          <a:xfrm>
            <a:off x="2025650" y="3697288"/>
            <a:ext cx="19050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Mobile Commerce</a:t>
            </a:r>
            <a:b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개선</a:t>
            </a:r>
          </a:p>
        </p:txBody>
      </p:sp>
      <p:sp>
        <p:nvSpPr>
          <p:cNvPr id="10253" name="Rectangle 29"/>
          <p:cNvSpPr>
            <a:spLocks noChangeArrowheads="1"/>
          </p:cNvSpPr>
          <p:nvPr/>
        </p:nvSpPr>
        <p:spPr bwMode="auto">
          <a:xfrm>
            <a:off x="2025650" y="4370388"/>
            <a:ext cx="19050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소셜 마케팅</a:t>
            </a: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(SNS)</a:t>
            </a:r>
            <a:b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개선</a:t>
            </a:r>
          </a:p>
        </p:txBody>
      </p:sp>
      <p:sp>
        <p:nvSpPr>
          <p:cNvPr id="10254" name="Rectangle 29"/>
          <p:cNvSpPr>
            <a:spLocks noChangeArrowheads="1"/>
          </p:cNvSpPr>
          <p:nvPr/>
        </p:nvSpPr>
        <p:spPr bwMode="auto">
          <a:xfrm>
            <a:off x="2025650" y="5102225"/>
            <a:ext cx="19050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그룹 온라인 </a:t>
            </a:r>
            <a:b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</a:b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통합 </a:t>
            </a:r>
            <a:r>
              <a:rPr lang="en-US" altLang="ko-KR" sz="1300" dirty="0">
                <a:solidFill>
                  <a:srgbClr val="000000"/>
                </a:solidFill>
                <a:latin typeface="맑은 고딕" pitchFamily="50" charset="-127"/>
              </a:rPr>
              <a:t>Platform</a:t>
            </a:r>
          </a:p>
        </p:txBody>
      </p:sp>
      <p:sp>
        <p:nvSpPr>
          <p:cNvPr id="10255" name="Rectangle 29"/>
          <p:cNvSpPr>
            <a:spLocks noChangeArrowheads="1"/>
          </p:cNvSpPr>
          <p:nvPr/>
        </p:nvSpPr>
        <p:spPr bwMode="auto">
          <a:xfrm>
            <a:off x="2025650" y="5767388"/>
            <a:ext cx="19050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lumMod val="65000"/>
              </a:schemeClr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300" dirty="0">
                <a:solidFill>
                  <a:srgbClr val="000000"/>
                </a:solidFill>
                <a:latin typeface="맑은 고딕" pitchFamily="50" charset="-127"/>
              </a:rPr>
              <a:t>그룹 통합 고객 멤버십</a:t>
            </a:r>
          </a:p>
        </p:txBody>
      </p:sp>
      <p:cxnSp>
        <p:nvCxnSpPr>
          <p:cNvPr id="8206" name="AutoShape 16"/>
          <p:cNvCxnSpPr>
            <a:cxnSpLocks noChangeShapeType="1"/>
            <a:stCxn id="8196" idx="3"/>
            <a:endCxn id="10249" idx="1"/>
          </p:cNvCxnSpPr>
          <p:nvPr/>
        </p:nvCxnSpPr>
        <p:spPr bwMode="auto">
          <a:xfrm flipV="1">
            <a:off x="1725613" y="1614488"/>
            <a:ext cx="300037" cy="3222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7" name="AutoShape 17"/>
          <p:cNvCxnSpPr>
            <a:cxnSpLocks noChangeShapeType="1"/>
            <a:stCxn id="8196" idx="3"/>
            <a:endCxn id="10250" idx="1"/>
          </p:cNvCxnSpPr>
          <p:nvPr/>
        </p:nvCxnSpPr>
        <p:spPr bwMode="auto">
          <a:xfrm>
            <a:off x="1725613" y="1936750"/>
            <a:ext cx="300037" cy="3175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8" name="AutoShape 18"/>
          <p:cNvCxnSpPr>
            <a:cxnSpLocks noChangeShapeType="1"/>
            <a:stCxn id="8197" idx="3"/>
            <a:endCxn id="10251" idx="1"/>
          </p:cNvCxnSpPr>
          <p:nvPr/>
        </p:nvCxnSpPr>
        <p:spPr bwMode="auto">
          <a:xfrm flipV="1">
            <a:off x="1725613" y="3121025"/>
            <a:ext cx="300037" cy="8112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9" name="AutoShape 19"/>
          <p:cNvCxnSpPr>
            <a:cxnSpLocks noChangeShapeType="1"/>
            <a:stCxn id="8197" idx="3"/>
            <a:endCxn id="10252" idx="1"/>
          </p:cNvCxnSpPr>
          <p:nvPr/>
        </p:nvCxnSpPr>
        <p:spPr bwMode="auto">
          <a:xfrm>
            <a:off x="1725613" y="3932238"/>
            <a:ext cx="300037" cy="317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0" name="AutoShape 20"/>
          <p:cNvCxnSpPr>
            <a:cxnSpLocks noChangeShapeType="1"/>
            <a:stCxn id="8197" idx="3"/>
            <a:endCxn id="10253" idx="1"/>
          </p:cNvCxnSpPr>
          <p:nvPr/>
        </p:nvCxnSpPr>
        <p:spPr bwMode="auto">
          <a:xfrm>
            <a:off x="1725613" y="3932238"/>
            <a:ext cx="300037" cy="7048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1" name="AutoShape 21"/>
          <p:cNvCxnSpPr>
            <a:cxnSpLocks noChangeShapeType="1"/>
            <a:stCxn id="8198" idx="3"/>
            <a:endCxn id="10254" idx="1"/>
          </p:cNvCxnSpPr>
          <p:nvPr/>
        </p:nvCxnSpPr>
        <p:spPr bwMode="auto">
          <a:xfrm flipV="1">
            <a:off x="1725613" y="5368925"/>
            <a:ext cx="300037" cy="3000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2" name="AutoShape 22"/>
          <p:cNvCxnSpPr>
            <a:cxnSpLocks noChangeShapeType="1"/>
            <a:stCxn id="8198" idx="3"/>
            <a:endCxn id="10255" idx="1"/>
          </p:cNvCxnSpPr>
          <p:nvPr/>
        </p:nvCxnSpPr>
        <p:spPr bwMode="auto">
          <a:xfrm>
            <a:off x="1725613" y="5668963"/>
            <a:ext cx="300037" cy="3651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13" name="Rectangle 44"/>
          <p:cNvSpPr>
            <a:spLocks noChangeArrowheads="1"/>
          </p:cNvSpPr>
          <p:nvPr/>
        </p:nvSpPr>
        <p:spPr bwMode="auto">
          <a:xfrm>
            <a:off x="6121400" y="1284288"/>
            <a:ext cx="3557588" cy="2730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GB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GB" sz="900" b="0">
                <a:latin typeface="맑은 고딕" pitchFamily="50" charset="-127"/>
                <a:cs typeface="Arial" charset="0"/>
              </a:rPr>
              <a:t>화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면 구성과 다양한 형태 정보 적용</a:t>
            </a: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ko-KR" altLang="en-US" sz="900" b="0">
                <a:latin typeface="맑은 고딕" pitchFamily="50" charset="-127"/>
                <a:cs typeface="Arial" charset="0"/>
              </a:rPr>
              <a:t> 제공 정보수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, Scroll /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이동 최소화</a:t>
            </a:r>
          </a:p>
        </p:txBody>
      </p:sp>
      <p:sp>
        <p:nvSpPr>
          <p:cNvPr id="8214" name="Rectangle 53"/>
          <p:cNvSpPr>
            <a:spLocks noChangeArrowheads="1"/>
          </p:cNvSpPr>
          <p:nvPr/>
        </p:nvSpPr>
        <p:spPr bwMode="gray">
          <a:xfrm>
            <a:off x="4230688" y="1284288"/>
            <a:ext cx="1841500" cy="2762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ko-KR" altLang="en-US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직관적 고객인지 강화</a:t>
            </a:r>
          </a:p>
        </p:txBody>
      </p:sp>
      <p:sp>
        <p:nvSpPr>
          <p:cNvPr id="8215" name="Rectangle 44"/>
          <p:cNvSpPr>
            <a:spLocks noChangeArrowheads="1"/>
          </p:cNvSpPr>
          <p:nvPr/>
        </p:nvSpPr>
        <p:spPr bwMode="auto">
          <a:xfrm>
            <a:off x="6121400" y="1622425"/>
            <a:ext cx="3557588" cy="2730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US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유통경로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,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구매이력 등에 기반한 맞춤정보 제공</a:t>
            </a:r>
            <a:r>
              <a:rPr lang="ko-KR" altLang="en-GB" sz="900" b="0">
                <a:latin typeface="맑은 고딕" pitchFamily="50" charset="-127"/>
                <a:cs typeface="Arial" charset="0"/>
              </a:rPr>
              <a:t> </a:t>
            </a: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ko-KR" altLang="en-US" sz="900" b="0">
                <a:latin typeface="맑은 고딕" pitchFamily="50" charset="-127"/>
                <a:cs typeface="Arial" charset="0"/>
              </a:rPr>
              <a:t> 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emial,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블로그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, SNS(Twitter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등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), SMS</a:t>
            </a:r>
          </a:p>
        </p:txBody>
      </p:sp>
      <p:sp>
        <p:nvSpPr>
          <p:cNvPr id="8216" name="Rectangle 53"/>
          <p:cNvSpPr>
            <a:spLocks noChangeArrowheads="1"/>
          </p:cNvSpPr>
          <p:nvPr/>
        </p:nvSpPr>
        <p:spPr bwMode="gray">
          <a:xfrm>
            <a:off x="4230688" y="1624013"/>
            <a:ext cx="1841500" cy="2778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ko-KR" altLang="en-US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개인화된 쇼핑 지원</a:t>
            </a:r>
          </a:p>
        </p:txBody>
      </p:sp>
      <p:sp>
        <p:nvSpPr>
          <p:cNvPr id="8217" name="Rectangle 44"/>
          <p:cNvSpPr>
            <a:spLocks noChangeArrowheads="1"/>
          </p:cNvSpPr>
          <p:nvPr/>
        </p:nvSpPr>
        <p:spPr bwMode="auto">
          <a:xfrm>
            <a:off x="6121400" y="1962150"/>
            <a:ext cx="3557588" cy="271463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GB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공동구매몰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,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고객의 공급자 직접 추천 등</a:t>
            </a:r>
            <a:br>
              <a:rPr lang="ko-KR" altLang="en-US" sz="900" b="0">
                <a:latin typeface="맑은 고딕" pitchFamily="50" charset="-127"/>
                <a:cs typeface="Arial" charset="0"/>
              </a:rPr>
            </a:br>
            <a:r>
              <a:rPr lang="en-US" altLang="ko-KR" sz="900" b="0">
                <a:latin typeface="맑은 고딕" pitchFamily="50" charset="-127"/>
                <a:cs typeface="Arial" charset="0"/>
              </a:rPr>
              <a:t>-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정기 소비형 상품몰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, Package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구매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,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장바구니 자동 구매</a:t>
            </a:r>
          </a:p>
        </p:txBody>
      </p:sp>
      <p:sp>
        <p:nvSpPr>
          <p:cNvPr id="8218" name="Rectangle 53"/>
          <p:cNvSpPr>
            <a:spLocks noChangeArrowheads="1"/>
          </p:cNvSpPr>
          <p:nvPr/>
        </p:nvSpPr>
        <p:spPr bwMode="gray">
          <a:xfrm>
            <a:off x="4230688" y="1965325"/>
            <a:ext cx="1841500" cy="2762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en-US" altLang="ko-KR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Two-way </a:t>
            </a:r>
            <a:r>
              <a:rPr lang="ko-KR" altLang="en-US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쇼핑 편의성 개선</a:t>
            </a:r>
          </a:p>
        </p:txBody>
      </p:sp>
      <p:sp>
        <p:nvSpPr>
          <p:cNvPr id="8219" name="Rectangle 44"/>
          <p:cNvSpPr>
            <a:spLocks noChangeArrowheads="1"/>
          </p:cNvSpPr>
          <p:nvPr/>
        </p:nvSpPr>
        <p:spPr bwMode="auto">
          <a:xfrm>
            <a:off x="6121400" y="2301875"/>
            <a:ext cx="3557588" cy="2730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US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먹거리장터 전문몰</a:t>
            </a: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ko-KR" altLang="en-US" sz="900" b="0">
                <a:latin typeface="맑은 고딕" pitchFamily="50" charset="-127"/>
                <a:cs typeface="Arial" charset="0"/>
              </a:rPr>
              <a:t> 컨텐츠 협력사 발굴 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: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요리전문가 연결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,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요리학원 수강권 등</a:t>
            </a:r>
          </a:p>
        </p:txBody>
      </p:sp>
      <p:sp>
        <p:nvSpPr>
          <p:cNvPr id="8220" name="Rectangle 53"/>
          <p:cNvSpPr>
            <a:spLocks noChangeArrowheads="1"/>
          </p:cNvSpPr>
          <p:nvPr/>
        </p:nvSpPr>
        <p:spPr bwMode="gray">
          <a:xfrm>
            <a:off x="4230688" y="2305050"/>
            <a:ext cx="1841500" cy="2762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en-US" altLang="ko-KR" sz="1100" b="0" dirty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B2B </a:t>
            </a:r>
            <a:r>
              <a:rPr lang="ko-KR" altLang="en-US" sz="1100" b="0" dirty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마켓플레이스 </a:t>
            </a:r>
            <a:r>
              <a:rPr lang="en-US" altLang="ko-KR" sz="1100" b="0" dirty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BM</a:t>
            </a:r>
          </a:p>
        </p:txBody>
      </p:sp>
      <p:sp>
        <p:nvSpPr>
          <p:cNvPr id="8221" name="Rectangle 44"/>
          <p:cNvSpPr>
            <a:spLocks noChangeArrowheads="1"/>
          </p:cNvSpPr>
          <p:nvPr/>
        </p:nvSpPr>
        <p:spPr bwMode="auto">
          <a:xfrm>
            <a:off x="6121400" y="2641600"/>
            <a:ext cx="3557588" cy="271463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US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채널별 인지도 제고</a:t>
            </a:r>
            <a:r>
              <a:rPr lang="ko-KR" altLang="en-GB" sz="900" b="0">
                <a:latin typeface="맑은 고딕" pitchFamily="50" charset="-127"/>
                <a:cs typeface="Arial" charset="0"/>
              </a:rPr>
              <a:t> </a:t>
            </a: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ko-KR" altLang="en-US" sz="900" b="0">
                <a:latin typeface="맑은 고딕" pitchFamily="50" charset="-127"/>
                <a:cs typeface="Arial" charset="0"/>
              </a:rPr>
              <a:t> 방송중인 상품 할인율을 온라인 구매에도 적용</a:t>
            </a:r>
          </a:p>
        </p:txBody>
      </p:sp>
      <p:sp>
        <p:nvSpPr>
          <p:cNvPr id="8222" name="Rectangle 53"/>
          <p:cNvSpPr>
            <a:spLocks noChangeArrowheads="1"/>
          </p:cNvSpPr>
          <p:nvPr/>
        </p:nvSpPr>
        <p:spPr bwMode="gray">
          <a:xfrm>
            <a:off x="4230688" y="2644775"/>
            <a:ext cx="1841500" cy="2746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ko-KR" altLang="en-US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마케팅 </a:t>
            </a:r>
            <a:r>
              <a:rPr lang="en-US" altLang="ko-KR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Synergy</a:t>
            </a:r>
          </a:p>
        </p:txBody>
      </p:sp>
      <p:sp>
        <p:nvSpPr>
          <p:cNvPr id="8223" name="Rectangle 44"/>
          <p:cNvSpPr>
            <a:spLocks noChangeArrowheads="1"/>
          </p:cNvSpPr>
          <p:nvPr/>
        </p:nvSpPr>
        <p:spPr bwMode="auto">
          <a:xfrm>
            <a:off x="6121400" y="2981325"/>
            <a:ext cx="3557588" cy="2730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GB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TV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주문 상품의 온라인 취소 가능 및 동일 조건 추가 구매</a:t>
            </a: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ko-KR" altLang="en-US" sz="900" b="0">
                <a:latin typeface="맑은 고딕" pitchFamily="50" charset="-127"/>
                <a:cs typeface="Arial" charset="0"/>
              </a:rPr>
              <a:t> 성장하는 산업과의 연계 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: CPG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산업 등</a:t>
            </a:r>
          </a:p>
        </p:txBody>
      </p:sp>
      <p:sp>
        <p:nvSpPr>
          <p:cNvPr id="8224" name="Rectangle 53"/>
          <p:cNvSpPr>
            <a:spLocks noChangeArrowheads="1"/>
          </p:cNvSpPr>
          <p:nvPr/>
        </p:nvSpPr>
        <p:spPr bwMode="gray">
          <a:xfrm>
            <a:off x="4230688" y="2982913"/>
            <a:ext cx="1841500" cy="2746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en-US" altLang="ko-KR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Sales Synergy</a:t>
            </a:r>
          </a:p>
        </p:txBody>
      </p:sp>
      <p:sp>
        <p:nvSpPr>
          <p:cNvPr id="8225" name="Rectangle 44"/>
          <p:cNvSpPr>
            <a:spLocks noChangeArrowheads="1"/>
          </p:cNvSpPr>
          <p:nvPr/>
        </p:nvSpPr>
        <p:spPr bwMode="auto">
          <a:xfrm>
            <a:off x="6121400" y="3319463"/>
            <a:ext cx="3557588" cy="2730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US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온라인 기준의 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sourcing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정보 관리 체계 적용</a:t>
            </a:r>
            <a:r>
              <a:rPr lang="ko-KR" altLang="en-GB" sz="900" b="0">
                <a:latin typeface="맑은 고딕" pitchFamily="50" charset="-127"/>
                <a:cs typeface="Arial" charset="0"/>
              </a:rPr>
              <a:t> </a:t>
            </a: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ko-KR" altLang="en-US" sz="900" b="0">
                <a:latin typeface="맑은 고딕" pitchFamily="50" charset="-127"/>
                <a:cs typeface="Arial" charset="0"/>
              </a:rPr>
              <a:t> 채널별 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sourcing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상품의 판매 가능성 극대화</a:t>
            </a:r>
          </a:p>
        </p:txBody>
      </p:sp>
      <p:sp>
        <p:nvSpPr>
          <p:cNvPr id="8226" name="Rectangle 53"/>
          <p:cNvSpPr>
            <a:spLocks noChangeArrowheads="1"/>
          </p:cNvSpPr>
          <p:nvPr/>
        </p:nvSpPr>
        <p:spPr bwMode="gray">
          <a:xfrm>
            <a:off x="4230688" y="3321050"/>
            <a:ext cx="1841500" cy="2778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en-US" altLang="ko-KR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Sourcing Synergy</a:t>
            </a:r>
          </a:p>
        </p:txBody>
      </p:sp>
      <p:sp>
        <p:nvSpPr>
          <p:cNvPr id="8227" name="Rectangle 44"/>
          <p:cNvSpPr>
            <a:spLocks noChangeArrowheads="1"/>
          </p:cNvSpPr>
          <p:nvPr/>
        </p:nvSpPr>
        <p:spPr bwMode="auto">
          <a:xfrm>
            <a:off x="6121400" y="3660775"/>
            <a:ext cx="3557588" cy="271463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GB" altLang="ko-KR" sz="900" b="0" dirty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 dirty="0">
                <a:latin typeface="맑은 고딕" pitchFamily="50" charset="-127"/>
                <a:cs typeface="Arial" charset="0"/>
              </a:rPr>
              <a:t>단기적으론 구매 중심의 정보보다는 브랜드 인지도를</a:t>
            </a:r>
            <a:br>
              <a:rPr lang="ko-KR" altLang="en-US" sz="900" b="0" dirty="0">
                <a:latin typeface="맑은 고딕" pitchFamily="50" charset="-127"/>
                <a:cs typeface="Arial" charset="0"/>
              </a:rPr>
            </a:br>
            <a:r>
              <a:rPr lang="ko-KR" altLang="en-US" sz="900" b="0" dirty="0">
                <a:latin typeface="맑은 고딕" pitchFamily="50" charset="-127"/>
                <a:cs typeface="Arial" charset="0"/>
              </a:rPr>
              <a:t>  강화하는 </a:t>
            </a:r>
            <a:r>
              <a:rPr lang="en-US" altLang="ko-KR" sz="900" b="0" dirty="0">
                <a:latin typeface="맑은 고딕" pitchFamily="50" charset="-127"/>
                <a:cs typeface="Arial" charset="0"/>
              </a:rPr>
              <a:t>Branding </a:t>
            </a:r>
            <a:r>
              <a:rPr lang="ko-KR" altLang="en-US" sz="900" b="0" dirty="0">
                <a:latin typeface="맑은 고딕" pitchFamily="50" charset="-127"/>
                <a:cs typeface="Arial" charset="0"/>
              </a:rPr>
              <a:t>역할 부여</a:t>
            </a:r>
          </a:p>
        </p:txBody>
      </p:sp>
      <p:sp>
        <p:nvSpPr>
          <p:cNvPr id="8228" name="Rectangle 53"/>
          <p:cNvSpPr>
            <a:spLocks noChangeArrowheads="1"/>
          </p:cNvSpPr>
          <p:nvPr/>
        </p:nvSpPr>
        <p:spPr bwMode="gray">
          <a:xfrm>
            <a:off x="4230688" y="3662363"/>
            <a:ext cx="1841500" cy="2762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ko-KR" altLang="en-US" sz="1100" b="0" dirty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브랜드강화</a:t>
            </a:r>
          </a:p>
        </p:txBody>
      </p:sp>
      <p:sp>
        <p:nvSpPr>
          <p:cNvPr id="8229" name="Rectangle 44"/>
          <p:cNvSpPr>
            <a:spLocks noChangeArrowheads="1"/>
          </p:cNvSpPr>
          <p:nvPr/>
        </p:nvSpPr>
        <p:spPr bwMode="auto">
          <a:xfrm>
            <a:off x="6121400" y="3998913"/>
            <a:ext cx="3557588" cy="2730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US" altLang="ko-KR" sz="900" b="0">
                <a:latin typeface="맑은 고딕" pitchFamily="50" charset="-127"/>
                <a:cs typeface="Arial" charset="0"/>
              </a:rPr>
              <a:t> Mobile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매니아층의 정보 획득 및 구매 패턴 분석</a:t>
            </a:r>
            <a:endParaRPr lang="ko-KR" altLang="en-GB" sz="900" b="0">
              <a:latin typeface="맑은 고딕" pitchFamily="50" charset="-127"/>
              <a:cs typeface="Arial" charset="0"/>
            </a:endParaRP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ko-KR" altLang="en-US" sz="900" b="0">
                <a:latin typeface="맑은 고딕" pitchFamily="50" charset="-127"/>
                <a:cs typeface="Arial" charset="0"/>
              </a:rPr>
              <a:t> 다양한 최종 구매 채널 정보 제공및 유도</a:t>
            </a:r>
          </a:p>
        </p:txBody>
      </p:sp>
      <p:sp>
        <p:nvSpPr>
          <p:cNvPr id="8230" name="Rectangle 53"/>
          <p:cNvSpPr>
            <a:spLocks noChangeArrowheads="1"/>
          </p:cNvSpPr>
          <p:nvPr/>
        </p:nvSpPr>
        <p:spPr bwMode="gray">
          <a:xfrm>
            <a:off x="4230688" y="4002088"/>
            <a:ext cx="1841500" cy="2746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ko-KR" altLang="en-US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매니아층 고객 편의성</a:t>
            </a:r>
          </a:p>
        </p:txBody>
      </p:sp>
      <p:sp>
        <p:nvSpPr>
          <p:cNvPr id="8231" name="Rectangle 44"/>
          <p:cNvSpPr>
            <a:spLocks noChangeArrowheads="1"/>
          </p:cNvSpPr>
          <p:nvPr/>
        </p:nvSpPr>
        <p:spPr bwMode="auto">
          <a:xfrm>
            <a:off x="6121400" y="4338638"/>
            <a:ext cx="3557588" cy="271462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GB" altLang="ko-KR" sz="900" b="0" dirty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 dirty="0">
                <a:latin typeface="맑은 고딕" pitchFamily="50" charset="-127"/>
                <a:cs typeface="Arial" charset="0"/>
              </a:rPr>
              <a:t>입소문 마케팅 </a:t>
            </a:r>
            <a:r>
              <a:rPr lang="en-US" altLang="ko-KR" sz="900" b="0" dirty="0">
                <a:latin typeface="맑은 고딕" pitchFamily="50" charset="-127"/>
                <a:cs typeface="Arial" charset="0"/>
              </a:rPr>
              <a:t>tool</a:t>
            </a:r>
            <a:r>
              <a:rPr lang="ko-KR" altLang="en-US" sz="900" b="0" dirty="0" err="1">
                <a:latin typeface="맑은 고딕" pitchFamily="50" charset="-127"/>
                <a:cs typeface="Arial" charset="0"/>
              </a:rPr>
              <a:t>로써의</a:t>
            </a:r>
            <a:r>
              <a:rPr lang="ko-KR" altLang="en-US" sz="900" b="0" dirty="0">
                <a:latin typeface="맑은 고딕" pitchFamily="50" charset="-127"/>
                <a:cs typeface="Arial" charset="0"/>
              </a:rPr>
              <a:t> 활용</a:t>
            </a: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ko-KR" altLang="en-US" sz="900" b="0" dirty="0">
                <a:latin typeface="맑은 고딕" pitchFamily="50" charset="-127"/>
                <a:cs typeface="Arial" charset="0"/>
              </a:rPr>
              <a:t> </a:t>
            </a:r>
            <a:r>
              <a:rPr lang="en-US" altLang="ko-KR" sz="900" b="0" dirty="0">
                <a:latin typeface="맑은 고딕" pitchFamily="50" charset="-127"/>
                <a:cs typeface="Arial" charset="0"/>
              </a:rPr>
              <a:t>Community</a:t>
            </a:r>
            <a:r>
              <a:rPr lang="ko-KR" altLang="en-US" sz="900" b="0" dirty="0">
                <a:latin typeface="맑은 고딕" pitchFamily="50" charset="-127"/>
                <a:cs typeface="Arial" charset="0"/>
              </a:rPr>
              <a:t>및 </a:t>
            </a:r>
            <a:r>
              <a:rPr lang="en-US" altLang="ko-KR" sz="900" b="0" dirty="0">
                <a:latin typeface="맑은 고딕" pitchFamily="50" charset="-127"/>
                <a:cs typeface="Arial" charset="0"/>
              </a:rPr>
              <a:t>focus group</a:t>
            </a:r>
            <a:r>
              <a:rPr lang="ko-KR" altLang="en-US" sz="900" b="0" dirty="0">
                <a:latin typeface="맑은 고딕" pitchFamily="50" charset="-127"/>
                <a:cs typeface="Arial" charset="0"/>
              </a:rPr>
              <a:t>을 만들도록 유도</a:t>
            </a:r>
          </a:p>
        </p:txBody>
      </p:sp>
      <p:sp>
        <p:nvSpPr>
          <p:cNvPr id="8232" name="Rectangle 53"/>
          <p:cNvSpPr>
            <a:spLocks noChangeArrowheads="1"/>
          </p:cNvSpPr>
          <p:nvPr/>
        </p:nvSpPr>
        <p:spPr bwMode="gray">
          <a:xfrm>
            <a:off x="4230688" y="4340225"/>
            <a:ext cx="1841500" cy="2746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en-US" altLang="ko-KR" sz="1100" b="0" dirty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Community </a:t>
            </a:r>
            <a:r>
              <a:rPr lang="ko-KR" altLang="en-US" sz="1100" b="0" dirty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구성</a:t>
            </a:r>
          </a:p>
        </p:txBody>
      </p:sp>
      <p:sp>
        <p:nvSpPr>
          <p:cNvPr id="8233" name="Rectangle 44"/>
          <p:cNvSpPr>
            <a:spLocks noChangeArrowheads="1"/>
          </p:cNvSpPr>
          <p:nvPr/>
        </p:nvSpPr>
        <p:spPr bwMode="auto">
          <a:xfrm>
            <a:off x="6121400" y="4678363"/>
            <a:ext cx="3557588" cy="2730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US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고객 응대 서비스를 전사적으로 확대하도록 권장</a:t>
            </a: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ko-KR" altLang="en-US" sz="900" b="0">
                <a:latin typeface="맑은 고딕" pitchFamily="50" charset="-127"/>
                <a:cs typeface="Arial" charset="0"/>
              </a:rPr>
              <a:t> 급 진보하는 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Business idea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를 지속 유입 가능한 조직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/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시스템</a:t>
            </a:r>
          </a:p>
        </p:txBody>
      </p:sp>
      <p:sp>
        <p:nvSpPr>
          <p:cNvPr id="8234" name="Rectangle 53"/>
          <p:cNvSpPr>
            <a:spLocks noChangeArrowheads="1"/>
          </p:cNvSpPr>
          <p:nvPr/>
        </p:nvSpPr>
        <p:spPr bwMode="gray">
          <a:xfrm>
            <a:off x="4230688" y="4678363"/>
            <a:ext cx="1841500" cy="2746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ko-KR" altLang="en-US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확장된 고객 응대 지원</a:t>
            </a:r>
          </a:p>
        </p:txBody>
      </p:sp>
      <p:sp>
        <p:nvSpPr>
          <p:cNvPr id="8235" name="Rectangle 44"/>
          <p:cNvSpPr>
            <a:spLocks noChangeArrowheads="1"/>
          </p:cNvSpPr>
          <p:nvPr/>
        </p:nvSpPr>
        <p:spPr bwMode="auto">
          <a:xfrm>
            <a:off x="6121400" y="5016500"/>
            <a:ext cx="3557588" cy="2730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GB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하림그룹 계열사의 온라인 통합 운영 관리</a:t>
            </a: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ko-KR" altLang="en-US" sz="900" b="0">
                <a:latin typeface="맑은 고딕" pitchFamily="50" charset="-127"/>
                <a:cs typeface="Arial" charset="0"/>
              </a:rPr>
              <a:t> 타 경쟁사 대비 규모의 경쟁 약점 보완</a:t>
            </a:r>
          </a:p>
        </p:txBody>
      </p:sp>
      <p:sp>
        <p:nvSpPr>
          <p:cNvPr id="8236" name="Rectangle 53"/>
          <p:cNvSpPr>
            <a:spLocks noChangeArrowheads="1"/>
          </p:cNvSpPr>
          <p:nvPr/>
        </p:nvSpPr>
        <p:spPr bwMode="gray">
          <a:xfrm>
            <a:off x="4230688" y="5016500"/>
            <a:ext cx="1841500" cy="2778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ko-KR" altLang="en-US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그룹 온라인 채널 운영 대행</a:t>
            </a:r>
          </a:p>
        </p:txBody>
      </p:sp>
      <p:sp>
        <p:nvSpPr>
          <p:cNvPr id="8237" name="Rectangle 44"/>
          <p:cNvSpPr>
            <a:spLocks noChangeArrowheads="1"/>
          </p:cNvSpPr>
          <p:nvPr/>
        </p:nvSpPr>
        <p:spPr bwMode="auto">
          <a:xfrm>
            <a:off x="6121400" y="5357813"/>
            <a:ext cx="3557588" cy="27146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US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중소규모 협력사의 온라인 운영 대행</a:t>
            </a:r>
            <a:r>
              <a:rPr lang="ko-KR" altLang="en-GB" sz="900" b="0">
                <a:latin typeface="맑은 고딕" pitchFamily="50" charset="-127"/>
                <a:cs typeface="Arial" charset="0"/>
              </a:rPr>
              <a:t> </a:t>
            </a: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ko-KR" altLang="en-US" sz="900" b="0">
                <a:latin typeface="맑은 고딕" pitchFamily="50" charset="-127"/>
                <a:cs typeface="Arial" charset="0"/>
              </a:rPr>
              <a:t> 해외 기업 국내 진출시 온라인 지원 센터 운영</a:t>
            </a:r>
          </a:p>
        </p:txBody>
      </p:sp>
      <p:sp>
        <p:nvSpPr>
          <p:cNvPr id="8238" name="Rectangle 53"/>
          <p:cNvSpPr>
            <a:spLocks noChangeArrowheads="1"/>
          </p:cNvSpPr>
          <p:nvPr/>
        </p:nvSpPr>
        <p:spPr bwMode="gray">
          <a:xfrm>
            <a:off x="4230688" y="5357813"/>
            <a:ext cx="1841500" cy="27463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ko-KR" altLang="en-US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협력사 온라인 운영 대행</a:t>
            </a:r>
          </a:p>
        </p:txBody>
      </p:sp>
      <p:sp>
        <p:nvSpPr>
          <p:cNvPr id="8239" name="Rectangle 44"/>
          <p:cNvSpPr>
            <a:spLocks noChangeArrowheads="1"/>
          </p:cNvSpPr>
          <p:nvPr/>
        </p:nvSpPr>
        <p:spPr bwMode="auto">
          <a:xfrm>
            <a:off x="6121400" y="5695950"/>
            <a:ext cx="3557588" cy="2730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GB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온라인 회원제와 멤버십 통합 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: SK M&amp;C bench marking</a:t>
            </a:r>
          </a:p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US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그룹 계열사는 멤버십 제휴사로 활용</a:t>
            </a:r>
          </a:p>
        </p:txBody>
      </p:sp>
      <p:sp>
        <p:nvSpPr>
          <p:cNvPr id="8240" name="Rectangle 53"/>
          <p:cNvSpPr>
            <a:spLocks noChangeArrowheads="1"/>
          </p:cNvSpPr>
          <p:nvPr/>
        </p:nvSpPr>
        <p:spPr bwMode="gray">
          <a:xfrm>
            <a:off x="4230688" y="5695950"/>
            <a:ext cx="1841500" cy="2778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en-US" altLang="ko-KR" sz="1100" b="0" dirty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eMall</a:t>
            </a:r>
            <a:r>
              <a:rPr lang="ko-KR" altLang="en-US" sz="1100" b="0" dirty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 단독 멤버십</a:t>
            </a:r>
          </a:p>
        </p:txBody>
      </p:sp>
      <p:sp>
        <p:nvSpPr>
          <p:cNvPr id="8241" name="Rectangle 44"/>
          <p:cNvSpPr>
            <a:spLocks noChangeArrowheads="1"/>
          </p:cNvSpPr>
          <p:nvPr/>
        </p:nvSpPr>
        <p:spPr bwMode="auto">
          <a:xfrm>
            <a:off x="6121400" y="6037263"/>
            <a:ext cx="3557588" cy="2730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C0C0C0"/>
            </a:solidFill>
            <a:round/>
            <a:headEnd/>
            <a:tailEnd/>
          </a:ln>
        </p:spPr>
        <p:txBody>
          <a:bodyPr wrap="none" tIns="21600" bIns="216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Clr>
                <a:schemeClr val="tx1"/>
              </a:buClr>
              <a:buFont typeface="맑은 고딕" pitchFamily="50" charset="-127"/>
              <a:buChar char="-"/>
            </a:pPr>
            <a:r>
              <a:rPr lang="en-US" altLang="ko-KR" sz="900" b="0">
                <a:latin typeface="맑은 고딕" pitchFamily="50" charset="-127"/>
                <a:cs typeface="Arial" charset="0"/>
              </a:rPr>
              <a:t>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멤버십 총괄 운영 </a:t>
            </a:r>
            <a:r>
              <a:rPr lang="en-US" altLang="ko-KR" sz="900" b="0">
                <a:latin typeface="맑은 고딕" pitchFamily="50" charset="-127"/>
                <a:cs typeface="Arial" charset="0"/>
              </a:rPr>
              <a:t>: </a:t>
            </a:r>
            <a:r>
              <a:rPr lang="ko-KR" altLang="en-US" sz="900" b="0">
                <a:latin typeface="맑은 고딕" pitchFamily="50" charset="-127"/>
                <a:cs typeface="Arial" charset="0"/>
              </a:rPr>
              <a:t>각 계열사의 마케팅 전략에 따른 </a:t>
            </a:r>
            <a:br>
              <a:rPr lang="ko-KR" altLang="en-US" sz="900" b="0">
                <a:latin typeface="맑은 고딕" pitchFamily="50" charset="-127"/>
                <a:cs typeface="Arial" charset="0"/>
              </a:rPr>
            </a:br>
            <a:r>
              <a:rPr lang="ko-KR" altLang="en-US" sz="900" b="0">
                <a:latin typeface="맑은 고딕" pitchFamily="50" charset="-127"/>
                <a:cs typeface="Arial" charset="0"/>
              </a:rPr>
              <a:t>  차별화된 회원 운영에 그룹 차원의 멤버십 강화 </a:t>
            </a:r>
          </a:p>
        </p:txBody>
      </p:sp>
      <p:sp>
        <p:nvSpPr>
          <p:cNvPr id="8242" name="Rectangle 53"/>
          <p:cNvSpPr>
            <a:spLocks noChangeArrowheads="1"/>
          </p:cNvSpPr>
          <p:nvPr/>
        </p:nvSpPr>
        <p:spPr bwMode="gray">
          <a:xfrm>
            <a:off x="4230688" y="6037263"/>
            <a:ext cx="1841500" cy="2762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tIns="36000" anchor="ctr"/>
          <a:lstStyle>
            <a:lvl1pPr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0438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ko-KR" altLang="en-US" sz="1100" b="0">
                <a:solidFill>
                  <a:schemeClr val="bg1"/>
                </a:solidFill>
                <a:latin typeface="맑은 고딕" pitchFamily="50" charset="-127"/>
                <a:cs typeface="Arial" charset="0"/>
              </a:rPr>
              <a:t>그룹 통합 멤버십</a:t>
            </a:r>
          </a:p>
        </p:txBody>
      </p:sp>
      <p:cxnSp>
        <p:nvCxnSpPr>
          <p:cNvPr id="8243" name="AutoShape 53"/>
          <p:cNvCxnSpPr>
            <a:cxnSpLocks noChangeShapeType="1"/>
            <a:stCxn id="10249" idx="3"/>
            <a:endCxn id="8214" idx="1"/>
          </p:cNvCxnSpPr>
          <p:nvPr/>
        </p:nvCxnSpPr>
        <p:spPr bwMode="auto">
          <a:xfrm flipV="1">
            <a:off x="3930650" y="1423988"/>
            <a:ext cx="300038" cy="192087"/>
          </a:xfrm>
          <a:prstGeom prst="bentConnector3">
            <a:avLst>
              <a:gd name="adj1" fmla="val 49736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4" name="AutoShape 54"/>
          <p:cNvCxnSpPr>
            <a:cxnSpLocks noChangeShapeType="1"/>
            <a:stCxn id="10249" idx="3"/>
            <a:endCxn id="8216" idx="1"/>
          </p:cNvCxnSpPr>
          <p:nvPr/>
        </p:nvCxnSpPr>
        <p:spPr bwMode="auto">
          <a:xfrm>
            <a:off x="3930650" y="1614488"/>
            <a:ext cx="300038" cy="1492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5" name="AutoShape 55"/>
          <p:cNvCxnSpPr>
            <a:cxnSpLocks noChangeShapeType="1"/>
            <a:stCxn id="10250" idx="3"/>
            <a:endCxn id="8218" idx="1"/>
          </p:cNvCxnSpPr>
          <p:nvPr/>
        </p:nvCxnSpPr>
        <p:spPr bwMode="auto">
          <a:xfrm flipV="1">
            <a:off x="3930650" y="2103438"/>
            <a:ext cx="300038" cy="15081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6" name="AutoShape 56"/>
          <p:cNvCxnSpPr>
            <a:cxnSpLocks noChangeShapeType="1"/>
            <a:stCxn id="10250" idx="3"/>
            <a:endCxn id="8220" idx="1"/>
          </p:cNvCxnSpPr>
          <p:nvPr/>
        </p:nvCxnSpPr>
        <p:spPr bwMode="auto">
          <a:xfrm>
            <a:off x="3930650" y="2254250"/>
            <a:ext cx="300038" cy="1889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7" name="AutoShape 57"/>
          <p:cNvCxnSpPr>
            <a:cxnSpLocks noChangeShapeType="1"/>
            <a:stCxn id="10251" idx="3"/>
            <a:endCxn id="8222" idx="1"/>
          </p:cNvCxnSpPr>
          <p:nvPr/>
        </p:nvCxnSpPr>
        <p:spPr bwMode="auto">
          <a:xfrm flipV="1">
            <a:off x="3930650" y="2781300"/>
            <a:ext cx="300038" cy="3397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8" name="AutoShape 58"/>
          <p:cNvCxnSpPr>
            <a:cxnSpLocks noChangeShapeType="1"/>
            <a:stCxn id="10251" idx="3"/>
            <a:endCxn id="8224" idx="1"/>
          </p:cNvCxnSpPr>
          <p:nvPr/>
        </p:nvCxnSpPr>
        <p:spPr bwMode="auto">
          <a:xfrm flipV="1">
            <a:off x="3930650" y="3121025"/>
            <a:ext cx="300038" cy="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9" name="AutoShape 59"/>
          <p:cNvCxnSpPr>
            <a:cxnSpLocks noChangeShapeType="1"/>
            <a:stCxn id="10251" idx="3"/>
            <a:endCxn id="8226" idx="1"/>
          </p:cNvCxnSpPr>
          <p:nvPr/>
        </p:nvCxnSpPr>
        <p:spPr bwMode="auto">
          <a:xfrm>
            <a:off x="3930650" y="3121025"/>
            <a:ext cx="300038" cy="3397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0" name="AutoShape 60"/>
          <p:cNvCxnSpPr>
            <a:cxnSpLocks noChangeShapeType="1"/>
            <a:stCxn id="10252" idx="3"/>
            <a:endCxn id="8228" idx="1"/>
          </p:cNvCxnSpPr>
          <p:nvPr/>
        </p:nvCxnSpPr>
        <p:spPr bwMode="auto">
          <a:xfrm flipV="1">
            <a:off x="3930650" y="3800475"/>
            <a:ext cx="300038" cy="1635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1" name="AutoShape 61"/>
          <p:cNvCxnSpPr>
            <a:cxnSpLocks noChangeShapeType="1"/>
            <a:stCxn id="10252" idx="3"/>
            <a:endCxn id="8230" idx="1"/>
          </p:cNvCxnSpPr>
          <p:nvPr/>
        </p:nvCxnSpPr>
        <p:spPr bwMode="auto">
          <a:xfrm>
            <a:off x="3930650" y="3963988"/>
            <a:ext cx="300038" cy="1746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2" name="AutoShape 62"/>
          <p:cNvCxnSpPr>
            <a:cxnSpLocks noChangeShapeType="1"/>
            <a:stCxn id="10253" idx="3"/>
            <a:endCxn id="8232" idx="1"/>
          </p:cNvCxnSpPr>
          <p:nvPr/>
        </p:nvCxnSpPr>
        <p:spPr bwMode="auto">
          <a:xfrm flipV="1">
            <a:off x="3930650" y="4476750"/>
            <a:ext cx="300038" cy="1603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3" name="AutoShape 63"/>
          <p:cNvCxnSpPr>
            <a:cxnSpLocks noChangeShapeType="1"/>
            <a:stCxn id="10253" idx="3"/>
            <a:endCxn id="8234" idx="1"/>
          </p:cNvCxnSpPr>
          <p:nvPr/>
        </p:nvCxnSpPr>
        <p:spPr bwMode="auto">
          <a:xfrm>
            <a:off x="3930650" y="4637088"/>
            <a:ext cx="300038" cy="1793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4" name="AutoShape 64"/>
          <p:cNvCxnSpPr>
            <a:cxnSpLocks noChangeShapeType="1"/>
            <a:stCxn id="10254" idx="3"/>
            <a:endCxn id="8236" idx="1"/>
          </p:cNvCxnSpPr>
          <p:nvPr/>
        </p:nvCxnSpPr>
        <p:spPr bwMode="auto">
          <a:xfrm flipV="1">
            <a:off x="3930650" y="5156200"/>
            <a:ext cx="300038" cy="2127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5" name="AutoShape 65"/>
          <p:cNvCxnSpPr>
            <a:cxnSpLocks noChangeShapeType="1"/>
            <a:stCxn id="10254" idx="3"/>
            <a:endCxn id="8238" idx="1"/>
          </p:cNvCxnSpPr>
          <p:nvPr/>
        </p:nvCxnSpPr>
        <p:spPr bwMode="auto">
          <a:xfrm>
            <a:off x="3930650" y="5368925"/>
            <a:ext cx="300038" cy="1270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6" name="AutoShape 66"/>
          <p:cNvCxnSpPr>
            <a:cxnSpLocks noChangeShapeType="1"/>
            <a:stCxn id="10255" idx="3"/>
            <a:endCxn id="8240" idx="1"/>
          </p:cNvCxnSpPr>
          <p:nvPr/>
        </p:nvCxnSpPr>
        <p:spPr bwMode="auto">
          <a:xfrm flipV="1">
            <a:off x="3930650" y="5834063"/>
            <a:ext cx="300038" cy="2000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7" name="AutoShape 67"/>
          <p:cNvCxnSpPr>
            <a:cxnSpLocks noChangeShapeType="1"/>
            <a:stCxn id="10255" idx="3"/>
            <a:endCxn id="8242" idx="1"/>
          </p:cNvCxnSpPr>
          <p:nvPr/>
        </p:nvCxnSpPr>
        <p:spPr bwMode="auto">
          <a:xfrm>
            <a:off x="3930650" y="6035675"/>
            <a:ext cx="300038" cy="139700"/>
          </a:xfrm>
          <a:prstGeom prst="bentConnector3">
            <a:avLst>
              <a:gd name="adj1" fmla="val 49736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58" name="Oval 68"/>
          <p:cNvSpPr>
            <a:spLocks noChangeArrowheads="1"/>
          </p:cNvSpPr>
          <p:nvPr/>
        </p:nvSpPr>
        <p:spPr bwMode="auto">
          <a:xfrm>
            <a:off x="244475" y="1539875"/>
            <a:ext cx="219075" cy="211138"/>
          </a:xfrm>
          <a:prstGeom prst="ellipse">
            <a:avLst/>
          </a:prstGeom>
          <a:solidFill>
            <a:srgbClr val="333333"/>
          </a:solidFill>
          <a:ln w="38100" algn="ctr">
            <a:solidFill>
              <a:schemeClr val="bg2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fontAlgn="t">
              <a:buSzPct val="100000"/>
              <a:buFont typeface="Monotype Sorts" pitchFamily="2" charset="2"/>
              <a:buNone/>
            </a:pPr>
            <a:r>
              <a:rPr kumimoji="1" lang="en-US" altLang="ko-KR" sz="1100">
                <a:solidFill>
                  <a:schemeClr val="bg1"/>
                </a:solidFill>
                <a:latin typeface="맑은 고딕" pitchFamily="50" charset="-127"/>
              </a:rPr>
              <a:t>1</a:t>
            </a:r>
          </a:p>
        </p:txBody>
      </p:sp>
      <p:sp>
        <p:nvSpPr>
          <p:cNvPr id="8259" name="Oval 69"/>
          <p:cNvSpPr>
            <a:spLocks noChangeArrowheads="1"/>
          </p:cNvSpPr>
          <p:nvPr/>
        </p:nvSpPr>
        <p:spPr bwMode="auto">
          <a:xfrm>
            <a:off x="244475" y="3557588"/>
            <a:ext cx="219075" cy="211137"/>
          </a:xfrm>
          <a:prstGeom prst="ellipse">
            <a:avLst/>
          </a:prstGeom>
          <a:solidFill>
            <a:srgbClr val="333333"/>
          </a:solidFill>
          <a:ln w="38100" algn="ctr">
            <a:solidFill>
              <a:schemeClr val="bg2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fontAlgn="t">
              <a:buSzPct val="100000"/>
              <a:buFont typeface="Monotype Sorts" pitchFamily="2" charset="2"/>
              <a:buNone/>
            </a:pPr>
            <a:r>
              <a:rPr kumimoji="1" lang="en-US" altLang="ko-KR" sz="1100">
                <a:solidFill>
                  <a:schemeClr val="bg1"/>
                </a:solidFill>
                <a:latin typeface="맑은 고딕" pitchFamily="50" charset="-127"/>
              </a:rPr>
              <a:t>2</a:t>
            </a:r>
          </a:p>
        </p:txBody>
      </p:sp>
      <p:sp>
        <p:nvSpPr>
          <p:cNvPr id="8260" name="Oval 70"/>
          <p:cNvSpPr>
            <a:spLocks noChangeArrowheads="1"/>
          </p:cNvSpPr>
          <p:nvPr/>
        </p:nvSpPr>
        <p:spPr bwMode="auto">
          <a:xfrm>
            <a:off x="244475" y="5273675"/>
            <a:ext cx="219075" cy="209550"/>
          </a:xfrm>
          <a:prstGeom prst="ellipse">
            <a:avLst/>
          </a:prstGeom>
          <a:solidFill>
            <a:srgbClr val="333333"/>
          </a:solidFill>
          <a:ln w="38100" algn="ctr">
            <a:solidFill>
              <a:schemeClr val="bg2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defTabSz="76009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defTabSz="76009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fontAlgn="t">
              <a:buSzPct val="100000"/>
              <a:buFont typeface="Monotype Sorts" pitchFamily="2" charset="2"/>
              <a:buNone/>
            </a:pPr>
            <a:r>
              <a:rPr kumimoji="1" lang="en-US" altLang="ko-KR" sz="1100">
                <a:solidFill>
                  <a:schemeClr val="bg1"/>
                </a:solidFill>
                <a:latin typeface="맑은 고딕" pitchFamily="50" charset="-127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2413000" cy="247650"/>
          </a:xfrm>
        </p:spPr>
        <p:txBody>
          <a:bodyPr>
            <a:noAutofit/>
          </a:bodyPr>
          <a:lstStyle/>
          <a:p>
            <a:r>
              <a:rPr lang="ko-KR" altLang="en-US" dirty="0"/>
              <a:t>벤치마킹 </a:t>
            </a:r>
            <a:r>
              <a:rPr lang="en-US" altLang="ko-KR" dirty="0"/>
              <a:t>BM Overview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0350" y="914400"/>
            <a:ext cx="9367838" cy="255588"/>
          </a:xfrm>
        </p:spPr>
        <p:txBody>
          <a:bodyPr>
            <a:noAutofit/>
          </a:bodyPr>
          <a:lstStyle/>
          <a:p>
            <a:r>
              <a:rPr lang="en-US" altLang="ko-KR" dirty="0"/>
              <a:t>Amazon</a:t>
            </a:r>
            <a:r>
              <a:rPr lang="ko-KR" altLang="en-US" dirty="0"/>
              <a:t>의 고객 직관적 추천 중심의 기능과 구성을 </a:t>
            </a:r>
            <a:r>
              <a:rPr lang="en-US" altLang="ko-KR" dirty="0"/>
              <a:t>benchmarking</a:t>
            </a:r>
            <a:r>
              <a:rPr lang="ko-KR" altLang="en-US" dirty="0"/>
              <a:t>하여 </a:t>
            </a:r>
            <a:r>
              <a:rPr lang="en-US" altLang="ko-KR" dirty="0"/>
              <a:t>eMall</a:t>
            </a:r>
            <a:r>
              <a:rPr lang="ko-KR" altLang="en-US" dirty="0"/>
              <a:t>의 고객경험을 개선시키고자 함</a:t>
            </a:r>
          </a:p>
        </p:txBody>
      </p:sp>
      <p:sp>
        <p:nvSpPr>
          <p:cNvPr id="9220" name="AutoShape 4"/>
          <p:cNvSpPr>
            <a:spLocks noChangeArrowheads="1"/>
          </p:cNvSpPr>
          <p:nvPr/>
        </p:nvSpPr>
        <p:spPr bwMode="auto">
          <a:xfrm>
            <a:off x="1136650" y="1520825"/>
            <a:ext cx="1692275" cy="323850"/>
          </a:xfrm>
          <a:prstGeom prst="roundRect">
            <a:avLst>
              <a:gd name="adj" fmla="val 10778"/>
            </a:avLst>
          </a:prstGeom>
          <a:solidFill>
            <a:srgbClr val="EAEAEA">
              <a:alpha val="50195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108000" rIns="0" bIns="720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메인 페이지</a:t>
            </a:r>
          </a:p>
        </p:txBody>
      </p:sp>
      <p:sp>
        <p:nvSpPr>
          <p:cNvPr id="9221" name="AutoShape 5"/>
          <p:cNvSpPr>
            <a:spLocks noChangeArrowheads="1"/>
          </p:cNvSpPr>
          <p:nvPr/>
        </p:nvSpPr>
        <p:spPr bwMode="auto">
          <a:xfrm>
            <a:off x="7545388" y="1520825"/>
            <a:ext cx="974725" cy="323850"/>
          </a:xfrm>
          <a:prstGeom prst="roundRect">
            <a:avLst>
              <a:gd name="adj" fmla="val 10778"/>
            </a:avLst>
          </a:prstGeom>
          <a:solidFill>
            <a:srgbClr val="EAEAEA">
              <a:alpha val="50195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108000" rIns="0" bIns="720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회원가입</a:t>
            </a:r>
          </a:p>
        </p:txBody>
      </p:sp>
      <p:sp>
        <p:nvSpPr>
          <p:cNvPr id="9222" name="AutoShape 6"/>
          <p:cNvSpPr>
            <a:spLocks noChangeArrowheads="1"/>
          </p:cNvSpPr>
          <p:nvPr/>
        </p:nvSpPr>
        <p:spPr bwMode="auto">
          <a:xfrm>
            <a:off x="8550275" y="1520825"/>
            <a:ext cx="795338" cy="711200"/>
          </a:xfrm>
          <a:prstGeom prst="roundRect">
            <a:avLst>
              <a:gd name="adj" fmla="val 10778"/>
            </a:avLst>
          </a:prstGeom>
          <a:solidFill>
            <a:srgbClr val="EAEAEA">
              <a:alpha val="50195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108000" rIns="0" bIns="720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주문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결제</a:t>
            </a:r>
          </a:p>
        </p:txBody>
      </p:sp>
      <p:sp>
        <p:nvSpPr>
          <p:cNvPr id="9223" name="AutoShape 7"/>
          <p:cNvSpPr>
            <a:spLocks noChangeArrowheads="1"/>
          </p:cNvSpPr>
          <p:nvPr/>
        </p:nvSpPr>
        <p:spPr bwMode="auto">
          <a:xfrm>
            <a:off x="3308350" y="1520825"/>
            <a:ext cx="3444875" cy="323850"/>
          </a:xfrm>
          <a:prstGeom prst="roundRect">
            <a:avLst>
              <a:gd name="adj" fmla="val 10778"/>
            </a:avLst>
          </a:prstGeom>
          <a:solidFill>
            <a:srgbClr val="EAEAEA">
              <a:alpha val="50195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108000" rIns="0" bIns="720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검색</a:t>
            </a:r>
          </a:p>
        </p:txBody>
      </p:sp>
      <p:sp>
        <p:nvSpPr>
          <p:cNvPr id="9224" name="AutoShape 8"/>
          <p:cNvSpPr>
            <a:spLocks noChangeArrowheads="1"/>
          </p:cNvSpPr>
          <p:nvPr/>
        </p:nvSpPr>
        <p:spPr bwMode="auto">
          <a:xfrm>
            <a:off x="5072063" y="1908175"/>
            <a:ext cx="1693862" cy="323850"/>
          </a:xfrm>
          <a:prstGeom prst="roundRect">
            <a:avLst>
              <a:gd name="adj" fmla="val 10778"/>
            </a:avLst>
          </a:prstGeom>
          <a:solidFill>
            <a:srgbClr val="EAEAEA">
              <a:alpha val="50195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108000" rIns="0" bIns="720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단품 페이지</a:t>
            </a:r>
          </a:p>
        </p:txBody>
      </p:sp>
      <p:sp>
        <p:nvSpPr>
          <p:cNvPr id="9225" name="AutoShape 9"/>
          <p:cNvSpPr>
            <a:spLocks noChangeArrowheads="1"/>
          </p:cNvSpPr>
          <p:nvPr/>
        </p:nvSpPr>
        <p:spPr bwMode="auto">
          <a:xfrm>
            <a:off x="3308350" y="1908175"/>
            <a:ext cx="1693863" cy="323850"/>
          </a:xfrm>
          <a:prstGeom prst="roundRect">
            <a:avLst>
              <a:gd name="adj" fmla="val 10778"/>
            </a:avLst>
          </a:prstGeom>
          <a:solidFill>
            <a:srgbClr val="EAEAEA">
              <a:alpha val="50195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108000" rIns="0" bIns="720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카테고리 매장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54025" y="2335213"/>
            <a:ext cx="395288" cy="1325562"/>
          </a:xfrm>
          <a:prstGeom prst="rect">
            <a:avLst/>
          </a:pr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lIns="18000" tIns="44450" rIns="18000" bIns="44450" anchor="ctr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buFont typeface="Wingdings" pitchFamily="2" charset="2"/>
              <a:buNone/>
            </a:pPr>
            <a:r>
              <a:rPr kumimoji="1" lang="en-US" altLang="ko-KR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As-Is</a:t>
            </a:r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849313" y="2351088"/>
            <a:ext cx="8532812" cy="1314450"/>
          </a:xfrm>
          <a:prstGeom prst="rect">
            <a:avLst/>
          </a:prstGeom>
          <a:noFill/>
          <a:ln w="12700" algn="ctr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44450" rIns="18000" bIns="4445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454025" y="3706813"/>
            <a:ext cx="395288" cy="13255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eaVert" wrap="none" lIns="18000" tIns="44450" rIns="18000" bIns="44450" anchor="ctr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buFont typeface="Wingdings" pitchFamily="2" charset="2"/>
              <a:buNone/>
            </a:pPr>
            <a:r>
              <a:rPr kumimoji="1" lang="ko-KR" altLang="en-US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아마존</a:t>
            </a:r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849313" y="3708400"/>
            <a:ext cx="8532812" cy="1314450"/>
          </a:xfrm>
          <a:prstGeom prst="rect">
            <a:avLst/>
          </a:prstGeom>
          <a:noFill/>
          <a:ln w="12700" algn="ctr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44450" rIns="18000" bIns="4445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454025" y="5072063"/>
            <a:ext cx="395288" cy="1325562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vert="eaVert" wrap="none" lIns="18000" tIns="44450" rIns="18000" bIns="44450" anchor="ctr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buFont typeface="Wingdings" pitchFamily="2" charset="2"/>
              <a:buNone/>
            </a:pPr>
            <a:r>
              <a:rPr kumimoji="1" lang="en-US" altLang="ko-KR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To-Be</a:t>
            </a:r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849313" y="5073650"/>
            <a:ext cx="8532812" cy="1314450"/>
          </a:xfrm>
          <a:prstGeom prst="rect">
            <a:avLst/>
          </a:prstGeom>
          <a:noFill/>
          <a:ln w="12700" algn="ctr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44450" rIns="18000" bIns="4445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992188" y="3778250"/>
            <a:ext cx="2102623" cy="1166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Simple &amp; Spacious </a:t>
            </a:r>
            <a:r>
              <a:rPr kumimoji="1"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화면 구성</a:t>
            </a:r>
            <a:br>
              <a:rPr kumimoji="1"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kumimoji="1"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검색 기능 강조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추천에 의한 상품 </a:t>
            </a:r>
            <a:r>
              <a:rPr kumimoji="1"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Display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고객이 추천에 대한 편집 가능</a:t>
            </a:r>
          </a:p>
          <a:p>
            <a:pPr algn="l">
              <a:buFont typeface="Wingdings" pitchFamily="2" charset="2"/>
              <a:buChar char="§"/>
            </a:pPr>
            <a:endParaRPr kumimoji="1" lang="ko-KR" altLang="en-US" sz="1000" b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charset="0"/>
            </a:endParaRP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고객이력의 로그인 후 추천</a:t>
            </a:r>
            <a:br>
              <a:rPr kumimoji="1"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kumimoji="1" lang="ko-KR" altLang="en-US" sz="1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브라우징</a:t>
            </a:r>
            <a:r>
              <a:rPr kumimoji="1"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 이력 </a:t>
            </a:r>
            <a:r>
              <a:rPr kumimoji="1"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+ </a:t>
            </a:r>
            <a:r>
              <a:rPr kumimoji="1"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쇼핑이력 추천 </a:t>
            </a:r>
          </a:p>
        </p:txBody>
      </p: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992188" y="2459038"/>
            <a:ext cx="1789112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꽉찬 화면 구성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고객의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Context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에 관계 없이 </a:t>
            </a:r>
            <a:b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같은 화면</a:t>
            </a:r>
          </a:p>
          <a:p>
            <a:pPr algn="l">
              <a:buFont typeface="Wingdings" pitchFamily="2" charset="2"/>
              <a:buChar char="§"/>
            </a:pPr>
            <a:endParaRPr kumimoji="1" lang="ko-KR" altLang="en-US" sz="1000" b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로그인 전후 변동 없음</a:t>
            </a: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3236913" y="3778250"/>
            <a:ext cx="1924689" cy="101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카테고리별 차별화 된 구성 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고객의 과거 이력 및 </a:t>
            </a:r>
            <a:r>
              <a:rPr kumimoji="1" lang="en-US" altLang="ko-KR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Click </a:t>
            </a:r>
            <a:br>
              <a:rPr kumimoji="1" lang="en-US" altLang="ko-KR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stream </a:t>
            </a: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분석에 따른 상품 추천 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카테고리 * 메뉴 </a:t>
            </a:r>
            <a:r>
              <a:rPr kumimoji="1" lang="en-US" altLang="ko-KR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Depth </a:t>
            </a: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별 </a:t>
            </a:r>
            <a:b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차별적 메뉴 제공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고객 </a:t>
            </a:r>
            <a:r>
              <a:rPr kumimoji="1" lang="en-US" altLang="ko-KR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KBF</a:t>
            </a:r>
            <a:r>
              <a:rPr kumimoji="1" lang="en-US" altLang="ko-KR" sz="1000" b="0" baseline="30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1)</a:t>
            </a: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에 따른 메뉴 제공</a:t>
            </a: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3236913" y="2459038"/>
            <a:ext cx="1712912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추천 기능 없음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고정메뉴 제공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공급자 중심의 메뉴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Display</a:t>
            </a:r>
            <a:b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매출 순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복잡한 카테고리 구조</a:t>
            </a:r>
            <a:b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상품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Push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나열식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/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중복</a:t>
            </a:r>
          </a:p>
        </p:txBody>
      </p:sp>
      <p:sp>
        <p:nvSpPr>
          <p:cNvPr id="9236" name="Text Box 20"/>
          <p:cNvSpPr txBox="1">
            <a:spLocks noChangeArrowheads="1"/>
          </p:cNvSpPr>
          <p:nvPr/>
        </p:nvSpPr>
        <p:spPr bwMode="auto">
          <a:xfrm>
            <a:off x="3236913" y="5181600"/>
            <a:ext cx="17018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카테고리 별 맞춤형구성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고객이 인식된 </a:t>
            </a:r>
            <a:r>
              <a:rPr kumimoji="1" lang="en-US" altLang="ko-KR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Contents 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고객의 과거 이력 및 </a:t>
            </a:r>
            <a:r>
              <a:rPr kumimoji="1" lang="en-US" altLang="ko-KR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Click </a:t>
            </a:r>
            <a:br>
              <a:rPr kumimoji="1" lang="en-US" altLang="ko-KR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stream </a:t>
            </a:r>
            <a:r>
              <a:rPr kumimoji="1" lang="ko-KR" altLang="en-US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분석에 따른 상품 </a:t>
            </a:r>
            <a:br>
              <a:rPr kumimoji="1" lang="ko-KR" altLang="en-US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추천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</a:t>
            </a:r>
            <a:r>
              <a:rPr kumimoji="1" lang="en-US" altLang="ko-KR" sz="1000" b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+Peer </a:t>
            </a:r>
            <a:r>
              <a:rPr kumimoji="1" lang="ko-KR" altLang="en-US" sz="1000" b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그룹 상품 추천</a:t>
            </a:r>
          </a:p>
          <a:p>
            <a:pPr algn="l"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KBF </a:t>
            </a:r>
            <a:r>
              <a:rPr kumimoji="1" lang="ko-KR" altLang="en-US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에 따른 메뉴 제공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개인화된 메뉴제공</a:t>
            </a:r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5216525" y="3778250"/>
            <a:ext cx="1870187" cy="101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고객 </a:t>
            </a:r>
            <a:r>
              <a:rPr kumimoji="1" lang="en-US" altLang="ko-KR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KBF</a:t>
            </a:r>
            <a:r>
              <a:rPr kumimoji="1" lang="en-US" altLang="ko-KR" sz="1000" b="0" baseline="30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1)</a:t>
            </a: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에 따른 검색 조건</a:t>
            </a:r>
            <a:b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제공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직관적 메뉴 구성으로 손쉬운 </a:t>
            </a:r>
            <a:b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상품검색</a:t>
            </a:r>
            <a:r>
              <a:rPr kumimoji="1" lang="en-US" altLang="ko-KR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(or/and)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편리한 고객 리뷰 공유 </a:t>
            </a:r>
          </a:p>
          <a:p>
            <a:pPr algn="l"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Discussion </a:t>
            </a: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가능</a:t>
            </a:r>
          </a:p>
        </p:txBody>
      </p:sp>
      <p:sp>
        <p:nvSpPr>
          <p:cNvPr id="9238" name="Text Box 22"/>
          <p:cNvSpPr txBox="1">
            <a:spLocks noChangeArrowheads="1"/>
          </p:cNvSpPr>
          <p:nvPr/>
        </p:nvSpPr>
        <p:spPr bwMode="auto">
          <a:xfrm>
            <a:off x="5216525" y="2459038"/>
            <a:ext cx="167957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일반적 상품 분류 외의 </a:t>
            </a:r>
            <a:b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검색 기능 없음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카테고리내 검색 기능 없음</a:t>
            </a:r>
          </a:p>
          <a:p>
            <a:pPr algn="l"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Free typing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방식의 검색</a:t>
            </a:r>
          </a:p>
          <a:p>
            <a:pPr algn="l">
              <a:buFont typeface="Wingdings" pitchFamily="2" charset="2"/>
              <a:buChar char="§"/>
            </a:pPr>
            <a:endParaRPr kumimoji="1" lang="ko-KR" altLang="en-US" sz="1000" b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상품 카테고리에 상관없이</a:t>
            </a:r>
            <a:b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동일한 단품 구성</a:t>
            </a:r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5216525" y="5181600"/>
            <a:ext cx="1717902" cy="1166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en-US" altLang="ko-KR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KBF </a:t>
            </a:r>
            <a:r>
              <a:rPr kumimoji="1" lang="ko-KR" altLang="en-US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에 따른 검색조건 제공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직관적 메뉴 구성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 dirty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리뷰 공유 및 </a:t>
            </a:r>
            <a:r>
              <a:rPr kumimoji="1" lang="en-US" altLang="ko-KR" sz="1000" b="0" dirty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S</a:t>
            </a:r>
            <a:r>
              <a:rPr kumimoji="1" lang="ko-KR" altLang="en-US" sz="1000" b="0" dirty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연계 </a:t>
            </a:r>
            <a:br>
              <a:rPr kumimoji="1" lang="ko-KR" altLang="en-US" sz="1000" b="0" dirty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 dirty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기능 강화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 dirty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관련상품의 </a:t>
            </a:r>
            <a:r>
              <a:rPr kumimoji="1" lang="en-US" altLang="ko-KR" sz="1000" b="0" dirty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Peer Group </a:t>
            </a:r>
            <a:br>
              <a:rPr kumimoji="1" lang="en-US" altLang="ko-KR" sz="1000" b="0" dirty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 dirty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구매 후기 강화</a:t>
            </a:r>
          </a:p>
          <a:p>
            <a:pPr algn="l">
              <a:buFont typeface="Wingdings" pitchFamily="2" charset="2"/>
              <a:buNone/>
            </a:pPr>
            <a:endParaRPr kumimoji="1" lang="en-US" altLang="ko-KR" sz="1000" b="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7329488" y="3778250"/>
            <a:ext cx="2081783" cy="101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회원가입에 필요한 정보만 노출로</a:t>
            </a:r>
            <a:b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상대적으로 간소한 느낌</a:t>
            </a:r>
          </a:p>
          <a:p>
            <a:pPr algn="l">
              <a:buFont typeface="Wingdings" pitchFamily="2" charset="2"/>
              <a:buChar char="§"/>
            </a:pPr>
            <a:endParaRPr kumimoji="1" lang="ko-KR" altLang="en-US" sz="1000" b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charset="0"/>
            </a:endParaRPr>
          </a:p>
          <a:p>
            <a:pPr algn="l"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1-click </a:t>
            </a: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결제 가능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주문전 </a:t>
            </a:r>
            <a:r>
              <a:rPr kumimoji="1" lang="en-US" altLang="ko-KR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New /Used </a:t>
            </a: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각각에 대한 </a:t>
            </a:r>
            <a:b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재고확인 가능</a:t>
            </a:r>
          </a:p>
        </p:txBody>
      </p:sp>
      <p:sp>
        <p:nvSpPr>
          <p:cNvPr id="9241" name="Text Box 25"/>
          <p:cNvSpPr txBox="1">
            <a:spLocks noChangeArrowheads="1"/>
          </p:cNvSpPr>
          <p:nvPr/>
        </p:nvSpPr>
        <p:spPr bwMode="auto">
          <a:xfrm>
            <a:off x="7329488" y="2459038"/>
            <a:ext cx="203835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회원 가입시 관련없는 정보 </a:t>
            </a:r>
            <a:b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노출로 집중도 저하</a:t>
            </a:r>
          </a:p>
          <a:p>
            <a:pPr algn="l"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3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단계의 회원 가입절차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간편 결제 기능 없음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모든 쿠폰에 대한 동시 확인 불가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‘주문하기’ 실행전 재고 확인 불가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정보 관리의 마이페이지</a:t>
            </a:r>
          </a:p>
        </p:txBody>
      </p:sp>
      <p:sp>
        <p:nvSpPr>
          <p:cNvPr id="9242" name="Text Box 26"/>
          <p:cNvSpPr txBox="1">
            <a:spLocks noChangeArrowheads="1"/>
          </p:cNvSpPr>
          <p:nvPr/>
        </p:nvSpPr>
        <p:spPr bwMode="auto">
          <a:xfrm>
            <a:off x="7315200" y="5181600"/>
            <a:ext cx="1870187" cy="85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회원 가입시 최소의 정보 수집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거래 단계별 필요정보 획득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결제 간소화 기능 </a:t>
            </a:r>
          </a:p>
          <a:p>
            <a:pPr algn="l">
              <a:buFont typeface="Wingdings" pitchFamily="2" charset="2"/>
              <a:buChar char="§"/>
            </a:pPr>
            <a:endParaRPr kumimoji="1" lang="ko-KR" altLang="en-US" sz="1000" b="0">
              <a:solidFill>
                <a:srgbClr val="0000FF"/>
              </a:solidFill>
              <a:latin typeface="+mj-ea"/>
              <a:ea typeface="+mj-ea"/>
              <a:cs typeface="Arial" charset="0"/>
            </a:endParaRP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주문 </a:t>
            </a:r>
            <a:r>
              <a:rPr kumimoji="1" lang="en-US" altLang="ko-KR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Button</a:t>
            </a:r>
            <a:r>
              <a:rPr kumimoji="1" lang="ko-KR" altLang="en-US" sz="1000" b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전 재고확인</a:t>
            </a:r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992188" y="5181600"/>
            <a:ext cx="1884362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buFont typeface="Wingdings" pitchFamily="2" charset="2"/>
              <a:buChar char="§"/>
            </a:pPr>
            <a:r>
              <a:rPr kumimoji="1" lang="en-US" altLang="ko-KR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Simple &amp; Spacious </a:t>
            </a:r>
            <a:r>
              <a:rPr kumimoji="1" lang="ko-KR" altLang="en-US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화면 구성</a:t>
            </a:r>
          </a:p>
          <a:p>
            <a:pPr algn="l">
              <a:buFont typeface="Wingdings" pitchFamily="2" charset="2"/>
              <a:buNone/>
            </a:pPr>
            <a:r>
              <a:rPr kumimoji="1" lang="ko-KR" altLang="en-US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   </a:t>
            </a:r>
            <a:r>
              <a:rPr kumimoji="1" lang="en-US" altLang="ko-KR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kumimoji="1" lang="ko-KR" altLang="en-US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검색 기능 강조 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추천에 의한 상품 </a:t>
            </a:r>
            <a:r>
              <a:rPr kumimoji="1" lang="en-US" altLang="ko-KR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Display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고객이 추천에 대한 편집 가능</a:t>
            </a: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이력 정보 분석의 개인화 메인</a:t>
            </a:r>
            <a:br>
              <a:rPr kumimoji="1" lang="ko-KR" altLang="en-US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페이지 </a:t>
            </a:r>
            <a:r>
              <a:rPr kumimoji="1" lang="en-US" altLang="ko-KR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(</a:t>
            </a:r>
            <a:r>
              <a:rPr kumimoji="1" lang="ko-KR" altLang="en-US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개인화 기획전 등</a:t>
            </a:r>
            <a:r>
              <a:rPr kumimoji="1" lang="en-US" altLang="ko-KR" sz="1000" b="0" dirty="0">
                <a:solidFill>
                  <a:srgbClr val="0000FF"/>
                </a:solidFill>
                <a:latin typeface="+mj-ea"/>
                <a:ea typeface="+mj-ea"/>
                <a:cs typeface="Arial" charset="0"/>
              </a:rPr>
              <a:t>)</a:t>
            </a:r>
            <a:endParaRPr kumimoji="1" lang="en-US" altLang="ko-KR" sz="1000" b="0" dirty="0">
              <a:solidFill>
                <a:srgbClr val="FF0000"/>
              </a:solidFill>
              <a:latin typeface="+mj-ea"/>
              <a:ea typeface="+mj-ea"/>
              <a:cs typeface="Arial" charset="0"/>
            </a:endParaRPr>
          </a:p>
          <a:p>
            <a:pPr algn="l">
              <a:buFont typeface="Wingdings" pitchFamily="2" charset="2"/>
              <a:buChar char="§"/>
            </a:pPr>
            <a:r>
              <a:rPr kumimoji="1" lang="ko-KR" altLang="en-US" sz="1000" b="0" dirty="0">
                <a:solidFill>
                  <a:srgbClr val="FF0000"/>
                </a:solidFill>
                <a:latin typeface="+mj-ea"/>
                <a:ea typeface="+mj-ea"/>
                <a:cs typeface="Arial" charset="0"/>
              </a:rPr>
              <a:t>유입경로에 따른 차별화</a:t>
            </a:r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812800" y="6416675"/>
            <a:ext cx="1444625" cy="225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18000" tIns="44450" rIns="18000" bIns="44450">
            <a:noAutofit/>
          </a:bodyPr>
          <a:lstStyle>
            <a:lvl1pPr marL="114300" indent="-1143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buFont typeface="Wingdings" pitchFamily="2" charset="2"/>
              <a:buNone/>
            </a:pPr>
            <a:r>
              <a:rPr kumimoji="1" lang="en-US" altLang="ko-KR" sz="9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1) KBF : Key Buying Factor </a:t>
            </a:r>
          </a:p>
        </p:txBody>
      </p:sp>
      <p:sp>
        <p:nvSpPr>
          <p:cNvPr id="9245" name="Oval 29"/>
          <p:cNvSpPr>
            <a:spLocks noChangeArrowheads="1"/>
          </p:cNvSpPr>
          <p:nvPr/>
        </p:nvSpPr>
        <p:spPr bwMode="auto">
          <a:xfrm>
            <a:off x="1028700" y="1449388"/>
            <a:ext cx="234950" cy="23495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1</a:t>
            </a:r>
          </a:p>
        </p:txBody>
      </p:sp>
      <p:sp>
        <p:nvSpPr>
          <p:cNvPr id="9246" name="Oval 30"/>
          <p:cNvSpPr>
            <a:spLocks noChangeArrowheads="1"/>
          </p:cNvSpPr>
          <p:nvPr/>
        </p:nvSpPr>
        <p:spPr bwMode="auto">
          <a:xfrm>
            <a:off x="5024438" y="1844675"/>
            <a:ext cx="234950" cy="23495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3</a:t>
            </a:r>
          </a:p>
        </p:txBody>
      </p:sp>
      <p:sp>
        <p:nvSpPr>
          <p:cNvPr id="9247" name="Oval 31"/>
          <p:cNvSpPr>
            <a:spLocks noChangeArrowheads="1"/>
          </p:cNvSpPr>
          <p:nvPr/>
        </p:nvSpPr>
        <p:spPr bwMode="auto">
          <a:xfrm>
            <a:off x="3260725" y="1844675"/>
            <a:ext cx="234950" cy="23495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9248" name="Oval 32"/>
          <p:cNvSpPr>
            <a:spLocks noChangeArrowheads="1"/>
          </p:cNvSpPr>
          <p:nvPr/>
        </p:nvSpPr>
        <p:spPr bwMode="auto">
          <a:xfrm>
            <a:off x="3260725" y="1449388"/>
            <a:ext cx="234950" cy="23495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4</a:t>
            </a:r>
          </a:p>
        </p:txBody>
      </p:sp>
      <p:sp>
        <p:nvSpPr>
          <p:cNvPr id="9249" name="Oval 33"/>
          <p:cNvSpPr>
            <a:spLocks noChangeArrowheads="1"/>
          </p:cNvSpPr>
          <p:nvPr/>
        </p:nvSpPr>
        <p:spPr bwMode="auto">
          <a:xfrm>
            <a:off x="7435850" y="1449388"/>
            <a:ext cx="234950" cy="23495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5</a:t>
            </a:r>
          </a:p>
        </p:txBody>
      </p:sp>
      <p:sp>
        <p:nvSpPr>
          <p:cNvPr id="9250" name="Oval 34"/>
          <p:cNvSpPr>
            <a:spLocks noChangeArrowheads="1"/>
          </p:cNvSpPr>
          <p:nvPr/>
        </p:nvSpPr>
        <p:spPr bwMode="auto">
          <a:xfrm>
            <a:off x="8553450" y="1449388"/>
            <a:ext cx="234950" cy="23495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6</a:t>
            </a:r>
          </a:p>
        </p:txBody>
      </p:sp>
      <p:sp>
        <p:nvSpPr>
          <p:cNvPr id="9252" name="AutoShape 36"/>
          <p:cNvSpPr>
            <a:spLocks noChangeArrowheads="1"/>
          </p:cNvSpPr>
          <p:nvPr/>
        </p:nvSpPr>
        <p:spPr bwMode="auto">
          <a:xfrm>
            <a:off x="7545388" y="1908175"/>
            <a:ext cx="974725" cy="323850"/>
          </a:xfrm>
          <a:prstGeom prst="roundRect">
            <a:avLst>
              <a:gd name="adj" fmla="val 10778"/>
            </a:avLst>
          </a:prstGeom>
          <a:solidFill>
            <a:srgbClr val="EAEAEA">
              <a:alpha val="50195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108000" rIns="0" bIns="720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마이페이지</a:t>
            </a:r>
          </a:p>
        </p:txBody>
      </p:sp>
      <p:sp>
        <p:nvSpPr>
          <p:cNvPr id="9253" name="Oval 37"/>
          <p:cNvSpPr>
            <a:spLocks noChangeArrowheads="1"/>
          </p:cNvSpPr>
          <p:nvPr/>
        </p:nvSpPr>
        <p:spPr bwMode="auto">
          <a:xfrm>
            <a:off x="7435850" y="1844675"/>
            <a:ext cx="234950" cy="23495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7</a:t>
            </a:r>
          </a:p>
        </p:txBody>
      </p:sp>
      <p:sp>
        <p:nvSpPr>
          <p:cNvPr id="9254" name="AutoShape 38"/>
          <p:cNvSpPr>
            <a:spLocks noChangeArrowheads="1"/>
          </p:cNvSpPr>
          <p:nvPr/>
        </p:nvSpPr>
        <p:spPr bwMode="auto">
          <a:xfrm>
            <a:off x="1136650" y="1908175"/>
            <a:ext cx="1692275" cy="323850"/>
          </a:xfrm>
          <a:prstGeom prst="roundRect">
            <a:avLst>
              <a:gd name="adj" fmla="val 10778"/>
            </a:avLst>
          </a:prstGeom>
          <a:solidFill>
            <a:srgbClr val="EAEAEA">
              <a:alpha val="50195"/>
            </a:srgbClr>
          </a:solidFill>
          <a:ln w="6350" algn="ctr">
            <a:solidFill>
              <a:srgbClr val="777777"/>
            </a:solidFill>
            <a:round/>
            <a:headEnd/>
            <a:tailEnd/>
          </a:ln>
        </p:spPr>
        <p:txBody>
          <a:bodyPr wrap="none" lIns="0" tIns="108000" rIns="0" bIns="720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charset="0"/>
              </a:rPr>
              <a:t>로그인 후 메인 페이지</a:t>
            </a:r>
          </a:p>
        </p:txBody>
      </p:sp>
      <p:sp>
        <p:nvSpPr>
          <p:cNvPr id="9255" name="Oval 39"/>
          <p:cNvSpPr>
            <a:spLocks noChangeArrowheads="1"/>
          </p:cNvSpPr>
          <p:nvPr/>
        </p:nvSpPr>
        <p:spPr bwMode="auto">
          <a:xfrm>
            <a:off x="1028700" y="1844675"/>
            <a:ext cx="234950" cy="23495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bg2"/>
            </a:solidFill>
            <a:round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4294967295"/>
          </p:nvPr>
        </p:nvSpPr>
        <p:spPr bwMode="gray">
          <a:xfrm>
            <a:off x="198438" y="868363"/>
            <a:ext cx="9459912" cy="603250"/>
          </a:xfrm>
          <a:noFill/>
        </p:spPr>
        <p:txBody>
          <a:bodyPr lIns="90000" tIns="46800" rIns="90000" bIns="46800">
            <a:noAutofit/>
          </a:bodyPr>
          <a:lstStyle/>
          <a:p>
            <a:r>
              <a:rPr lang="ko-KR" altLang="en-US" dirty="0"/>
              <a:t>메인 페이지의 개선 영역은 상단 고정 </a:t>
            </a:r>
            <a:r>
              <a:rPr lang="ko-KR" altLang="en-US" dirty="0" err="1"/>
              <a:t>메뉴바</a:t>
            </a:r>
            <a:r>
              <a:rPr lang="en-US" altLang="ko-KR" dirty="0"/>
              <a:t>, </a:t>
            </a:r>
            <a:r>
              <a:rPr lang="ko-KR" altLang="en-US" dirty="0" err="1"/>
              <a:t>메뉴바</a:t>
            </a:r>
            <a:r>
              <a:rPr lang="en-US" altLang="ko-KR" dirty="0"/>
              <a:t>, </a:t>
            </a:r>
            <a:r>
              <a:rPr lang="ko-KR" altLang="en-US" dirty="0"/>
              <a:t>메인 행사 및 메인 상품으로 기존 </a:t>
            </a:r>
            <a:r>
              <a:rPr lang="en-US" altLang="ko-KR" dirty="0"/>
              <a:t>eMall</a:t>
            </a:r>
            <a:r>
              <a:rPr lang="ko-KR" altLang="en-US" dirty="0"/>
              <a:t>의 개선점과 아마존의 장점을 살려 </a:t>
            </a:r>
            <a:r>
              <a:rPr lang="en-US" altLang="ko-KR" dirty="0"/>
              <a:t>eMall</a:t>
            </a:r>
            <a:r>
              <a:rPr lang="ko-KR" altLang="en-US" dirty="0"/>
              <a:t>만의 새로운 메인 페이지를 디자인함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1524000" cy="247650"/>
          </a:xfrm>
          <a:noFill/>
        </p:spPr>
        <p:txBody>
          <a:bodyPr anchor="b">
            <a:no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메인 페이지</a:t>
            </a:r>
          </a:p>
        </p:txBody>
      </p:sp>
      <p:sp>
        <p:nvSpPr>
          <p:cNvPr id="10244" name="타원 30"/>
          <p:cNvSpPr>
            <a:spLocks noChangeAspect="1"/>
          </p:cNvSpPr>
          <p:nvPr/>
        </p:nvSpPr>
        <p:spPr bwMode="auto">
          <a:xfrm>
            <a:off x="582613" y="3135313"/>
            <a:ext cx="971550" cy="93027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46800" rIns="54000" bIns="46800" anchor="ctr">
            <a:noAutofit/>
          </a:bodyPr>
          <a:lstStyle>
            <a:lvl1pPr marL="85725" indent="-8572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ko-KR" altLang="en-US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메뉴바</a:t>
            </a:r>
          </a:p>
        </p:txBody>
      </p:sp>
      <p:sp>
        <p:nvSpPr>
          <p:cNvPr id="10245" name="타원 30"/>
          <p:cNvSpPr>
            <a:spLocks noChangeAspect="1"/>
          </p:cNvSpPr>
          <p:nvPr/>
        </p:nvSpPr>
        <p:spPr bwMode="auto">
          <a:xfrm>
            <a:off x="582613" y="2125663"/>
            <a:ext cx="971550" cy="93027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46800" rIns="54000" bIns="46800" anchor="ctr">
            <a:noAutofit/>
          </a:bodyPr>
          <a:lstStyle>
            <a:lvl1pPr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ko-KR" altLang="en-US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상단 고정</a:t>
            </a:r>
            <a:br>
              <a:rPr lang="ko-KR" altLang="en-US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메뉴바</a:t>
            </a:r>
          </a:p>
        </p:txBody>
      </p:sp>
      <p:sp>
        <p:nvSpPr>
          <p:cNvPr id="10246" name="타원 30"/>
          <p:cNvSpPr>
            <a:spLocks noChangeAspect="1"/>
          </p:cNvSpPr>
          <p:nvPr/>
        </p:nvSpPr>
        <p:spPr bwMode="auto">
          <a:xfrm>
            <a:off x="582613" y="4148138"/>
            <a:ext cx="971550" cy="93027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46800" rIns="54000" bIns="46800" anchor="ctr">
            <a:noAutofit/>
          </a:bodyPr>
          <a:lstStyle>
            <a:lvl1pPr marL="85725" indent="-8572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ko-KR" altLang="en-US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메인 행사</a:t>
            </a:r>
            <a:br>
              <a:rPr lang="ko-KR" altLang="en-US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(</a:t>
            </a:r>
            <a:r>
              <a:rPr lang="ko-KR" altLang="en-US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기획전</a:t>
            </a:r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)</a:t>
            </a:r>
          </a:p>
        </p:txBody>
      </p:sp>
      <p:sp>
        <p:nvSpPr>
          <p:cNvPr id="10247" name="타원 30"/>
          <p:cNvSpPr>
            <a:spLocks noChangeAspect="1"/>
          </p:cNvSpPr>
          <p:nvPr/>
        </p:nvSpPr>
        <p:spPr bwMode="auto">
          <a:xfrm>
            <a:off x="582613" y="5160963"/>
            <a:ext cx="971550" cy="93027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46800" rIns="54000" bIns="46800" anchor="ctr">
            <a:noAutofit/>
          </a:bodyPr>
          <a:lstStyle>
            <a:lvl1pPr marL="85725" indent="-8572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ko-KR" altLang="en-US" sz="13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메인 상품</a:t>
            </a:r>
          </a:p>
        </p:txBody>
      </p:sp>
      <p:sp>
        <p:nvSpPr>
          <p:cNvPr id="10248" name="직사각형 23"/>
          <p:cNvSpPr>
            <a:spLocks noChangeArrowheads="1"/>
          </p:cNvSpPr>
          <p:nvPr/>
        </p:nvSpPr>
        <p:spPr bwMode="auto">
          <a:xfrm>
            <a:off x="3840163" y="1693863"/>
            <a:ext cx="2116137" cy="358775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marL="85725" indent="-857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Amazon</a:t>
            </a:r>
          </a:p>
        </p:txBody>
      </p:sp>
      <p:sp>
        <p:nvSpPr>
          <p:cNvPr id="10249" name="직사각형 29"/>
          <p:cNvSpPr>
            <a:spLocks noChangeArrowheads="1"/>
          </p:cNvSpPr>
          <p:nvPr/>
        </p:nvSpPr>
        <p:spPr bwMode="auto">
          <a:xfrm>
            <a:off x="1643063" y="1693863"/>
            <a:ext cx="2116137" cy="358775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marL="85725" indent="-857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eMall As-Is</a:t>
            </a:r>
          </a:p>
        </p:txBody>
      </p:sp>
      <p:sp>
        <p:nvSpPr>
          <p:cNvPr id="29" name="직사각형 28"/>
          <p:cNvSpPr>
            <a:spLocks noChangeArrowheads="1"/>
          </p:cNvSpPr>
          <p:nvPr/>
        </p:nvSpPr>
        <p:spPr bwMode="auto">
          <a:xfrm>
            <a:off x="1643063" y="2125663"/>
            <a:ext cx="2114550" cy="931862"/>
          </a:xfrm>
          <a:prstGeom prst="rect">
            <a:avLst/>
          </a:prstGeom>
          <a:solidFill>
            <a:srgbClr val="F2F2F2"/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 dirty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너무 많은 전문관</a:t>
            </a:r>
          </a:p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altLang="ko-KR" b="0" dirty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S</a:t>
            </a:r>
            <a:r>
              <a:rPr lang="ko-KR" altLang="en-US" b="0" dirty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아이콘 등 복잡한 </a:t>
            </a:r>
            <a:r>
              <a:rPr lang="en-US" altLang="ko-KR" b="0" dirty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UI </a:t>
            </a:r>
          </a:p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 dirty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복잡한 고객관련영역 메뉴  </a:t>
            </a:r>
          </a:p>
        </p:txBody>
      </p:sp>
      <p:sp>
        <p:nvSpPr>
          <p:cNvPr id="5" name="직사각형 28"/>
          <p:cNvSpPr>
            <a:spLocks noChangeArrowheads="1"/>
          </p:cNvSpPr>
          <p:nvPr/>
        </p:nvSpPr>
        <p:spPr bwMode="auto">
          <a:xfrm>
            <a:off x="1643063" y="3135313"/>
            <a:ext cx="2114550" cy="931862"/>
          </a:xfrm>
          <a:prstGeom prst="rect">
            <a:avLst/>
          </a:prstGeom>
          <a:solidFill>
            <a:srgbClr val="F2F2F2"/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가로 형태 메뉴바</a:t>
            </a:r>
          </a:p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고객이 선택 가능한 두 개 이상의 하위 메뉴 </a:t>
            </a:r>
          </a:p>
        </p:txBody>
      </p:sp>
      <p:sp>
        <p:nvSpPr>
          <p:cNvPr id="6" name="직사각형 28"/>
          <p:cNvSpPr>
            <a:spLocks noChangeArrowheads="1"/>
          </p:cNvSpPr>
          <p:nvPr/>
        </p:nvSpPr>
        <p:spPr bwMode="auto">
          <a:xfrm>
            <a:off x="1643063" y="4148138"/>
            <a:ext cx="2114550" cy="931862"/>
          </a:xfrm>
          <a:prstGeom prst="rect">
            <a:avLst/>
          </a:prstGeom>
          <a:solidFill>
            <a:srgbClr val="F2F2F2"/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메뉴 영역이 메인행사를 가림</a:t>
            </a:r>
            <a:endParaRPr lang="ko-KR" altLang="ko-KR" b="0">
              <a:solidFill>
                <a:srgbClr val="000000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7" name="직사각형 28"/>
          <p:cNvSpPr>
            <a:spLocks noChangeArrowheads="1"/>
          </p:cNvSpPr>
          <p:nvPr/>
        </p:nvSpPr>
        <p:spPr bwMode="auto">
          <a:xfrm>
            <a:off x="1643063" y="5160963"/>
            <a:ext cx="2114550" cy="931862"/>
          </a:xfrm>
          <a:prstGeom prst="rect">
            <a:avLst/>
          </a:prstGeom>
          <a:solidFill>
            <a:srgbClr val="F2F2F2"/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유입 경로나 구매 이력에 따른 개인화된</a:t>
            </a:r>
            <a:r>
              <a:rPr lang="ko-KR" altLang="ko-KR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 상품 추천 기능 </a:t>
            </a: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미흡</a:t>
            </a:r>
          </a:p>
        </p:txBody>
      </p:sp>
      <p:sp>
        <p:nvSpPr>
          <p:cNvPr id="14" name="직사각형 13"/>
          <p:cNvSpPr>
            <a:spLocks noChangeArrowheads="1"/>
          </p:cNvSpPr>
          <p:nvPr/>
        </p:nvSpPr>
        <p:spPr bwMode="auto">
          <a:xfrm>
            <a:off x="3840163" y="2128838"/>
            <a:ext cx="2114550" cy="931862"/>
          </a:xfrm>
          <a:prstGeom prst="rect">
            <a:avLst/>
          </a:prstGeom>
          <a:solidFill>
            <a:srgbClr val="F2F2F2"/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전사 행사 </a:t>
            </a:r>
            <a:r>
              <a:rPr lang="en-US" altLang="ko-KR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1~2</a:t>
            </a: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개만 노출</a:t>
            </a:r>
          </a:p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가장 필요한 고객관련영역 메뉴만 노출 </a:t>
            </a:r>
          </a:p>
        </p:txBody>
      </p:sp>
      <p:sp>
        <p:nvSpPr>
          <p:cNvPr id="8" name="직사각형 13"/>
          <p:cNvSpPr>
            <a:spLocks noChangeArrowheads="1"/>
          </p:cNvSpPr>
          <p:nvPr/>
        </p:nvSpPr>
        <p:spPr bwMode="auto">
          <a:xfrm>
            <a:off x="3840163" y="3133725"/>
            <a:ext cx="2114550" cy="931863"/>
          </a:xfrm>
          <a:prstGeom prst="rect">
            <a:avLst/>
          </a:prstGeom>
          <a:solidFill>
            <a:srgbClr val="F2F2F2"/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세로 형태 메뉴바</a:t>
            </a:r>
          </a:p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직관적 하위 메뉴</a:t>
            </a:r>
          </a:p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메뉴별 메인 행사 존재</a:t>
            </a:r>
          </a:p>
        </p:txBody>
      </p:sp>
      <p:sp>
        <p:nvSpPr>
          <p:cNvPr id="9" name="직사각형 13"/>
          <p:cNvSpPr>
            <a:spLocks noChangeArrowheads="1"/>
          </p:cNvSpPr>
          <p:nvPr/>
        </p:nvSpPr>
        <p:spPr bwMode="auto">
          <a:xfrm>
            <a:off x="3840163" y="4141788"/>
            <a:ext cx="2114550" cy="931862"/>
          </a:xfrm>
          <a:prstGeom prst="rect">
            <a:avLst/>
          </a:prstGeom>
          <a:solidFill>
            <a:srgbClr val="F2F2F2"/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킨들 상품이 메인 행사</a:t>
            </a:r>
          </a:p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다른 메인 행사 사전 </a:t>
            </a:r>
            <a:r>
              <a:rPr lang="en-US" altLang="ko-KR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Inform</a:t>
            </a:r>
          </a:p>
          <a:p>
            <a:pPr marL="85725" indent="-85725" algn="l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메뉴 영역이 메인행사를 가림 </a:t>
            </a:r>
          </a:p>
        </p:txBody>
      </p:sp>
      <p:sp>
        <p:nvSpPr>
          <p:cNvPr id="10" name="직사각형 13"/>
          <p:cNvSpPr>
            <a:spLocks noChangeArrowheads="1"/>
          </p:cNvSpPr>
          <p:nvPr/>
        </p:nvSpPr>
        <p:spPr bwMode="auto">
          <a:xfrm>
            <a:off x="3840163" y="5149850"/>
            <a:ext cx="2114550" cy="931863"/>
          </a:xfrm>
          <a:prstGeom prst="rect">
            <a:avLst/>
          </a:prstGeom>
          <a:solidFill>
            <a:srgbClr val="F2F2F2"/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buFont typeface="Wingdings" pitchFamily="2" charset="2"/>
              <a:buChar char="§"/>
              <a:defRPr/>
            </a:pP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구매 이력</a:t>
            </a:r>
            <a:r>
              <a:rPr lang="en-US" altLang="ko-KR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/</a:t>
            </a: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관심 상품에 따른 개인화된</a:t>
            </a:r>
            <a:r>
              <a:rPr lang="ko-KR" altLang="ko-KR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 상품 추천 기능 </a:t>
            </a:r>
            <a:r>
              <a:rPr lang="ko-KR" altLang="en-US" b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존재</a:t>
            </a:r>
          </a:p>
        </p:txBody>
      </p:sp>
      <p:sp>
        <p:nvSpPr>
          <p:cNvPr id="10258" name="AutoShape 18"/>
          <p:cNvSpPr>
            <a:spLocks noChangeArrowheads="1"/>
          </p:cNvSpPr>
          <p:nvPr/>
        </p:nvSpPr>
        <p:spPr bwMode="gray">
          <a:xfrm>
            <a:off x="6162675" y="2457450"/>
            <a:ext cx="252413" cy="32385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10259" name="AutoShape 19"/>
          <p:cNvSpPr>
            <a:spLocks noChangeArrowheads="1"/>
          </p:cNvSpPr>
          <p:nvPr/>
        </p:nvSpPr>
        <p:spPr bwMode="gray">
          <a:xfrm>
            <a:off x="6162675" y="3429000"/>
            <a:ext cx="252413" cy="32385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10260" name="AutoShape 20"/>
          <p:cNvSpPr>
            <a:spLocks noChangeArrowheads="1"/>
          </p:cNvSpPr>
          <p:nvPr/>
        </p:nvSpPr>
        <p:spPr bwMode="gray">
          <a:xfrm>
            <a:off x="6162675" y="4473575"/>
            <a:ext cx="252413" cy="32385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10261" name="AutoShape 21"/>
          <p:cNvSpPr>
            <a:spLocks noChangeArrowheads="1"/>
          </p:cNvSpPr>
          <p:nvPr/>
        </p:nvSpPr>
        <p:spPr bwMode="gray">
          <a:xfrm>
            <a:off x="6162675" y="5481638"/>
            <a:ext cx="252413" cy="32385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직사각형 13"/>
          <p:cNvSpPr>
            <a:spLocks noChangeArrowheads="1"/>
          </p:cNvSpPr>
          <p:nvPr/>
        </p:nvSpPr>
        <p:spPr bwMode="auto">
          <a:xfrm>
            <a:off x="6486525" y="2128838"/>
            <a:ext cx="3014663" cy="93186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lnSpc>
                <a:spcPct val="120000"/>
              </a:lnSpc>
              <a:buClr>
                <a:schemeClr val="tx1"/>
              </a:buClr>
              <a:buFontTx/>
              <a:buChar char="•"/>
              <a:defRPr/>
            </a:pP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상단 고정 메뉴바의</a:t>
            </a:r>
            <a:r>
              <a:rPr lang="ko-KR" altLang="ko-KR" dirty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간결화로</a:t>
            </a:r>
            <a:r>
              <a:rPr lang="ko-KR" altLang="ko-KR" dirty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 메인 페이지에 집중</a:t>
            </a:r>
            <a:endParaRPr lang="ko-KR" altLang="en-US" dirty="0">
              <a:solidFill>
                <a:srgbClr val="000000"/>
              </a:solidFill>
              <a:latin typeface="+mj-ea"/>
              <a:ea typeface="+mj-ea"/>
              <a:cs typeface="Arial" pitchFamily="34" charset="0"/>
            </a:endParaRPr>
          </a:p>
          <a:p>
            <a:pPr marL="85725" indent="-85725" algn="l">
              <a:lnSpc>
                <a:spcPct val="120000"/>
              </a:lnSpc>
              <a:buClr>
                <a:schemeClr val="tx1"/>
              </a:buClr>
              <a:buFontTx/>
              <a:buChar char="•"/>
              <a:defRPr/>
            </a:pP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필요한 고객 관련 및 전문관 메뉴만 노출</a:t>
            </a:r>
          </a:p>
        </p:txBody>
      </p:sp>
      <p:sp>
        <p:nvSpPr>
          <p:cNvPr id="12" name="직사각형 13"/>
          <p:cNvSpPr>
            <a:spLocks noChangeArrowheads="1"/>
          </p:cNvSpPr>
          <p:nvPr/>
        </p:nvSpPr>
        <p:spPr bwMode="auto">
          <a:xfrm>
            <a:off x="6486525" y="3133725"/>
            <a:ext cx="3014663" cy="93186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lnSpc>
                <a:spcPct val="120000"/>
              </a:lnSpc>
              <a:buClr>
                <a:schemeClr val="tx1"/>
              </a:buClr>
              <a:buFontTx/>
              <a:buChar char="•"/>
              <a:defRPr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세로 형태의 메뉴바 영역 구축</a:t>
            </a:r>
          </a:p>
          <a:p>
            <a:pPr marL="85725" indent="-85725" algn="l">
              <a:lnSpc>
                <a:spcPct val="120000"/>
              </a:lnSpc>
              <a:buClr>
                <a:schemeClr val="tx1"/>
              </a:buClr>
              <a:buFontTx/>
              <a:buChar char="•"/>
              <a:defRPr/>
            </a:pPr>
            <a: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1depth, 1way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의 간결한 하위메뉴</a:t>
            </a:r>
          </a:p>
        </p:txBody>
      </p:sp>
      <p:sp>
        <p:nvSpPr>
          <p:cNvPr id="13" name="직사각형 13"/>
          <p:cNvSpPr>
            <a:spLocks noChangeArrowheads="1"/>
          </p:cNvSpPr>
          <p:nvPr/>
        </p:nvSpPr>
        <p:spPr bwMode="auto">
          <a:xfrm>
            <a:off x="6486525" y="4141788"/>
            <a:ext cx="3014663" cy="93186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lnSpc>
                <a:spcPct val="120000"/>
              </a:lnSpc>
              <a:buClr>
                <a:schemeClr val="tx1"/>
              </a:buClr>
              <a:buFontTx/>
              <a:buChar char="•"/>
              <a:defRPr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메뉴와 연계된 메인 기획전 구성</a:t>
            </a:r>
          </a:p>
          <a:p>
            <a:pPr marL="85725" indent="-85725" algn="l">
              <a:lnSpc>
                <a:spcPct val="120000"/>
              </a:lnSpc>
              <a:buClr>
                <a:schemeClr val="tx1"/>
              </a:buClr>
              <a:buFontTx/>
              <a:buChar char="•"/>
              <a:defRPr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여러 기기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(e.g. 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스마트폰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패드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, PC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등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)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의  화면 크기 및 해상도를 고려한 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UI 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기법 도입</a:t>
            </a:r>
          </a:p>
        </p:txBody>
      </p:sp>
      <p:sp>
        <p:nvSpPr>
          <p:cNvPr id="15" name="직사각형 13"/>
          <p:cNvSpPr>
            <a:spLocks noChangeArrowheads="1"/>
          </p:cNvSpPr>
          <p:nvPr/>
        </p:nvSpPr>
        <p:spPr bwMode="auto">
          <a:xfrm>
            <a:off x="6486525" y="5149850"/>
            <a:ext cx="3014663" cy="93186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algn="ctr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54000" rIns="54000" anchor="ctr">
            <a:noAutofit/>
          </a:bodyPr>
          <a:lstStyle/>
          <a:p>
            <a:pPr marL="85725" indent="-85725" algn="l">
              <a:lnSpc>
                <a:spcPct val="120000"/>
              </a:lnSpc>
              <a:buClr>
                <a:schemeClr val="tx1"/>
              </a:buClr>
              <a:buFontTx/>
              <a:buChar char="•"/>
              <a:defRPr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유입 경로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/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구매 이력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/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pitchFamily="34" charset="0"/>
              </a:rPr>
              <a:t>관심 상품에 따른 개인화된 추천 상품 전시</a:t>
            </a:r>
          </a:p>
        </p:txBody>
      </p:sp>
      <p:sp>
        <p:nvSpPr>
          <p:cNvPr id="10266" name="Rectangle 136"/>
          <p:cNvSpPr>
            <a:spLocks noChangeArrowheads="1"/>
          </p:cNvSpPr>
          <p:nvPr/>
        </p:nvSpPr>
        <p:spPr bwMode="gray">
          <a:xfrm>
            <a:off x="6500813" y="1693863"/>
            <a:ext cx="2989262" cy="360362"/>
          </a:xfrm>
          <a:prstGeom prst="rect">
            <a:avLst/>
          </a:prstGeom>
          <a:solidFill>
            <a:srgbClr val="000066"/>
          </a:solidFill>
          <a:ln w="12700" algn="ctr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400" i="1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eMall To-Be </a:t>
            </a:r>
            <a:r>
              <a:rPr lang="ko-KR" altLang="en-US" sz="1400" i="1" dirty="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핵심 사항</a:t>
            </a:r>
          </a:p>
        </p:txBody>
      </p:sp>
      <p:sp>
        <p:nvSpPr>
          <p:cNvPr id="10268" name="Rectangle 28"/>
          <p:cNvSpPr>
            <a:spLocks noChangeArrowheads="1"/>
          </p:cNvSpPr>
          <p:nvPr/>
        </p:nvSpPr>
        <p:spPr bwMode="auto">
          <a:xfrm>
            <a:off x="512763" y="2060575"/>
            <a:ext cx="227012" cy="252413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+mj-ea"/>
                <a:ea typeface="+mj-ea"/>
              </a:rPr>
              <a:t>A</a:t>
            </a:r>
          </a:p>
        </p:txBody>
      </p:sp>
      <p:sp>
        <p:nvSpPr>
          <p:cNvPr id="10269" name="Rectangle 29"/>
          <p:cNvSpPr>
            <a:spLocks noChangeArrowheads="1"/>
          </p:cNvSpPr>
          <p:nvPr/>
        </p:nvSpPr>
        <p:spPr bwMode="auto">
          <a:xfrm>
            <a:off x="512763" y="3105150"/>
            <a:ext cx="227012" cy="252413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+mj-ea"/>
                <a:ea typeface="+mj-ea"/>
              </a:rPr>
              <a:t>B</a:t>
            </a:r>
          </a:p>
        </p:txBody>
      </p:sp>
      <p:sp>
        <p:nvSpPr>
          <p:cNvPr id="10270" name="Rectangle 30"/>
          <p:cNvSpPr>
            <a:spLocks noChangeArrowheads="1"/>
          </p:cNvSpPr>
          <p:nvPr/>
        </p:nvSpPr>
        <p:spPr bwMode="auto">
          <a:xfrm>
            <a:off x="512763" y="4113213"/>
            <a:ext cx="227012" cy="252412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+mj-ea"/>
                <a:ea typeface="+mj-ea"/>
              </a:rPr>
              <a:t>C</a:t>
            </a:r>
          </a:p>
        </p:txBody>
      </p:sp>
      <p:sp>
        <p:nvSpPr>
          <p:cNvPr id="10271" name="Rectangle 31"/>
          <p:cNvSpPr>
            <a:spLocks noChangeArrowheads="1"/>
          </p:cNvSpPr>
          <p:nvPr/>
        </p:nvSpPr>
        <p:spPr bwMode="auto">
          <a:xfrm>
            <a:off x="512763" y="5121275"/>
            <a:ext cx="227012" cy="252413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+mj-ea"/>
                <a:ea typeface="+mj-ea"/>
              </a:rPr>
              <a:t>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4294967295"/>
          </p:nvPr>
        </p:nvSpPr>
        <p:spPr bwMode="gray">
          <a:xfrm>
            <a:off x="198438" y="868363"/>
            <a:ext cx="9459912" cy="603250"/>
          </a:xfrm>
          <a:noFill/>
        </p:spPr>
        <p:txBody>
          <a:bodyPr lIns="90000" tIns="46800" rIns="90000" bIns="46800"/>
          <a:lstStyle/>
          <a:p>
            <a:r>
              <a:rPr lang="ko-KR" altLang="en-US" dirty="0"/>
              <a:t>관련 페이지에 대한 설명 기술</a:t>
            </a:r>
            <a:endParaRPr lang="en-US" altLang="ko-KR" dirty="0"/>
          </a:p>
          <a:p>
            <a:r>
              <a:rPr lang="ko-KR" altLang="en-US" dirty="0"/>
              <a:t>두줄로 기술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1689100" cy="247650"/>
          </a:xfrm>
          <a:noFill/>
        </p:spPr>
        <p:txBody>
          <a:bodyPr anchor="b"/>
          <a:lstStyle/>
          <a:p>
            <a:r>
              <a:rPr lang="ko-KR" altLang="en-US" dirty="0"/>
              <a:t>벤치마킹 페이지</a:t>
            </a:r>
            <a:r>
              <a:rPr lang="en-US" altLang="ko-KR" dirty="0"/>
              <a:t>(</a:t>
            </a:r>
            <a:r>
              <a:rPr lang="ko-KR" altLang="en-US" dirty="0"/>
              <a:t>콘텐츠</a:t>
            </a:r>
            <a:r>
              <a:rPr lang="en-US" altLang="ko-KR" dirty="0"/>
              <a:t>)</a:t>
            </a:r>
            <a:r>
              <a:rPr lang="ko-KR" altLang="en-US" dirty="0"/>
              <a:t> 메뉴 명 작성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5B224F-2D7F-9B6A-BAF8-A7B570A1D0C4}"/>
              </a:ext>
            </a:extLst>
          </p:cNvPr>
          <p:cNvSpPr txBox="1"/>
          <p:nvPr/>
        </p:nvSpPr>
        <p:spPr>
          <a:xfrm>
            <a:off x="2000672" y="2644170"/>
            <a:ext cx="54986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dirty="0"/>
              <a:t>아래의 내용 또는 추가적으로 기술할 페이지를 각각의 페이지로 구성하여 설명</a:t>
            </a:r>
            <a:endParaRPr kumimoji="1" lang="en-US" altLang="ko-Kore-K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ore-KR" altLang="en-US" dirty="0"/>
              <a:t>카테고리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dirty="0"/>
              <a:t>상품 상세 페이지</a:t>
            </a:r>
            <a:endParaRPr kumimoji="1" lang="en-US" altLang="ko-K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en-US" altLang="ko-Kore-KR" dirty="0"/>
              <a:t>Q&amp;A </a:t>
            </a:r>
            <a:r>
              <a:rPr kumimoji="1" lang="ko-Kore-KR" altLang="en-US" dirty="0"/>
              <a:t>내용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dirty="0" err="1"/>
              <a:t>상품평</a:t>
            </a:r>
            <a:r>
              <a:rPr kumimoji="1" lang="ko-KR" altLang="en-US" dirty="0"/>
              <a:t> 페이지 </a:t>
            </a:r>
            <a:endParaRPr kumimoji="1" lang="en-US" altLang="ko-K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dirty="0"/>
              <a:t>검색페이지</a:t>
            </a:r>
            <a:endParaRPr kumimoji="1" lang="en-US" altLang="ko-K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dirty="0"/>
              <a:t>마이페이지</a:t>
            </a:r>
            <a:endParaRPr kumimoji="1" lang="en-US" altLang="ko-KR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dirty="0"/>
              <a:t>결제페이지</a:t>
            </a:r>
            <a:endParaRPr kumimoji="1" lang="ko-Kore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9"/>
          <p:cNvSpPr txBox="1">
            <a:spLocks noChangeArrowheads="1"/>
          </p:cNvSpPr>
          <p:nvPr/>
        </p:nvSpPr>
        <p:spPr bwMode="auto">
          <a:xfrm>
            <a:off x="5103813" y="5159375"/>
            <a:ext cx="4365625" cy="1196975"/>
          </a:xfrm>
          <a:prstGeom prst="rect">
            <a:avLst/>
          </a:prstGeom>
          <a:noFill/>
          <a:ln w="12700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6400" tIns="36000" rIns="46800" bIns="36000" anchor="ctr"/>
          <a:lstStyle>
            <a:lvl1pPr marL="271463" indent="-9683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ko-KR" altLang="en-US" b="0">
                <a:latin typeface="+mj-ea"/>
                <a:ea typeface="+mj-ea"/>
                <a:cs typeface="Arial" charset="0"/>
              </a:rPr>
              <a:t>매출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b="0">
                <a:latin typeface="+mj-ea"/>
                <a:ea typeface="+mj-ea"/>
                <a:cs typeface="Arial" charset="0"/>
              </a:rPr>
              <a:t>구매패턴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b="0">
                <a:latin typeface="+mj-ea"/>
                <a:ea typeface="+mj-ea"/>
                <a:cs typeface="Arial" charset="0"/>
              </a:rPr>
              <a:t>고객특성 등에 대한  종합적 상품 분석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ko-KR" altLang="en-US" b="0">
                <a:latin typeface="+mj-ea"/>
                <a:ea typeface="+mj-ea"/>
                <a:cs typeface="Arial" charset="0"/>
              </a:rPr>
              <a:t>고객구매 패턴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(</a:t>
            </a:r>
            <a:r>
              <a:rPr lang="ko-KR" altLang="en-US" b="0">
                <a:latin typeface="+mj-ea"/>
                <a:ea typeface="+mj-ea"/>
                <a:cs typeface="Arial" charset="0"/>
              </a:rPr>
              <a:t>재구매상품 및 주기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) </a:t>
            </a:r>
            <a:r>
              <a:rPr lang="ko-KR" altLang="en-US" b="0">
                <a:latin typeface="+mj-ea"/>
                <a:ea typeface="+mj-ea"/>
                <a:cs typeface="Arial" charset="0"/>
              </a:rPr>
              <a:t>기반 상품추천 모델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ko-KR" altLang="en-US" b="0">
                <a:latin typeface="+mj-ea"/>
                <a:ea typeface="+mj-ea"/>
                <a:cs typeface="Arial" charset="0"/>
              </a:rPr>
              <a:t>브랜드 및 카테고리간 상품연관성 기반 추천 모델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ko-KR" altLang="en-US" b="0">
                <a:latin typeface="+mj-ea"/>
                <a:ea typeface="+mj-ea"/>
                <a:cs typeface="Arial" charset="0"/>
              </a:rPr>
              <a:t>구매 패턴기반 자동화 캠페인 시스템 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(Mail/ SMS</a:t>
            </a:r>
            <a:r>
              <a:rPr lang="ko-KR" altLang="en-US" b="0">
                <a:latin typeface="+mj-ea"/>
                <a:ea typeface="+mj-ea"/>
                <a:cs typeface="Arial" charset="0"/>
              </a:rPr>
              <a:t>연계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ko-KR" altLang="en-US" b="0">
                <a:latin typeface="+mj-ea"/>
                <a:ea typeface="+mj-ea"/>
                <a:cs typeface="Arial" charset="0"/>
              </a:rPr>
              <a:t>상품연관성 상품 추천 시스템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 altLang="en-US"/>
              <a:t>고객의 구매 패턴 및 다양한 특성을 고려한 세분화군별 고객 </a:t>
            </a:r>
            <a:r>
              <a:rPr lang="en-US" altLang="ko-KR"/>
              <a:t>Profiling</a:t>
            </a:r>
            <a:r>
              <a:rPr lang="ko-KR" altLang="en-US"/>
              <a:t>을 기반으로 브랜드 및 상품 카테고리간 연관성 분석 정보를 통해 신규 </a:t>
            </a:r>
            <a:r>
              <a:rPr lang="en-US" altLang="ko-KR"/>
              <a:t>Offer </a:t>
            </a:r>
            <a:r>
              <a:rPr lang="ko-KR" altLang="en-US"/>
              <a:t>개발 및 최적 상품 추천 등에 활용하는 </a:t>
            </a:r>
            <a:r>
              <a:rPr lang="en-US" altLang="ko-KR"/>
              <a:t>BM</a:t>
            </a:r>
            <a:r>
              <a:rPr lang="ko-KR" altLang="en-US"/>
              <a:t>을 도출할 것임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6991350" cy="247650"/>
          </a:xfrm>
          <a:noFill/>
        </p:spPr>
        <p:txBody>
          <a:bodyPr/>
          <a:lstStyle/>
          <a:p>
            <a:r>
              <a:rPr kumimoji="0" lang="ko-KR" altLang="en-US" dirty="0"/>
              <a:t>쇼핑 편의성 개선 </a:t>
            </a:r>
            <a:r>
              <a:rPr kumimoji="0" lang="en-US" altLang="ko-KR" dirty="0"/>
              <a:t>&gt; </a:t>
            </a:r>
            <a:r>
              <a:rPr lang="ko-KR" altLang="en-US" dirty="0"/>
              <a:t>고객 </a:t>
            </a:r>
            <a:r>
              <a:rPr lang="en-US" altLang="ko-KR" dirty="0"/>
              <a:t>Insight </a:t>
            </a:r>
            <a:r>
              <a:rPr lang="ko-KR" altLang="en-US" dirty="0"/>
              <a:t>기반의 </a:t>
            </a:r>
            <a:r>
              <a:rPr lang="ko-KR" altLang="en-US" dirty="0" err="1"/>
              <a:t>전문몰</a:t>
            </a:r>
            <a:r>
              <a:rPr lang="ko-KR" altLang="en-US" dirty="0"/>
              <a:t> </a:t>
            </a:r>
            <a:r>
              <a:rPr lang="en-US" altLang="ko-KR" dirty="0"/>
              <a:t>BM </a:t>
            </a:r>
          </a:p>
        </p:txBody>
      </p:sp>
      <p:sp>
        <p:nvSpPr>
          <p:cNvPr id="118" name="오른쪽 화살표 117"/>
          <p:cNvSpPr/>
          <p:nvPr/>
        </p:nvSpPr>
        <p:spPr bwMode="auto">
          <a:xfrm>
            <a:off x="804863" y="2028825"/>
            <a:ext cx="1471612" cy="2895600"/>
          </a:xfrm>
          <a:prstGeom prst="rightArrow">
            <a:avLst>
              <a:gd name="adj1" fmla="val 89454"/>
              <a:gd name="adj2" fmla="val 32073"/>
            </a:avLst>
          </a:prstGeom>
          <a:solidFill>
            <a:schemeClr val="accent3">
              <a:lumMod val="8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Ins="36000" bIns="36000"/>
          <a:lstStyle/>
          <a:p>
            <a:pPr algn="l">
              <a:spcAft>
                <a:spcPct val="10000"/>
              </a:spcAft>
              <a:defRPr/>
            </a:pPr>
            <a:endParaRPr lang="ko-KR" altLang="ko-KR" sz="1800">
              <a:latin typeface="+mj-ea"/>
              <a:ea typeface="+mj-ea"/>
              <a:cs typeface="Arial" charset="0"/>
            </a:endParaRPr>
          </a:p>
        </p:txBody>
      </p:sp>
      <p:sp>
        <p:nvSpPr>
          <p:cNvPr id="20487" name="Text Box 12"/>
          <p:cNvSpPr txBox="1">
            <a:spLocks noChangeArrowheads="1"/>
          </p:cNvSpPr>
          <p:nvPr/>
        </p:nvSpPr>
        <p:spPr bwMode="auto">
          <a:xfrm>
            <a:off x="3193014" y="4324350"/>
            <a:ext cx="145415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100" b="0" dirty="0">
                <a:latin typeface="+mj-ea"/>
                <a:ea typeface="+mj-ea"/>
                <a:cs typeface="Arial" charset="0"/>
              </a:rPr>
              <a:t>고객의 구매 패턴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마케팅 민감도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선호 상품 등 특성을 고려한 고객 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Profile</a:t>
            </a:r>
          </a:p>
        </p:txBody>
      </p:sp>
      <p:sp>
        <p:nvSpPr>
          <p:cNvPr id="20488" name="TextBox 19"/>
          <p:cNvSpPr txBox="1">
            <a:spLocks noChangeArrowheads="1"/>
          </p:cNvSpPr>
          <p:nvPr/>
        </p:nvSpPr>
        <p:spPr bwMode="auto">
          <a:xfrm>
            <a:off x="417513" y="5159375"/>
            <a:ext cx="4249737" cy="1196975"/>
          </a:xfrm>
          <a:prstGeom prst="rect">
            <a:avLst/>
          </a:prstGeom>
          <a:noFill/>
          <a:ln w="12700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2000" tIns="36000" rIns="46800" bIns="36000"/>
          <a:lstStyle>
            <a:lvl1pPr marL="212725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ko-KR" altLang="en-US" b="0" dirty="0">
                <a:latin typeface="+mj-ea"/>
                <a:ea typeface="+mj-ea"/>
                <a:cs typeface="Arial" charset="0"/>
              </a:rPr>
              <a:t>매출기반의 기존 고객 세분화 체계에 고객의 가치</a:t>
            </a:r>
            <a:r>
              <a:rPr lang="en-US" altLang="ko-KR" b="0" dirty="0"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b="0" dirty="0">
                <a:latin typeface="+mj-ea"/>
                <a:ea typeface="+mj-ea"/>
                <a:cs typeface="Arial" charset="0"/>
              </a:rPr>
              <a:t>구매 활동성</a:t>
            </a:r>
            <a:r>
              <a:rPr lang="en-US" altLang="ko-KR" b="0" dirty="0"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b="0" dirty="0">
                <a:latin typeface="+mj-ea"/>
                <a:ea typeface="+mj-ea"/>
                <a:cs typeface="Arial" charset="0"/>
              </a:rPr>
              <a:t>니즈</a:t>
            </a:r>
            <a:r>
              <a:rPr lang="en-US" altLang="ko-KR" b="0" dirty="0"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b="0" dirty="0" err="1">
                <a:latin typeface="+mj-ea"/>
                <a:ea typeface="+mj-ea"/>
                <a:cs typeface="Arial" charset="0"/>
              </a:rPr>
              <a:t>오퍼</a:t>
            </a:r>
            <a:r>
              <a:rPr lang="ko-KR" altLang="en-US" b="0" dirty="0">
                <a:latin typeface="+mj-ea"/>
                <a:ea typeface="+mj-ea"/>
                <a:cs typeface="Arial" charset="0"/>
              </a:rPr>
              <a:t> 연관성 등 고객 특성을 반영한 세분화 체계 구성</a:t>
            </a:r>
          </a:p>
          <a:p>
            <a:pPr algn="l" eaLnBrk="1" hangingPunct="1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en-US" altLang="ko-KR" b="0" dirty="0">
                <a:latin typeface="+mj-ea"/>
                <a:ea typeface="+mj-ea"/>
                <a:cs typeface="Arial" charset="0"/>
              </a:rPr>
              <a:t>Target </a:t>
            </a:r>
            <a:r>
              <a:rPr lang="ko-KR" altLang="en-US" b="0" dirty="0">
                <a:latin typeface="+mj-ea"/>
                <a:ea typeface="+mj-ea"/>
                <a:cs typeface="Arial" charset="0"/>
              </a:rPr>
              <a:t>마케팅 시 활용할 수 있는 고객의 특성을 정의해 놓은 </a:t>
            </a:r>
            <a:r>
              <a:rPr lang="ko-KR" altLang="en-US" b="0" dirty="0" err="1">
                <a:latin typeface="+mj-ea"/>
                <a:ea typeface="+mj-ea"/>
                <a:cs typeface="Arial" charset="0"/>
              </a:rPr>
              <a:t>세분화군별</a:t>
            </a:r>
            <a:r>
              <a:rPr lang="ko-KR" altLang="en-US" b="0" dirty="0">
                <a:latin typeface="+mj-ea"/>
                <a:ea typeface="+mj-ea"/>
                <a:cs typeface="Arial" charset="0"/>
              </a:rPr>
              <a:t> 고객 </a:t>
            </a:r>
            <a:r>
              <a:rPr lang="en-US" altLang="ko-KR" b="0" dirty="0">
                <a:latin typeface="+mj-ea"/>
                <a:ea typeface="+mj-ea"/>
                <a:cs typeface="Arial" charset="0"/>
              </a:rPr>
              <a:t>Profile  </a:t>
            </a:r>
            <a:r>
              <a:rPr lang="ko-KR" altLang="en-US" b="0" dirty="0">
                <a:latin typeface="+mj-ea"/>
                <a:ea typeface="+mj-ea"/>
                <a:cs typeface="Arial" charset="0"/>
              </a:rPr>
              <a:t>작성</a:t>
            </a:r>
          </a:p>
        </p:txBody>
      </p:sp>
      <p:sp>
        <p:nvSpPr>
          <p:cNvPr id="20489" name="타원 136"/>
          <p:cNvSpPr>
            <a:spLocks noChangeAspect="1" noChangeArrowheads="1"/>
          </p:cNvSpPr>
          <p:nvPr/>
        </p:nvSpPr>
        <p:spPr bwMode="auto">
          <a:xfrm>
            <a:off x="3171825" y="4210050"/>
            <a:ext cx="206375" cy="196850"/>
          </a:xfrm>
          <a:prstGeom prst="ellipse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2</a:t>
            </a:r>
          </a:p>
        </p:txBody>
      </p:sp>
      <p:pic>
        <p:nvPicPr>
          <p:cNvPr id="483338" name="Picture 62"/>
          <p:cNvPicPr>
            <a:picLocks noChangeAspect="1" noChangeArrowheads="1"/>
          </p:cNvPicPr>
          <p:nvPr/>
        </p:nvPicPr>
        <p:blipFill>
          <a:blip r:embed="rId8">
            <a:grayscl/>
          </a:blip>
          <a:srcRect/>
          <a:stretch>
            <a:fillRect/>
          </a:stretch>
        </p:blipFill>
        <p:spPr bwMode="auto">
          <a:xfrm>
            <a:off x="1965325" y="2486025"/>
            <a:ext cx="2667000" cy="163671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</p:pic>
      <p:sp>
        <p:nvSpPr>
          <p:cNvPr id="111" name="Rectangle 32"/>
          <p:cNvSpPr>
            <a:spLocks noChangeArrowheads="1"/>
          </p:cNvSpPr>
          <p:nvPr/>
        </p:nvSpPr>
        <p:spPr bwMode="auto">
          <a:xfrm>
            <a:off x="423863" y="2817813"/>
            <a:ext cx="1300162" cy="42227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90000" tIns="82800" rIns="90000" bIns="82800" anchor="ctr"/>
          <a:lstStyle/>
          <a:p>
            <a:pPr>
              <a:lnSpc>
                <a:spcPct val="85000"/>
              </a:lnSpc>
              <a:defRPr/>
            </a:pPr>
            <a:r>
              <a:rPr lang="ko-KR" altLang="en-US" sz="1000">
                <a:latin typeface="+mj-ea"/>
                <a:ea typeface="+mj-ea"/>
                <a:cs typeface="Arial" charset="0"/>
              </a:rPr>
              <a:t>가치 등급 </a:t>
            </a:r>
          </a:p>
          <a:p>
            <a:pPr>
              <a:lnSpc>
                <a:spcPct val="85000"/>
              </a:lnSpc>
              <a:defRPr/>
            </a:pPr>
            <a:r>
              <a:rPr lang="en-US" altLang="ko-KR" sz="1000" b="0">
                <a:latin typeface="+mj-ea"/>
                <a:ea typeface="+mj-ea"/>
                <a:cs typeface="Arial" charset="0"/>
              </a:rPr>
              <a:t>(</a:t>
            </a:r>
            <a:r>
              <a:rPr lang="ko-KR" altLang="en-US" sz="1000" b="0">
                <a:latin typeface="+mj-ea"/>
                <a:ea typeface="+mj-ea"/>
                <a:cs typeface="Arial" charset="0"/>
              </a:rPr>
              <a:t>구매력 및 수익성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)</a:t>
            </a:r>
          </a:p>
        </p:txBody>
      </p:sp>
      <p:sp>
        <p:nvSpPr>
          <p:cNvPr id="112" name="Rectangle 32"/>
          <p:cNvSpPr>
            <a:spLocks noChangeArrowheads="1"/>
          </p:cNvSpPr>
          <p:nvPr/>
        </p:nvSpPr>
        <p:spPr bwMode="auto">
          <a:xfrm>
            <a:off x="423863" y="3278188"/>
            <a:ext cx="1300162" cy="42227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90000" tIns="82800" rIns="90000" bIns="82800" anchor="ctr"/>
          <a:lstStyle/>
          <a:p>
            <a:pPr>
              <a:lnSpc>
                <a:spcPct val="85000"/>
              </a:lnSpc>
              <a:defRPr/>
            </a:pPr>
            <a:r>
              <a:rPr lang="en-US" altLang="ko-KR" sz="1000">
                <a:latin typeface="+mj-ea"/>
                <a:ea typeface="+mj-ea"/>
                <a:cs typeface="Arial" charset="0"/>
              </a:rPr>
              <a:t>Loyalty </a:t>
            </a:r>
            <a:r>
              <a:rPr lang="ko-KR" altLang="en-US" sz="1000">
                <a:latin typeface="+mj-ea"/>
                <a:ea typeface="+mj-ea"/>
                <a:cs typeface="Arial" charset="0"/>
              </a:rPr>
              <a:t>등급 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(</a:t>
            </a:r>
            <a:r>
              <a:rPr lang="ko-KR" altLang="en-US" sz="1000" b="0">
                <a:latin typeface="+mj-ea"/>
                <a:ea typeface="+mj-ea"/>
                <a:cs typeface="Arial" charset="0"/>
              </a:rPr>
              <a:t>상품평 등록 등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)</a:t>
            </a:r>
          </a:p>
        </p:txBody>
      </p:sp>
      <p:sp>
        <p:nvSpPr>
          <p:cNvPr id="113" name="Rectangle 32"/>
          <p:cNvSpPr>
            <a:spLocks noChangeArrowheads="1"/>
          </p:cNvSpPr>
          <p:nvPr/>
        </p:nvSpPr>
        <p:spPr bwMode="auto">
          <a:xfrm>
            <a:off x="423863" y="3740150"/>
            <a:ext cx="1300162" cy="420688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90000" tIns="82800" rIns="90000" bIns="82800" anchor="ctr"/>
          <a:lstStyle/>
          <a:p>
            <a:pPr>
              <a:lnSpc>
                <a:spcPct val="85000"/>
              </a:lnSpc>
              <a:defRPr/>
            </a:pPr>
            <a:r>
              <a:rPr lang="ko-KR" altLang="en-US" sz="1000">
                <a:latin typeface="+mj-ea"/>
                <a:ea typeface="+mj-ea"/>
                <a:cs typeface="Arial" charset="0"/>
              </a:rPr>
              <a:t>활동성 등급</a:t>
            </a:r>
          </a:p>
          <a:p>
            <a:pPr>
              <a:lnSpc>
                <a:spcPct val="85000"/>
              </a:lnSpc>
              <a:defRPr/>
            </a:pPr>
            <a:r>
              <a:rPr lang="en-US" altLang="ko-KR" sz="1000" b="0">
                <a:latin typeface="+mj-ea"/>
                <a:ea typeface="+mj-ea"/>
                <a:cs typeface="Arial" charset="0"/>
              </a:rPr>
              <a:t>(</a:t>
            </a:r>
            <a:r>
              <a:rPr lang="ko-KR" altLang="en-US" sz="1000" b="0">
                <a:latin typeface="+mj-ea"/>
                <a:ea typeface="+mj-ea"/>
                <a:cs typeface="Arial" charset="0"/>
              </a:rPr>
              <a:t>구매 활동 특성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)</a:t>
            </a:r>
          </a:p>
        </p:txBody>
      </p:sp>
      <p:sp>
        <p:nvSpPr>
          <p:cNvPr id="114" name="Rectangle 32"/>
          <p:cNvSpPr>
            <a:spLocks noChangeArrowheads="1"/>
          </p:cNvSpPr>
          <p:nvPr/>
        </p:nvSpPr>
        <p:spPr bwMode="auto">
          <a:xfrm>
            <a:off x="423863" y="4202113"/>
            <a:ext cx="1300162" cy="42227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90000" tIns="82800" rIns="90000" bIns="82800" anchor="ctr"/>
          <a:lstStyle/>
          <a:p>
            <a:pPr>
              <a:lnSpc>
                <a:spcPct val="85000"/>
              </a:lnSpc>
              <a:defRPr/>
            </a:pPr>
            <a:r>
              <a:rPr lang="ko-KR" altLang="en-US" sz="1000">
                <a:latin typeface="+mj-ea"/>
                <a:ea typeface="+mj-ea"/>
                <a:cs typeface="Arial" charset="0"/>
              </a:rPr>
              <a:t>고객의 니즈</a:t>
            </a:r>
          </a:p>
          <a:p>
            <a:pPr>
              <a:lnSpc>
                <a:spcPct val="85000"/>
              </a:lnSpc>
              <a:defRPr/>
            </a:pPr>
            <a:r>
              <a:rPr lang="en-US" altLang="ko-KR" sz="1000" b="0">
                <a:latin typeface="+mj-ea"/>
                <a:ea typeface="+mj-ea"/>
                <a:cs typeface="Arial" charset="0"/>
              </a:rPr>
              <a:t>(</a:t>
            </a:r>
            <a:r>
              <a:rPr lang="ko-KR" altLang="en-US" sz="1000" b="0">
                <a:latin typeface="+mj-ea"/>
                <a:ea typeface="+mj-ea"/>
                <a:cs typeface="Arial" charset="0"/>
              </a:rPr>
              <a:t>선호상품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)</a:t>
            </a:r>
          </a:p>
        </p:txBody>
      </p:sp>
      <p:sp>
        <p:nvSpPr>
          <p:cNvPr id="115" name="Rectangle 32"/>
          <p:cNvSpPr>
            <a:spLocks noChangeArrowheads="1"/>
          </p:cNvSpPr>
          <p:nvPr/>
        </p:nvSpPr>
        <p:spPr bwMode="auto">
          <a:xfrm>
            <a:off x="423863" y="4662488"/>
            <a:ext cx="1300162" cy="42227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90000" tIns="82800" rIns="90000" bIns="82800" anchor="ctr"/>
          <a:lstStyle/>
          <a:p>
            <a:pPr>
              <a:lnSpc>
                <a:spcPct val="85000"/>
              </a:lnSpc>
              <a:defRPr/>
            </a:pPr>
            <a:r>
              <a:rPr lang="ko-KR" altLang="en-US" sz="1000">
                <a:latin typeface="+mj-ea"/>
                <a:ea typeface="+mj-ea"/>
                <a:cs typeface="Arial" charset="0"/>
              </a:rPr>
              <a:t>오퍼와 고객 연관성 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(</a:t>
            </a:r>
            <a:r>
              <a:rPr lang="ko-KR" altLang="en-US" sz="1000" b="0">
                <a:latin typeface="+mj-ea"/>
                <a:ea typeface="+mj-ea"/>
                <a:cs typeface="Arial" charset="0"/>
              </a:rPr>
              <a:t>반응률 높은 오퍼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)</a:t>
            </a:r>
          </a:p>
        </p:txBody>
      </p:sp>
      <p:sp>
        <p:nvSpPr>
          <p:cNvPr id="63" name="Rectangle 32"/>
          <p:cNvSpPr>
            <a:spLocks noChangeArrowheads="1"/>
          </p:cNvSpPr>
          <p:nvPr/>
        </p:nvSpPr>
        <p:spPr bwMode="auto">
          <a:xfrm>
            <a:off x="423863" y="1893888"/>
            <a:ext cx="1300162" cy="42227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90000" tIns="82800" rIns="90000" bIns="82800" anchor="ctr"/>
          <a:lstStyle/>
          <a:p>
            <a:pPr>
              <a:lnSpc>
                <a:spcPct val="85000"/>
              </a:lnSpc>
              <a:defRPr/>
            </a:pPr>
            <a:r>
              <a:rPr lang="ko-KR" altLang="en-US" sz="1000">
                <a:latin typeface="+mj-ea"/>
                <a:ea typeface="+mj-ea"/>
                <a:cs typeface="Arial" charset="0"/>
              </a:rPr>
              <a:t>구매빈도</a:t>
            </a:r>
          </a:p>
          <a:p>
            <a:pPr>
              <a:lnSpc>
                <a:spcPct val="85000"/>
              </a:lnSpc>
              <a:defRPr/>
            </a:pPr>
            <a:r>
              <a:rPr lang="en-US" altLang="ko-KR" sz="1000" b="0">
                <a:latin typeface="+mj-ea"/>
                <a:ea typeface="+mj-ea"/>
                <a:cs typeface="Arial" charset="0"/>
              </a:rPr>
              <a:t>(</a:t>
            </a:r>
            <a:r>
              <a:rPr lang="ko-KR" altLang="en-US" sz="1000" b="0">
                <a:latin typeface="+mj-ea"/>
                <a:ea typeface="+mj-ea"/>
                <a:cs typeface="Arial" charset="0"/>
              </a:rPr>
              <a:t>구매력 및 수익성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)</a:t>
            </a:r>
          </a:p>
        </p:txBody>
      </p:sp>
      <p:sp>
        <p:nvSpPr>
          <p:cNvPr id="64" name="Rectangle 32"/>
          <p:cNvSpPr>
            <a:spLocks noChangeArrowheads="1"/>
          </p:cNvSpPr>
          <p:nvPr/>
        </p:nvSpPr>
        <p:spPr bwMode="auto">
          <a:xfrm>
            <a:off x="423863" y="2354263"/>
            <a:ext cx="1300162" cy="42227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rgbClr val="C0C0C0"/>
            </a:outerShdw>
          </a:effectLst>
        </p:spPr>
        <p:txBody>
          <a:bodyPr lIns="90000" tIns="82800" rIns="90000" bIns="82800" anchor="ctr"/>
          <a:lstStyle/>
          <a:p>
            <a:pPr>
              <a:lnSpc>
                <a:spcPct val="85000"/>
              </a:lnSpc>
              <a:defRPr/>
            </a:pPr>
            <a:r>
              <a:rPr lang="ko-KR" altLang="en-US" sz="1000">
                <a:latin typeface="+mj-ea"/>
                <a:ea typeface="+mj-ea"/>
                <a:cs typeface="Arial" charset="0"/>
              </a:rPr>
              <a:t>구매 금액 규모</a:t>
            </a:r>
          </a:p>
          <a:p>
            <a:pPr>
              <a:lnSpc>
                <a:spcPct val="85000"/>
              </a:lnSpc>
              <a:defRPr/>
            </a:pPr>
            <a:r>
              <a:rPr lang="en-US" altLang="ko-KR" sz="1000" b="0">
                <a:latin typeface="+mj-ea"/>
                <a:ea typeface="+mj-ea"/>
                <a:cs typeface="Arial" charset="0"/>
              </a:rPr>
              <a:t>(</a:t>
            </a:r>
            <a:r>
              <a:rPr lang="ko-KR" altLang="en-US" sz="1000" b="0">
                <a:latin typeface="+mj-ea"/>
                <a:ea typeface="+mj-ea"/>
                <a:cs typeface="Arial" charset="0"/>
              </a:rPr>
              <a:t>상품평 등록 등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)</a:t>
            </a:r>
          </a:p>
        </p:txBody>
      </p:sp>
      <p:sp>
        <p:nvSpPr>
          <p:cNvPr id="20498" name="타원 135"/>
          <p:cNvSpPr>
            <a:spLocks noChangeAspect="1" noChangeArrowheads="1"/>
          </p:cNvSpPr>
          <p:nvPr/>
        </p:nvSpPr>
        <p:spPr bwMode="auto">
          <a:xfrm>
            <a:off x="371475" y="1858963"/>
            <a:ext cx="207963" cy="196850"/>
          </a:xfrm>
          <a:prstGeom prst="ellipse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1</a:t>
            </a:r>
          </a:p>
        </p:txBody>
      </p:sp>
      <p:sp>
        <p:nvSpPr>
          <p:cNvPr id="20499" name="직사각형 96"/>
          <p:cNvSpPr>
            <a:spLocks noChangeArrowheads="1"/>
          </p:cNvSpPr>
          <p:nvPr/>
        </p:nvSpPr>
        <p:spPr bwMode="auto">
          <a:xfrm>
            <a:off x="2286000" y="2924175"/>
            <a:ext cx="2324100" cy="204788"/>
          </a:xfrm>
          <a:prstGeom prst="rect">
            <a:avLst/>
          </a:prstGeom>
          <a:noFill/>
          <a:ln w="19050" algn="ctr">
            <a:solidFill>
              <a:srgbClr val="C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36000" bIns="36000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Aft>
                <a:spcPct val="10000"/>
              </a:spcAft>
            </a:pPr>
            <a:endParaRPr lang="ko-KR" altLang="ko-KR" sz="1800">
              <a:latin typeface="+mj-ea"/>
              <a:ea typeface="+mj-ea"/>
              <a:cs typeface="Arial" charset="0"/>
            </a:endParaRPr>
          </a:p>
        </p:txBody>
      </p:sp>
      <p:sp>
        <p:nvSpPr>
          <p:cNvPr id="20500" name="Text Box 12"/>
          <p:cNvSpPr txBox="1">
            <a:spLocks noChangeArrowheads="1"/>
          </p:cNvSpPr>
          <p:nvPr/>
        </p:nvSpPr>
        <p:spPr bwMode="auto">
          <a:xfrm>
            <a:off x="2144713" y="2189163"/>
            <a:ext cx="26162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300">
                <a:latin typeface="+mj-ea"/>
                <a:ea typeface="+mj-ea"/>
                <a:cs typeface="Arial" charset="0"/>
              </a:rPr>
              <a:t>고객 특성 기반의 등급별 세분화</a:t>
            </a:r>
          </a:p>
        </p:txBody>
      </p:sp>
      <p:cxnSp>
        <p:nvCxnSpPr>
          <p:cNvPr id="20501" name="구부러진 연결선 121"/>
          <p:cNvCxnSpPr>
            <a:cxnSpLocks noChangeShapeType="1"/>
            <a:stCxn id="20499" idx="2"/>
          </p:cNvCxnSpPr>
          <p:nvPr/>
        </p:nvCxnSpPr>
        <p:spPr bwMode="auto">
          <a:xfrm rot="16200000" flipH="1">
            <a:off x="3060701" y="3525837"/>
            <a:ext cx="1204912" cy="430213"/>
          </a:xfrm>
          <a:prstGeom prst="curvedConnector3">
            <a:avLst>
              <a:gd name="adj1" fmla="val 49537"/>
            </a:avLst>
          </a:prstGeom>
          <a:noFill/>
          <a:ln w="28575" algn="ctr">
            <a:solidFill>
              <a:schemeClr val="bg2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2" name="타원 135"/>
          <p:cNvSpPr>
            <a:spLocks noChangeAspect="1" noChangeArrowheads="1"/>
          </p:cNvSpPr>
          <p:nvPr/>
        </p:nvSpPr>
        <p:spPr bwMode="auto">
          <a:xfrm>
            <a:off x="2082800" y="2225675"/>
            <a:ext cx="207963" cy="196850"/>
          </a:xfrm>
          <a:prstGeom prst="ellipse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1</a:t>
            </a:r>
          </a:p>
        </p:txBody>
      </p:sp>
      <p:sp>
        <p:nvSpPr>
          <p:cNvPr id="20503" name="타원 131"/>
          <p:cNvSpPr>
            <a:spLocks noChangeAspect="1" noChangeArrowheads="1"/>
          </p:cNvSpPr>
          <p:nvPr/>
        </p:nvSpPr>
        <p:spPr bwMode="auto">
          <a:xfrm>
            <a:off x="452438" y="5197475"/>
            <a:ext cx="207962" cy="196850"/>
          </a:xfrm>
          <a:prstGeom prst="ellipse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1</a:t>
            </a:r>
          </a:p>
        </p:txBody>
      </p:sp>
      <p:sp>
        <p:nvSpPr>
          <p:cNvPr id="20504" name="타원 132"/>
          <p:cNvSpPr>
            <a:spLocks noChangeAspect="1" noChangeArrowheads="1"/>
          </p:cNvSpPr>
          <p:nvPr/>
        </p:nvSpPr>
        <p:spPr bwMode="auto">
          <a:xfrm>
            <a:off x="452438" y="5810250"/>
            <a:ext cx="207962" cy="196850"/>
          </a:xfrm>
          <a:prstGeom prst="ellipse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2</a:t>
            </a:r>
          </a:p>
        </p:txBody>
      </p:sp>
      <p:sp>
        <p:nvSpPr>
          <p:cNvPr id="20505" name="Oval 201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954088" y="2230438"/>
            <a:ext cx="192087" cy="1905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06" name="Oval 201"/>
          <p:cNvSpPr>
            <a:spLocks noChangeAspect="1" noChangeArrowheads="1"/>
          </p:cNvSpPr>
          <p:nvPr/>
        </p:nvSpPr>
        <p:spPr bwMode="auto">
          <a:xfrm>
            <a:off x="974725" y="2251075"/>
            <a:ext cx="150813" cy="149225"/>
          </a:xfrm>
          <a:prstGeom prst="ellipse">
            <a:avLst/>
          </a:prstGeom>
          <a:solidFill>
            <a:srgbClr val="5F5F5F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07" name="AutoShape 202"/>
          <p:cNvSpPr>
            <a:spLocks noChangeAspect="1" noChangeArrowheads="1"/>
          </p:cNvSpPr>
          <p:nvPr/>
        </p:nvSpPr>
        <p:spPr bwMode="auto">
          <a:xfrm>
            <a:off x="1004888" y="2279650"/>
            <a:ext cx="92075" cy="92075"/>
          </a:xfrm>
          <a:prstGeom prst="plus">
            <a:avLst>
              <a:gd name="adj" fmla="val 36111"/>
            </a:avLst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08" name="Oval 201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954088" y="2692400"/>
            <a:ext cx="192087" cy="19208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09" name="Oval 201"/>
          <p:cNvSpPr>
            <a:spLocks noChangeAspect="1" noChangeArrowheads="1"/>
          </p:cNvSpPr>
          <p:nvPr/>
        </p:nvSpPr>
        <p:spPr bwMode="auto">
          <a:xfrm>
            <a:off x="974725" y="2713038"/>
            <a:ext cx="150813" cy="150812"/>
          </a:xfrm>
          <a:prstGeom prst="ellipse">
            <a:avLst/>
          </a:prstGeom>
          <a:solidFill>
            <a:srgbClr val="5F5F5F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10" name="AutoShape 202"/>
          <p:cNvSpPr>
            <a:spLocks noChangeAspect="1" noChangeArrowheads="1"/>
          </p:cNvSpPr>
          <p:nvPr/>
        </p:nvSpPr>
        <p:spPr bwMode="auto">
          <a:xfrm>
            <a:off x="1004888" y="2741613"/>
            <a:ext cx="92075" cy="93662"/>
          </a:xfrm>
          <a:prstGeom prst="plus">
            <a:avLst>
              <a:gd name="adj" fmla="val 36111"/>
            </a:avLst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11" name="Oval 201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954088" y="3157538"/>
            <a:ext cx="192087" cy="1905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12" name="Oval 201"/>
          <p:cNvSpPr>
            <a:spLocks noChangeAspect="1" noChangeArrowheads="1"/>
          </p:cNvSpPr>
          <p:nvPr/>
        </p:nvSpPr>
        <p:spPr bwMode="auto">
          <a:xfrm>
            <a:off x="974725" y="3178175"/>
            <a:ext cx="150813" cy="149225"/>
          </a:xfrm>
          <a:prstGeom prst="ellipse">
            <a:avLst/>
          </a:prstGeom>
          <a:solidFill>
            <a:srgbClr val="5F5F5F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13" name="AutoShape 202"/>
          <p:cNvSpPr>
            <a:spLocks noChangeAspect="1" noChangeArrowheads="1"/>
          </p:cNvSpPr>
          <p:nvPr/>
        </p:nvSpPr>
        <p:spPr bwMode="auto">
          <a:xfrm>
            <a:off x="1004888" y="3206750"/>
            <a:ext cx="92075" cy="92075"/>
          </a:xfrm>
          <a:prstGeom prst="plus">
            <a:avLst>
              <a:gd name="adj" fmla="val 36111"/>
            </a:avLst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14" name="Oval 201"/>
          <p:cNvSpPr>
            <a:spLocks noChangeAspect="1" noChangeArrowheads="1"/>
          </p:cNvSpPr>
          <p:nvPr>
            <p:custDataLst>
              <p:tags r:id="rId4"/>
            </p:custDataLst>
          </p:nvPr>
        </p:nvSpPr>
        <p:spPr bwMode="auto">
          <a:xfrm>
            <a:off x="954088" y="3619500"/>
            <a:ext cx="192087" cy="1905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15" name="Oval 201"/>
          <p:cNvSpPr>
            <a:spLocks noChangeAspect="1" noChangeArrowheads="1"/>
          </p:cNvSpPr>
          <p:nvPr/>
        </p:nvSpPr>
        <p:spPr bwMode="auto">
          <a:xfrm>
            <a:off x="974725" y="3640138"/>
            <a:ext cx="150813" cy="149225"/>
          </a:xfrm>
          <a:prstGeom prst="ellipse">
            <a:avLst/>
          </a:prstGeom>
          <a:solidFill>
            <a:srgbClr val="5F5F5F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16" name="AutoShape 202"/>
          <p:cNvSpPr>
            <a:spLocks noChangeAspect="1" noChangeArrowheads="1"/>
          </p:cNvSpPr>
          <p:nvPr/>
        </p:nvSpPr>
        <p:spPr bwMode="auto">
          <a:xfrm>
            <a:off x="1004888" y="3668713"/>
            <a:ext cx="92075" cy="92075"/>
          </a:xfrm>
          <a:prstGeom prst="plus">
            <a:avLst>
              <a:gd name="adj" fmla="val 36111"/>
            </a:avLst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17" name="Oval 201"/>
          <p:cNvSpPr>
            <a:spLocks noChangeAspect="1" noChangeArrowheads="1"/>
          </p:cNvSpPr>
          <p:nvPr>
            <p:custDataLst>
              <p:tags r:id="rId5"/>
            </p:custDataLst>
          </p:nvPr>
        </p:nvSpPr>
        <p:spPr bwMode="auto">
          <a:xfrm>
            <a:off x="954088" y="4084638"/>
            <a:ext cx="192087" cy="1905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18" name="Oval 201"/>
          <p:cNvSpPr>
            <a:spLocks noChangeAspect="1" noChangeArrowheads="1"/>
          </p:cNvSpPr>
          <p:nvPr/>
        </p:nvSpPr>
        <p:spPr bwMode="auto">
          <a:xfrm>
            <a:off x="974725" y="4105275"/>
            <a:ext cx="150813" cy="149225"/>
          </a:xfrm>
          <a:prstGeom prst="ellipse">
            <a:avLst/>
          </a:prstGeom>
          <a:solidFill>
            <a:srgbClr val="5F5F5F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19" name="AutoShape 202"/>
          <p:cNvSpPr>
            <a:spLocks noChangeAspect="1" noChangeArrowheads="1"/>
          </p:cNvSpPr>
          <p:nvPr/>
        </p:nvSpPr>
        <p:spPr bwMode="auto">
          <a:xfrm>
            <a:off x="1004888" y="4133850"/>
            <a:ext cx="92075" cy="92075"/>
          </a:xfrm>
          <a:prstGeom prst="plus">
            <a:avLst>
              <a:gd name="adj" fmla="val 36111"/>
            </a:avLst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20" name="Oval 201"/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954088" y="4548188"/>
            <a:ext cx="192087" cy="1905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21" name="Oval 201"/>
          <p:cNvSpPr>
            <a:spLocks noChangeAspect="1" noChangeArrowheads="1"/>
          </p:cNvSpPr>
          <p:nvPr/>
        </p:nvSpPr>
        <p:spPr bwMode="auto">
          <a:xfrm>
            <a:off x="974725" y="4568825"/>
            <a:ext cx="150813" cy="149225"/>
          </a:xfrm>
          <a:prstGeom prst="ellipse">
            <a:avLst/>
          </a:prstGeom>
          <a:solidFill>
            <a:srgbClr val="5F5F5F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22" name="AutoShape 202"/>
          <p:cNvSpPr>
            <a:spLocks noChangeAspect="1" noChangeArrowheads="1"/>
          </p:cNvSpPr>
          <p:nvPr/>
        </p:nvSpPr>
        <p:spPr bwMode="auto">
          <a:xfrm>
            <a:off x="1004888" y="4597400"/>
            <a:ext cx="92075" cy="92075"/>
          </a:xfrm>
          <a:prstGeom prst="plus">
            <a:avLst>
              <a:gd name="adj" fmla="val 36111"/>
            </a:avLst>
          </a:prstGeom>
          <a:solidFill>
            <a:srgbClr val="FFFFFF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0523" name="타원 226"/>
          <p:cNvSpPr>
            <a:spLocks noChangeArrowheads="1"/>
          </p:cNvSpPr>
          <p:nvPr/>
        </p:nvSpPr>
        <p:spPr bwMode="auto">
          <a:xfrm>
            <a:off x="5186363" y="5211763"/>
            <a:ext cx="207962" cy="212725"/>
          </a:xfrm>
          <a:prstGeom prst="ellipse">
            <a:avLst/>
          </a:prstGeom>
          <a:solidFill>
            <a:srgbClr val="000066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1</a:t>
            </a:r>
          </a:p>
        </p:txBody>
      </p:sp>
      <p:sp>
        <p:nvSpPr>
          <p:cNvPr id="20524" name="타원 227"/>
          <p:cNvSpPr>
            <a:spLocks noChangeArrowheads="1"/>
          </p:cNvSpPr>
          <p:nvPr/>
        </p:nvSpPr>
        <p:spPr bwMode="auto">
          <a:xfrm>
            <a:off x="5186363" y="5432425"/>
            <a:ext cx="207962" cy="212725"/>
          </a:xfrm>
          <a:prstGeom prst="ellipse">
            <a:avLst/>
          </a:prstGeom>
          <a:solidFill>
            <a:srgbClr val="000066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2</a:t>
            </a:r>
          </a:p>
        </p:txBody>
      </p:sp>
      <p:sp>
        <p:nvSpPr>
          <p:cNvPr id="20525" name="타원 228"/>
          <p:cNvSpPr>
            <a:spLocks noChangeArrowheads="1"/>
          </p:cNvSpPr>
          <p:nvPr/>
        </p:nvSpPr>
        <p:spPr bwMode="auto">
          <a:xfrm>
            <a:off x="5186363" y="5653088"/>
            <a:ext cx="207962" cy="212725"/>
          </a:xfrm>
          <a:prstGeom prst="ellipse">
            <a:avLst/>
          </a:prstGeom>
          <a:solidFill>
            <a:srgbClr val="000066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3</a:t>
            </a:r>
          </a:p>
        </p:txBody>
      </p:sp>
      <p:sp>
        <p:nvSpPr>
          <p:cNvPr id="20526" name="타원 229"/>
          <p:cNvSpPr>
            <a:spLocks noChangeArrowheads="1"/>
          </p:cNvSpPr>
          <p:nvPr/>
        </p:nvSpPr>
        <p:spPr bwMode="auto">
          <a:xfrm>
            <a:off x="5186363" y="5873750"/>
            <a:ext cx="207962" cy="212725"/>
          </a:xfrm>
          <a:prstGeom prst="ellipse">
            <a:avLst/>
          </a:prstGeom>
          <a:solidFill>
            <a:srgbClr val="000066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4</a:t>
            </a:r>
          </a:p>
        </p:txBody>
      </p:sp>
      <p:sp>
        <p:nvSpPr>
          <p:cNvPr id="20527" name="타원 230"/>
          <p:cNvSpPr>
            <a:spLocks noChangeArrowheads="1"/>
          </p:cNvSpPr>
          <p:nvPr/>
        </p:nvSpPr>
        <p:spPr bwMode="auto">
          <a:xfrm>
            <a:off x="5186363" y="6094413"/>
            <a:ext cx="207962" cy="212725"/>
          </a:xfrm>
          <a:prstGeom prst="ellipse">
            <a:avLst/>
          </a:prstGeom>
          <a:solidFill>
            <a:srgbClr val="000066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5</a:t>
            </a:r>
          </a:p>
        </p:txBody>
      </p:sp>
      <p:cxnSp>
        <p:nvCxnSpPr>
          <p:cNvPr id="20528" name="직선 화살표 연결선 65"/>
          <p:cNvCxnSpPr>
            <a:cxnSpLocks noChangeShapeType="1"/>
            <a:endCxn id="20554" idx="1"/>
          </p:cNvCxnSpPr>
          <p:nvPr/>
        </p:nvCxnSpPr>
        <p:spPr bwMode="auto">
          <a:xfrm flipV="1">
            <a:off x="7154863" y="2152650"/>
            <a:ext cx="690562" cy="322263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29" name="직사각형 75"/>
          <p:cNvSpPr>
            <a:spLocks noChangeArrowheads="1"/>
          </p:cNvSpPr>
          <p:nvPr/>
        </p:nvSpPr>
        <p:spPr bwMode="auto">
          <a:xfrm>
            <a:off x="5129213" y="4476750"/>
            <a:ext cx="97472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sz="10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구매패턴 및</a:t>
            </a:r>
          </a:p>
          <a:p>
            <a:r>
              <a:rPr lang="ko-KR" altLang="en-US" sz="10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주기분석</a:t>
            </a:r>
            <a:endParaRPr lang="en-US" altLang="ko-KR" sz="10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cxnSp>
        <p:nvCxnSpPr>
          <p:cNvPr id="20530" name="Shape 53"/>
          <p:cNvCxnSpPr>
            <a:cxnSpLocks noChangeShapeType="1"/>
            <a:stCxn id="755792" idx="3"/>
            <a:endCxn id="20544" idx="2"/>
          </p:cNvCxnSpPr>
          <p:nvPr/>
        </p:nvCxnSpPr>
        <p:spPr bwMode="auto">
          <a:xfrm flipV="1">
            <a:off x="8255000" y="4267200"/>
            <a:ext cx="222250" cy="531813"/>
          </a:xfrm>
          <a:prstGeom prst="bentConnector2">
            <a:avLst/>
          </a:prstGeom>
          <a:noFill/>
          <a:ln w="9525" algn="ctr">
            <a:solidFill>
              <a:schemeClr val="bg2"/>
            </a:solidFill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31" name="Shape 59"/>
          <p:cNvCxnSpPr>
            <a:cxnSpLocks noChangeShapeType="1"/>
            <a:stCxn id="755792" idx="1"/>
            <a:endCxn id="20533" idx="2"/>
          </p:cNvCxnSpPr>
          <p:nvPr/>
        </p:nvCxnSpPr>
        <p:spPr bwMode="auto">
          <a:xfrm rot="10800000">
            <a:off x="6021388" y="4267200"/>
            <a:ext cx="342900" cy="531813"/>
          </a:xfrm>
          <a:prstGeom prst="bentConnector2">
            <a:avLst/>
          </a:prstGeom>
          <a:noFill/>
          <a:ln w="9525" algn="ctr">
            <a:solidFill>
              <a:schemeClr val="bg2"/>
            </a:solidFill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32" name="직사각형 79"/>
          <p:cNvSpPr>
            <a:spLocks noChangeArrowheads="1"/>
          </p:cNvSpPr>
          <p:nvPr/>
        </p:nvSpPr>
        <p:spPr bwMode="auto">
          <a:xfrm>
            <a:off x="8313738" y="4487863"/>
            <a:ext cx="976312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sz="10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상품연관성</a:t>
            </a:r>
          </a:p>
          <a:p>
            <a:r>
              <a:rPr lang="ko-KR" altLang="en-US" sz="10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분석</a:t>
            </a:r>
            <a:endParaRPr lang="en-US" altLang="ko-KR" sz="10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0533" name="오각형 82"/>
          <p:cNvSpPr>
            <a:spLocks noChangeArrowheads="1"/>
          </p:cNvSpPr>
          <p:nvPr/>
        </p:nvSpPr>
        <p:spPr bwMode="auto">
          <a:xfrm>
            <a:off x="5159375" y="2873375"/>
            <a:ext cx="1903413" cy="1393825"/>
          </a:xfrm>
          <a:prstGeom prst="homePlate">
            <a:avLst>
              <a:gd name="adj" fmla="val 12954"/>
            </a:avLst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endParaRPr lang="ko-KR" altLang="ko-KR" sz="10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0534" name="직사각형 55" descr="Light upward diagonal"/>
          <p:cNvSpPr>
            <a:spLocks noChangeArrowheads="1"/>
          </p:cNvSpPr>
          <p:nvPr/>
        </p:nvSpPr>
        <p:spPr bwMode="auto">
          <a:xfrm>
            <a:off x="5194300" y="2921000"/>
            <a:ext cx="774700" cy="1314450"/>
          </a:xfrm>
          <a:prstGeom prst="rect">
            <a:avLst/>
          </a:prstGeom>
          <a:pattFill prst="ltUpDiag">
            <a:fgClr>
              <a:srgbClr val="C0C0C0"/>
            </a:fgClr>
            <a:bgClr>
              <a:srgbClr val="FFFF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endParaRPr lang="ko-KR" altLang="ko-KR" sz="10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0535" name="직사각형 84"/>
          <p:cNvSpPr>
            <a:spLocks noChangeArrowheads="1"/>
          </p:cNvSpPr>
          <p:nvPr/>
        </p:nvSpPr>
        <p:spPr bwMode="auto">
          <a:xfrm>
            <a:off x="5273675" y="3006725"/>
            <a:ext cx="615950" cy="319088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en-US" altLang="ko-KR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Item</a:t>
            </a:r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별</a:t>
            </a:r>
          </a:p>
          <a:p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반복구매</a:t>
            </a:r>
            <a:endParaRPr lang="en-US" altLang="ko-KR" sz="9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0536" name="직사각형 85"/>
          <p:cNvSpPr>
            <a:spLocks noChangeArrowheads="1"/>
          </p:cNvSpPr>
          <p:nvPr/>
        </p:nvSpPr>
        <p:spPr bwMode="auto">
          <a:xfrm>
            <a:off x="5273675" y="3424238"/>
            <a:ext cx="615950" cy="319087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카테고리별 </a:t>
            </a:r>
          </a:p>
          <a:p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반복구매</a:t>
            </a:r>
            <a:endParaRPr lang="en-US" altLang="ko-KR" sz="9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0537" name="직사각형 86"/>
          <p:cNvSpPr>
            <a:spLocks noChangeArrowheads="1"/>
          </p:cNvSpPr>
          <p:nvPr/>
        </p:nvSpPr>
        <p:spPr bwMode="auto">
          <a:xfrm>
            <a:off x="5273675" y="3841750"/>
            <a:ext cx="615950" cy="319088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브랜드별</a:t>
            </a:r>
          </a:p>
          <a:p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반복구매</a:t>
            </a:r>
            <a:endParaRPr lang="en-US" altLang="ko-KR" sz="9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483386" name="직사각형 87"/>
          <p:cNvSpPr>
            <a:spLocks noChangeArrowheads="1"/>
          </p:cNvSpPr>
          <p:nvPr/>
        </p:nvSpPr>
        <p:spPr bwMode="auto">
          <a:xfrm>
            <a:off x="6091238" y="3406775"/>
            <a:ext cx="738187" cy="34925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12700" algn="ctr">
            <a:solidFill>
              <a:schemeClr val="bg2"/>
            </a:solidFill>
            <a:round/>
            <a:headEnd/>
            <a:tailEnd/>
          </a:ln>
          <a:effectLst>
            <a:outerShdw dist="35921" dir="2700000" algn="ctr" rotWithShape="0">
              <a:srgbClr val="80808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>
              <a:spcAft>
                <a:spcPct val="10000"/>
              </a:spcAft>
              <a:defRPr/>
            </a:pPr>
            <a:r>
              <a:rPr lang="ko-KR" altLang="en-US" sz="9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구매패턴 기반</a:t>
            </a:r>
          </a:p>
          <a:p>
            <a:pPr>
              <a:spcAft>
                <a:spcPct val="10000"/>
              </a:spcAft>
              <a:defRPr/>
            </a:pPr>
            <a:r>
              <a:rPr lang="ko-KR" altLang="en-US" sz="9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상품추천</a:t>
            </a:r>
          </a:p>
        </p:txBody>
      </p:sp>
      <p:sp>
        <p:nvSpPr>
          <p:cNvPr id="20539" name="타원 88"/>
          <p:cNvSpPr>
            <a:spLocks noChangeArrowheads="1"/>
          </p:cNvSpPr>
          <p:nvPr/>
        </p:nvSpPr>
        <p:spPr bwMode="auto">
          <a:xfrm>
            <a:off x="6130925" y="2981325"/>
            <a:ext cx="636588" cy="311150"/>
          </a:xfrm>
          <a:prstGeom prst="ellipse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en-US" altLang="ko-KR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Right</a:t>
            </a:r>
          </a:p>
          <a:p>
            <a:r>
              <a:rPr lang="en-US" altLang="ko-KR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Time</a:t>
            </a:r>
          </a:p>
        </p:txBody>
      </p:sp>
      <p:sp>
        <p:nvSpPr>
          <p:cNvPr id="20540" name="타원 89"/>
          <p:cNvSpPr>
            <a:spLocks noChangeArrowheads="1"/>
          </p:cNvSpPr>
          <p:nvPr/>
        </p:nvSpPr>
        <p:spPr bwMode="auto">
          <a:xfrm>
            <a:off x="6130925" y="3862388"/>
            <a:ext cx="636588" cy="307975"/>
          </a:xfrm>
          <a:prstGeom prst="ellipse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en-US" altLang="ko-KR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Right</a:t>
            </a:r>
          </a:p>
          <a:p>
            <a:r>
              <a:rPr lang="en-US" altLang="ko-KR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Offer</a:t>
            </a:r>
          </a:p>
        </p:txBody>
      </p:sp>
      <p:cxnSp>
        <p:nvCxnSpPr>
          <p:cNvPr id="20541" name="직선 화살표 연결선 60"/>
          <p:cNvCxnSpPr>
            <a:cxnSpLocks noChangeShapeType="1"/>
            <a:stCxn id="20534" idx="3"/>
            <a:endCxn id="483386" idx="1"/>
          </p:cNvCxnSpPr>
          <p:nvPr/>
        </p:nvCxnSpPr>
        <p:spPr bwMode="auto">
          <a:xfrm>
            <a:off x="5969000" y="3578225"/>
            <a:ext cx="122238" cy="3175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42" name="직선 화살표 연결선 63"/>
          <p:cNvCxnSpPr>
            <a:cxnSpLocks noChangeShapeType="1"/>
            <a:stCxn id="20539" idx="4"/>
            <a:endCxn id="483386" idx="0"/>
          </p:cNvCxnSpPr>
          <p:nvPr/>
        </p:nvCxnSpPr>
        <p:spPr bwMode="auto">
          <a:xfrm>
            <a:off x="6450013" y="3292475"/>
            <a:ext cx="11112" cy="114300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43" name="직선 화살표 연결선 65"/>
          <p:cNvCxnSpPr>
            <a:cxnSpLocks noChangeShapeType="1"/>
            <a:stCxn id="20540" idx="0"/>
            <a:endCxn id="483386" idx="2"/>
          </p:cNvCxnSpPr>
          <p:nvPr/>
        </p:nvCxnSpPr>
        <p:spPr bwMode="auto">
          <a:xfrm flipV="1">
            <a:off x="6450013" y="3756025"/>
            <a:ext cx="11112" cy="106363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44" name="오각형 93"/>
          <p:cNvSpPr>
            <a:spLocks noChangeArrowheads="1"/>
          </p:cNvSpPr>
          <p:nvPr/>
        </p:nvSpPr>
        <p:spPr bwMode="auto">
          <a:xfrm flipH="1">
            <a:off x="7434263" y="2873375"/>
            <a:ext cx="1905000" cy="1393825"/>
          </a:xfrm>
          <a:prstGeom prst="homePlate">
            <a:avLst>
              <a:gd name="adj" fmla="val 12959"/>
            </a:avLst>
          </a:prstGeom>
          <a:noFill/>
          <a:ln w="9525" algn="ctr">
            <a:solidFill>
              <a:schemeClr val="bg2"/>
            </a:solidFill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endParaRPr lang="ko-KR" altLang="ko-KR" sz="10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483393" name="직사각형 94"/>
          <p:cNvSpPr>
            <a:spLocks noChangeArrowheads="1"/>
          </p:cNvSpPr>
          <p:nvPr/>
        </p:nvSpPr>
        <p:spPr bwMode="auto">
          <a:xfrm>
            <a:off x="8255000" y="3089275"/>
            <a:ext cx="858838" cy="360363"/>
          </a:xfrm>
          <a:prstGeom prst="rect">
            <a:avLst/>
          </a:prstGeom>
          <a:solidFill>
            <a:schemeClr val="accent3">
              <a:lumMod val="85000"/>
            </a:schemeClr>
          </a:solidFill>
          <a:ln w="12700" algn="ctr">
            <a:solidFill>
              <a:schemeClr val="bg2"/>
            </a:solidFill>
            <a:round/>
            <a:headEnd/>
            <a:tailEnd/>
          </a:ln>
          <a:effectLst>
            <a:outerShdw dist="35921" dir="2700000" algn="ctr" rotWithShape="0">
              <a:srgbClr val="808080">
                <a:alpha val="50000"/>
              </a:srgbClr>
            </a:outerShdw>
          </a:effectLst>
        </p:spPr>
        <p:txBody>
          <a:bodyPr lIns="36000" tIns="36000" rIns="36000" bIns="36000" anchor="ctr"/>
          <a:lstStyle/>
          <a:p>
            <a:pPr>
              <a:spcAft>
                <a:spcPct val="10000"/>
              </a:spcAft>
              <a:defRPr/>
            </a:pPr>
            <a:r>
              <a:rPr lang="ko-KR" altLang="en-US" sz="9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상품 연관성</a:t>
            </a:r>
          </a:p>
          <a:p>
            <a:pPr>
              <a:spcAft>
                <a:spcPct val="10000"/>
              </a:spcAft>
              <a:defRPr/>
            </a:pPr>
            <a:r>
              <a:rPr lang="ko-KR" altLang="en-US" sz="9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기반 상품추천</a:t>
            </a:r>
            <a:endParaRPr lang="en-US" altLang="en-US" sz="900" b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0546" name="모서리가 둥근 직사각형 95"/>
          <p:cNvSpPr>
            <a:spLocks noChangeArrowheads="1"/>
          </p:cNvSpPr>
          <p:nvPr/>
        </p:nvSpPr>
        <p:spPr bwMode="auto">
          <a:xfrm>
            <a:off x="7896225" y="3700463"/>
            <a:ext cx="639763" cy="4333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5000"/>
              </a:lnSpc>
            </a:pPr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브랜드간</a:t>
            </a:r>
          </a:p>
          <a:p>
            <a:pPr>
              <a:lnSpc>
                <a:spcPct val="115000"/>
              </a:lnSpc>
            </a:pPr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상관도</a:t>
            </a:r>
            <a:endParaRPr lang="en-US" altLang="ko-KR" sz="9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0547" name="모서리가 둥근 직사각형 96"/>
          <p:cNvSpPr>
            <a:spLocks noChangeArrowheads="1"/>
          </p:cNvSpPr>
          <p:nvPr/>
        </p:nvSpPr>
        <p:spPr bwMode="auto">
          <a:xfrm>
            <a:off x="8648700" y="3700463"/>
            <a:ext cx="639763" cy="4333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5000"/>
              </a:lnSpc>
            </a:pPr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카테고리간</a:t>
            </a:r>
          </a:p>
          <a:p>
            <a:pPr>
              <a:lnSpc>
                <a:spcPct val="115000"/>
              </a:lnSpc>
            </a:pPr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상관도</a:t>
            </a:r>
            <a:endParaRPr lang="en-US" altLang="ko-KR" sz="9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cxnSp>
        <p:nvCxnSpPr>
          <p:cNvPr id="20548" name="꺾인 연결선 44"/>
          <p:cNvCxnSpPr>
            <a:cxnSpLocks noChangeShapeType="1"/>
            <a:stCxn id="20546" idx="0"/>
            <a:endCxn id="483393" idx="2"/>
          </p:cNvCxnSpPr>
          <p:nvPr/>
        </p:nvCxnSpPr>
        <p:spPr bwMode="auto">
          <a:xfrm rot="-5400000">
            <a:off x="8324850" y="3340101"/>
            <a:ext cx="250825" cy="469900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bg2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49" name="꺾인 연결선 46"/>
          <p:cNvCxnSpPr>
            <a:cxnSpLocks noChangeShapeType="1"/>
            <a:stCxn id="20547" idx="0"/>
            <a:endCxn id="483393" idx="2"/>
          </p:cNvCxnSpPr>
          <p:nvPr/>
        </p:nvCxnSpPr>
        <p:spPr bwMode="auto">
          <a:xfrm rot="5400000" flipH="1">
            <a:off x="8701881" y="3432970"/>
            <a:ext cx="250825" cy="2841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bg2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50" name="타원 103"/>
          <p:cNvSpPr>
            <a:spLocks noChangeArrowheads="1"/>
          </p:cNvSpPr>
          <p:nvPr/>
        </p:nvSpPr>
        <p:spPr bwMode="auto">
          <a:xfrm>
            <a:off x="7608888" y="3089275"/>
            <a:ext cx="531812" cy="360363"/>
          </a:xfrm>
          <a:prstGeom prst="ellipse">
            <a:avLst/>
          </a:prstGeom>
          <a:noFill/>
          <a:ln w="12700" algn="ctr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고객 특성</a:t>
            </a:r>
            <a:endParaRPr lang="en-US" altLang="ko-KR" sz="9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cxnSp>
        <p:nvCxnSpPr>
          <p:cNvPr id="20551" name="직선 화살표 연결선 81"/>
          <p:cNvCxnSpPr>
            <a:cxnSpLocks noChangeShapeType="1"/>
            <a:stCxn id="20550" idx="6"/>
            <a:endCxn id="483393" idx="1"/>
          </p:cNvCxnSpPr>
          <p:nvPr/>
        </p:nvCxnSpPr>
        <p:spPr bwMode="auto">
          <a:xfrm>
            <a:off x="8140700" y="3270250"/>
            <a:ext cx="114300" cy="0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3400" name="타원 105"/>
          <p:cNvSpPr>
            <a:spLocks noChangeArrowheads="1"/>
          </p:cNvSpPr>
          <p:nvPr/>
        </p:nvSpPr>
        <p:spPr bwMode="auto">
          <a:xfrm>
            <a:off x="6877050" y="3206750"/>
            <a:ext cx="744538" cy="827088"/>
          </a:xfrm>
          <a:prstGeom prst="ellipse">
            <a:avLst/>
          </a:prstGeom>
          <a:solidFill>
            <a:schemeClr val="accent3">
              <a:lumMod val="85000"/>
            </a:schemeClr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>
              <a:spcAft>
                <a:spcPct val="10000"/>
              </a:spcAft>
              <a:defRPr/>
            </a:pPr>
            <a:r>
              <a:rPr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종합</a:t>
            </a:r>
          </a:p>
          <a:p>
            <a:pPr>
              <a:spcAft>
                <a:spcPct val="10000"/>
              </a:spcAft>
              <a:defRPr/>
            </a:pPr>
            <a:r>
              <a:rPr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추천 체계</a:t>
            </a:r>
            <a:endParaRPr lang="en-US" altLang="en-US" sz="1000" b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0553" name="직사각형 106"/>
          <p:cNvSpPr>
            <a:spLocks noChangeArrowheads="1"/>
          </p:cNvSpPr>
          <p:nvPr/>
        </p:nvSpPr>
        <p:spPr bwMode="auto">
          <a:xfrm>
            <a:off x="5159375" y="1993900"/>
            <a:ext cx="1535113" cy="317500"/>
          </a:xfrm>
          <a:prstGeom prst="rect">
            <a:avLst/>
          </a:prstGeom>
          <a:solidFill>
            <a:srgbClr val="F8F8F8"/>
          </a:solidFill>
          <a:ln w="6350" algn="ctr">
            <a:solidFill>
              <a:schemeClr val="bg2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rtl="1" eaLnBrk="1" hangingPunct="1">
              <a:spcAft>
                <a:spcPct val="10000"/>
              </a:spcAft>
            </a:pP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자동화된  캠페인 시스템 </a:t>
            </a:r>
          </a:p>
        </p:txBody>
      </p:sp>
      <p:sp>
        <p:nvSpPr>
          <p:cNvPr id="20554" name="직사각형 107"/>
          <p:cNvSpPr>
            <a:spLocks noChangeArrowheads="1"/>
          </p:cNvSpPr>
          <p:nvPr/>
        </p:nvSpPr>
        <p:spPr bwMode="auto">
          <a:xfrm>
            <a:off x="7845425" y="1993900"/>
            <a:ext cx="1493838" cy="317500"/>
          </a:xfrm>
          <a:prstGeom prst="rect">
            <a:avLst/>
          </a:prstGeom>
          <a:solidFill>
            <a:srgbClr val="F8F8F8"/>
          </a:solidFill>
          <a:ln w="6350" algn="ctr">
            <a:solidFill>
              <a:schemeClr val="bg2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rtl="1" eaLnBrk="1" hangingPunct="1">
              <a:spcAft>
                <a:spcPct val="10000"/>
              </a:spcAft>
            </a:pP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상품 추천 시스템</a:t>
            </a:r>
          </a:p>
        </p:txBody>
      </p:sp>
      <p:cxnSp>
        <p:nvCxnSpPr>
          <p:cNvPr id="20555" name="직선 화살표 연결선 63"/>
          <p:cNvCxnSpPr>
            <a:cxnSpLocks noChangeShapeType="1"/>
            <a:stCxn id="20553" idx="3"/>
          </p:cNvCxnSpPr>
          <p:nvPr/>
        </p:nvCxnSpPr>
        <p:spPr bwMode="auto">
          <a:xfrm>
            <a:off x="6694488" y="2152650"/>
            <a:ext cx="460375" cy="322263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56" name="직선 화살표 연결선 77"/>
          <p:cNvCxnSpPr>
            <a:cxnSpLocks noChangeShapeType="1"/>
            <a:stCxn id="20570" idx="0"/>
            <a:endCxn id="20553" idx="2"/>
          </p:cNvCxnSpPr>
          <p:nvPr/>
        </p:nvCxnSpPr>
        <p:spPr bwMode="auto">
          <a:xfrm flipH="1" flipV="1">
            <a:off x="5927725" y="2311400"/>
            <a:ext cx="90488" cy="263525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57" name="직선 화살표 연결선 78"/>
          <p:cNvCxnSpPr>
            <a:cxnSpLocks noChangeShapeType="1"/>
            <a:stCxn id="20571" idx="0"/>
            <a:endCxn id="20554" idx="2"/>
          </p:cNvCxnSpPr>
          <p:nvPr/>
        </p:nvCxnSpPr>
        <p:spPr bwMode="auto">
          <a:xfrm flipV="1">
            <a:off x="8482013" y="2311400"/>
            <a:ext cx="111125" cy="263525"/>
          </a:xfrm>
          <a:prstGeom prst="straightConnector1">
            <a:avLst/>
          </a:prstGeom>
          <a:noFill/>
          <a:ln w="9525" algn="ctr">
            <a:solidFill>
              <a:schemeClr val="bg2"/>
            </a:solidFill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58" name="타원 113"/>
          <p:cNvSpPr>
            <a:spLocks noChangeArrowheads="1"/>
          </p:cNvSpPr>
          <p:nvPr/>
        </p:nvSpPr>
        <p:spPr bwMode="auto">
          <a:xfrm>
            <a:off x="5019675" y="1911350"/>
            <a:ext cx="206375" cy="212725"/>
          </a:xfrm>
          <a:prstGeom prst="ellipse">
            <a:avLst/>
          </a:prstGeom>
          <a:solidFill>
            <a:srgbClr val="000066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0" tIns="0" rIns="0" bIns="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4</a:t>
            </a:r>
          </a:p>
        </p:txBody>
      </p:sp>
      <p:sp>
        <p:nvSpPr>
          <p:cNvPr id="20559" name="타원 114"/>
          <p:cNvSpPr>
            <a:spLocks noChangeArrowheads="1"/>
          </p:cNvSpPr>
          <p:nvPr/>
        </p:nvSpPr>
        <p:spPr bwMode="auto">
          <a:xfrm>
            <a:off x="9247188" y="1911350"/>
            <a:ext cx="206375" cy="212725"/>
          </a:xfrm>
          <a:prstGeom prst="ellipse">
            <a:avLst/>
          </a:prstGeom>
          <a:solidFill>
            <a:srgbClr val="000066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0" tIns="0" rIns="0" bIns="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5</a:t>
            </a:r>
          </a:p>
        </p:txBody>
      </p:sp>
      <p:sp>
        <p:nvSpPr>
          <p:cNvPr id="755792" name="직사각형 55"/>
          <p:cNvSpPr>
            <a:spLocks noChangeArrowheads="1"/>
          </p:cNvSpPr>
          <p:nvPr/>
        </p:nvSpPr>
        <p:spPr bwMode="auto">
          <a:xfrm>
            <a:off x="6364288" y="4505325"/>
            <a:ext cx="1890712" cy="585788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anchor="ctr"/>
          <a:lstStyle/>
          <a:p>
            <a:pPr marL="82550" indent="-82550" eaLnBrk="0" hangingPunct="0">
              <a:defRPr/>
            </a:pPr>
            <a:endParaRPr lang="ko-KR" altLang="ko-KR" sz="1000" b="0">
              <a:solidFill>
                <a:srgbClr val="002060"/>
              </a:solidFill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20561" name="직사각형 118"/>
          <p:cNvSpPr>
            <a:spLocks noChangeArrowheads="1"/>
          </p:cNvSpPr>
          <p:nvPr/>
        </p:nvSpPr>
        <p:spPr bwMode="auto">
          <a:xfrm>
            <a:off x="6516688" y="4587875"/>
            <a:ext cx="457200" cy="430213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매출</a:t>
            </a:r>
            <a:endParaRPr lang="en-US" altLang="ko-KR" sz="9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0562" name="직사각형 119"/>
          <p:cNvSpPr>
            <a:spLocks noChangeArrowheads="1"/>
          </p:cNvSpPr>
          <p:nvPr/>
        </p:nvSpPr>
        <p:spPr bwMode="auto">
          <a:xfrm>
            <a:off x="7077075" y="4587875"/>
            <a:ext cx="458788" cy="430213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구매</a:t>
            </a:r>
          </a:p>
          <a:p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패턴</a:t>
            </a:r>
            <a:endParaRPr lang="en-US" altLang="ko-KR" sz="9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0563" name="직사각형 120"/>
          <p:cNvSpPr>
            <a:spLocks noChangeArrowheads="1"/>
          </p:cNvSpPr>
          <p:nvPr/>
        </p:nvSpPr>
        <p:spPr bwMode="auto">
          <a:xfrm>
            <a:off x="7639050" y="4587875"/>
            <a:ext cx="454025" cy="430213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고객</a:t>
            </a:r>
          </a:p>
          <a:p>
            <a:r>
              <a:rPr lang="ko-KR" altLang="en-US" sz="900" b="0">
                <a:solidFill>
                  <a:srgbClr val="002060"/>
                </a:solidFill>
                <a:latin typeface="+mj-ea"/>
                <a:ea typeface="+mj-ea"/>
                <a:cs typeface="Arial" charset="0"/>
              </a:rPr>
              <a:t>특성</a:t>
            </a:r>
            <a:endParaRPr lang="en-US" altLang="ko-KR" sz="900" b="0">
              <a:solidFill>
                <a:srgbClr val="002060"/>
              </a:solidFill>
              <a:latin typeface="+mj-ea"/>
              <a:ea typeface="+mj-ea"/>
              <a:cs typeface="Arial" charset="0"/>
            </a:endParaRPr>
          </a:p>
        </p:txBody>
      </p:sp>
      <p:pic>
        <p:nvPicPr>
          <p:cNvPr id="20564" name="Picture 84" descr="Customer"/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075" y="2103438"/>
            <a:ext cx="390525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5" name="Picture 85" descr="Customer"/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138" y="1966913"/>
            <a:ext cx="392112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6" name="Picture 86" descr="Customer"/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863" y="2065338"/>
            <a:ext cx="392112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7" name="Picture 87" descr="Customer"/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413" y="2216150"/>
            <a:ext cx="390525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8" name="Picture 88" descr="Customer"/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863" y="2282825"/>
            <a:ext cx="392112" cy="38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69" name="타원 92"/>
          <p:cNvSpPr>
            <a:spLocks noChangeArrowheads="1"/>
          </p:cNvSpPr>
          <p:nvPr/>
        </p:nvSpPr>
        <p:spPr bwMode="auto">
          <a:xfrm>
            <a:off x="6281738" y="4425950"/>
            <a:ext cx="206375" cy="212725"/>
          </a:xfrm>
          <a:prstGeom prst="ellipse">
            <a:avLst/>
          </a:prstGeom>
          <a:solidFill>
            <a:srgbClr val="000066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0" tIns="0" rIns="0" bIns="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en-US" sz="10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1</a:t>
            </a:r>
          </a:p>
        </p:txBody>
      </p:sp>
      <p:sp>
        <p:nvSpPr>
          <p:cNvPr id="20570" name="직사각형 80"/>
          <p:cNvSpPr>
            <a:spLocks noChangeArrowheads="1"/>
          </p:cNvSpPr>
          <p:nvPr/>
        </p:nvSpPr>
        <p:spPr bwMode="auto">
          <a:xfrm>
            <a:off x="5159375" y="2574925"/>
            <a:ext cx="1714500" cy="317500"/>
          </a:xfrm>
          <a:prstGeom prst="rect">
            <a:avLst/>
          </a:prstGeom>
          <a:solidFill>
            <a:srgbClr val="F8F8F8"/>
          </a:solidFill>
          <a:ln w="6350" algn="ctr">
            <a:solidFill>
              <a:schemeClr val="bg2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고객구매 패턴 기반 상품추천 </a:t>
            </a:r>
          </a:p>
        </p:txBody>
      </p:sp>
      <p:sp>
        <p:nvSpPr>
          <p:cNvPr id="20571" name="직사각형 81"/>
          <p:cNvSpPr>
            <a:spLocks noChangeArrowheads="1"/>
          </p:cNvSpPr>
          <p:nvPr/>
        </p:nvSpPr>
        <p:spPr bwMode="auto">
          <a:xfrm>
            <a:off x="7621588" y="2574925"/>
            <a:ext cx="1717675" cy="317500"/>
          </a:xfrm>
          <a:prstGeom prst="rect">
            <a:avLst/>
          </a:prstGeom>
          <a:solidFill>
            <a:srgbClr val="F8F8F8"/>
          </a:solidFill>
          <a:ln w="6350" algn="ctr">
            <a:solidFill>
              <a:schemeClr val="bg2"/>
            </a:solidFill>
            <a:round/>
            <a:headEnd/>
            <a:tailEnd/>
          </a:ln>
        </p:spPr>
        <p:txBody>
          <a:bodyPr lIns="36000" tIns="36000" rIns="36000" bIns="360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Aft>
                <a:spcPct val="10000"/>
              </a:spcAft>
            </a:pP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상품 연관성 기반 상품 추천</a:t>
            </a:r>
          </a:p>
        </p:txBody>
      </p:sp>
      <p:sp>
        <p:nvSpPr>
          <p:cNvPr id="20572" name="타원 93"/>
          <p:cNvSpPr>
            <a:spLocks noChangeArrowheads="1"/>
          </p:cNvSpPr>
          <p:nvPr/>
        </p:nvSpPr>
        <p:spPr bwMode="auto">
          <a:xfrm>
            <a:off x="5019675" y="2505075"/>
            <a:ext cx="206375" cy="212725"/>
          </a:xfrm>
          <a:prstGeom prst="ellipse">
            <a:avLst/>
          </a:prstGeom>
          <a:solidFill>
            <a:srgbClr val="000066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0" tIns="0" rIns="0" bIns="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en-US" sz="10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2</a:t>
            </a:r>
          </a:p>
        </p:txBody>
      </p:sp>
      <p:sp>
        <p:nvSpPr>
          <p:cNvPr id="20573" name="타원 96"/>
          <p:cNvSpPr>
            <a:spLocks noChangeArrowheads="1"/>
          </p:cNvSpPr>
          <p:nvPr/>
        </p:nvSpPr>
        <p:spPr bwMode="auto">
          <a:xfrm>
            <a:off x="9247188" y="2505075"/>
            <a:ext cx="206375" cy="212725"/>
          </a:xfrm>
          <a:prstGeom prst="ellipse">
            <a:avLst/>
          </a:prstGeom>
          <a:solidFill>
            <a:srgbClr val="000066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0" tIns="0" rIns="0" bIns="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en-US" sz="10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3</a:t>
            </a:r>
          </a:p>
        </p:txBody>
      </p:sp>
      <p:sp>
        <p:nvSpPr>
          <p:cNvPr id="20574" name="Rectangle 94"/>
          <p:cNvSpPr>
            <a:spLocks noChangeArrowheads="1"/>
          </p:cNvSpPr>
          <p:nvPr/>
        </p:nvSpPr>
        <p:spPr bwMode="auto">
          <a:xfrm>
            <a:off x="1340021" y="1541463"/>
            <a:ext cx="242694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kumimoji="1" lang="ko-KR" altLang="en-US">
                <a:latin typeface="+mj-ea"/>
                <a:ea typeface="+mj-ea"/>
              </a:rPr>
              <a:t>고객 특성 기반의 고객 세분화 체계</a:t>
            </a:r>
          </a:p>
        </p:txBody>
      </p:sp>
      <p:sp>
        <p:nvSpPr>
          <p:cNvPr id="20575" name="Line 95"/>
          <p:cNvSpPr>
            <a:spLocks noChangeShapeType="1"/>
          </p:cNvSpPr>
          <p:nvPr/>
        </p:nvSpPr>
        <p:spPr bwMode="auto">
          <a:xfrm>
            <a:off x="387350" y="1758950"/>
            <a:ext cx="43053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0576" name="Rectangle 96"/>
          <p:cNvSpPr>
            <a:spLocks noChangeArrowheads="1"/>
          </p:cNvSpPr>
          <p:nvPr/>
        </p:nvSpPr>
        <p:spPr bwMode="auto">
          <a:xfrm>
            <a:off x="6166235" y="1543050"/>
            <a:ext cx="22185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kumimoji="1" lang="ko-KR" altLang="en-US">
                <a:latin typeface="+mj-ea"/>
                <a:ea typeface="+mj-ea"/>
              </a:rPr>
              <a:t>고객 니즈 기반의 상품 추천체계</a:t>
            </a:r>
          </a:p>
        </p:txBody>
      </p:sp>
      <p:sp>
        <p:nvSpPr>
          <p:cNvPr id="20577" name="Line 97"/>
          <p:cNvSpPr>
            <a:spLocks noChangeShapeType="1"/>
          </p:cNvSpPr>
          <p:nvPr/>
        </p:nvSpPr>
        <p:spPr bwMode="auto">
          <a:xfrm>
            <a:off x="5056188" y="1760538"/>
            <a:ext cx="430688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0578" name="AutoShape 98"/>
          <p:cNvSpPr>
            <a:spLocks noChangeArrowheads="1"/>
          </p:cNvSpPr>
          <p:nvPr/>
        </p:nvSpPr>
        <p:spPr bwMode="auto">
          <a:xfrm rot="5400000">
            <a:off x="3727450" y="3783013"/>
            <a:ext cx="2339975" cy="25400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reeform 2"/>
          <p:cNvSpPr>
            <a:spLocks/>
          </p:cNvSpPr>
          <p:nvPr/>
        </p:nvSpPr>
        <p:spPr bwMode="auto">
          <a:xfrm>
            <a:off x="704850" y="3376613"/>
            <a:ext cx="3635375" cy="700087"/>
          </a:xfrm>
          <a:custGeom>
            <a:avLst/>
            <a:gdLst>
              <a:gd name="T0" fmla="*/ 2147483647 w 2290"/>
              <a:gd name="T1" fmla="*/ 0 h 431"/>
              <a:gd name="T2" fmla="*/ 2147483647 w 2290"/>
              <a:gd name="T3" fmla="*/ 0 h 431"/>
              <a:gd name="T4" fmla="*/ 2147483647 w 2290"/>
              <a:gd name="T5" fmla="*/ 2147483647 h 431"/>
              <a:gd name="T6" fmla="*/ 0 w 2290"/>
              <a:gd name="T7" fmla="*/ 2147483647 h 431"/>
              <a:gd name="T8" fmla="*/ 2147483647 w 2290"/>
              <a:gd name="T9" fmla="*/ 0 h 4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90"/>
              <a:gd name="T16" fmla="*/ 0 h 431"/>
              <a:gd name="T17" fmla="*/ 2290 w 2290"/>
              <a:gd name="T18" fmla="*/ 431 h 4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90" h="431">
                <a:moveTo>
                  <a:pt x="272" y="0"/>
                </a:moveTo>
                <a:lnTo>
                  <a:pt x="1020" y="0"/>
                </a:lnTo>
                <a:lnTo>
                  <a:pt x="2290" y="431"/>
                </a:lnTo>
                <a:lnTo>
                  <a:pt x="0" y="431"/>
                </a:lnTo>
                <a:lnTo>
                  <a:pt x="272" y="0"/>
                </a:lnTo>
                <a:close/>
              </a:path>
            </a:pathLst>
          </a:custGeom>
          <a:gradFill rotWithShape="1">
            <a:gsLst>
              <a:gs pos="0">
                <a:srgbClr val="D1D1D1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/>
              <a:t>CPG </a:t>
            </a:r>
            <a:r>
              <a:rPr lang="ko-KR" altLang="en-US" dirty="0"/>
              <a:t>산업의 다양한 </a:t>
            </a:r>
            <a:r>
              <a:rPr lang="en-US" altLang="ko-KR" dirty="0"/>
              <a:t>Insight</a:t>
            </a:r>
            <a:r>
              <a:rPr lang="ko-KR" altLang="en-US" dirty="0" err="1"/>
              <a:t>를</a:t>
            </a:r>
            <a:r>
              <a:rPr lang="ko-KR" altLang="en-US" dirty="0"/>
              <a:t> 기반으로 </a:t>
            </a:r>
            <a:r>
              <a:rPr lang="en-US" altLang="ko-KR" dirty="0"/>
              <a:t>eMall</a:t>
            </a:r>
            <a:r>
              <a:rPr lang="ko-KR" altLang="en-US" dirty="0"/>
              <a:t> 고객의 구매패턴을 구체화하고 </a:t>
            </a:r>
            <a:r>
              <a:rPr lang="en-US" altLang="ko-KR" dirty="0"/>
              <a:t>CPG </a:t>
            </a:r>
            <a:r>
              <a:rPr lang="ko-KR" altLang="en-US" dirty="0"/>
              <a:t>카테고리에 적합한 </a:t>
            </a:r>
            <a:r>
              <a:rPr lang="en-US" altLang="ko-KR" dirty="0"/>
              <a:t>BM </a:t>
            </a:r>
            <a:r>
              <a:rPr lang="ko-KR" altLang="en-US" dirty="0"/>
              <a:t>도출을 통해 상품 카테고리를 확장</a:t>
            </a:r>
            <a:r>
              <a:rPr lang="en-US" altLang="ko-KR" dirty="0"/>
              <a:t>/</a:t>
            </a:r>
            <a:r>
              <a:rPr lang="ko-KR" altLang="en-US" dirty="0"/>
              <a:t>확대할 것임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5784850" cy="247650"/>
          </a:xfrm>
          <a:noFill/>
        </p:spPr>
        <p:txBody>
          <a:bodyPr/>
          <a:lstStyle/>
          <a:p>
            <a:r>
              <a:rPr lang="en-US" altLang="ko-KR" dirty="0"/>
              <a:t>Sales Synergy &gt; CPG </a:t>
            </a:r>
            <a:r>
              <a:rPr lang="ko-KR" altLang="en-US" dirty="0"/>
              <a:t>업종 </a:t>
            </a:r>
            <a:r>
              <a:rPr lang="en-US" altLang="ko-KR" dirty="0"/>
              <a:t>INSIGHT </a:t>
            </a:r>
            <a:r>
              <a:rPr lang="ko-KR" altLang="en-US" dirty="0"/>
              <a:t>기반의 </a:t>
            </a:r>
            <a:r>
              <a:rPr lang="en-US" altLang="ko-KR" dirty="0"/>
              <a:t>BM</a:t>
            </a:r>
          </a:p>
        </p:txBody>
      </p:sp>
      <p:sp>
        <p:nvSpPr>
          <p:cNvPr id="22534" name="TextBox 19"/>
          <p:cNvSpPr txBox="1">
            <a:spLocks noChangeArrowheads="1"/>
          </p:cNvSpPr>
          <p:nvPr/>
        </p:nvSpPr>
        <p:spPr bwMode="auto">
          <a:xfrm>
            <a:off x="417513" y="5689600"/>
            <a:ext cx="4249737" cy="620713"/>
          </a:xfrm>
          <a:prstGeom prst="rect">
            <a:avLst/>
          </a:prstGeom>
          <a:noFill/>
          <a:ln w="12700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6800" tIns="36000" rIns="46800" bIns="36000" anchor="ctr"/>
          <a:lstStyle>
            <a:lvl1pPr marL="212725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en-US" altLang="ko-KR" b="0">
                <a:latin typeface="+mj-ea"/>
                <a:ea typeface="+mj-ea"/>
                <a:cs typeface="Arial" charset="0"/>
              </a:rPr>
              <a:t>CPG </a:t>
            </a:r>
            <a:r>
              <a:rPr lang="ko-KR" altLang="en-US" b="0">
                <a:latin typeface="+mj-ea"/>
                <a:ea typeface="+mj-ea"/>
                <a:cs typeface="Arial" charset="0"/>
              </a:rPr>
              <a:t>상품군별 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Advanced Analytics</a:t>
            </a:r>
            <a:r>
              <a:rPr lang="ko-KR" altLang="en-US" b="0">
                <a:latin typeface="+mj-ea"/>
                <a:ea typeface="+mj-ea"/>
                <a:cs typeface="Arial" charset="0"/>
              </a:rPr>
              <a:t>를 활용한 검증된 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insight</a:t>
            </a:r>
            <a:r>
              <a:rPr lang="ko-KR" altLang="en-US" b="0">
                <a:latin typeface="+mj-ea"/>
                <a:ea typeface="+mj-ea"/>
                <a:cs typeface="Arial" charset="0"/>
              </a:rPr>
              <a:t>를 통해 차별적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/</a:t>
            </a:r>
            <a:r>
              <a:rPr lang="ko-KR" altLang="en-US" b="0">
                <a:latin typeface="+mj-ea"/>
                <a:ea typeface="+mj-ea"/>
                <a:cs typeface="Arial" charset="0"/>
              </a:rPr>
              <a:t>구체적 고객 분석 관점 확보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1066926" y="1665288"/>
            <a:ext cx="292868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kumimoji="1" lang="ko-KR" altLang="en-US" dirty="0" err="1">
                <a:latin typeface="+mj-ea"/>
                <a:ea typeface="+mj-ea"/>
              </a:rPr>
              <a:t>상품군</a:t>
            </a:r>
            <a:r>
              <a:rPr kumimoji="1" lang="ko-KR" altLang="en-US" dirty="0">
                <a:latin typeface="+mj-ea"/>
                <a:ea typeface="+mj-ea"/>
              </a:rPr>
              <a:t> 카테고리의 고객 </a:t>
            </a:r>
            <a:r>
              <a:rPr kumimoji="1" lang="en-US" altLang="ko-KR" dirty="0">
                <a:latin typeface="+mj-ea"/>
                <a:ea typeface="+mj-ea"/>
              </a:rPr>
              <a:t>Insight </a:t>
            </a:r>
            <a:r>
              <a:rPr kumimoji="1" lang="ko-KR" altLang="en-US" dirty="0">
                <a:latin typeface="+mj-ea"/>
                <a:ea typeface="+mj-ea"/>
              </a:rPr>
              <a:t>도출 방식</a:t>
            </a:r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>
            <a:off x="387350" y="1882775"/>
            <a:ext cx="43053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6021903" y="1666875"/>
            <a:ext cx="251992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kumimoji="1" lang="ko-KR" altLang="en-US">
                <a:latin typeface="+mj-ea"/>
                <a:ea typeface="+mj-ea"/>
              </a:rPr>
              <a:t>통계적 효과 검증에 따른 </a:t>
            </a:r>
            <a:r>
              <a:rPr kumimoji="1" lang="en-US" altLang="ko-KR">
                <a:latin typeface="+mj-ea"/>
                <a:ea typeface="+mj-ea"/>
              </a:rPr>
              <a:t>BM </a:t>
            </a:r>
            <a:r>
              <a:rPr kumimoji="1" lang="ko-KR" altLang="en-US">
                <a:latin typeface="+mj-ea"/>
                <a:ea typeface="+mj-ea"/>
              </a:rPr>
              <a:t>구체화</a:t>
            </a:r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5056188" y="1884363"/>
            <a:ext cx="430688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539" name="Oval 11"/>
          <p:cNvSpPr>
            <a:spLocks noChangeArrowheads="1"/>
          </p:cNvSpPr>
          <p:nvPr/>
        </p:nvSpPr>
        <p:spPr bwMode="auto">
          <a:xfrm>
            <a:off x="1198563" y="3208338"/>
            <a:ext cx="252412" cy="107950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2540" name="Oval 12"/>
          <p:cNvSpPr>
            <a:spLocks noChangeArrowheads="1"/>
          </p:cNvSpPr>
          <p:nvPr/>
        </p:nvSpPr>
        <p:spPr bwMode="auto">
          <a:xfrm>
            <a:off x="3502025" y="2668588"/>
            <a:ext cx="252413" cy="107950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cxnSp>
        <p:nvCxnSpPr>
          <p:cNvPr id="22541" name="AutoShape 13"/>
          <p:cNvCxnSpPr>
            <a:cxnSpLocks noChangeShapeType="1"/>
            <a:stCxn id="22539" idx="6"/>
            <a:endCxn id="22540" idx="2"/>
          </p:cNvCxnSpPr>
          <p:nvPr/>
        </p:nvCxnSpPr>
        <p:spPr bwMode="auto">
          <a:xfrm flipV="1">
            <a:off x="1450975" y="2722563"/>
            <a:ext cx="2051050" cy="539750"/>
          </a:xfrm>
          <a:prstGeom prst="curvedConnector3">
            <a:avLst>
              <a:gd name="adj1" fmla="val 41329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2" name="Line 14"/>
          <p:cNvSpPr>
            <a:spLocks noChangeShapeType="1"/>
          </p:cNvSpPr>
          <p:nvPr/>
        </p:nvSpPr>
        <p:spPr bwMode="auto">
          <a:xfrm flipV="1">
            <a:off x="1127125" y="256063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1127125" y="3352800"/>
            <a:ext cx="277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776288" y="2352675"/>
            <a:ext cx="684212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>
                <a:latin typeface="+mj-ea"/>
                <a:ea typeface="+mj-ea"/>
              </a:rPr>
              <a:t>고객정착율</a:t>
            </a: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3865563" y="3271838"/>
            <a:ext cx="684212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>
                <a:latin typeface="+mj-ea"/>
                <a:ea typeface="+mj-ea"/>
              </a:rPr>
              <a:t>구매회차</a:t>
            </a:r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>
            <a:off x="2305050" y="2576513"/>
            <a:ext cx="0" cy="757237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1284288" y="2822575"/>
            <a:ext cx="936625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1308100" y="2668588"/>
            <a:ext cx="831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>
                <a:latin typeface="+mj-ea"/>
                <a:ea typeface="+mj-ea"/>
              </a:rPr>
              <a:t>고객 정착을 위한 집중 기간</a:t>
            </a:r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709613" y="3451225"/>
            <a:ext cx="8318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 b="0">
                <a:latin typeface="+mj-ea"/>
                <a:ea typeface="+mj-ea"/>
              </a:rPr>
              <a:t>최초구매</a:t>
            </a:r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1892300" y="3460750"/>
            <a:ext cx="8318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000" b="0">
                <a:latin typeface="+mj-ea"/>
                <a:ea typeface="+mj-ea"/>
              </a:rPr>
              <a:t>N</a:t>
            </a:r>
            <a:r>
              <a:rPr lang="ko-KR" altLang="en-US" sz="1000" b="0">
                <a:latin typeface="+mj-ea"/>
                <a:ea typeface="+mj-ea"/>
              </a:rPr>
              <a:t>차 구매</a:t>
            </a: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693738" y="3865563"/>
            <a:ext cx="15303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 u="sng">
                <a:latin typeface="+mj-ea"/>
                <a:ea typeface="+mj-ea"/>
              </a:rPr>
              <a:t>상품류 관점</a:t>
            </a: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2613025" y="3865563"/>
            <a:ext cx="18192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 u="sng">
                <a:latin typeface="+mj-ea"/>
                <a:ea typeface="+mj-ea"/>
              </a:rPr>
              <a:t>고객 </a:t>
            </a:r>
            <a:r>
              <a:rPr lang="en-US" altLang="ko-KR" sz="1000" u="sng">
                <a:latin typeface="+mj-ea"/>
                <a:ea typeface="+mj-ea"/>
              </a:rPr>
              <a:t>Lifestage </a:t>
            </a:r>
            <a:r>
              <a:rPr lang="ko-KR" altLang="en-US" sz="1000" u="sng">
                <a:latin typeface="+mj-ea"/>
                <a:ea typeface="+mj-ea"/>
              </a:rPr>
              <a:t>관점</a:t>
            </a:r>
          </a:p>
        </p:txBody>
      </p:sp>
      <p:sp>
        <p:nvSpPr>
          <p:cNvPr id="768025" name="AutoShape 25"/>
          <p:cNvSpPr>
            <a:spLocks noChangeArrowheads="1"/>
          </p:cNvSpPr>
          <p:nvPr/>
        </p:nvSpPr>
        <p:spPr bwMode="auto">
          <a:xfrm rot="5400000">
            <a:off x="3694112" y="3856038"/>
            <a:ext cx="2339975" cy="254000"/>
          </a:xfrm>
          <a:prstGeom prst="triangle">
            <a:avLst>
              <a:gd name="adj" fmla="val 50000"/>
            </a:avLst>
          </a:prstGeom>
          <a:gradFill>
            <a:gsLst>
              <a:gs pos="50000">
                <a:schemeClr val="bg2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>
              <a:defRPr/>
            </a:pPr>
            <a:endParaRPr lang="ko-KR" altLang="ko-KR">
              <a:latin typeface="+mj-ea"/>
              <a:ea typeface="+mj-ea"/>
            </a:endParaRPr>
          </a:p>
        </p:txBody>
      </p:sp>
      <p:pic>
        <p:nvPicPr>
          <p:cNvPr id="22554" name="Picture 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363" y="2386013"/>
            <a:ext cx="2124075" cy="1266825"/>
          </a:xfrm>
          <a:prstGeom prst="rect">
            <a:avLst/>
          </a:prstGeom>
          <a:noFill/>
          <a:ln w="9525" algn="ctr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55" name="Text Box 27"/>
          <p:cNvSpPr txBox="1">
            <a:spLocks noChangeArrowheads="1"/>
          </p:cNvSpPr>
          <p:nvPr/>
        </p:nvSpPr>
        <p:spPr bwMode="auto">
          <a:xfrm>
            <a:off x="5384800" y="2143125"/>
            <a:ext cx="19812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 u="sng">
                <a:latin typeface="+mj-ea"/>
                <a:ea typeface="+mj-ea"/>
              </a:rPr>
              <a:t>교차구매 후 이탈율 감소 효과</a:t>
            </a:r>
          </a:p>
        </p:txBody>
      </p:sp>
      <p:sp>
        <p:nvSpPr>
          <p:cNvPr id="22556" name="Text Box 28"/>
          <p:cNvSpPr txBox="1">
            <a:spLocks noChangeArrowheads="1"/>
          </p:cNvSpPr>
          <p:nvPr/>
        </p:nvSpPr>
        <p:spPr bwMode="auto">
          <a:xfrm>
            <a:off x="5349875" y="3871913"/>
            <a:ext cx="20510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1000" u="sng">
                <a:latin typeface="+mj-ea"/>
                <a:ea typeface="+mj-ea"/>
              </a:rPr>
              <a:t>특정 </a:t>
            </a:r>
            <a:r>
              <a:rPr lang="en-US" altLang="ko-KR" sz="1000" u="sng">
                <a:latin typeface="+mj-ea"/>
                <a:ea typeface="+mj-ea"/>
              </a:rPr>
              <a:t>Lifestage</a:t>
            </a:r>
            <a:r>
              <a:rPr lang="ko-KR" altLang="en-US" sz="1000" u="sng">
                <a:latin typeface="+mj-ea"/>
                <a:ea typeface="+mj-ea"/>
              </a:rPr>
              <a:t>군 구매율 증가 효과</a:t>
            </a:r>
          </a:p>
        </p:txBody>
      </p:sp>
      <p:sp>
        <p:nvSpPr>
          <p:cNvPr id="22557" name="Rectangle 29"/>
          <p:cNvSpPr>
            <a:spLocks noChangeArrowheads="1"/>
          </p:cNvSpPr>
          <p:nvPr/>
        </p:nvSpPr>
        <p:spPr bwMode="auto">
          <a:xfrm>
            <a:off x="631825" y="4079875"/>
            <a:ext cx="1657350" cy="97313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2558" name="Rectangle 30"/>
          <p:cNvSpPr>
            <a:spLocks noChangeArrowheads="1"/>
          </p:cNvSpPr>
          <p:nvPr/>
        </p:nvSpPr>
        <p:spPr bwMode="auto">
          <a:xfrm>
            <a:off x="2684463" y="4079875"/>
            <a:ext cx="1657350" cy="973138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2559" name="Oval 31"/>
          <p:cNvSpPr>
            <a:spLocks noChangeArrowheads="1"/>
          </p:cNvSpPr>
          <p:nvPr/>
        </p:nvSpPr>
        <p:spPr bwMode="auto">
          <a:xfrm>
            <a:off x="812800" y="4187825"/>
            <a:ext cx="395288" cy="215900"/>
          </a:xfrm>
          <a:prstGeom prst="ellipse">
            <a:avLst/>
          </a:prstGeom>
          <a:solidFill>
            <a:srgbClr val="EAEAEA"/>
          </a:solidFill>
          <a:ln w="9525" algn="ctr">
            <a:solidFill>
              <a:srgbClr val="333333"/>
            </a:solidFill>
            <a:prstDash val="sysDot"/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썬블록</a:t>
            </a:r>
          </a:p>
        </p:txBody>
      </p:sp>
      <p:sp>
        <p:nvSpPr>
          <p:cNvPr id="22560" name="Oval 32"/>
          <p:cNvSpPr>
            <a:spLocks noChangeArrowheads="1"/>
          </p:cNvSpPr>
          <p:nvPr/>
        </p:nvSpPr>
        <p:spPr bwMode="auto">
          <a:xfrm>
            <a:off x="1676400" y="4727575"/>
            <a:ext cx="395288" cy="215900"/>
          </a:xfrm>
          <a:prstGeom prst="ellipse">
            <a:avLst/>
          </a:prstGeom>
          <a:solidFill>
            <a:srgbClr val="EAEAEA"/>
          </a:solidFill>
          <a:ln w="9525" algn="ctr">
            <a:solidFill>
              <a:srgbClr val="333333"/>
            </a:solidFill>
            <a:prstDash val="sysDot"/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900" b="0">
                <a:latin typeface="+mj-ea"/>
                <a:ea typeface="+mj-ea"/>
              </a:rPr>
              <a:t>eye</a:t>
            </a:r>
          </a:p>
        </p:txBody>
      </p:sp>
      <p:sp>
        <p:nvSpPr>
          <p:cNvPr id="22561" name="Oval 33"/>
          <p:cNvSpPr>
            <a:spLocks noChangeArrowheads="1"/>
          </p:cNvSpPr>
          <p:nvPr/>
        </p:nvSpPr>
        <p:spPr bwMode="auto">
          <a:xfrm>
            <a:off x="1317625" y="4295775"/>
            <a:ext cx="395288" cy="215900"/>
          </a:xfrm>
          <a:prstGeom prst="ellipse">
            <a:avLst/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스킨</a:t>
            </a:r>
          </a:p>
        </p:txBody>
      </p:sp>
      <p:sp>
        <p:nvSpPr>
          <p:cNvPr id="22562" name="Oval 34"/>
          <p:cNvSpPr>
            <a:spLocks noChangeArrowheads="1"/>
          </p:cNvSpPr>
          <p:nvPr/>
        </p:nvSpPr>
        <p:spPr bwMode="auto">
          <a:xfrm>
            <a:off x="1677988" y="4152900"/>
            <a:ext cx="395287" cy="215900"/>
          </a:xfrm>
          <a:prstGeom prst="ellipse">
            <a:avLst/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로션</a:t>
            </a:r>
          </a:p>
        </p:txBody>
      </p:sp>
      <p:sp>
        <p:nvSpPr>
          <p:cNvPr id="22563" name="Oval 35"/>
          <p:cNvSpPr>
            <a:spLocks noChangeArrowheads="1"/>
          </p:cNvSpPr>
          <p:nvPr/>
        </p:nvSpPr>
        <p:spPr bwMode="auto">
          <a:xfrm>
            <a:off x="1785938" y="4440238"/>
            <a:ext cx="395287" cy="215900"/>
          </a:xfrm>
          <a:prstGeom prst="ellipse">
            <a:avLst/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에센스</a:t>
            </a:r>
          </a:p>
        </p:txBody>
      </p:sp>
      <p:sp>
        <p:nvSpPr>
          <p:cNvPr id="22564" name="Oval 36"/>
          <p:cNvSpPr>
            <a:spLocks noChangeArrowheads="1"/>
          </p:cNvSpPr>
          <p:nvPr/>
        </p:nvSpPr>
        <p:spPr bwMode="auto">
          <a:xfrm>
            <a:off x="1173163" y="4621213"/>
            <a:ext cx="395287" cy="215900"/>
          </a:xfrm>
          <a:prstGeom prst="ellipse">
            <a:avLst/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크림</a:t>
            </a:r>
          </a:p>
        </p:txBody>
      </p:sp>
      <p:sp>
        <p:nvSpPr>
          <p:cNvPr id="22565" name="Oval 37"/>
          <p:cNvSpPr>
            <a:spLocks noChangeArrowheads="1"/>
          </p:cNvSpPr>
          <p:nvPr/>
        </p:nvSpPr>
        <p:spPr bwMode="auto">
          <a:xfrm>
            <a:off x="741363" y="4476750"/>
            <a:ext cx="395287" cy="215900"/>
          </a:xfrm>
          <a:prstGeom prst="ellipse">
            <a:avLst/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미백</a:t>
            </a:r>
          </a:p>
        </p:txBody>
      </p:sp>
      <p:sp>
        <p:nvSpPr>
          <p:cNvPr id="22566" name="Oval 38"/>
          <p:cNvSpPr>
            <a:spLocks noChangeArrowheads="1"/>
          </p:cNvSpPr>
          <p:nvPr/>
        </p:nvSpPr>
        <p:spPr bwMode="auto">
          <a:xfrm>
            <a:off x="741363" y="4764088"/>
            <a:ext cx="395287" cy="215900"/>
          </a:xfrm>
          <a:prstGeom prst="ellipse">
            <a:avLst/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마스</a:t>
            </a:r>
          </a:p>
        </p:txBody>
      </p:sp>
      <p:sp>
        <p:nvSpPr>
          <p:cNvPr id="22567" name="AutoShape 39"/>
          <p:cNvSpPr>
            <a:spLocks noChangeArrowheads="1"/>
          </p:cNvSpPr>
          <p:nvPr/>
        </p:nvSpPr>
        <p:spPr bwMode="auto">
          <a:xfrm>
            <a:off x="2757488" y="4368800"/>
            <a:ext cx="395287" cy="21590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 algn="ctr">
            <a:solidFill>
              <a:srgbClr val="333333"/>
            </a:solidFill>
            <a:prstDash val="sysDot"/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출산</a:t>
            </a:r>
          </a:p>
        </p:txBody>
      </p:sp>
      <p:sp>
        <p:nvSpPr>
          <p:cNvPr id="22568" name="AutoShape 40"/>
          <p:cNvSpPr>
            <a:spLocks noChangeArrowheads="1"/>
          </p:cNvSpPr>
          <p:nvPr/>
        </p:nvSpPr>
        <p:spPr bwMode="auto">
          <a:xfrm>
            <a:off x="3260725" y="4187825"/>
            <a:ext cx="395288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입학</a:t>
            </a:r>
          </a:p>
        </p:txBody>
      </p:sp>
      <p:sp>
        <p:nvSpPr>
          <p:cNvPr id="22569" name="AutoShape 41"/>
          <p:cNvSpPr>
            <a:spLocks noChangeArrowheads="1"/>
          </p:cNvSpPr>
          <p:nvPr/>
        </p:nvSpPr>
        <p:spPr bwMode="auto">
          <a:xfrm>
            <a:off x="3800475" y="4333875"/>
            <a:ext cx="395288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졸업</a:t>
            </a:r>
          </a:p>
        </p:txBody>
      </p:sp>
      <p:sp>
        <p:nvSpPr>
          <p:cNvPr id="22570" name="AutoShape 42"/>
          <p:cNvSpPr>
            <a:spLocks noChangeArrowheads="1"/>
          </p:cNvSpPr>
          <p:nvPr/>
        </p:nvSpPr>
        <p:spPr bwMode="auto">
          <a:xfrm>
            <a:off x="3297238" y="4549775"/>
            <a:ext cx="395287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복직</a:t>
            </a:r>
          </a:p>
        </p:txBody>
      </p:sp>
      <p:sp>
        <p:nvSpPr>
          <p:cNvPr id="22571" name="AutoShape 43"/>
          <p:cNvSpPr>
            <a:spLocks noChangeArrowheads="1"/>
          </p:cNvSpPr>
          <p:nvPr/>
        </p:nvSpPr>
        <p:spPr bwMode="auto">
          <a:xfrm>
            <a:off x="3800475" y="4729163"/>
            <a:ext cx="395288" cy="21590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 algn="ctr">
            <a:solidFill>
              <a:srgbClr val="333333"/>
            </a:solidFill>
            <a:prstDash val="sysDot"/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취업</a:t>
            </a:r>
          </a:p>
        </p:txBody>
      </p:sp>
      <p:sp>
        <p:nvSpPr>
          <p:cNvPr id="22572" name="AutoShape 44"/>
          <p:cNvSpPr>
            <a:spLocks noChangeArrowheads="1"/>
          </p:cNvSpPr>
          <p:nvPr/>
        </p:nvSpPr>
        <p:spPr bwMode="auto">
          <a:xfrm>
            <a:off x="2828925" y="4729163"/>
            <a:ext cx="395288" cy="215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rgbClr val="333333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b="0">
                <a:latin typeface="+mj-ea"/>
                <a:ea typeface="+mj-ea"/>
              </a:rPr>
              <a:t>결혼</a:t>
            </a:r>
          </a:p>
        </p:txBody>
      </p:sp>
      <p:sp>
        <p:nvSpPr>
          <p:cNvPr id="22573" name="Text Box 12"/>
          <p:cNvSpPr txBox="1">
            <a:spLocks noChangeArrowheads="1"/>
          </p:cNvSpPr>
          <p:nvPr/>
        </p:nvSpPr>
        <p:spPr bwMode="auto">
          <a:xfrm>
            <a:off x="2252663" y="2244725"/>
            <a:ext cx="270033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100" b="0" i="1" dirty="0">
                <a:latin typeface="+mj-ea"/>
                <a:ea typeface="+mj-ea"/>
                <a:cs typeface="Arial" charset="0"/>
              </a:rPr>
              <a:t>“</a:t>
            </a:r>
            <a:r>
              <a:rPr lang="ko-KR" altLang="en-US" sz="1100" b="0" i="1" dirty="0">
                <a:latin typeface="+mj-ea"/>
                <a:ea typeface="+mj-ea"/>
                <a:cs typeface="Arial" charset="0"/>
              </a:rPr>
              <a:t>고객의 지속적 거래는 일정 기간</a:t>
            </a:r>
          </a:p>
          <a:p>
            <a:pPr eaLnBrk="1" hangingPunct="1"/>
            <a:r>
              <a:rPr lang="ko-KR" altLang="en-US" sz="1100" b="0" i="1" dirty="0">
                <a:latin typeface="+mj-ea"/>
                <a:ea typeface="+mj-ea"/>
                <a:cs typeface="Arial" charset="0"/>
              </a:rPr>
              <a:t>반복 구매를 통해 발생”</a:t>
            </a:r>
          </a:p>
        </p:txBody>
      </p:sp>
      <p:sp>
        <p:nvSpPr>
          <p:cNvPr id="22574" name="Text Box 12"/>
          <p:cNvSpPr txBox="1">
            <a:spLocks noChangeArrowheads="1"/>
          </p:cNvSpPr>
          <p:nvPr/>
        </p:nvSpPr>
        <p:spPr bwMode="auto">
          <a:xfrm>
            <a:off x="452438" y="5124450"/>
            <a:ext cx="20161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100" b="0" i="1">
                <a:latin typeface="+mj-ea"/>
                <a:ea typeface="+mj-ea"/>
                <a:cs typeface="Arial" charset="0"/>
              </a:rPr>
              <a:t>“</a:t>
            </a:r>
            <a:r>
              <a:rPr lang="ko-KR" altLang="en-US" sz="1100" b="0" i="1">
                <a:latin typeface="+mj-ea"/>
                <a:ea typeface="+mj-ea"/>
                <a:cs typeface="Arial" charset="0"/>
              </a:rPr>
              <a:t>특정 제품을 구매한 고객은</a:t>
            </a:r>
          </a:p>
          <a:p>
            <a:pPr eaLnBrk="1" hangingPunct="1"/>
            <a:r>
              <a:rPr lang="ko-KR" altLang="en-US" sz="1100" b="0" i="1">
                <a:latin typeface="+mj-ea"/>
                <a:ea typeface="+mj-ea"/>
                <a:cs typeface="Arial" charset="0"/>
              </a:rPr>
              <a:t>이탈 확률이 높음”</a:t>
            </a:r>
          </a:p>
        </p:txBody>
      </p:sp>
      <p:sp>
        <p:nvSpPr>
          <p:cNvPr id="22575" name="Text Box 12"/>
          <p:cNvSpPr txBox="1">
            <a:spLocks noChangeArrowheads="1"/>
          </p:cNvSpPr>
          <p:nvPr/>
        </p:nvSpPr>
        <p:spPr bwMode="auto">
          <a:xfrm>
            <a:off x="2541588" y="5124450"/>
            <a:ext cx="20161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100" b="0" i="1">
                <a:latin typeface="+mj-ea"/>
                <a:ea typeface="+mj-ea"/>
                <a:cs typeface="Arial" charset="0"/>
              </a:rPr>
              <a:t>“</a:t>
            </a:r>
            <a:r>
              <a:rPr lang="ko-KR" altLang="en-US" sz="1100" b="0" i="1">
                <a:latin typeface="+mj-ea"/>
                <a:ea typeface="+mj-ea"/>
                <a:cs typeface="Arial" charset="0"/>
              </a:rPr>
              <a:t>특정 시점의 고객은</a:t>
            </a:r>
          </a:p>
          <a:p>
            <a:pPr eaLnBrk="1" hangingPunct="1"/>
            <a:r>
              <a:rPr lang="ko-KR" altLang="en-US" sz="1100" b="0" i="1">
                <a:latin typeface="+mj-ea"/>
                <a:ea typeface="+mj-ea"/>
                <a:cs typeface="Arial" charset="0"/>
              </a:rPr>
              <a:t>특정 추천에 반응”</a:t>
            </a:r>
          </a:p>
        </p:txBody>
      </p:sp>
      <p:sp>
        <p:nvSpPr>
          <p:cNvPr id="22576" name="타원 93"/>
          <p:cNvSpPr>
            <a:spLocks noChangeArrowheads="1"/>
          </p:cNvSpPr>
          <p:nvPr/>
        </p:nvSpPr>
        <p:spPr bwMode="auto">
          <a:xfrm>
            <a:off x="2397125" y="4437063"/>
            <a:ext cx="206375" cy="212725"/>
          </a:xfrm>
          <a:prstGeom prst="ellipse">
            <a:avLst/>
          </a:prstGeom>
          <a:solidFill>
            <a:srgbClr val="000066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0" tIns="0" rIns="0" bIns="0" anchor="ctr"/>
          <a:lstStyle>
            <a:lvl1pPr marL="82550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Aft>
                <a:spcPct val="10000"/>
              </a:spcAft>
            </a:pP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+</a:t>
            </a:r>
            <a:endParaRPr lang="en-US" altLang="en-US" sz="1400">
              <a:solidFill>
                <a:schemeClr val="bg1"/>
              </a:solidFill>
              <a:latin typeface="+mj-ea"/>
              <a:ea typeface="+mj-ea"/>
              <a:cs typeface="Arial" charset="0"/>
            </a:endParaRPr>
          </a:p>
        </p:txBody>
      </p:sp>
      <p:pic>
        <p:nvPicPr>
          <p:cNvPr id="22577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363" y="4113213"/>
            <a:ext cx="2122487" cy="1352550"/>
          </a:xfrm>
          <a:prstGeom prst="rect">
            <a:avLst/>
          </a:prstGeom>
          <a:noFill/>
          <a:ln w="9525" algn="ctr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78" name="Text Box 12"/>
          <p:cNvSpPr txBox="1">
            <a:spLocks noChangeArrowheads="1"/>
          </p:cNvSpPr>
          <p:nvPr/>
        </p:nvSpPr>
        <p:spPr bwMode="auto">
          <a:xfrm>
            <a:off x="7473950" y="2349500"/>
            <a:ext cx="20161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en-US" altLang="ko-KR" sz="1100" b="0" i="1" dirty="0">
                <a:latin typeface="+mj-ea"/>
                <a:ea typeface="+mj-ea"/>
                <a:cs typeface="Arial" charset="0"/>
              </a:rPr>
              <a:t> </a:t>
            </a:r>
            <a:r>
              <a:rPr lang="ko-KR" altLang="en-US" sz="1100" b="0" i="1" dirty="0">
                <a:latin typeface="+mj-ea"/>
                <a:ea typeface="+mj-ea"/>
                <a:cs typeface="Arial" charset="0"/>
              </a:rPr>
              <a:t>상품의 교차구매를 통한 </a:t>
            </a:r>
            <a:r>
              <a:rPr lang="ko-KR" altLang="en-US" sz="1100" b="0" i="1" dirty="0" err="1">
                <a:latin typeface="+mj-ea"/>
                <a:ea typeface="+mj-ea"/>
                <a:cs typeface="Arial" charset="0"/>
              </a:rPr>
              <a:t>이탈률</a:t>
            </a:r>
            <a:r>
              <a:rPr lang="ko-KR" altLang="en-US" sz="1100" b="0" i="1" dirty="0">
                <a:latin typeface="+mj-ea"/>
                <a:ea typeface="+mj-ea"/>
                <a:cs typeface="Arial" charset="0"/>
              </a:rPr>
              <a:t> 감소효과의 검증 사례</a:t>
            </a:r>
            <a:br>
              <a:rPr lang="ko-KR" altLang="en-US" sz="1100" b="0" i="1" dirty="0">
                <a:latin typeface="+mj-ea"/>
                <a:ea typeface="+mj-ea"/>
                <a:cs typeface="Arial" charset="0"/>
              </a:rPr>
            </a:br>
            <a:endParaRPr lang="ko-KR" altLang="en-US" sz="1100" b="0" i="1" dirty="0">
              <a:latin typeface="+mj-ea"/>
              <a:ea typeface="+mj-ea"/>
              <a:cs typeface="Arial" charset="0"/>
            </a:endParaRPr>
          </a:p>
          <a:p>
            <a:pPr eaLnBrk="1" hangingPunct="1"/>
            <a:r>
              <a:rPr lang="ko-KR" altLang="en-US" sz="1100" b="0" i="1" u="sng" dirty="0">
                <a:latin typeface="+mj-ea"/>
                <a:ea typeface="+mj-ea"/>
                <a:cs typeface="Arial" charset="0"/>
              </a:rPr>
              <a:t>“상품의 조합을 통한</a:t>
            </a:r>
            <a:br>
              <a:rPr lang="ko-KR" altLang="en-US" sz="1100" b="0" i="1" u="sng" dirty="0">
                <a:latin typeface="+mj-ea"/>
                <a:ea typeface="+mj-ea"/>
                <a:cs typeface="Arial" charset="0"/>
              </a:rPr>
            </a:br>
            <a:r>
              <a:rPr lang="ko-KR" altLang="en-US" sz="1100" b="0" i="1" u="sng" dirty="0">
                <a:latin typeface="+mj-ea"/>
                <a:ea typeface="+mj-ea"/>
                <a:cs typeface="Arial" charset="0"/>
              </a:rPr>
              <a:t>상품추천 </a:t>
            </a:r>
            <a:r>
              <a:rPr lang="en-US" altLang="ko-KR" sz="1100" b="0" i="1" u="sng" dirty="0">
                <a:latin typeface="+mj-ea"/>
                <a:ea typeface="+mj-ea"/>
                <a:cs typeface="Arial" charset="0"/>
              </a:rPr>
              <a:t>BM</a:t>
            </a:r>
            <a:r>
              <a:rPr lang="ko-KR" altLang="en-US" sz="1100" b="0" i="1" u="sng" dirty="0" err="1">
                <a:latin typeface="+mj-ea"/>
                <a:ea typeface="+mj-ea"/>
                <a:cs typeface="Arial" charset="0"/>
              </a:rPr>
              <a:t>으로</a:t>
            </a:r>
            <a:r>
              <a:rPr lang="ko-KR" altLang="en-US" sz="1100" b="0" i="1" u="sng" dirty="0">
                <a:latin typeface="+mj-ea"/>
                <a:ea typeface="+mj-ea"/>
                <a:cs typeface="Arial" charset="0"/>
              </a:rPr>
              <a:t> 확장”</a:t>
            </a:r>
          </a:p>
        </p:txBody>
      </p:sp>
      <p:sp>
        <p:nvSpPr>
          <p:cNvPr id="22579" name="Text Box 12"/>
          <p:cNvSpPr txBox="1">
            <a:spLocks noChangeArrowheads="1"/>
          </p:cNvSpPr>
          <p:nvPr/>
        </p:nvSpPr>
        <p:spPr bwMode="auto">
          <a:xfrm>
            <a:off x="7473950" y="4476750"/>
            <a:ext cx="20161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ko-KR" sz="1100" b="0" i="1">
                <a:latin typeface="+mj-ea"/>
                <a:ea typeface="+mj-ea"/>
                <a:cs typeface="Arial" charset="0"/>
              </a:rPr>
              <a:t> </a:t>
            </a:r>
            <a:r>
              <a:rPr lang="ko-KR" altLang="en-US" sz="1100" b="0" i="1">
                <a:latin typeface="+mj-ea"/>
                <a:ea typeface="+mj-ea"/>
                <a:cs typeface="Arial" charset="0"/>
              </a:rPr>
              <a:t>고객의 특정 시기별 </a:t>
            </a:r>
            <a:r>
              <a:rPr lang="en-US" altLang="ko-KR" sz="1100" b="0" i="1">
                <a:latin typeface="+mj-ea"/>
                <a:ea typeface="+mj-ea"/>
                <a:cs typeface="Arial" charset="0"/>
              </a:rPr>
              <a:t>offer</a:t>
            </a:r>
            <a:r>
              <a:rPr lang="ko-KR" altLang="en-US" sz="1100" b="0" i="1">
                <a:latin typeface="+mj-ea"/>
                <a:ea typeface="+mj-ea"/>
                <a:cs typeface="Arial" charset="0"/>
              </a:rPr>
              <a:t>에 따른 구매반응률 검증 사례</a:t>
            </a:r>
            <a:br>
              <a:rPr lang="ko-KR" altLang="en-US" sz="1100" b="0" i="1">
                <a:latin typeface="+mj-ea"/>
                <a:ea typeface="+mj-ea"/>
                <a:cs typeface="Arial" charset="0"/>
              </a:rPr>
            </a:br>
            <a:br>
              <a:rPr lang="ko-KR" altLang="en-US" sz="1100" b="0" i="1">
                <a:latin typeface="+mj-ea"/>
                <a:ea typeface="+mj-ea"/>
                <a:cs typeface="Arial" charset="0"/>
              </a:rPr>
            </a:br>
            <a:r>
              <a:rPr lang="ko-KR" altLang="en-US" sz="1100" b="0" i="1" u="sng">
                <a:latin typeface="+mj-ea"/>
                <a:ea typeface="+mj-ea"/>
                <a:cs typeface="Arial" charset="0"/>
              </a:rPr>
              <a:t>“정착유도가 가능한 선별적 고객군 확보 </a:t>
            </a:r>
            <a:r>
              <a:rPr lang="en-US" altLang="ko-KR" sz="1100" b="0" i="1" u="sng">
                <a:latin typeface="+mj-ea"/>
                <a:ea typeface="+mj-ea"/>
                <a:cs typeface="Arial" charset="0"/>
              </a:rPr>
              <a:t>BM</a:t>
            </a:r>
            <a:r>
              <a:rPr lang="ko-KR" altLang="en-US" sz="1100" b="0" i="1" u="sng">
                <a:latin typeface="+mj-ea"/>
                <a:ea typeface="+mj-ea"/>
                <a:cs typeface="Arial" charset="0"/>
              </a:rPr>
              <a:t>으로 확장”</a:t>
            </a:r>
          </a:p>
        </p:txBody>
      </p:sp>
      <p:sp>
        <p:nvSpPr>
          <p:cNvPr id="22580" name="AutoShape 52"/>
          <p:cNvSpPr>
            <a:spLocks noChangeArrowheads="1"/>
          </p:cNvSpPr>
          <p:nvPr/>
        </p:nvSpPr>
        <p:spPr bwMode="auto">
          <a:xfrm>
            <a:off x="7600950" y="3468688"/>
            <a:ext cx="1835150" cy="844550"/>
          </a:xfrm>
          <a:prstGeom prst="upDownArrowCallout">
            <a:avLst>
              <a:gd name="adj1" fmla="val 49535"/>
              <a:gd name="adj2" fmla="val 54323"/>
              <a:gd name="adj3" fmla="val 7889"/>
              <a:gd name="adj4" fmla="val 73546"/>
            </a:avLst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+mj-ea"/>
                <a:ea typeface="+mj-ea"/>
              </a:rPr>
              <a:t>CPG </a:t>
            </a:r>
            <a:r>
              <a:rPr lang="ko-KR" altLang="en-US">
                <a:latin typeface="+mj-ea"/>
                <a:ea typeface="+mj-ea"/>
              </a:rPr>
              <a:t>상품군별</a:t>
            </a:r>
          </a:p>
          <a:p>
            <a:pPr eaLnBrk="1" hangingPunct="1"/>
            <a:r>
              <a:rPr lang="ko-KR" altLang="en-US">
                <a:latin typeface="+mj-ea"/>
                <a:ea typeface="+mj-ea"/>
              </a:rPr>
              <a:t>카테고리 확장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확대</a:t>
            </a:r>
          </a:p>
        </p:txBody>
      </p:sp>
      <p:sp>
        <p:nvSpPr>
          <p:cNvPr id="22581" name="TextBox 19"/>
          <p:cNvSpPr txBox="1">
            <a:spLocks noChangeArrowheads="1"/>
          </p:cNvSpPr>
          <p:nvPr/>
        </p:nvSpPr>
        <p:spPr bwMode="auto">
          <a:xfrm>
            <a:off x="5240338" y="5689600"/>
            <a:ext cx="4249737" cy="620713"/>
          </a:xfrm>
          <a:prstGeom prst="rect">
            <a:avLst/>
          </a:prstGeom>
          <a:noFill/>
          <a:ln w="12700" algn="ctr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6800" tIns="36000" rIns="46800" bIns="36000" anchor="ctr"/>
          <a:lstStyle>
            <a:lvl1pPr marL="212725" indent="-82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ko-KR" altLang="en-US" b="0" dirty="0">
                <a:latin typeface="+mj-ea"/>
                <a:ea typeface="+mj-ea"/>
                <a:cs typeface="Arial" charset="0"/>
              </a:rPr>
              <a:t>쇼핑 구매고객의 패턴 분석에 기반한 </a:t>
            </a:r>
            <a:r>
              <a:rPr lang="en-US" altLang="ko-KR" b="0" dirty="0">
                <a:latin typeface="+mj-ea"/>
                <a:ea typeface="+mj-ea"/>
                <a:cs typeface="Arial" charset="0"/>
              </a:rPr>
              <a:t>personalized BM </a:t>
            </a:r>
            <a:r>
              <a:rPr lang="ko-KR" altLang="en-US" b="0" dirty="0">
                <a:latin typeface="+mj-ea"/>
                <a:ea typeface="+mj-ea"/>
                <a:cs typeface="Arial" charset="0"/>
              </a:rPr>
              <a:t>개발로 </a:t>
            </a:r>
            <a:r>
              <a:rPr lang="en-US" altLang="ko-KR" b="0" dirty="0">
                <a:latin typeface="+mj-ea"/>
                <a:ea typeface="+mj-ea"/>
                <a:cs typeface="Arial" charset="0"/>
              </a:rPr>
              <a:t>CPG </a:t>
            </a:r>
            <a:r>
              <a:rPr lang="ko-KR" altLang="en-US" b="0" dirty="0">
                <a:latin typeface="+mj-ea"/>
                <a:ea typeface="+mj-ea"/>
                <a:cs typeface="Arial" charset="0"/>
              </a:rPr>
              <a:t>카테고리의 확장을 주도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/>
          <p:cNvSpPr>
            <a:spLocks noChangeArrowheads="1"/>
          </p:cNvSpPr>
          <p:nvPr/>
        </p:nvSpPr>
        <p:spPr bwMode="auto">
          <a:xfrm>
            <a:off x="339725" y="1741488"/>
            <a:ext cx="3600450" cy="4408487"/>
          </a:xfrm>
          <a:prstGeom prst="homePlate">
            <a:avLst>
              <a:gd name="adj" fmla="val 10759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3746500" y="1558925"/>
            <a:ext cx="5886450" cy="48196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2927350" cy="247650"/>
          </a:xfrm>
        </p:spPr>
        <p:txBody>
          <a:bodyPr>
            <a:noAutofit/>
          </a:bodyPr>
          <a:lstStyle/>
          <a:p>
            <a:r>
              <a:rPr lang="ko-KR" altLang="en-US" dirty="0"/>
              <a:t>모바일 커머스</a:t>
            </a:r>
            <a:r>
              <a:rPr lang="en-US" altLang="ko-KR" dirty="0"/>
              <a:t> &gt; </a:t>
            </a:r>
            <a:r>
              <a:rPr lang="ko-KR" altLang="en-US" dirty="0"/>
              <a:t>고려 사항</a:t>
            </a:r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Autofit/>
          </a:bodyPr>
          <a:lstStyle/>
          <a:p>
            <a:pPr latinLnBrk="0"/>
            <a:r>
              <a:rPr lang="ko-KR" altLang="en-US"/>
              <a:t>모바일 쇼핑의 고객 기대 가치는 사이트 장바구니에 담아둔 상품에 대한 결제와 잠깐의 시간을 보내기 위한 디바이스별 최적화된 </a:t>
            </a:r>
            <a:r>
              <a:rPr lang="en-US" altLang="ko-KR"/>
              <a:t>UI</a:t>
            </a:r>
            <a:r>
              <a:rPr lang="ko-KR" altLang="en-US"/>
              <a:t>을 보고 싶어함이며</a:t>
            </a:r>
            <a:r>
              <a:rPr lang="en-US" altLang="ko-KR"/>
              <a:t>, </a:t>
            </a:r>
            <a:r>
              <a:rPr lang="ko-KR" altLang="en-US"/>
              <a:t>이를 위해서는 결제 기능</a:t>
            </a:r>
            <a:r>
              <a:rPr lang="en-US" altLang="ko-KR"/>
              <a:t>, </a:t>
            </a:r>
            <a:r>
              <a:rPr lang="ko-KR" altLang="en-US"/>
              <a:t>디바이스별 운영 조직</a:t>
            </a:r>
            <a:r>
              <a:rPr lang="en-US" altLang="ko-KR"/>
              <a:t>, </a:t>
            </a:r>
            <a:r>
              <a:rPr lang="ko-KR" altLang="en-US"/>
              <a:t>모바일 </a:t>
            </a:r>
            <a:r>
              <a:rPr lang="en-US" altLang="ko-KR"/>
              <a:t>UI </a:t>
            </a:r>
            <a:r>
              <a:rPr lang="ko-KR" altLang="en-US"/>
              <a:t>등이 고려되어져야 함</a:t>
            </a:r>
          </a:p>
        </p:txBody>
      </p:sp>
      <p:sp>
        <p:nvSpPr>
          <p:cNvPr id="41" name="직사각형 40"/>
          <p:cNvSpPr>
            <a:spLocks noChangeArrowheads="1"/>
          </p:cNvSpPr>
          <p:nvPr/>
        </p:nvSpPr>
        <p:spPr bwMode="auto">
          <a:xfrm>
            <a:off x="561975" y="2644775"/>
            <a:ext cx="2873375" cy="1150938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en-US" altLang="ko-KR" dirty="0">
                <a:latin typeface="+mj-ea"/>
                <a:ea typeface="+mj-ea"/>
              </a:rPr>
              <a:t>eMall </a:t>
            </a:r>
            <a:r>
              <a:rPr kumimoji="1" lang="ko-KR" altLang="en-US" dirty="0">
                <a:latin typeface="+mj-ea"/>
                <a:ea typeface="+mj-ea"/>
              </a:rPr>
              <a:t>인터넷 사이트에서 보고 살까 말까 고민한 상품 </a:t>
            </a:r>
            <a:r>
              <a:rPr kumimoji="1" lang="en-US" altLang="ko-KR" dirty="0">
                <a:latin typeface="+mj-ea"/>
                <a:ea typeface="+mj-ea"/>
              </a:rPr>
              <a:t>- </a:t>
            </a:r>
            <a:r>
              <a:rPr kumimoji="1" lang="ko-KR" altLang="en-US" dirty="0">
                <a:latin typeface="+mj-ea"/>
                <a:ea typeface="+mj-ea"/>
              </a:rPr>
              <a:t>장바구니에 담아둔 </a:t>
            </a:r>
            <a:r>
              <a:rPr kumimoji="1" lang="en-US" altLang="ko-KR" dirty="0">
                <a:latin typeface="+mj-ea"/>
                <a:ea typeface="+mj-ea"/>
              </a:rPr>
              <a:t>- </a:t>
            </a:r>
            <a:r>
              <a:rPr kumimoji="1" lang="ko-KR" altLang="en-US" dirty="0">
                <a:latin typeface="+mj-ea"/>
                <a:ea typeface="+mj-ea"/>
              </a:rPr>
              <a:t>을 출</a:t>
            </a:r>
            <a:r>
              <a:rPr kumimoji="1" lang="en-US" altLang="ko-KR" dirty="0">
                <a:latin typeface="+mj-ea"/>
                <a:ea typeface="+mj-ea"/>
              </a:rPr>
              <a:t>.</a:t>
            </a:r>
            <a:r>
              <a:rPr kumimoji="1" lang="ko-KR" altLang="en-US" dirty="0">
                <a:latin typeface="+mj-ea"/>
                <a:ea typeface="+mj-ea"/>
              </a:rPr>
              <a:t>퇴근길에 결심하여 바로 지르고 싶다</a:t>
            </a:r>
            <a:r>
              <a:rPr kumimoji="1" lang="en-US" altLang="ko-KR" dirty="0">
                <a:latin typeface="+mj-ea"/>
                <a:ea typeface="+mj-ea"/>
              </a:rPr>
              <a:t>.</a:t>
            </a:r>
          </a:p>
        </p:txBody>
      </p:sp>
      <p:sp>
        <p:nvSpPr>
          <p:cNvPr id="2" name="직사각형 40"/>
          <p:cNvSpPr>
            <a:spLocks noChangeArrowheads="1"/>
          </p:cNvSpPr>
          <p:nvPr/>
        </p:nvSpPr>
        <p:spPr bwMode="auto">
          <a:xfrm>
            <a:off x="561975" y="4587875"/>
            <a:ext cx="2873375" cy="1150938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ko-KR" altLang="en-US">
                <a:latin typeface="+mj-ea"/>
                <a:ea typeface="+mj-ea"/>
              </a:rPr>
              <a:t>“잠깐의 시간” 보내기에 적합해야 하는데 디바이스별 </a:t>
            </a:r>
            <a:r>
              <a:rPr kumimoji="1" lang="en-US" altLang="ko-KR">
                <a:latin typeface="+mj-ea"/>
                <a:ea typeface="+mj-ea"/>
              </a:rPr>
              <a:t>UI</a:t>
            </a:r>
            <a:r>
              <a:rPr kumimoji="1" lang="ko-KR" altLang="en-US">
                <a:latin typeface="+mj-ea"/>
                <a:ea typeface="+mj-ea"/>
              </a:rPr>
              <a:t>가 어색하거나 깨져 보이는 건 너무 싫다</a:t>
            </a:r>
            <a:r>
              <a:rPr kumimoji="1" lang="en-US" altLang="ko-KR">
                <a:latin typeface="+mj-ea"/>
                <a:ea typeface="+mj-ea"/>
              </a:rPr>
              <a:t>.</a:t>
            </a: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1600200" y="3654425"/>
            <a:ext cx="7318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en-US" altLang="ko-KR" sz="6000">
                <a:latin typeface="+mj-ea"/>
                <a:ea typeface="+mj-ea"/>
              </a:rPr>
              <a:t>+</a:t>
            </a:r>
          </a:p>
        </p:txBody>
      </p:sp>
      <p:sp>
        <p:nvSpPr>
          <p:cNvPr id="3" name="직사각형 40"/>
          <p:cNvSpPr/>
          <p:nvPr/>
        </p:nvSpPr>
        <p:spPr bwMode="auto">
          <a:xfrm>
            <a:off x="4022725" y="2205038"/>
            <a:ext cx="1800225" cy="8270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>
            <a:noAutofit/>
          </a:bodyPr>
          <a:lstStyle/>
          <a:p>
            <a:pPr defTabSz="762000" eaLnBrk="0" hangingPunct="0">
              <a:buClr>
                <a:srgbClr val="001B64"/>
              </a:buClr>
              <a:buSzPct val="80000"/>
              <a:defRPr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심플한 결제 기능 </a:t>
            </a:r>
          </a:p>
        </p:txBody>
      </p:sp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5894388" y="2205038"/>
            <a:ext cx="3506787" cy="827087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 marL="87313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kumimoji="1" lang="en-US" altLang="ko-KR" sz="1100" b="0" dirty="0">
                <a:latin typeface="+mj-ea"/>
                <a:ea typeface="+mj-ea"/>
                <a:cs typeface="Arial" charset="0"/>
              </a:rPr>
              <a:t>PG</a:t>
            </a: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사의 모바일 기능 외에 카드사의 간편 결제를 직접 연동하여 제공하는 방식 검토  </a:t>
            </a:r>
          </a:p>
        </p:txBody>
      </p:sp>
      <p:sp>
        <p:nvSpPr>
          <p:cNvPr id="4" name="직사각형 40"/>
          <p:cNvSpPr/>
          <p:nvPr/>
        </p:nvSpPr>
        <p:spPr bwMode="auto">
          <a:xfrm>
            <a:off x="4022725" y="3206750"/>
            <a:ext cx="1800225" cy="8556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>
            <a:noAutofit/>
          </a:bodyPr>
          <a:lstStyle/>
          <a:p>
            <a:pPr defTabSz="762000" eaLnBrk="0" hangingPunct="0">
              <a:buClr>
                <a:srgbClr val="001B64"/>
              </a:buClr>
              <a:buSzPct val="80000"/>
              <a:defRPr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디바이스별 운영 조직 </a:t>
            </a: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5894388" y="3206750"/>
            <a:ext cx="3506787" cy="855663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 marL="87313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디바이스별 매장 운영을 위한 운영 조직을 스마트폰</a:t>
            </a:r>
            <a:r>
              <a:rPr kumimoji="1" lang="en-US" altLang="ko-KR" sz="1100" b="0" dirty="0">
                <a:latin typeface="+mj-ea"/>
                <a:ea typeface="+mj-ea"/>
                <a:cs typeface="Arial" charset="0"/>
              </a:rPr>
              <a:t>, Tablet </a:t>
            </a: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및 인터넷 </a:t>
            </a:r>
            <a:r>
              <a:rPr kumimoji="1" lang="en-US" altLang="ko-KR" sz="1100" b="0" dirty="0">
                <a:latin typeface="+mj-ea"/>
                <a:ea typeface="+mj-ea"/>
                <a:cs typeface="Arial" charset="0"/>
              </a:rPr>
              <a:t>PC</a:t>
            </a: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별로 어떻게 체계화 할 것인가에 대한 고려 필요 </a:t>
            </a:r>
          </a:p>
        </p:txBody>
      </p:sp>
      <p:sp>
        <p:nvSpPr>
          <p:cNvPr id="5" name="직사각형 40"/>
          <p:cNvSpPr/>
          <p:nvPr/>
        </p:nvSpPr>
        <p:spPr bwMode="auto">
          <a:xfrm>
            <a:off x="4022725" y="4232275"/>
            <a:ext cx="1800225" cy="8763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>
            <a:noAutofit/>
          </a:bodyPr>
          <a:lstStyle/>
          <a:p>
            <a:pPr defTabSz="762000" eaLnBrk="0" hangingPunct="0">
              <a:buClr>
                <a:srgbClr val="001B64"/>
              </a:buClr>
              <a:buSzPct val="80000"/>
              <a:defRPr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반응형 웹</a:t>
            </a:r>
          </a:p>
        </p:txBody>
      </p:sp>
      <p:sp>
        <p:nvSpPr>
          <p:cNvPr id="24590" name="Rectangle 14"/>
          <p:cNvSpPr>
            <a:spLocks noChangeArrowheads="1"/>
          </p:cNvSpPr>
          <p:nvPr/>
        </p:nvSpPr>
        <p:spPr bwMode="auto">
          <a:xfrm>
            <a:off x="5894388" y="4232275"/>
            <a:ext cx="3506787" cy="876300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 marL="87313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spcBef>
                <a:spcPct val="50000"/>
              </a:spcBef>
              <a:buFontTx/>
              <a:buChar char="•"/>
            </a:pP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스마트폰의 가로 및 세로 방향의 화면에 최적화된 </a:t>
            </a:r>
            <a:r>
              <a:rPr kumimoji="1" lang="en-US" altLang="ko-KR" sz="1100" b="0">
                <a:latin typeface="+mj-ea"/>
                <a:ea typeface="+mj-ea"/>
                <a:cs typeface="Arial" charset="0"/>
              </a:rPr>
              <a:t>UI </a:t>
            </a: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구성 고려 필요 </a:t>
            </a:r>
          </a:p>
        </p:txBody>
      </p:sp>
      <p:sp>
        <p:nvSpPr>
          <p:cNvPr id="24591" name="자유형 59"/>
          <p:cNvSpPr>
            <a:spLocks noChangeArrowheads="1"/>
          </p:cNvSpPr>
          <p:nvPr/>
        </p:nvSpPr>
        <p:spPr bwMode="auto">
          <a:xfrm>
            <a:off x="328613" y="1739900"/>
            <a:ext cx="3284537" cy="431800"/>
          </a:xfrm>
          <a:custGeom>
            <a:avLst/>
            <a:gdLst>
              <a:gd name="T0" fmla="*/ 0 w 2950028"/>
              <a:gd name="T1" fmla="*/ 0 h 511629"/>
              <a:gd name="T2" fmla="*/ 3713925 w 2950028"/>
              <a:gd name="T3" fmla="*/ 0 h 511629"/>
              <a:gd name="T4" fmla="*/ 3798013 w 2950028"/>
              <a:gd name="T5" fmla="*/ 307751 h 511629"/>
              <a:gd name="T6" fmla="*/ 14015 w 2950028"/>
              <a:gd name="T7" fmla="*/ 307751 h 511629"/>
              <a:gd name="T8" fmla="*/ 0 w 2950028"/>
              <a:gd name="T9" fmla="*/ 0 h 5116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50028"/>
              <a:gd name="T16" fmla="*/ 0 h 511629"/>
              <a:gd name="T17" fmla="*/ 2950028 w 2950028"/>
              <a:gd name="T18" fmla="*/ 511629 h 51162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50028" h="511629">
                <a:moveTo>
                  <a:pt x="0" y="0"/>
                </a:moveTo>
                <a:lnTo>
                  <a:pt x="2884714" y="0"/>
                </a:lnTo>
                <a:lnTo>
                  <a:pt x="2950028" y="511629"/>
                </a:lnTo>
                <a:lnTo>
                  <a:pt x="10886" y="511629"/>
                </a:lnTo>
                <a:lnTo>
                  <a:pt x="0" y="0"/>
                </a:lnTo>
                <a:close/>
              </a:path>
            </a:pathLst>
          </a:custGeom>
          <a:solidFill>
            <a:srgbClr val="0000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5400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kumimoji="1" lang="ko-KR" altLang="en-US" dirty="0">
                <a:solidFill>
                  <a:schemeClr val="bg1"/>
                </a:solidFill>
                <a:latin typeface="+mj-ea"/>
                <a:ea typeface="+mj-ea"/>
              </a:rPr>
              <a:t>스마트폰 사용 고객의 쇼핑 기대 가치 </a:t>
            </a:r>
          </a:p>
        </p:txBody>
      </p:sp>
      <p:sp>
        <p:nvSpPr>
          <p:cNvPr id="24592" name="자유형 59"/>
          <p:cNvSpPr>
            <a:spLocks noChangeArrowheads="1"/>
          </p:cNvSpPr>
          <p:nvPr/>
        </p:nvSpPr>
        <p:spPr bwMode="auto">
          <a:xfrm>
            <a:off x="3762375" y="1550988"/>
            <a:ext cx="5859463" cy="431800"/>
          </a:xfrm>
          <a:prstGeom prst="rect">
            <a:avLst/>
          </a:prstGeom>
          <a:solidFill>
            <a:srgbClr val="0000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5400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kumimoji="1" lang="ko-KR" altLang="en-US">
                <a:solidFill>
                  <a:schemeClr val="bg1"/>
                </a:solidFill>
                <a:latin typeface="+mj-ea"/>
                <a:ea typeface="+mj-ea"/>
              </a:rPr>
              <a:t>모바일 커머스 운영에 대한 고려 사항</a:t>
            </a:r>
          </a:p>
        </p:txBody>
      </p:sp>
      <p:sp>
        <p:nvSpPr>
          <p:cNvPr id="6" name="직사각형 40"/>
          <p:cNvSpPr/>
          <p:nvPr/>
        </p:nvSpPr>
        <p:spPr bwMode="auto">
          <a:xfrm>
            <a:off x="4017963" y="5267325"/>
            <a:ext cx="1800225" cy="8842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36000" tIns="36000" rIns="36000" bIns="36000" anchor="ctr">
            <a:noAutofit/>
          </a:bodyPr>
          <a:lstStyle/>
          <a:p>
            <a:pPr defTabSz="762000" eaLnBrk="0" hangingPunct="0">
              <a:buClr>
                <a:srgbClr val="001B64"/>
              </a:buClr>
              <a:buSzPct val="80000"/>
              <a:defRPr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디바이스 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</a:rPr>
              <a:t>UI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에 적합한 시스템 기능 개선</a:t>
            </a:r>
          </a:p>
        </p:txBody>
      </p:sp>
      <p:sp>
        <p:nvSpPr>
          <p:cNvPr id="24594" name="Rectangle 18"/>
          <p:cNvSpPr>
            <a:spLocks noChangeArrowheads="1"/>
          </p:cNvSpPr>
          <p:nvPr/>
        </p:nvSpPr>
        <p:spPr bwMode="auto">
          <a:xfrm>
            <a:off x="5889625" y="5267325"/>
            <a:ext cx="3506788" cy="884238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 marL="87313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spcBef>
                <a:spcPct val="50000"/>
              </a:spcBef>
              <a:buFontTx/>
              <a:buChar char="•"/>
            </a:pP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화면 사이즈 등의 고객 환경이 인터넷 </a:t>
            </a:r>
            <a:r>
              <a:rPr kumimoji="1" lang="en-US" altLang="ko-KR" sz="1100" b="0" dirty="0">
                <a:latin typeface="+mj-ea"/>
                <a:ea typeface="+mj-ea"/>
                <a:cs typeface="Arial" charset="0"/>
              </a:rPr>
              <a:t>PC</a:t>
            </a: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와는 다르므로</a:t>
            </a:r>
            <a:r>
              <a:rPr kumimoji="1" lang="en-US" altLang="ko-KR" sz="1100" b="0" dirty="0">
                <a:latin typeface="+mj-ea"/>
                <a:ea typeface="+mj-ea"/>
                <a:cs typeface="Arial" charset="0"/>
              </a:rPr>
              <a:t>, </a:t>
            </a: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이에 필요한 상품</a:t>
            </a:r>
            <a:r>
              <a:rPr kumimoji="1" lang="en-US" altLang="ko-KR" sz="1100" b="0" dirty="0">
                <a:latin typeface="+mj-ea"/>
                <a:ea typeface="+mj-ea"/>
                <a:cs typeface="Arial" charset="0"/>
              </a:rPr>
              <a:t>, </a:t>
            </a: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프로모션</a:t>
            </a:r>
            <a:r>
              <a:rPr kumimoji="1" lang="en-US" altLang="ko-KR" sz="1100" b="0" dirty="0">
                <a:latin typeface="+mj-ea"/>
                <a:ea typeface="+mj-ea"/>
                <a:cs typeface="Arial" charset="0"/>
              </a:rPr>
              <a:t>, S</a:t>
            </a: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등의 기능이 별도로 시스템에 반영 되어져야 함</a:t>
            </a:r>
            <a:br>
              <a:rPr kumimoji="1" lang="ko-KR" altLang="en-US" sz="1100" b="0" dirty="0">
                <a:latin typeface="+mj-ea"/>
                <a:ea typeface="+mj-ea"/>
                <a:cs typeface="Arial" charset="0"/>
              </a:rPr>
            </a:br>
            <a:r>
              <a:rPr kumimoji="1" lang="en-US" altLang="ko-KR" sz="1000" b="0" dirty="0">
                <a:latin typeface="+mj-ea"/>
                <a:ea typeface="+mj-ea"/>
                <a:cs typeface="Arial" charset="0"/>
              </a:rPr>
              <a:t>(</a:t>
            </a:r>
            <a:r>
              <a:rPr kumimoji="1" lang="ko-KR" altLang="en-US" sz="1000" b="0" i="1" dirty="0">
                <a:latin typeface="+mj-ea"/>
                <a:ea typeface="+mj-ea"/>
                <a:cs typeface="Arial" charset="0"/>
              </a:rPr>
              <a:t>예시</a:t>
            </a:r>
            <a:r>
              <a:rPr kumimoji="1" lang="en-US" altLang="ko-KR" sz="1000" b="0" i="1" dirty="0">
                <a:latin typeface="+mj-ea"/>
                <a:ea typeface="+mj-ea"/>
                <a:cs typeface="Arial" charset="0"/>
              </a:rPr>
              <a:t>. </a:t>
            </a:r>
            <a:r>
              <a:rPr kumimoji="1" lang="ko-KR" altLang="en-US" sz="1000" b="0" i="1" dirty="0">
                <a:latin typeface="+mj-ea"/>
                <a:ea typeface="+mj-ea"/>
                <a:cs typeface="Arial" charset="0"/>
              </a:rPr>
              <a:t>스마트폰은 상품명이 인터넷 </a:t>
            </a:r>
            <a:r>
              <a:rPr kumimoji="1" lang="en-US" altLang="ko-KR" sz="1000" b="0" i="1" dirty="0">
                <a:latin typeface="+mj-ea"/>
                <a:ea typeface="+mj-ea"/>
                <a:cs typeface="Arial" charset="0"/>
              </a:rPr>
              <a:t>PC</a:t>
            </a:r>
            <a:r>
              <a:rPr kumimoji="1" lang="ko-KR" altLang="en-US" sz="1000" b="0" i="1" dirty="0">
                <a:latin typeface="+mj-ea"/>
                <a:ea typeface="+mj-ea"/>
                <a:cs typeface="Arial" charset="0"/>
              </a:rPr>
              <a:t>보다 짧아야 함</a:t>
            </a:r>
            <a:r>
              <a:rPr kumimoji="1" lang="en-US" altLang="ko-KR" sz="1000" b="0" dirty="0">
                <a:latin typeface="+mj-ea"/>
                <a:ea typeface="+mj-ea"/>
                <a:cs typeface="Arial" charset="0"/>
              </a:rPr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5264150" cy="247650"/>
          </a:xfrm>
        </p:spPr>
        <p:txBody>
          <a:bodyPr/>
          <a:lstStyle/>
          <a:p>
            <a:r>
              <a:rPr lang="ko-KR" altLang="en-US" dirty="0"/>
              <a:t>모바일 커머스</a:t>
            </a:r>
            <a:r>
              <a:rPr lang="en-US" altLang="ko-KR" dirty="0"/>
              <a:t> &gt; eMall </a:t>
            </a:r>
            <a:r>
              <a:rPr lang="ko-KR" altLang="en-US" dirty="0"/>
              <a:t>모바일 디자인 시안 예시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AACF4-07AC-E41D-549F-88E899BE8EE5}"/>
              </a:ext>
            </a:extLst>
          </p:cNvPr>
          <p:cNvSpPr txBox="1"/>
          <p:nvPr/>
        </p:nvSpPr>
        <p:spPr>
          <a:xfrm>
            <a:off x="2699018" y="3198167"/>
            <a:ext cx="4507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dirty="0">
                <a:latin typeface="+mj-ea"/>
                <a:ea typeface="+mj-ea"/>
              </a:rPr>
              <a:t>디자인</a:t>
            </a:r>
            <a:r>
              <a:rPr kumimoji="1" lang="ko-KR" altLang="en-US" dirty="0">
                <a:latin typeface="+mj-ea"/>
                <a:ea typeface="+mj-ea"/>
              </a:rPr>
              <a:t> 시안 구성이 있으면 해당 디자인 페이지 </a:t>
            </a:r>
            <a:r>
              <a:rPr kumimoji="1" lang="ko-KR" altLang="en-US" dirty="0" err="1">
                <a:latin typeface="+mj-ea"/>
                <a:ea typeface="+mj-ea"/>
              </a:rPr>
              <a:t>캡쳐하여</a:t>
            </a:r>
            <a:r>
              <a:rPr kumimoji="1" lang="ko-KR" altLang="en-US" dirty="0">
                <a:latin typeface="+mj-ea"/>
                <a:ea typeface="+mj-ea"/>
              </a:rPr>
              <a:t> 삽입</a:t>
            </a:r>
            <a:r>
              <a:rPr kumimoji="1" lang="en-US" altLang="ko-KR" dirty="0">
                <a:latin typeface="+mj-ea"/>
                <a:ea typeface="+mj-ea"/>
              </a:rPr>
              <a:t>,</a:t>
            </a:r>
          </a:p>
          <a:p>
            <a:r>
              <a:rPr kumimoji="1" lang="ko-KR" altLang="en-US" dirty="0">
                <a:latin typeface="+mj-ea"/>
                <a:ea typeface="+mj-ea"/>
              </a:rPr>
              <a:t>캡쳐 이미지에 캡션 필요</a:t>
            </a:r>
            <a:endParaRPr kumimoji="1" lang="ko-Kore-KR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3968750" cy="247650"/>
          </a:xfrm>
        </p:spPr>
        <p:txBody>
          <a:bodyPr>
            <a:noAutofit/>
          </a:bodyPr>
          <a:lstStyle/>
          <a:p>
            <a:r>
              <a:rPr lang="ko-KR" altLang="en-US" dirty="0"/>
              <a:t>그룹 온라인 통합 플랫폼 </a:t>
            </a:r>
            <a:r>
              <a:rPr lang="en-US" altLang="ko-KR" dirty="0"/>
              <a:t>&gt; </a:t>
            </a:r>
            <a:r>
              <a:rPr lang="ko-KR" altLang="en-US" dirty="0"/>
              <a:t>적용 방안</a:t>
            </a:r>
            <a:endParaRPr lang="en-US" altLang="ko-KR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438" y="868363"/>
            <a:ext cx="9459912" cy="511175"/>
          </a:xfrm>
        </p:spPr>
        <p:txBody>
          <a:bodyPr>
            <a:noAutofit/>
          </a:bodyPr>
          <a:lstStyle/>
          <a:p>
            <a:r>
              <a:rPr lang="en-US" altLang="ko-KR" dirty="0"/>
              <a:t>eMall </a:t>
            </a:r>
            <a:r>
              <a:rPr lang="ko-KR" altLang="en-US" dirty="0"/>
              <a:t>중심의 그룹 온라인 비즈니스를 통합 운영하고 경험과 지식을 축적한 후</a:t>
            </a:r>
            <a:r>
              <a:rPr lang="en-US" altLang="ko-KR" dirty="0"/>
              <a:t>, </a:t>
            </a:r>
            <a:r>
              <a:rPr lang="ko-KR" altLang="en-US" dirty="0"/>
              <a:t>중소규모의 그룹 외부 회사 대상 </a:t>
            </a:r>
            <a:r>
              <a:rPr lang="en-US" altLang="ko-KR" dirty="0"/>
              <a:t>B2B </a:t>
            </a:r>
            <a:r>
              <a:rPr lang="ko-KR" altLang="en-US" dirty="0"/>
              <a:t>비즈니스 서비스 제공 </a:t>
            </a:r>
            <a:r>
              <a:rPr lang="en-US" altLang="ko-KR" dirty="0"/>
              <a:t>BM</a:t>
            </a:r>
            <a:r>
              <a:rPr lang="ko-KR" altLang="en-US" dirty="0" err="1"/>
              <a:t>으로</a:t>
            </a:r>
            <a:r>
              <a:rPr lang="ko-KR" altLang="en-US" dirty="0"/>
              <a:t> 확장함</a:t>
            </a:r>
          </a:p>
        </p:txBody>
      </p:sp>
      <p:sp>
        <p:nvSpPr>
          <p:cNvPr id="26628" name="TextBox 31"/>
          <p:cNvSpPr txBox="1">
            <a:spLocks noChangeArrowheads="1"/>
          </p:cNvSpPr>
          <p:nvPr/>
        </p:nvSpPr>
        <p:spPr bwMode="gray">
          <a:xfrm>
            <a:off x="6211951" y="2528888"/>
            <a:ext cx="3522181" cy="133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noAutofit/>
          </a:bodyPr>
          <a:lstStyle>
            <a:lvl1pPr marL="179388" indent="-1793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 </a:t>
            </a:r>
            <a:r>
              <a:rPr lang="ko-KR" altLang="en-US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중심 쇼핑몰 통합</a:t>
            </a:r>
            <a:br>
              <a:rPr lang="ko-KR" altLang="en-US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회원 정보 통합</a:t>
            </a: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콜 센터 시스템 연동 등 동시 진행</a:t>
            </a:r>
            <a:endParaRPr lang="en-US" altLang="ko-KR" sz="1050" b="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 그룹 내 온라인 채널 통합 운영 대행</a:t>
            </a:r>
            <a:br>
              <a:rPr lang="ko-KR" altLang="en-US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온라인의 기획</a:t>
            </a: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디자인</a:t>
            </a: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운영 등 업무 통합 관리</a:t>
            </a: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내 시너지 창출</a:t>
            </a:r>
          </a:p>
        </p:txBody>
      </p:sp>
      <p:sp>
        <p:nvSpPr>
          <p:cNvPr id="26629" name="Text Box 108"/>
          <p:cNvSpPr txBox="1">
            <a:spLocks noChangeArrowheads="1"/>
          </p:cNvSpPr>
          <p:nvPr/>
        </p:nvSpPr>
        <p:spPr bwMode="gray">
          <a:xfrm>
            <a:off x="7451725" y="1606550"/>
            <a:ext cx="1004888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To-Be BM</a:t>
            </a:r>
          </a:p>
        </p:txBody>
      </p:sp>
      <p:sp>
        <p:nvSpPr>
          <p:cNvPr id="26630" name="Line 109"/>
          <p:cNvSpPr>
            <a:spLocks noChangeShapeType="1"/>
          </p:cNvSpPr>
          <p:nvPr/>
        </p:nvSpPr>
        <p:spPr bwMode="gray">
          <a:xfrm>
            <a:off x="6391275" y="1920875"/>
            <a:ext cx="31321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6631" name="TextBox 34"/>
          <p:cNvSpPr txBox="1">
            <a:spLocks noChangeArrowheads="1"/>
          </p:cNvSpPr>
          <p:nvPr/>
        </p:nvSpPr>
        <p:spPr bwMode="gray">
          <a:xfrm>
            <a:off x="6211951" y="5080000"/>
            <a:ext cx="3420989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noAutofit/>
          </a:bodyPr>
          <a:lstStyle>
            <a:lvl1pPr marL="179388" indent="-1793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altLang="ko-KR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 </a:t>
            </a:r>
            <a:r>
              <a:rPr lang="ko-KR" altLang="en-US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온라인 플랫폼 역량의 대외 고객 서비스 제공 </a:t>
            </a:r>
            <a:r>
              <a:rPr lang="en-US" altLang="ko-KR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(B2B </a:t>
            </a:r>
            <a:r>
              <a:rPr lang="ko-KR" altLang="en-US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사업 모델</a:t>
            </a:r>
            <a:r>
              <a:rPr lang="en-US" altLang="ko-KR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)</a:t>
            </a:r>
            <a:br>
              <a:rPr lang="en-US" altLang="ko-KR" sz="105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중소규모 협력사 등 </a:t>
            </a: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B2B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타겟 설정</a:t>
            </a:r>
            <a:b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 ex;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고객 </a:t>
            </a: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DB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가치</a:t>
            </a: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마케팅</a:t>
            </a: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사이트 기획</a:t>
            </a:r>
            <a:b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 및 운영</a:t>
            </a:r>
            <a:r>
              <a:rPr lang="en-US" altLang="ko-KR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CRM </a:t>
            </a:r>
            <a:r>
              <a:rPr lang="ko-KR" altLang="en-US" sz="105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등의 역량 </a:t>
            </a:r>
          </a:p>
        </p:txBody>
      </p:sp>
      <p:sp>
        <p:nvSpPr>
          <p:cNvPr id="26632" name="Rectangle 111"/>
          <p:cNvSpPr>
            <a:spLocks noChangeArrowheads="1"/>
          </p:cNvSpPr>
          <p:nvPr/>
        </p:nvSpPr>
        <p:spPr bwMode="auto">
          <a:xfrm>
            <a:off x="6229414" y="2097088"/>
            <a:ext cx="3132138" cy="404812"/>
          </a:xfrm>
          <a:prstGeom prst="rect">
            <a:avLst/>
          </a:prstGeom>
          <a:solidFill>
            <a:srgbClr val="F8F8F8"/>
          </a:solidFill>
          <a:ln w="28575" algn="ctr">
            <a:solidFill>
              <a:srgbClr val="7889FB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온라인 비즈니스 통합    </a:t>
            </a:r>
          </a:p>
        </p:txBody>
      </p:sp>
      <p:sp>
        <p:nvSpPr>
          <p:cNvPr id="26633" name="Rectangle 112"/>
          <p:cNvSpPr>
            <a:spLocks noChangeArrowheads="1"/>
          </p:cNvSpPr>
          <p:nvPr/>
        </p:nvSpPr>
        <p:spPr bwMode="auto">
          <a:xfrm>
            <a:off x="6229414" y="4508500"/>
            <a:ext cx="3132138" cy="500063"/>
          </a:xfrm>
          <a:prstGeom prst="rect">
            <a:avLst/>
          </a:prstGeom>
          <a:solidFill>
            <a:srgbClr val="F8F8F8"/>
          </a:solidFill>
          <a:ln w="28575" algn="ctr">
            <a:solidFill>
              <a:srgbClr val="7889FB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Total Online Business Service </a:t>
            </a:r>
            <a:br>
              <a:rPr lang="en-US" altLang="ko-KR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사업 추진</a:t>
            </a:r>
          </a:p>
        </p:txBody>
      </p:sp>
      <p:sp>
        <p:nvSpPr>
          <p:cNvPr id="26634" name="AutoShape 9"/>
          <p:cNvSpPr>
            <a:spLocks noChangeArrowheads="1"/>
          </p:cNvSpPr>
          <p:nvPr/>
        </p:nvSpPr>
        <p:spPr bwMode="gray">
          <a:xfrm rot="5400000">
            <a:off x="4983956" y="3947319"/>
            <a:ext cx="2001838" cy="234950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wrap="none" lIns="36000" rIns="360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endParaRPr kumimoji="1" lang="ko-KR" altLang="ko-KR" sz="1000">
              <a:latin typeface="+mj-ea"/>
              <a:ea typeface="+mj-ea"/>
            </a:endParaRPr>
          </a:p>
        </p:txBody>
      </p:sp>
      <p:sp>
        <p:nvSpPr>
          <p:cNvPr id="26635" name="Rectangle 114"/>
          <p:cNvSpPr>
            <a:spLocks noChangeArrowheads="1"/>
          </p:cNvSpPr>
          <p:nvPr/>
        </p:nvSpPr>
        <p:spPr bwMode="gray">
          <a:xfrm>
            <a:off x="3022600" y="4081463"/>
            <a:ext cx="503238" cy="434975"/>
          </a:xfrm>
          <a:prstGeom prst="rect">
            <a:avLst/>
          </a:prstGeom>
          <a:solidFill>
            <a:srgbClr val="D6DBFE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8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</a:t>
            </a:r>
            <a:r>
              <a:rPr lang="ko-KR" altLang="en-US" sz="8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계열사</a:t>
            </a:r>
            <a:br>
              <a:rPr lang="ko-KR" altLang="en-US" sz="8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8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쇼핑몰</a:t>
            </a:r>
          </a:p>
        </p:txBody>
      </p:sp>
      <p:sp>
        <p:nvSpPr>
          <p:cNvPr id="26636" name="Text Box 115"/>
          <p:cNvSpPr txBox="1">
            <a:spLocks noChangeArrowheads="1"/>
          </p:cNvSpPr>
          <p:nvPr/>
        </p:nvSpPr>
        <p:spPr bwMode="gray">
          <a:xfrm>
            <a:off x="1539702" y="1606550"/>
            <a:ext cx="3091209" cy="312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4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 </a:t>
            </a:r>
            <a:r>
              <a:rPr lang="ko-KR" altLang="en-US" sz="14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온라인 플랫폼 사업 추진 방향</a:t>
            </a:r>
          </a:p>
        </p:txBody>
      </p:sp>
      <p:sp>
        <p:nvSpPr>
          <p:cNvPr id="26637" name="Line 116"/>
          <p:cNvSpPr>
            <a:spLocks noChangeShapeType="1"/>
          </p:cNvSpPr>
          <p:nvPr/>
        </p:nvSpPr>
        <p:spPr bwMode="gray">
          <a:xfrm>
            <a:off x="273050" y="1920875"/>
            <a:ext cx="5651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6639" name="Rectangle 118"/>
          <p:cNvSpPr>
            <a:spLocks noChangeArrowheads="1"/>
          </p:cNvSpPr>
          <p:nvPr/>
        </p:nvSpPr>
        <p:spPr bwMode="gray">
          <a:xfrm>
            <a:off x="1831975" y="5157788"/>
            <a:ext cx="463550" cy="434975"/>
          </a:xfrm>
          <a:prstGeom prst="rect">
            <a:avLst/>
          </a:prstGeom>
          <a:solidFill>
            <a:srgbClr val="D6DBFE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18000" tIns="46800" rIns="18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계열사</a:t>
            </a:r>
            <a:br>
              <a:rPr lang="ko-KR" altLang="en-US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website</a:t>
            </a:r>
          </a:p>
        </p:txBody>
      </p:sp>
      <p:sp>
        <p:nvSpPr>
          <p:cNvPr id="26640" name="Text Box 119"/>
          <p:cNvSpPr txBox="1">
            <a:spLocks noChangeArrowheads="1"/>
          </p:cNvSpPr>
          <p:nvPr/>
        </p:nvSpPr>
        <p:spPr bwMode="gray">
          <a:xfrm>
            <a:off x="1233488" y="5419725"/>
            <a:ext cx="304800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800" b="0" i="1" u="sng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계열사</a:t>
            </a:r>
          </a:p>
        </p:txBody>
      </p:sp>
      <p:cxnSp>
        <p:nvCxnSpPr>
          <p:cNvPr id="26641" name="AutoShape 120"/>
          <p:cNvCxnSpPr>
            <a:cxnSpLocks noChangeShapeType="1"/>
            <a:stCxn id="26640" idx="3"/>
            <a:endCxn id="26639" idx="1"/>
          </p:cNvCxnSpPr>
          <p:nvPr/>
        </p:nvCxnSpPr>
        <p:spPr bwMode="gray">
          <a:xfrm flipV="1">
            <a:off x="1538288" y="5375275"/>
            <a:ext cx="293687" cy="112713"/>
          </a:xfrm>
          <a:prstGeom prst="curvedConnector3">
            <a:avLst>
              <a:gd name="adj1" fmla="val 49731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4" name="Rectangle 123"/>
          <p:cNvSpPr>
            <a:spLocks noChangeArrowheads="1"/>
          </p:cNvSpPr>
          <p:nvPr/>
        </p:nvSpPr>
        <p:spPr bwMode="gray">
          <a:xfrm>
            <a:off x="3300413" y="3036888"/>
            <a:ext cx="358775" cy="434975"/>
          </a:xfrm>
          <a:prstGeom prst="rect">
            <a:avLst/>
          </a:prstGeom>
          <a:solidFill>
            <a:srgbClr val="D6DBFE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계열사</a:t>
            </a:r>
            <a:br>
              <a:rPr lang="ko-KR" altLang="en-US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쇼핑몰</a:t>
            </a:r>
          </a:p>
        </p:txBody>
      </p:sp>
      <p:grpSp>
        <p:nvGrpSpPr>
          <p:cNvPr id="26646" name="Group 125"/>
          <p:cNvGrpSpPr>
            <a:grpSpLocks/>
          </p:cNvGrpSpPr>
          <p:nvPr/>
        </p:nvGrpSpPr>
        <p:grpSpPr bwMode="auto">
          <a:xfrm>
            <a:off x="4408488" y="3033713"/>
            <a:ext cx="742912" cy="434975"/>
            <a:chOff x="240" y="3317"/>
            <a:chExt cx="452" cy="274"/>
          </a:xfrm>
        </p:grpSpPr>
        <p:sp>
          <p:nvSpPr>
            <p:cNvPr id="26676" name="AutoShape 126"/>
            <p:cNvSpPr>
              <a:spLocks noChangeArrowheads="1"/>
            </p:cNvSpPr>
            <p:nvPr/>
          </p:nvSpPr>
          <p:spPr bwMode="gray">
            <a:xfrm>
              <a:off x="240" y="3317"/>
              <a:ext cx="226" cy="274"/>
            </a:xfrm>
            <a:prstGeom prst="upArrowCallout">
              <a:avLst>
                <a:gd name="adj1" fmla="val 50000"/>
                <a:gd name="adj2" fmla="val 25000"/>
                <a:gd name="adj3" fmla="val 0"/>
                <a:gd name="adj4" fmla="val 66667"/>
              </a:avLst>
            </a:prstGeom>
            <a:solidFill>
              <a:srgbClr val="D6DBFE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800" b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계열사</a:t>
              </a:r>
              <a:br>
                <a:rPr lang="ko-KR" altLang="en-US" sz="800" b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</a:br>
              <a:r>
                <a:rPr lang="ko-KR" altLang="en-US" sz="800" b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쇼핑몰</a:t>
              </a:r>
            </a:p>
          </p:txBody>
        </p:sp>
        <p:sp>
          <p:nvSpPr>
            <p:cNvPr id="26677" name="AutoShape 127"/>
            <p:cNvSpPr>
              <a:spLocks noChangeArrowheads="1"/>
            </p:cNvSpPr>
            <p:nvPr/>
          </p:nvSpPr>
          <p:spPr bwMode="gray">
            <a:xfrm>
              <a:off x="466" y="3317"/>
              <a:ext cx="226" cy="274"/>
            </a:xfrm>
            <a:prstGeom prst="upArrowCallout">
              <a:avLst>
                <a:gd name="adj1" fmla="val 50000"/>
                <a:gd name="adj2" fmla="val 25000"/>
                <a:gd name="adj3" fmla="val 0"/>
                <a:gd name="adj4" fmla="val 66667"/>
              </a:avLst>
            </a:prstGeom>
            <a:noFill/>
            <a:ln w="9525" algn="ctr">
              <a:solidFill>
                <a:srgbClr val="96969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no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800" b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비계열사</a:t>
              </a:r>
              <a:br>
                <a:rPr lang="ko-KR" altLang="en-US" sz="800" b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</a:br>
              <a:r>
                <a:rPr lang="ko-KR" altLang="en-US" sz="800" b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쇼핑몰</a:t>
              </a:r>
            </a:p>
          </p:txBody>
        </p:sp>
      </p:grpSp>
      <p:sp>
        <p:nvSpPr>
          <p:cNvPr id="26647" name="Text Box 129"/>
          <p:cNvSpPr txBox="1">
            <a:spLocks noChangeArrowheads="1"/>
          </p:cNvSpPr>
          <p:nvPr/>
        </p:nvSpPr>
        <p:spPr bwMode="gray">
          <a:xfrm>
            <a:off x="2211388" y="6107113"/>
            <a:ext cx="500062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내</a:t>
            </a:r>
          </a:p>
        </p:txBody>
      </p:sp>
      <p:sp>
        <p:nvSpPr>
          <p:cNvPr id="26648" name="Text Box 130"/>
          <p:cNvSpPr txBox="1">
            <a:spLocks noChangeArrowheads="1"/>
          </p:cNvSpPr>
          <p:nvPr/>
        </p:nvSpPr>
        <p:spPr bwMode="gray">
          <a:xfrm>
            <a:off x="4511675" y="6107113"/>
            <a:ext cx="652463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외부</a:t>
            </a:r>
          </a:p>
        </p:txBody>
      </p:sp>
      <p:sp>
        <p:nvSpPr>
          <p:cNvPr id="26649" name="Line 131"/>
          <p:cNvSpPr>
            <a:spLocks noChangeShapeType="1"/>
          </p:cNvSpPr>
          <p:nvPr/>
        </p:nvSpPr>
        <p:spPr bwMode="gray">
          <a:xfrm>
            <a:off x="968375" y="2276475"/>
            <a:ext cx="0" cy="3784600"/>
          </a:xfrm>
          <a:prstGeom prst="line">
            <a:avLst/>
          </a:prstGeom>
          <a:noFill/>
          <a:ln w="28575">
            <a:solidFill>
              <a:srgbClr val="96969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6650" name="Line 132"/>
          <p:cNvSpPr>
            <a:spLocks noChangeShapeType="1"/>
          </p:cNvSpPr>
          <p:nvPr/>
        </p:nvSpPr>
        <p:spPr bwMode="gray">
          <a:xfrm>
            <a:off x="968375" y="6061075"/>
            <a:ext cx="4843463" cy="0"/>
          </a:xfrm>
          <a:prstGeom prst="line">
            <a:avLst/>
          </a:prstGeom>
          <a:noFill/>
          <a:ln w="28575">
            <a:solidFill>
              <a:srgbClr val="96969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6651" name="Rectangle 133"/>
          <p:cNvSpPr>
            <a:spLocks noChangeArrowheads="1"/>
          </p:cNvSpPr>
          <p:nvPr/>
        </p:nvSpPr>
        <p:spPr bwMode="gray">
          <a:xfrm>
            <a:off x="1004888" y="3397250"/>
            <a:ext cx="2005012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1</a:t>
            </a: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단계 </a:t>
            </a:r>
            <a:r>
              <a:rPr lang="en-US" altLang="ko-KR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:</a:t>
            </a:r>
            <a:b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계열사 온라인 쇼핑몰 통합</a:t>
            </a:r>
          </a:p>
        </p:txBody>
      </p:sp>
      <p:sp>
        <p:nvSpPr>
          <p:cNvPr id="26652" name="Rectangle 134"/>
          <p:cNvSpPr>
            <a:spLocks noChangeArrowheads="1"/>
          </p:cNvSpPr>
          <p:nvPr/>
        </p:nvSpPr>
        <p:spPr bwMode="gray">
          <a:xfrm>
            <a:off x="2332037" y="5198145"/>
            <a:ext cx="15525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1. </a:t>
            </a:r>
            <a:r>
              <a:rPr lang="ko-KR" altLang="en-US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단순 </a:t>
            </a:r>
            <a:r>
              <a:rPr lang="en-US" altLang="ko-KR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link (</a:t>
            </a:r>
            <a:r>
              <a:rPr lang="ko-KR" altLang="en-US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현 수준</a:t>
            </a:r>
            <a:r>
              <a:rPr lang="en-US" altLang="ko-KR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)</a:t>
            </a:r>
            <a:br>
              <a:rPr lang="en-US" altLang="ko-KR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: </a:t>
            </a:r>
            <a:r>
              <a:rPr lang="ko-KR" altLang="en-US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계열사 </a:t>
            </a:r>
            <a:r>
              <a:rPr lang="en-US" altLang="ko-KR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main page link</a:t>
            </a:r>
          </a:p>
        </p:txBody>
      </p:sp>
      <p:sp>
        <p:nvSpPr>
          <p:cNvPr id="26654" name="Rectangle 136"/>
          <p:cNvSpPr>
            <a:spLocks noChangeArrowheads="1"/>
          </p:cNvSpPr>
          <p:nvPr/>
        </p:nvSpPr>
        <p:spPr bwMode="gray">
          <a:xfrm>
            <a:off x="2373313" y="4584700"/>
            <a:ext cx="466725" cy="434975"/>
          </a:xfrm>
          <a:prstGeom prst="rect">
            <a:avLst/>
          </a:prstGeom>
          <a:solidFill>
            <a:srgbClr val="D6DBFE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계열사</a:t>
            </a:r>
            <a:br>
              <a:rPr lang="ko-KR" altLang="en-US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쇼핑몰</a:t>
            </a:r>
          </a:p>
        </p:txBody>
      </p:sp>
      <p:sp>
        <p:nvSpPr>
          <p:cNvPr id="26655" name="Text Box 137"/>
          <p:cNvSpPr txBox="1">
            <a:spLocks noChangeArrowheads="1"/>
          </p:cNvSpPr>
          <p:nvPr/>
        </p:nvSpPr>
        <p:spPr bwMode="gray">
          <a:xfrm>
            <a:off x="1776413" y="4846638"/>
            <a:ext cx="30480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800" b="0" i="1" u="sng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계열사</a:t>
            </a:r>
          </a:p>
        </p:txBody>
      </p:sp>
      <p:cxnSp>
        <p:nvCxnSpPr>
          <p:cNvPr id="26656" name="AutoShape 138"/>
          <p:cNvCxnSpPr>
            <a:cxnSpLocks noChangeShapeType="1"/>
            <a:stCxn id="26655" idx="3"/>
            <a:endCxn id="26654" idx="1"/>
          </p:cNvCxnSpPr>
          <p:nvPr/>
        </p:nvCxnSpPr>
        <p:spPr bwMode="gray">
          <a:xfrm flipV="1">
            <a:off x="2081213" y="4802188"/>
            <a:ext cx="292100" cy="112712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57" name="Rectangle 139"/>
          <p:cNvSpPr>
            <a:spLocks noChangeArrowheads="1"/>
          </p:cNvSpPr>
          <p:nvPr/>
        </p:nvSpPr>
        <p:spPr bwMode="gray">
          <a:xfrm>
            <a:off x="1473200" y="4287838"/>
            <a:ext cx="1255770" cy="250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2. </a:t>
            </a:r>
            <a:r>
              <a:rPr lang="en-US" altLang="ko-KR" sz="1000" i="1" dirty="0" err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</a:t>
            </a:r>
            <a:r>
              <a:rPr lang="en-US" altLang="ko-KR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-to-</a:t>
            </a:r>
            <a:r>
              <a:rPr lang="en-US" altLang="ko-KR" sz="1000" i="1" dirty="0" err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</a:t>
            </a:r>
            <a:endParaRPr lang="en-US" altLang="ko-KR" sz="1000" i="1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6658" name="Text Box 140"/>
          <p:cNvSpPr txBox="1">
            <a:spLocks noChangeArrowheads="1"/>
          </p:cNvSpPr>
          <p:nvPr/>
        </p:nvSpPr>
        <p:spPr bwMode="gray">
          <a:xfrm>
            <a:off x="231775" y="2767013"/>
            <a:ext cx="652463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통합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/</a:t>
            </a:r>
            <a:b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운영 대행</a:t>
            </a:r>
          </a:p>
        </p:txBody>
      </p:sp>
      <p:sp>
        <p:nvSpPr>
          <p:cNvPr id="26659" name="Text Box 141"/>
          <p:cNvSpPr txBox="1">
            <a:spLocks noChangeArrowheads="1"/>
          </p:cNvSpPr>
          <p:nvPr/>
        </p:nvSpPr>
        <p:spPr bwMode="gray">
          <a:xfrm>
            <a:off x="488950" y="5373688"/>
            <a:ext cx="304800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연계</a:t>
            </a:r>
          </a:p>
        </p:txBody>
      </p:sp>
      <p:sp>
        <p:nvSpPr>
          <p:cNvPr id="26660" name="Rectangle 142"/>
          <p:cNvSpPr>
            <a:spLocks noChangeArrowheads="1"/>
          </p:cNvSpPr>
          <p:nvPr/>
        </p:nvSpPr>
        <p:spPr bwMode="gray">
          <a:xfrm>
            <a:off x="3179763" y="4508500"/>
            <a:ext cx="1247755" cy="419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3. eMall-in-eMall</a:t>
            </a:r>
            <a:br>
              <a:rPr lang="en-US" altLang="ko-KR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en-US" altLang="ko-KR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: eMall </a:t>
            </a:r>
            <a:r>
              <a:rPr lang="ko-KR" altLang="en-US" sz="1000" i="1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입점</a:t>
            </a:r>
          </a:p>
        </p:txBody>
      </p:sp>
      <p:sp>
        <p:nvSpPr>
          <p:cNvPr id="26661" name="Text Box 143"/>
          <p:cNvSpPr txBox="1">
            <a:spLocks noChangeArrowheads="1"/>
          </p:cNvSpPr>
          <p:nvPr/>
        </p:nvSpPr>
        <p:spPr bwMode="gray">
          <a:xfrm>
            <a:off x="466725" y="4090988"/>
            <a:ext cx="304800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통합</a:t>
            </a:r>
          </a:p>
        </p:txBody>
      </p:sp>
      <p:sp>
        <p:nvSpPr>
          <p:cNvPr id="26662" name="AutoShape 144"/>
          <p:cNvSpPr>
            <a:spLocks noChangeArrowheads="1"/>
          </p:cNvSpPr>
          <p:nvPr/>
        </p:nvSpPr>
        <p:spPr bwMode="gray">
          <a:xfrm>
            <a:off x="1095440" y="3863975"/>
            <a:ext cx="2790760" cy="1839954"/>
          </a:xfrm>
          <a:prstGeom prst="roundRect">
            <a:avLst>
              <a:gd name="adj" fmla="val 11162"/>
            </a:avLst>
          </a:prstGeom>
          <a:noFill/>
          <a:ln w="9525" algn="ctr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6663" name="Rectangle 145"/>
          <p:cNvSpPr>
            <a:spLocks noChangeArrowheads="1"/>
          </p:cNvSpPr>
          <p:nvPr/>
        </p:nvSpPr>
        <p:spPr bwMode="gray">
          <a:xfrm>
            <a:off x="2787650" y="2632075"/>
            <a:ext cx="12795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000" i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4. </a:t>
            </a:r>
            <a:r>
              <a:rPr lang="en-US" altLang="en-US" sz="1000" i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통합</a:t>
            </a:r>
            <a:r>
              <a:rPr lang="ko-KR" altLang="en-US" sz="1000" i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쇼핑몰 운영</a:t>
            </a:r>
          </a:p>
        </p:txBody>
      </p:sp>
      <p:sp>
        <p:nvSpPr>
          <p:cNvPr id="26664" name="AutoShape 146"/>
          <p:cNvSpPr>
            <a:spLocks noChangeArrowheads="1"/>
          </p:cNvSpPr>
          <p:nvPr/>
        </p:nvSpPr>
        <p:spPr bwMode="gray">
          <a:xfrm>
            <a:off x="2733675" y="2605088"/>
            <a:ext cx="1404938" cy="935037"/>
          </a:xfrm>
          <a:prstGeom prst="roundRect">
            <a:avLst>
              <a:gd name="adj" fmla="val 11162"/>
            </a:avLst>
          </a:prstGeom>
          <a:noFill/>
          <a:ln w="9525" algn="ctr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6665" name="Rectangle 147"/>
          <p:cNvSpPr>
            <a:spLocks noChangeArrowheads="1"/>
          </p:cNvSpPr>
          <p:nvPr/>
        </p:nvSpPr>
        <p:spPr bwMode="gray">
          <a:xfrm>
            <a:off x="1639888" y="2300288"/>
            <a:ext cx="1181100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2</a:t>
            </a: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단계 </a:t>
            </a:r>
            <a:r>
              <a:rPr lang="en-US" altLang="ko-KR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:</a:t>
            </a:r>
            <a:br>
              <a:rPr lang="en-US" altLang="ko-KR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그룹의 온라인</a:t>
            </a:r>
            <a:b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쇼핑 운영 통합</a:t>
            </a:r>
          </a:p>
        </p:txBody>
      </p:sp>
      <p:sp>
        <p:nvSpPr>
          <p:cNvPr id="26666" name="AutoShape 148"/>
          <p:cNvSpPr>
            <a:spLocks noChangeArrowheads="1"/>
          </p:cNvSpPr>
          <p:nvPr/>
        </p:nvSpPr>
        <p:spPr bwMode="gray">
          <a:xfrm>
            <a:off x="4227514" y="2605088"/>
            <a:ext cx="1247756" cy="935037"/>
          </a:xfrm>
          <a:prstGeom prst="roundRect">
            <a:avLst>
              <a:gd name="adj" fmla="val 11162"/>
            </a:avLst>
          </a:prstGeom>
          <a:noFill/>
          <a:ln w="9525" algn="ctr">
            <a:solidFill>
              <a:srgbClr val="96969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6667" name="Rectangle 149"/>
          <p:cNvSpPr>
            <a:spLocks noChangeArrowheads="1"/>
          </p:cNvSpPr>
          <p:nvPr/>
        </p:nvSpPr>
        <p:spPr bwMode="gray">
          <a:xfrm>
            <a:off x="4057650" y="2097088"/>
            <a:ext cx="17907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3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단계 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:</a:t>
            </a:r>
            <a:br>
              <a:rPr lang="en-US" altLang="ko-KR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온라인 비즈니스 서비스</a:t>
            </a:r>
          </a:p>
        </p:txBody>
      </p:sp>
      <p:sp>
        <p:nvSpPr>
          <p:cNvPr id="26668" name="Rectangle 150"/>
          <p:cNvSpPr>
            <a:spLocks noChangeArrowheads="1"/>
          </p:cNvSpPr>
          <p:nvPr/>
        </p:nvSpPr>
        <p:spPr bwMode="gray">
          <a:xfrm>
            <a:off x="4308475" y="2632075"/>
            <a:ext cx="11176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ko-KR" sz="1000" i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5. B2B </a:t>
            </a:r>
            <a:r>
              <a:rPr lang="ko-KR" altLang="en-US" sz="1000" i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비즈니스</a:t>
            </a:r>
          </a:p>
        </p:txBody>
      </p:sp>
      <p:sp>
        <p:nvSpPr>
          <p:cNvPr id="26669" name="AutoShape 151"/>
          <p:cNvSpPr>
            <a:spLocks noChangeArrowheads="1"/>
          </p:cNvSpPr>
          <p:nvPr/>
        </p:nvSpPr>
        <p:spPr bwMode="gray">
          <a:xfrm rot="2652256">
            <a:off x="1239838" y="4760913"/>
            <a:ext cx="304800" cy="323850"/>
          </a:xfrm>
          <a:prstGeom prst="upArrow">
            <a:avLst>
              <a:gd name="adj1" fmla="val 50000"/>
              <a:gd name="adj2" fmla="val 26563"/>
            </a:avLst>
          </a:prstGeom>
          <a:solidFill>
            <a:schemeClr val="bg1">
              <a:lumMod val="65000"/>
              <a:alpha val="30196"/>
            </a:schemeClr>
          </a:solidFill>
          <a:ln>
            <a:noFill/>
          </a:ln>
        </p:spPr>
        <p:txBody>
          <a:bodyPr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6670" name="AutoShape 152"/>
          <p:cNvSpPr>
            <a:spLocks noChangeArrowheads="1"/>
          </p:cNvSpPr>
          <p:nvPr/>
        </p:nvSpPr>
        <p:spPr bwMode="gray">
          <a:xfrm rot="2818496">
            <a:off x="2463800" y="4148138"/>
            <a:ext cx="304800" cy="323850"/>
          </a:xfrm>
          <a:prstGeom prst="upArrow">
            <a:avLst>
              <a:gd name="adj1" fmla="val 50000"/>
              <a:gd name="adj2" fmla="val 26563"/>
            </a:avLst>
          </a:prstGeom>
          <a:solidFill>
            <a:schemeClr val="bg1">
              <a:lumMod val="65000"/>
              <a:alpha val="30196"/>
            </a:schemeClr>
          </a:solidFill>
          <a:ln>
            <a:noFill/>
          </a:ln>
        </p:spPr>
        <p:txBody>
          <a:bodyPr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6671" name="AutoShape 153"/>
          <p:cNvSpPr>
            <a:spLocks noChangeArrowheads="1"/>
          </p:cNvSpPr>
          <p:nvPr/>
        </p:nvSpPr>
        <p:spPr bwMode="gray">
          <a:xfrm>
            <a:off x="3184525" y="3571875"/>
            <a:ext cx="304800" cy="323850"/>
          </a:xfrm>
          <a:prstGeom prst="upArrow">
            <a:avLst>
              <a:gd name="adj1" fmla="val 50000"/>
              <a:gd name="adj2" fmla="val 26563"/>
            </a:avLst>
          </a:prstGeom>
          <a:solidFill>
            <a:schemeClr val="bg1">
              <a:lumMod val="65000"/>
              <a:alpha val="30196"/>
            </a:schemeClr>
          </a:solidFill>
          <a:ln>
            <a:noFill/>
          </a:ln>
        </p:spPr>
        <p:txBody>
          <a:bodyPr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6672" name="AutoShape 154"/>
          <p:cNvSpPr>
            <a:spLocks noChangeArrowheads="1"/>
          </p:cNvSpPr>
          <p:nvPr/>
        </p:nvSpPr>
        <p:spPr bwMode="gray">
          <a:xfrm rot="5400000">
            <a:off x="3868738" y="3022600"/>
            <a:ext cx="304800" cy="323850"/>
          </a:xfrm>
          <a:prstGeom prst="upArrow">
            <a:avLst>
              <a:gd name="adj1" fmla="val 50000"/>
              <a:gd name="adj2" fmla="val 26563"/>
            </a:avLst>
          </a:prstGeom>
          <a:solidFill>
            <a:schemeClr val="bg1">
              <a:lumMod val="65000"/>
              <a:alpha val="30196"/>
            </a:schemeClr>
          </a:solidFill>
          <a:ln>
            <a:noFill/>
          </a:ln>
        </p:spPr>
        <p:txBody>
          <a:bodyPr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6673" name="Line 155"/>
          <p:cNvSpPr>
            <a:spLocks noChangeShapeType="1"/>
          </p:cNvSpPr>
          <p:nvPr/>
        </p:nvSpPr>
        <p:spPr bwMode="gray">
          <a:xfrm flipV="1">
            <a:off x="631825" y="3213100"/>
            <a:ext cx="0" cy="212407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6674" name="Line 156"/>
          <p:cNvSpPr>
            <a:spLocks noChangeShapeType="1"/>
          </p:cNvSpPr>
          <p:nvPr/>
        </p:nvSpPr>
        <p:spPr bwMode="gray">
          <a:xfrm rot="5400000" flipV="1">
            <a:off x="3639344" y="5426869"/>
            <a:ext cx="0" cy="1547812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5797550" cy="247650"/>
          </a:xfrm>
        </p:spPr>
        <p:txBody>
          <a:bodyPr/>
          <a:lstStyle/>
          <a:p>
            <a:r>
              <a:rPr lang="ko-KR" altLang="en-US" dirty="0"/>
              <a:t>그룹 온라인 통합 플랫폼 </a:t>
            </a:r>
            <a:r>
              <a:rPr lang="en-US" altLang="ko-KR" dirty="0"/>
              <a:t>&gt; </a:t>
            </a:r>
            <a:r>
              <a:rPr lang="ko-KR" altLang="en-US" dirty="0"/>
              <a:t>온라인 </a:t>
            </a:r>
            <a:r>
              <a:rPr lang="en-US" altLang="ko-KR" dirty="0"/>
              <a:t>Business </a:t>
            </a:r>
            <a:r>
              <a:rPr lang="ko-KR" altLang="en-US" dirty="0"/>
              <a:t>통합 모델</a:t>
            </a:r>
            <a:endParaRPr lang="en-US" altLang="ko-KR" dirty="0"/>
          </a:p>
        </p:txBody>
      </p:sp>
      <p:sp>
        <p:nvSpPr>
          <p:cNvPr id="43" name="Rectangle 3"/>
          <p:cNvSpPr txBox="1">
            <a:spLocks noChangeArrowheads="1"/>
          </p:cNvSpPr>
          <p:nvPr/>
        </p:nvSpPr>
        <p:spPr bwMode="auto">
          <a:xfrm>
            <a:off x="198438" y="868363"/>
            <a:ext cx="9459912" cy="51117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l" latinLnBrk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kumimoji="1" lang="en-US" altLang="ko-KR" sz="1400" kern="0" dirty="0">
                <a:latin typeface="+mj-ea"/>
                <a:ea typeface="+mj-ea"/>
              </a:rPr>
              <a:t>eMall</a:t>
            </a:r>
            <a:r>
              <a:rPr kumimoji="1" lang="ko-KR" altLang="en-US" sz="1400" kern="0" dirty="0">
                <a:latin typeface="+mj-ea"/>
                <a:ea typeface="+mj-ea"/>
              </a:rPr>
              <a:t> 중심의 그룹 온라인 비즈니스 통합으로 자회사 온라인 비즈니스 경쟁력의 상향 평준화</a:t>
            </a:r>
            <a:r>
              <a:rPr kumimoji="1" lang="en-US" altLang="ko-KR" sz="1400" kern="0" dirty="0">
                <a:latin typeface="+mj-ea"/>
                <a:ea typeface="+mj-ea"/>
              </a:rPr>
              <a:t>, eMall</a:t>
            </a:r>
            <a:r>
              <a:rPr kumimoji="1" lang="ko-KR" altLang="en-US" sz="1400" kern="0" dirty="0">
                <a:latin typeface="+mj-ea"/>
                <a:ea typeface="+mj-ea"/>
              </a:rPr>
              <a:t>의 수익률 증대 및 자회사간 시너지를 강화함</a:t>
            </a:r>
          </a:p>
        </p:txBody>
      </p:sp>
      <p:sp>
        <p:nvSpPr>
          <p:cNvPr id="27653" name="Rectangle 8"/>
          <p:cNvSpPr>
            <a:spLocks noChangeArrowheads="1"/>
          </p:cNvSpPr>
          <p:nvPr/>
        </p:nvSpPr>
        <p:spPr bwMode="gray">
          <a:xfrm>
            <a:off x="236538" y="1916113"/>
            <a:ext cx="9432925" cy="450056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7654" name="Rectangle 9"/>
          <p:cNvSpPr>
            <a:spLocks noChangeArrowheads="1"/>
          </p:cNvSpPr>
          <p:nvPr/>
        </p:nvSpPr>
        <p:spPr bwMode="gray">
          <a:xfrm>
            <a:off x="236538" y="1520825"/>
            <a:ext cx="9432925" cy="395288"/>
          </a:xfrm>
          <a:prstGeom prst="rect">
            <a:avLst/>
          </a:prstGeom>
          <a:solidFill>
            <a:srgbClr val="000066"/>
          </a:solidFill>
          <a:ln w="12700" algn="ctr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35000"/>
              </a:spcBef>
            </a:pPr>
            <a:r>
              <a:rPr kumimoji="1" lang="en-US" altLang="ko-KR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To-Be </a:t>
            </a:r>
            <a:r>
              <a:rPr kumimoji="1" lang="ko-KR" altLang="en-US">
                <a:solidFill>
                  <a:schemeClr val="bg1"/>
                </a:solidFill>
                <a:latin typeface="+mj-ea"/>
                <a:ea typeface="+mj-ea"/>
                <a:cs typeface="Arial" charset="0"/>
              </a:rPr>
              <a:t>그룹 온라인 비즈니스 통합 모델</a:t>
            </a:r>
            <a:endParaRPr kumimoji="1" lang="en-US" altLang="ko-KR">
              <a:solidFill>
                <a:schemeClr val="bg1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27656" name="Text Box 22"/>
          <p:cNvSpPr txBox="1">
            <a:spLocks noChangeArrowheads="1"/>
          </p:cNvSpPr>
          <p:nvPr/>
        </p:nvSpPr>
        <p:spPr bwMode="auto">
          <a:xfrm>
            <a:off x="2762245" y="3648075"/>
            <a:ext cx="1691169" cy="60016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latinLnBrk="1" hangingPunct="1">
              <a:spcBef>
                <a:spcPct val="10000"/>
              </a:spcBef>
            </a:pPr>
            <a:r>
              <a:rPr lang="en-US" altLang="ko-KR" sz="1300" i="1" dirty="0">
                <a:solidFill>
                  <a:srgbClr val="CC0000"/>
                </a:solidFill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sz="1300" i="1" dirty="0">
                <a:solidFill>
                  <a:srgbClr val="CC0000"/>
                </a:solidFill>
                <a:latin typeface="+mj-ea"/>
                <a:ea typeface="+mj-ea"/>
                <a:cs typeface="Arial" charset="0"/>
              </a:rPr>
              <a:t> 중심의 </a:t>
            </a:r>
            <a:br>
              <a:rPr lang="ko-KR" altLang="en-US" sz="1300" i="1" dirty="0">
                <a:solidFill>
                  <a:srgbClr val="CC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1300" i="1" dirty="0">
                <a:solidFill>
                  <a:srgbClr val="CC0000"/>
                </a:solidFill>
                <a:latin typeface="+mj-ea"/>
                <a:ea typeface="+mj-ea"/>
                <a:cs typeface="Arial" charset="0"/>
              </a:rPr>
              <a:t>그룹 온라인 비즈니스 </a:t>
            </a:r>
            <a:br>
              <a:rPr lang="ko-KR" altLang="en-US" sz="1300" i="1" dirty="0">
                <a:solidFill>
                  <a:srgbClr val="CC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1300" i="1" dirty="0">
                <a:solidFill>
                  <a:srgbClr val="CC0000"/>
                </a:solidFill>
                <a:latin typeface="+mj-ea"/>
                <a:ea typeface="+mj-ea"/>
                <a:cs typeface="Arial" charset="0"/>
              </a:rPr>
              <a:t>통합 </a:t>
            </a:r>
          </a:p>
        </p:txBody>
      </p:sp>
      <p:sp>
        <p:nvSpPr>
          <p:cNvPr id="27657" name="AutoShape 45"/>
          <p:cNvSpPr>
            <a:spLocks noChangeArrowheads="1"/>
          </p:cNvSpPr>
          <p:nvPr/>
        </p:nvSpPr>
        <p:spPr bwMode="auto">
          <a:xfrm rot="-8971242">
            <a:off x="2281473" y="2701925"/>
            <a:ext cx="2605088" cy="26050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20422" y="9401"/>
                </a:moveTo>
                <a:cubicBezTo>
                  <a:pt x="19727" y="4621"/>
                  <a:pt x="15630" y="1076"/>
                  <a:pt x="10800" y="1076"/>
                </a:cubicBezTo>
                <a:cubicBezTo>
                  <a:pt x="5429" y="1076"/>
                  <a:pt x="1076" y="5429"/>
                  <a:pt x="1076" y="10800"/>
                </a:cubicBezTo>
                <a:cubicBezTo>
                  <a:pt x="1076" y="16170"/>
                  <a:pt x="5429" y="20524"/>
                  <a:pt x="10800" y="20524"/>
                </a:cubicBezTo>
                <a:cubicBezTo>
                  <a:pt x="14803" y="20524"/>
                  <a:pt x="18398" y="18069"/>
                  <a:pt x="19856" y="14340"/>
                </a:cubicBezTo>
                <a:lnTo>
                  <a:pt x="20858" y="14732"/>
                </a:lnTo>
                <a:cubicBezTo>
                  <a:pt x="19239" y="18874"/>
                  <a:pt x="15246" y="21599"/>
                  <a:pt x="10800" y="21600"/>
                </a:cubicBezTo>
                <a:cubicBezTo>
                  <a:pt x="4835" y="21600"/>
                  <a:pt x="0" y="16764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164" y="-1"/>
                  <a:pt x="20715" y="3937"/>
                  <a:pt x="21487" y="9246"/>
                </a:cubicBezTo>
                <a:lnTo>
                  <a:pt x="24159" y="8857"/>
                </a:lnTo>
                <a:lnTo>
                  <a:pt x="21421" y="12528"/>
                </a:lnTo>
                <a:lnTo>
                  <a:pt x="17750" y="9789"/>
                </a:lnTo>
                <a:lnTo>
                  <a:pt x="20422" y="9401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27658" name="Group 47"/>
          <p:cNvGrpSpPr>
            <a:grpSpLocks/>
          </p:cNvGrpSpPr>
          <p:nvPr/>
        </p:nvGrpSpPr>
        <p:grpSpPr bwMode="auto">
          <a:xfrm>
            <a:off x="2830748" y="2014538"/>
            <a:ext cx="1547813" cy="1547812"/>
            <a:chOff x="4526" y="1027"/>
            <a:chExt cx="659" cy="654"/>
          </a:xfrm>
        </p:grpSpPr>
        <p:sp>
          <p:nvSpPr>
            <p:cNvPr id="27687" name="Oval 48"/>
            <p:cNvSpPr>
              <a:spLocks noChangeArrowheads="1"/>
            </p:cNvSpPr>
            <p:nvPr/>
          </p:nvSpPr>
          <p:spPr bwMode="auto">
            <a:xfrm>
              <a:off x="4526" y="1027"/>
              <a:ext cx="659" cy="654"/>
            </a:xfrm>
            <a:prstGeom prst="ellipse">
              <a:avLst/>
            </a:prstGeom>
            <a:solidFill>
              <a:srgbClr val="FFFFFF">
                <a:alpha val="6509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>
                <a:spcAft>
                  <a:spcPct val="15000"/>
                </a:spcAft>
                <a:buClr>
                  <a:schemeClr val="tx1"/>
                </a:buClr>
                <a:buFont typeface="Wingdings" pitchFamily="2" charset="2"/>
                <a:buNone/>
              </a:pPr>
              <a:endParaRPr lang="ko-KR" altLang="ko-KR" sz="1500" b="0"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7688" name="Oval 49"/>
            <p:cNvSpPr>
              <a:spLocks noChangeArrowheads="1"/>
            </p:cNvSpPr>
            <p:nvPr/>
          </p:nvSpPr>
          <p:spPr bwMode="gray">
            <a:xfrm>
              <a:off x="4564" y="1065"/>
              <a:ext cx="582" cy="578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endParaRPr lang="ko-KR" altLang="ko-KR" sz="1000"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7689" name="Oval 50"/>
            <p:cNvSpPr>
              <a:spLocks noChangeArrowheads="1"/>
            </p:cNvSpPr>
            <p:nvPr/>
          </p:nvSpPr>
          <p:spPr bwMode="auto">
            <a:xfrm>
              <a:off x="4583" y="1085"/>
              <a:ext cx="545" cy="538"/>
            </a:xfrm>
            <a:prstGeom prst="ellipse">
              <a:avLst/>
            </a:pr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4000" tIns="25200" rIns="54000" bIns="2520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endParaRPr lang="ko-KR" altLang="ko-KR" sz="1000"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7690" name="Oval 51"/>
            <p:cNvSpPr>
              <a:spLocks noChangeArrowheads="1"/>
            </p:cNvSpPr>
            <p:nvPr/>
          </p:nvSpPr>
          <p:spPr bwMode="gray">
            <a:xfrm>
              <a:off x="4613" y="1115"/>
              <a:ext cx="484" cy="47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EEE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4000" tIns="25200" rIns="54000" bIns="2520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latinLnBrk="1" hangingPunct="1"/>
              <a:r>
                <a:rPr kumimoji="1" lang="ko-KR" altLang="en-US" sz="1300" i="1" dirty="0">
                  <a:latin typeface="+mj-ea"/>
                  <a:ea typeface="+mj-ea"/>
                  <a:cs typeface="Arial" charset="0"/>
                </a:rPr>
                <a:t>그룹</a:t>
              </a:r>
              <a:br>
                <a:rPr kumimoji="1" lang="ko-KR" altLang="en-US" sz="1300" i="1" dirty="0">
                  <a:latin typeface="+mj-ea"/>
                  <a:ea typeface="+mj-ea"/>
                  <a:cs typeface="Arial" charset="0"/>
                </a:rPr>
              </a:br>
              <a:r>
                <a:rPr kumimoji="1" lang="ko-KR" altLang="en-US" sz="1300" i="1" dirty="0">
                  <a:latin typeface="+mj-ea"/>
                  <a:ea typeface="+mj-ea"/>
                  <a:cs typeface="Arial" charset="0"/>
                </a:rPr>
                <a:t>온라인 사이트</a:t>
              </a:r>
              <a:br>
                <a:rPr kumimoji="1" lang="ko-KR" altLang="en-US" sz="1300" i="1" dirty="0">
                  <a:latin typeface="+mj-ea"/>
                  <a:ea typeface="+mj-ea"/>
                  <a:cs typeface="Arial" charset="0"/>
                </a:rPr>
              </a:br>
              <a:r>
                <a:rPr kumimoji="1" lang="ko-KR" altLang="en-US" sz="1300" i="1" dirty="0">
                  <a:latin typeface="+mj-ea"/>
                  <a:ea typeface="+mj-ea"/>
                  <a:cs typeface="Arial" charset="0"/>
                </a:rPr>
                <a:t>개발</a:t>
              </a:r>
            </a:p>
          </p:txBody>
        </p:sp>
      </p:grpSp>
      <p:grpSp>
        <p:nvGrpSpPr>
          <p:cNvPr id="27659" name="Group 47"/>
          <p:cNvGrpSpPr>
            <a:grpSpLocks/>
          </p:cNvGrpSpPr>
          <p:nvPr/>
        </p:nvGrpSpPr>
        <p:grpSpPr bwMode="auto">
          <a:xfrm>
            <a:off x="4019786" y="3933825"/>
            <a:ext cx="1547812" cy="1547813"/>
            <a:chOff x="4526" y="1027"/>
            <a:chExt cx="659" cy="654"/>
          </a:xfrm>
        </p:grpSpPr>
        <p:sp>
          <p:nvSpPr>
            <p:cNvPr id="27683" name="Oval 48"/>
            <p:cNvSpPr>
              <a:spLocks noChangeArrowheads="1"/>
            </p:cNvSpPr>
            <p:nvPr/>
          </p:nvSpPr>
          <p:spPr bwMode="auto">
            <a:xfrm>
              <a:off x="4526" y="1027"/>
              <a:ext cx="659" cy="654"/>
            </a:xfrm>
            <a:prstGeom prst="ellipse">
              <a:avLst/>
            </a:prstGeom>
            <a:solidFill>
              <a:srgbClr val="FFFFFF">
                <a:alpha val="6509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>
                <a:spcAft>
                  <a:spcPct val="15000"/>
                </a:spcAft>
                <a:buClr>
                  <a:schemeClr val="tx1"/>
                </a:buClr>
                <a:buFont typeface="Wingdings" pitchFamily="2" charset="2"/>
                <a:buNone/>
              </a:pPr>
              <a:endParaRPr lang="ko-KR" altLang="ko-KR" sz="1500" b="0"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7684" name="Oval 49"/>
            <p:cNvSpPr>
              <a:spLocks noChangeArrowheads="1"/>
            </p:cNvSpPr>
            <p:nvPr/>
          </p:nvSpPr>
          <p:spPr bwMode="gray">
            <a:xfrm>
              <a:off x="4564" y="1065"/>
              <a:ext cx="582" cy="578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endParaRPr lang="ko-KR" altLang="ko-KR" sz="1000"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7685" name="Oval 50"/>
            <p:cNvSpPr>
              <a:spLocks noChangeArrowheads="1"/>
            </p:cNvSpPr>
            <p:nvPr/>
          </p:nvSpPr>
          <p:spPr bwMode="auto">
            <a:xfrm>
              <a:off x="4583" y="1085"/>
              <a:ext cx="545" cy="538"/>
            </a:xfrm>
            <a:prstGeom prst="ellipse">
              <a:avLst/>
            </a:pr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4000" tIns="25200" rIns="54000" bIns="2520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endParaRPr lang="ko-KR" altLang="ko-KR" sz="1000"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7686" name="Oval 51"/>
            <p:cNvSpPr>
              <a:spLocks noChangeArrowheads="1"/>
            </p:cNvSpPr>
            <p:nvPr/>
          </p:nvSpPr>
          <p:spPr bwMode="gray">
            <a:xfrm>
              <a:off x="4613" y="1115"/>
              <a:ext cx="484" cy="47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EEE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4000" tIns="25200" rIns="54000" bIns="2520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latinLnBrk="1" hangingPunct="1"/>
              <a:r>
                <a:rPr kumimoji="1" lang="ko-KR" altLang="en-US" sz="1300" i="1">
                  <a:latin typeface="+mj-ea"/>
                  <a:ea typeface="+mj-ea"/>
                  <a:cs typeface="Arial" charset="0"/>
                </a:rPr>
                <a:t>그룹</a:t>
              </a:r>
              <a:br>
                <a:rPr kumimoji="1" lang="ko-KR" altLang="en-US" sz="1300" i="1">
                  <a:latin typeface="+mj-ea"/>
                  <a:ea typeface="+mj-ea"/>
                  <a:cs typeface="Arial" charset="0"/>
                </a:rPr>
              </a:br>
              <a:r>
                <a:rPr kumimoji="1" lang="ko-KR" altLang="en-US" sz="1300" i="1">
                  <a:latin typeface="+mj-ea"/>
                  <a:ea typeface="+mj-ea"/>
                  <a:cs typeface="Arial" charset="0"/>
                </a:rPr>
                <a:t>온라인 사이트</a:t>
              </a:r>
              <a:br>
                <a:rPr kumimoji="1" lang="ko-KR" altLang="en-US" sz="1300" i="1">
                  <a:latin typeface="+mj-ea"/>
                  <a:ea typeface="+mj-ea"/>
                  <a:cs typeface="Arial" charset="0"/>
                </a:rPr>
              </a:br>
              <a:r>
                <a:rPr kumimoji="1" lang="ko-KR" altLang="en-US" sz="1300" i="1">
                  <a:latin typeface="+mj-ea"/>
                  <a:ea typeface="+mj-ea"/>
                  <a:cs typeface="Arial" charset="0"/>
                </a:rPr>
                <a:t>운영</a:t>
              </a:r>
            </a:p>
          </p:txBody>
        </p:sp>
      </p:grpSp>
      <p:grpSp>
        <p:nvGrpSpPr>
          <p:cNvPr id="27660" name="Group 47"/>
          <p:cNvGrpSpPr>
            <a:grpSpLocks/>
          </p:cNvGrpSpPr>
          <p:nvPr/>
        </p:nvGrpSpPr>
        <p:grpSpPr bwMode="auto">
          <a:xfrm>
            <a:off x="1641711" y="3979863"/>
            <a:ext cx="1547812" cy="1547812"/>
            <a:chOff x="4526" y="1027"/>
            <a:chExt cx="659" cy="654"/>
          </a:xfrm>
        </p:grpSpPr>
        <p:sp>
          <p:nvSpPr>
            <p:cNvPr id="27679" name="Oval 48"/>
            <p:cNvSpPr>
              <a:spLocks noChangeArrowheads="1"/>
            </p:cNvSpPr>
            <p:nvPr/>
          </p:nvSpPr>
          <p:spPr bwMode="auto">
            <a:xfrm>
              <a:off x="4526" y="1027"/>
              <a:ext cx="659" cy="654"/>
            </a:xfrm>
            <a:prstGeom prst="ellipse">
              <a:avLst/>
            </a:prstGeom>
            <a:solidFill>
              <a:srgbClr val="FFFFFF">
                <a:alpha val="6509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>
                <a:spcAft>
                  <a:spcPct val="15000"/>
                </a:spcAft>
                <a:buClr>
                  <a:schemeClr val="tx1"/>
                </a:buClr>
                <a:buFont typeface="Wingdings" pitchFamily="2" charset="2"/>
                <a:buNone/>
              </a:pPr>
              <a:endParaRPr lang="ko-KR" altLang="ko-KR" sz="1500" b="0"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7680" name="Oval 49"/>
            <p:cNvSpPr>
              <a:spLocks noChangeArrowheads="1"/>
            </p:cNvSpPr>
            <p:nvPr/>
          </p:nvSpPr>
          <p:spPr bwMode="gray">
            <a:xfrm>
              <a:off x="4564" y="1065"/>
              <a:ext cx="582" cy="578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endParaRPr lang="ko-KR" altLang="ko-KR" sz="1000"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7681" name="Oval 50"/>
            <p:cNvSpPr>
              <a:spLocks noChangeArrowheads="1"/>
            </p:cNvSpPr>
            <p:nvPr/>
          </p:nvSpPr>
          <p:spPr bwMode="auto">
            <a:xfrm>
              <a:off x="4583" y="1085"/>
              <a:ext cx="545" cy="538"/>
            </a:xfrm>
            <a:prstGeom prst="ellipse">
              <a:avLst/>
            </a:pr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4000" tIns="25200" rIns="54000" bIns="2520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endParaRPr lang="ko-KR" altLang="ko-KR" sz="1000"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27682" name="Oval 51"/>
            <p:cNvSpPr>
              <a:spLocks noChangeArrowheads="1"/>
            </p:cNvSpPr>
            <p:nvPr/>
          </p:nvSpPr>
          <p:spPr bwMode="gray">
            <a:xfrm>
              <a:off x="4613" y="1115"/>
              <a:ext cx="484" cy="47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EEE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54000" tIns="25200" rIns="54000" bIns="25200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latinLnBrk="1" hangingPunct="1"/>
              <a:r>
                <a:rPr kumimoji="1" lang="ko-KR" altLang="en-US" sz="1300" i="1">
                  <a:latin typeface="+mj-ea"/>
                  <a:ea typeface="+mj-ea"/>
                  <a:cs typeface="Arial" charset="0"/>
                </a:rPr>
                <a:t>그룹 온라인</a:t>
              </a:r>
              <a:br>
                <a:rPr kumimoji="1" lang="ko-KR" altLang="en-US" sz="1300" i="1">
                  <a:latin typeface="+mj-ea"/>
                  <a:ea typeface="+mj-ea"/>
                  <a:cs typeface="Arial" charset="0"/>
                </a:rPr>
              </a:br>
              <a:r>
                <a:rPr kumimoji="1" lang="ko-KR" altLang="en-US" sz="1300" i="1">
                  <a:latin typeface="+mj-ea"/>
                  <a:ea typeface="+mj-ea"/>
                  <a:cs typeface="Arial" charset="0"/>
                </a:rPr>
                <a:t>고객</a:t>
              </a:r>
              <a:br>
                <a:rPr kumimoji="1" lang="ko-KR" altLang="en-US" sz="1300" i="1">
                  <a:latin typeface="+mj-ea"/>
                  <a:ea typeface="+mj-ea"/>
                  <a:cs typeface="Arial" charset="0"/>
                </a:rPr>
              </a:br>
              <a:r>
                <a:rPr kumimoji="1" lang="ko-KR" altLang="en-US" sz="1300" i="1">
                  <a:latin typeface="+mj-ea"/>
                  <a:ea typeface="+mj-ea"/>
                  <a:cs typeface="Arial" charset="0"/>
                </a:rPr>
                <a:t>프로모션</a:t>
              </a:r>
            </a:p>
          </p:txBody>
        </p:sp>
      </p:grpSp>
      <p:sp>
        <p:nvSpPr>
          <p:cNvPr id="27661" name="Rectangle 11"/>
          <p:cNvSpPr>
            <a:spLocks noChangeArrowheads="1"/>
          </p:cNvSpPr>
          <p:nvPr/>
        </p:nvSpPr>
        <p:spPr bwMode="auto">
          <a:xfrm>
            <a:off x="4213460" y="1990725"/>
            <a:ext cx="2807615" cy="83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87313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spcBef>
                <a:spcPct val="20000"/>
              </a:spcBef>
              <a:buFont typeface="Arial" charset="0"/>
              <a:buChar char="•"/>
            </a:pP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그룹과 자회사 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Align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한</a:t>
            </a:r>
            <a:br>
              <a:rPr lang="ko-KR" altLang="en-US" sz="1100" b="0" dirty="0">
                <a:latin typeface="+mj-ea"/>
                <a:ea typeface="+mj-ea"/>
                <a:cs typeface="Arial" charset="0"/>
              </a:rPr>
            </a:b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사이트 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UI/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시스템 개발</a:t>
            </a:r>
          </a:p>
          <a:p>
            <a:pPr algn="l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자회사와 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간 업무 프로세스 수립</a:t>
            </a:r>
          </a:p>
          <a:p>
            <a:pPr algn="l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사이트 컨텐츠 기획</a:t>
            </a:r>
          </a:p>
        </p:txBody>
      </p:sp>
      <p:sp>
        <p:nvSpPr>
          <p:cNvPr id="27662" name="Rectangle 24"/>
          <p:cNvSpPr>
            <a:spLocks noChangeArrowheads="1"/>
          </p:cNvSpPr>
          <p:nvPr/>
        </p:nvSpPr>
        <p:spPr bwMode="auto">
          <a:xfrm>
            <a:off x="447522" y="5400675"/>
            <a:ext cx="2736850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9388" indent="-1793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spcBef>
                <a:spcPct val="20000"/>
              </a:spcBef>
              <a:buFont typeface="Arial" charset="0"/>
              <a:buChar char="•"/>
            </a:pPr>
            <a:r>
              <a:rPr lang="ko-KR" altLang="en-US" sz="1100" b="0" dirty="0" err="1">
                <a:latin typeface="+mj-ea"/>
                <a:ea typeface="+mj-ea"/>
                <a:cs typeface="Arial" charset="0"/>
              </a:rPr>
              <a:t>개별사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 상품 판매 증대 프로모션</a:t>
            </a:r>
          </a:p>
          <a:p>
            <a:pPr algn="l" eaLnBrk="1" latinLnBrk="1" hangingPunct="1">
              <a:spcBef>
                <a:spcPct val="20000"/>
              </a:spcBef>
              <a:buFont typeface="Arial" charset="0"/>
              <a:buChar char="•"/>
            </a:pP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온라인 광고 대행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브랜드 프로모션</a:t>
            </a:r>
          </a:p>
          <a:p>
            <a:pPr algn="l" eaLnBrk="1" latinLnBrk="1" hangingPunct="1">
              <a:spcBef>
                <a:spcPct val="20000"/>
              </a:spcBef>
              <a:buFont typeface="Arial" charset="0"/>
              <a:buChar char="•"/>
            </a:pP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온라인 이벤트 프로모션</a:t>
            </a:r>
          </a:p>
          <a:p>
            <a:pPr algn="l" eaLnBrk="1" latinLnBrk="1" hangingPunct="1">
              <a:spcBef>
                <a:spcPct val="20000"/>
              </a:spcBef>
              <a:buFont typeface="Arial" charset="0"/>
              <a:buChar char="•"/>
            </a:pP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마케팅 결과 정성적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/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정량적 분석</a:t>
            </a:r>
          </a:p>
        </p:txBody>
      </p:sp>
      <p:sp>
        <p:nvSpPr>
          <p:cNvPr id="27663" name="AutoShape 9"/>
          <p:cNvSpPr>
            <a:spLocks noChangeArrowheads="1"/>
          </p:cNvSpPr>
          <p:nvPr/>
        </p:nvSpPr>
        <p:spPr bwMode="gray">
          <a:xfrm rot="5400000">
            <a:off x="5330388" y="3978276"/>
            <a:ext cx="2268537" cy="163512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wrap="none" lIns="36000" rIns="360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endParaRPr kumimoji="1" lang="ko-KR" altLang="ko-KR" sz="1000">
              <a:latin typeface="+mj-ea"/>
              <a:ea typeface="+mj-ea"/>
              <a:cs typeface="Arial" charset="0"/>
            </a:endParaRPr>
          </a:p>
        </p:txBody>
      </p:sp>
      <p:sp>
        <p:nvSpPr>
          <p:cNvPr id="27664" name="Rectangle 23"/>
          <p:cNvSpPr>
            <a:spLocks noChangeArrowheads="1"/>
          </p:cNvSpPr>
          <p:nvPr/>
        </p:nvSpPr>
        <p:spPr bwMode="auto">
          <a:xfrm>
            <a:off x="3738798" y="5364163"/>
            <a:ext cx="280761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9388" indent="-1793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10000"/>
              </a:spcBef>
              <a:buFont typeface="Arial" charset="0"/>
              <a:buChar char="•"/>
            </a:pP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그룹차원의 컨텐츠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/DB 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관리 및 유지 보수</a:t>
            </a:r>
          </a:p>
          <a:p>
            <a:pPr algn="l" eaLnBrk="1" hangingPunct="1">
              <a:spcBef>
                <a:spcPct val="10000"/>
              </a:spcBef>
              <a:buFont typeface="Arial" charset="0"/>
              <a:buChar char="•"/>
            </a:pP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자회사 사이트 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UI 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개선</a:t>
            </a:r>
          </a:p>
          <a:p>
            <a:pPr algn="l" eaLnBrk="1" latinLnBrk="1" hangingPunct="1">
              <a:spcBef>
                <a:spcPct val="10000"/>
              </a:spcBef>
              <a:buFont typeface="Arial" charset="0"/>
              <a:buChar char="•"/>
            </a:pP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고객 유입 등 접속통계 분석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,</a:t>
            </a:r>
            <a:br>
              <a:rPr lang="en-US" altLang="ko-KR" sz="1100" b="0" dirty="0">
                <a:latin typeface="+mj-ea"/>
                <a:ea typeface="+mj-ea"/>
                <a:cs typeface="Arial" charset="0"/>
              </a:rPr>
            </a:b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웹진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프로모션 계획 수립</a:t>
            </a:r>
          </a:p>
        </p:txBody>
      </p:sp>
      <p:sp>
        <p:nvSpPr>
          <p:cNvPr id="27665" name="Rectangle 3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1496" y="2544763"/>
            <a:ext cx="2522004" cy="781050"/>
          </a:xfrm>
          <a:prstGeom prst="rect">
            <a:avLst/>
          </a:prstGeom>
          <a:solidFill>
            <a:srgbClr val="F8F8F8">
              <a:alpha val="39999"/>
            </a:srgbClr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lIns="54000" rIns="54000" anchor="ctr"/>
          <a:lstStyle>
            <a:lvl1pPr marL="174625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buClr>
                <a:schemeClr val="tx1"/>
              </a:buClr>
              <a:buFontTx/>
              <a:buChar char="•"/>
            </a:pPr>
            <a:r>
              <a:rPr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차원의 컨텐츠 통합 관리 및 재활용 가능</a:t>
            </a:r>
          </a:p>
        </p:txBody>
      </p:sp>
      <p:sp>
        <p:nvSpPr>
          <p:cNvPr id="27666" name="Rectangle 3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31496" y="3430588"/>
            <a:ext cx="2522004" cy="781050"/>
          </a:xfrm>
          <a:prstGeom prst="rect">
            <a:avLst/>
          </a:prstGeom>
          <a:solidFill>
            <a:srgbClr val="F8F8F8">
              <a:alpha val="39999"/>
            </a:srgbClr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lIns="54000" rIns="54000" anchor="ctr"/>
          <a:lstStyle>
            <a:lvl1pPr marL="174625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buClr>
                <a:schemeClr val="tx1"/>
              </a:buClr>
              <a:buFontTx/>
              <a:buChar char="•"/>
            </a:pPr>
            <a:r>
              <a:rPr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기업</a:t>
            </a:r>
            <a:r>
              <a:rPr lang="en-US" altLang="ko-KR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/</a:t>
            </a:r>
            <a:r>
              <a:rPr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브랜드 이미지 일관성 유지 가능</a:t>
            </a:r>
          </a:p>
        </p:txBody>
      </p:sp>
      <p:sp>
        <p:nvSpPr>
          <p:cNvPr id="27667" name="Rectangle 3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931496" y="4316413"/>
            <a:ext cx="2522004" cy="781050"/>
          </a:xfrm>
          <a:prstGeom prst="rect">
            <a:avLst/>
          </a:prstGeom>
          <a:solidFill>
            <a:srgbClr val="F8F8F8">
              <a:alpha val="39999"/>
            </a:srgbClr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lIns="54000" rIns="54000" anchor="ctr"/>
          <a:lstStyle>
            <a:lvl1pPr marL="174625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buClr>
                <a:schemeClr val="tx1"/>
              </a:buClr>
              <a:buFontTx/>
              <a:buChar char="•"/>
            </a:pPr>
            <a:r>
              <a:rPr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 노하우를 활용한 자회사 온라인 사이트의 상향 평준화</a:t>
            </a:r>
          </a:p>
        </p:txBody>
      </p:sp>
      <p:sp>
        <p:nvSpPr>
          <p:cNvPr id="27668" name="Rectangle 35"/>
          <p:cNvSpPr>
            <a:spLocks noChangeArrowheads="1"/>
          </p:cNvSpPr>
          <p:nvPr/>
        </p:nvSpPr>
        <p:spPr bwMode="gray">
          <a:xfrm>
            <a:off x="7623727" y="2187575"/>
            <a:ext cx="1195760" cy="297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buClr>
                <a:schemeClr val="accent2"/>
              </a:buClr>
            </a:pPr>
            <a:r>
              <a:rPr lang="ko-KR" altLang="en-US" sz="1300" u="sng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기대 효과</a:t>
            </a:r>
          </a:p>
        </p:txBody>
      </p:sp>
      <p:sp>
        <p:nvSpPr>
          <p:cNvPr id="27669" name="Rectangle 3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931496" y="5203825"/>
            <a:ext cx="2522004" cy="781050"/>
          </a:xfrm>
          <a:prstGeom prst="rect">
            <a:avLst/>
          </a:prstGeom>
          <a:solidFill>
            <a:srgbClr val="F8F8F8">
              <a:alpha val="39999"/>
            </a:srgbClr>
          </a:solidFill>
          <a:ln w="12700" algn="ctr">
            <a:solidFill>
              <a:srgbClr val="969696"/>
            </a:solidFill>
            <a:miter lim="800000"/>
            <a:headEnd/>
            <a:tailEnd/>
          </a:ln>
        </p:spPr>
        <p:txBody>
          <a:bodyPr lIns="54000" rIns="54000" anchor="ctr"/>
          <a:lstStyle>
            <a:lvl1pPr marL="174625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10000"/>
              </a:lnSpc>
              <a:buClr>
                <a:schemeClr val="tx1"/>
              </a:buClr>
              <a:buFontTx/>
              <a:buChar char="•"/>
            </a:pPr>
            <a:r>
              <a:rPr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추가 </a:t>
            </a:r>
            <a:r>
              <a:rPr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</a:t>
            </a:r>
            <a:r>
              <a:rPr lang="ko-KR" altLang="en-US" sz="1100" dirty="0" err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으로</a:t>
            </a:r>
            <a:r>
              <a:rPr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 수익률 증대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3740150" cy="247650"/>
          </a:xfrm>
        </p:spPr>
        <p:txBody>
          <a:bodyPr/>
          <a:lstStyle/>
          <a:p>
            <a:r>
              <a:rPr lang="ko-KR" altLang="ko-KR" dirty="0"/>
              <a:t>그룹 통합 고객 멤버십</a:t>
            </a:r>
            <a:r>
              <a:rPr lang="en-US" altLang="ko-KR" dirty="0"/>
              <a:t> &gt; </a:t>
            </a:r>
            <a:r>
              <a:rPr lang="ko-KR" altLang="en-US" dirty="0"/>
              <a:t>추진 옵션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8438" y="868363"/>
            <a:ext cx="9459912" cy="511175"/>
          </a:xfrm>
        </p:spPr>
        <p:txBody>
          <a:bodyPr/>
          <a:lstStyle/>
          <a:p>
            <a:r>
              <a:rPr lang="ko-KR" altLang="en-US" dirty="0"/>
              <a:t>그룹 자산인 고객 정보 확보를 강화하고 고객 </a:t>
            </a:r>
            <a:r>
              <a:rPr lang="en-US" altLang="ko-KR" dirty="0"/>
              <a:t>Insight</a:t>
            </a:r>
            <a:r>
              <a:rPr lang="ko-KR" altLang="en-US" dirty="0" err="1"/>
              <a:t>를</a:t>
            </a:r>
            <a:r>
              <a:rPr lang="ko-KR" altLang="en-US" dirty="0"/>
              <a:t> 위한 보다 풍부한 속성 정보 파악을 위해 </a:t>
            </a:r>
            <a:r>
              <a:rPr lang="en-US" altLang="ko-KR" dirty="0"/>
              <a:t>eMall</a:t>
            </a:r>
            <a:r>
              <a:rPr lang="ko-KR" altLang="en-US" dirty="0"/>
              <a:t> 중심의 멤버십 제도 추진과 그룹 차원의 통합 멤버십 방안을 추진함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gray">
          <a:xfrm>
            <a:off x="1358863" y="1606550"/>
            <a:ext cx="2406726" cy="31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SimSun" pitchFamily="2" charset="-122"/>
              <a:buNone/>
            </a:pPr>
            <a:r>
              <a:rPr lang="ko-KR" altLang="en-US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통합 고객 멤버십 방향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gray">
          <a:xfrm>
            <a:off x="6501516" y="1606550"/>
            <a:ext cx="2233794" cy="31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Font typeface="SimSun" pitchFamily="2" charset="-122"/>
              <a:buNone/>
            </a:pPr>
            <a:r>
              <a:rPr lang="en-US" altLang="ko-KR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To-Be BM Innovation </a:t>
            </a:r>
            <a:r>
              <a:rPr lang="ko-KR" altLang="en-US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案</a:t>
            </a:r>
          </a:p>
        </p:txBody>
      </p:sp>
      <p:sp>
        <p:nvSpPr>
          <p:cNvPr id="28678" name="Line 6"/>
          <p:cNvSpPr>
            <a:spLocks noChangeShapeType="1"/>
          </p:cNvSpPr>
          <p:nvPr/>
        </p:nvSpPr>
        <p:spPr bwMode="gray">
          <a:xfrm>
            <a:off x="236538" y="1916113"/>
            <a:ext cx="4716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gray">
          <a:xfrm>
            <a:off x="5529263" y="1920875"/>
            <a:ext cx="414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8680" name="AutoShape 8"/>
          <p:cNvSpPr>
            <a:spLocks noChangeArrowheads="1"/>
          </p:cNvSpPr>
          <p:nvPr/>
        </p:nvSpPr>
        <p:spPr bwMode="gray">
          <a:xfrm rot="5400000">
            <a:off x="-154782" y="2745582"/>
            <a:ext cx="3090863" cy="2298700"/>
          </a:xfrm>
          <a:prstGeom prst="homePlate">
            <a:avLst>
              <a:gd name="adj" fmla="val 10402"/>
            </a:avLst>
          </a:prstGeom>
          <a:solidFill>
            <a:srgbClr val="FFFFFF"/>
          </a:solidFill>
          <a:ln w="6350" algn="ctr">
            <a:solidFill>
              <a:srgbClr val="777777"/>
            </a:solidFill>
            <a:miter lim="800000"/>
            <a:headEnd/>
            <a:tailEnd/>
          </a:ln>
        </p:spPr>
        <p:txBody>
          <a:bodyPr wrap="none" lIns="72000" tIns="72000" rIns="72000" bIns="72000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ko-KR">
              <a:latin typeface="+mj-ea"/>
              <a:ea typeface="+mj-ea"/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gray">
          <a:xfrm>
            <a:off x="381000" y="2795350"/>
            <a:ext cx="201612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buFont typeface="SimSun" pitchFamily="2" charset="-122"/>
              <a:buNone/>
            </a:pPr>
            <a:r>
              <a:rPr lang="ko-KR" altLang="en-US" b="0" dirty="0">
                <a:latin typeface="+mj-ea"/>
                <a:ea typeface="+mj-ea"/>
                <a:cs typeface="Arial" charset="0"/>
              </a:rPr>
              <a:t>그룹사들은 시너지 마케팅을</a:t>
            </a:r>
            <a:br>
              <a:rPr lang="ko-KR" altLang="en-US" b="0" dirty="0">
                <a:latin typeface="+mj-ea"/>
                <a:ea typeface="+mj-ea"/>
                <a:cs typeface="Arial" charset="0"/>
              </a:rPr>
            </a:br>
            <a:r>
              <a:rPr lang="ko-KR" altLang="en-US" b="0" dirty="0">
                <a:latin typeface="+mj-ea"/>
                <a:ea typeface="+mj-ea"/>
                <a:cs typeface="Arial" charset="0"/>
              </a:rPr>
              <a:t>통해 그룹사의 역량 강화 및 신규 사업 진출의 발판으로 통합 멤버십 도입</a:t>
            </a:r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gray">
          <a:xfrm>
            <a:off x="371475" y="3890963"/>
            <a:ext cx="203835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 통합적 접근 통한 개별사 마케팅 역량 강화</a:t>
            </a:r>
          </a:p>
          <a:p>
            <a:pPr algn="l" eaLnBrk="1" hangingPunct="1"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그룹차원 신규 매출원 확보를 위한 기반 마련의 목적</a:t>
            </a:r>
          </a:p>
        </p:txBody>
      </p:sp>
      <p:sp>
        <p:nvSpPr>
          <p:cNvPr id="28683" name="Rectangle 11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236538" y="5351463"/>
            <a:ext cx="2303462" cy="922337"/>
          </a:xfrm>
          <a:prstGeom prst="rect">
            <a:avLst/>
          </a:prstGeom>
          <a:solidFill>
            <a:srgbClr val="DDDDDD"/>
          </a:solidFill>
          <a:ln w="6350" algn="ctr">
            <a:solidFill>
              <a:srgbClr val="B2B2B2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50000"/>
              </a:spcBef>
              <a:buSzPct val="60000"/>
              <a:buFont typeface="SimSun" pitchFamily="2" charset="-122"/>
              <a:buNone/>
            </a:pPr>
            <a:r>
              <a:rPr lang="en-US" altLang="ko-KR" sz="1300">
                <a:solidFill>
                  <a:srgbClr val="000000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 </a:t>
            </a:r>
            <a:r>
              <a:rPr lang="ko-KR" altLang="en-US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고객 정보 획득</a:t>
            </a:r>
            <a:r>
              <a:rPr lang="en-US" altLang="ko-KR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활용</a:t>
            </a:r>
            <a:r>
              <a:rPr lang="en-US" altLang="ko-KR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공유를 위한 “통합 그룹 멤버십” 제도의 운영</a:t>
            </a:r>
          </a:p>
        </p:txBody>
      </p:sp>
      <p:sp>
        <p:nvSpPr>
          <p:cNvPr id="28684" name="AutoShape 9"/>
          <p:cNvSpPr>
            <a:spLocks noChangeArrowheads="1"/>
          </p:cNvSpPr>
          <p:nvPr/>
        </p:nvSpPr>
        <p:spPr bwMode="gray">
          <a:xfrm rot="5400000">
            <a:off x="4285456" y="4077494"/>
            <a:ext cx="2001838" cy="234950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wrap="none" lIns="36000" rIns="3600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endParaRPr kumimoji="1" lang="ko-KR" altLang="ko-KR" sz="1000">
              <a:latin typeface="+mj-ea"/>
              <a:ea typeface="+mj-ea"/>
            </a:endParaRPr>
          </a:p>
        </p:txBody>
      </p:sp>
      <p:sp>
        <p:nvSpPr>
          <p:cNvPr id="492557" name="AutoShape 13"/>
          <p:cNvSpPr>
            <a:spLocks noChangeArrowheads="1"/>
          </p:cNvSpPr>
          <p:nvPr/>
        </p:nvSpPr>
        <p:spPr bwMode="gray">
          <a:xfrm>
            <a:off x="336550" y="2166938"/>
            <a:ext cx="1987550" cy="325437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18000" tIns="46800" rIns="18000" bIns="46800" anchor="ctr"/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SimSun" pitchFamily="2" charset="-122"/>
              <a:buNone/>
              <a:defRPr/>
            </a:pPr>
            <a:r>
              <a:rPr lang="ko-KR" altLang="en-US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국내 그룹사</a:t>
            </a:r>
          </a:p>
        </p:txBody>
      </p:sp>
      <p:sp>
        <p:nvSpPr>
          <p:cNvPr id="492558" name="AutoShape 14"/>
          <p:cNvSpPr>
            <a:spLocks noChangeArrowheads="1"/>
          </p:cNvSpPr>
          <p:nvPr/>
        </p:nvSpPr>
        <p:spPr bwMode="gray">
          <a:xfrm rot="5400000">
            <a:off x="2258218" y="2745582"/>
            <a:ext cx="3090863" cy="2298700"/>
          </a:xfrm>
          <a:prstGeom prst="homePlate">
            <a:avLst>
              <a:gd name="adj" fmla="val 10402"/>
            </a:avLst>
          </a:prstGeom>
          <a:solidFill>
            <a:schemeClr val="bg1"/>
          </a:solidFill>
          <a:ln w="9525" algn="ctr">
            <a:solidFill>
              <a:srgbClr val="777777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90000" tIns="46800" rIns="90000" bIns="46800" anchor="b"/>
          <a:lstStyle/>
          <a:p>
            <a:pPr>
              <a:defRPr/>
            </a:pPr>
            <a:endParaRPr lang="ko-KR" altLang="en-US">
              <a:latin typeface="+mj-ea"/>
              <a:ea typeface="+mj-ea"/>
            </a:endParaRPr>
          </a:p>
        </p:txBody>
      </p:sp>
      <p:sp>
        <p:nvSpPr>
          <p:cNvPr id="28687" name="Rectangle 15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2649538" y="5351463"/>
            <a:ext cx="2303462" cy="922337"/>
          </a:xfrm>
          <a:prstGeom prst="rect">
            <a:avLst/>
          </a:prstGeom>
          <a:solidFill>
            <a:srgbClr val="DDDDDD"/>
          </a:solidFill>
          <a:ln w="6350" algn="ctr">
            <a:solidFill>
              <a:srgbClr val="B2B2B2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50000"/>
              </a:spcBef>
              <a:buSzPct val="60000"/>
              <a:buFont typeface="SimSun" pitchFamily="2" charset="-122"/>
              <a:buNone/>
            </a:pPr>
            <a:r>
              <a:rPr lang="en-US" altLang="ko-KR" sz="1300">
                <a:solidFill>
                  <a:srgbClr val="000000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 </a:t>
            </a:r>
            <a:r>
              <a:rPr lang="ko-KR" altLang="en-US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온라인 회원제와 멤버십 일치로 </a:t>
            </a:r>
            <a:r>
              <a:rPr lang="en-US" altLang="ko-KR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TV </a:t>
            </a:r>
            <a:r>
              <a:rPr lang="ko-KR" altLang="en-US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채널 고객 </a:t>
            </a:r>
            <a:r>
              <a:rPr lang="en-US" altLang="ko-KR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leverage </a:t>
            </a:r>
            <a:r>
              <a:rPr lang="ko-KR" altLang="en-US" sz="13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필요</a:t>
            </a:r>
          </a:p>
        </p:txBody>
      </p:sp>
      <p:sp>
        <p:nvSpPr>
          <p:cNvPr id="492560" name="AutoShape 16"/>
          <p:cNvSpPr>
            <a:spLocks noChangeArrowheads="1"/>
          </p:cNvSpPr>
          <p:nvPr/>
        </p:nvSpPr>
        <p:spPr bwMode="gray">
          <a:xfrm>
            <a:off x="2806700" y="2166938"/>
            <a:ext cx="1987550" cy="325437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 algn="ctr">
            <a:solidFill>
              <a:srgbClr val="969696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lIns="18000" tIns="46800" rIns="18000" bIns="46800" anchor="ctr"/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  <a:buFont typeface="SimSun" pitchFamily="2" charset="-122"/>
              <a:buNone/>
              <a:defRPr/>
            </a:pPr>
            <a:r>
              <a:rPr lang="en-US" altLang="ko-KR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고객 정보 현황</a:t>
            </a:r>
          </a:p>
        </p:txBody>
      </p:sp>
      <p:graphicFrame>
        <p:nvGraphicFramePr>
          <p:cNvPr id="492585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432857"/>
              </p:ext>
            </p:extLst>
          </p:nvPr>
        </p:nvGraphicFramePr>
        <p:xfrm>
          <a:off x="5399088" y="1989138"/>
          <a:ext cx="4268787" cy="4251326"/>
        </p:xfrm>
        <a:graphic>
          <a:graphicData uri="http://schemas.openxmlformats.org/drawingml/2006/table">
            <a:tbl>
              <a:tblPr/>
              <a:tblGrid>
                <a:gridCol w="558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5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대안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imSun" pitchFamily="2" charset="-122"/>
                        <a:buNone/>
                        <a:tabLst/>
                      </a:pPr>
                      <a:r>
                        <a:rPr kumimoji="1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eMall</a:t>
                      </a:r>
                      <a:r>
                        <a:rPr kumimoji="1" lang="ko-KR" altLang="en-US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 단독</a:t>
                      </a:r>
                      <a:endParaRPr kumimoji="1" lang="en-US" altLang="ko-KR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imSun" pitchFamily="2" charset="-122"/>
                        <a:buNone/>
                        <a:tabLst/>
                      </a:pPr>
                      <a:r>
                        <a:rPr kumimoji="1" lang="ko-KR" altLang="en-US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멤버십 실행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그룹 전체 통합</a:t>
                      </a:r>
                      <a:endParaRPr kumimoji="1" lang="en-US" altLang="ko-KR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멤버십 실행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9400"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추진</a:t>
                      </a:r>
                      <a:b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</a:b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내용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marL="84138" indent="-84138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고객 규모가 가장 큰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eMall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 정착 후 계열사 확대 논의</a:t>
                      </a:r>
                    </a:p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온라인 회원제와 멤버십 통합</a:t>
                      </a:r>
                    </a:p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TV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채널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/SB/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마트에 동시 적용</a:t>
                      </a:r>
                    </a:p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그룹 계열사는 멤버십 제휴사로 활용</a:t>
                      </a:r>
                    </a:p>
                  </a:txBody>
                  <a:tcPr marL="72000" marR="36000" marT="72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4138" indent="-84138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고객 정보를 확보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활용하는 모든 계열사가 참여하여 동시에 진행</a:t>
                      </a:r>
                    </a:p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모든 온라인 사이트의 회원 가입 통합</a:t>
                      </a:r>
                    </a:p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모든 계열사를 통한 고객 유치 활동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고객 동의 획득</a:t>
                      </a:r>
                    </a:p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멤버십 운영 총괄은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eMall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72000" marR="36000" marT="72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2675"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장점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marL="84138" indent="-84138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eMall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 단독 진행으로 고객 동의 획득 편리</a:t>
                      </a:r>
                    </a:p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계열사별 설득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조정 작업 이 상대적으로 용이</a:t>
                      </a:r>
                    </a:p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모든 채널에서 멤버십 사용으로 정보 관리 유리</a:t>
                      </a:r>
                    </a:p>
                  </a:txBody>
                  <a:tcPr marL="72000" marR="36000" marT="72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4138" indent="-84138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그룹의 모든 자원 집중으로 단기간 고객 정보 획득 유리</a:t>
                      </a:r>
                    </a:p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그룹 시너지 관점의 고객 기반 조기 구축</a:t>
                      </a:r>
                    </a:p>
                  </a:txBody>
                  <a:tcPr marL="72000" marR="36000" marT="72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6013"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단점</a:t>
                      </a:r>
                    </a:p>
                  </a:txBody>
                  <a:tcPr marL="90000" marR="90000" marT="46800" marB="46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marL="84138" indent="-84138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현 온라인 회원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+TV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고객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+ SB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고객 정보 관리 체계와 차별적 이점 모호</a:t>
                      </a:r>
                      <a:b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</a:b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  <a:sym typeface="Wingdings" pitchFamily="2" charset="2"/>
                        </a:rPr>
                        <a:t>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멤버십 운영에 따른 비용 대비 효과성 증명  </a:t>
                      </a:r>
                    </a:p>
                  </a:txBody>
                  <a:tcPr marL="72000" marR="36000" marT="72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4138" indent="-84138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42950" indent="-28575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1430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002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057400" indent="-2286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고객 동의 획득이 단독 보다 복잡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어려움</a:t>
                      </a:r>
                    </a:p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그룹 내부 조정 과정 필요</a:t>
                      </a:r>
                    </a:p>
                    <a:p>
                      <a:pPr marL="84138" marR="0" lvl="0" indent="-8413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통합 멤버십 브랜드 결정 어려움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72000" marR="36000" marT="72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09" name="Rectangle 39"/>
          <p:cNvSpPr>
            <a:spLocks noChangeArrowheads="1"/>
          </p:cNvSpPr>
          <p:nvPr/>
        </p:nvSpPr>
        <p:spPr bwMode="gray">
          <a:xfrm>
            <a:off x="2720975" y="2732088"/>
            <a:ext cx="2195513" cy="2238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기존</a:t>
            </a:r>
            <a:r>
              <a:rPr lang="en-US" altLang="ko-KR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</a:t>
            </a: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채널 중심의 고객</a:t>
            </a:r>
            <a:b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</a:t>
            </a: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  <a:sym typeface="Arial" charset="0"/>
              </a:rPr>
              <a:t> 고객의 약</a:t>
            </a:r>
            <a:r>
              <a:rPr lang="en-US" altLang="ko-KR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  <a:sym typeface="Arial" charset="0"/>
              </a:rPr>
              <a:t>70% </a:t>
            </a: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  <a:sym typeface="Arial" charset="0"/>
              </a:rPr>
              <a:t>중복</a:t>
            </a:r>
            <a:endParaRPr lang="ko-KR" altLang="en-US" sz="130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en-US" altLang="ko-KR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 </a:t>
            </a:r>
            <a:r>
              <a:rPr lang="ko-KR" altLang="en-US" sz="13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회원 가입을 통한 고객 유입</a:t>
            </a:r>
          </a:p>
          <a:p>
            <a:pPr algn="l" eaLnBrk="1" hangingPunct="1"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b="0" dirty="0">
                <a:solidFill>
                  <a:srgbClr val="000000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 </a:t>
            </a:r>
            <a:r>
              <a:rPr lang="ko-KR" altLang="en-US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풍부한 정보 확보 채널인 온라인 채널과 주 유입 채널이나 주문처리 정보 항목 중심인 </a:t>
            </a:r>
            <a:r>
              <a:rPr lang="en-US" altLang="ko-KR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TV </a:t>
            </a:r>
            <a:r>
              <a:rPr lang="ko-KR" altLang="en-US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채널의 특성으로 양질의 고객 정보 확보 한계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2425700" cy="247650"/>
          </a:xfrm>
        </p:spPr>
        <p:txBody>
          <a:bodyPr/>
          <a:lstStyle/>
          <a:p>
            <a:r>
              <a:rPr lang="en-US" altLang="ko-KR" dirty="0"/>
              <a:t>Financial Projection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98A674-3FA9-8D07-6511-BABAA16FBB32}"/>
              </a:ext>
            </a:extLst>
          </p:cNvPr>
          <p:cNvSpPr/>
          <p:nvPr/>
        </p:nvSpPr>
        <p:spPr bwMode="auto">
          <a:xfrm>
            <a:off x="344488" y="2600908"/>
            <a:ext cx="9145016" cy="1115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ore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본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제안을 통해서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3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개년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,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5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개년 등의 누적수익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,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매출액의 상승목표 기술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(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그래프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+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테이블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)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ore-KR" dirty="0">
              <a:latin typeface="+mj-ea"/>
              <a:ea typeface="+mj-ea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비전과 가설적 목표 </a:t>
            </a:r>
            <a:r>
              <a:rPr lang="ko-KR" altLang="en-US" dirty="0">
                <a:latin typeface="+mj-ea"/>
                <a:ea typeface="+mj-ea"/>
              </a:rPr>
              <a:t>등을 기술</a:t>
            </a:r>
            <a:endParaRPr kumimoji="0" lang="ko-Kore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273050" y="2033588"/>
            <a:ext cx="792163" cy="4068762"/>
          </a:xfrm>
          <a:prstGeom prst="rect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5168900" y="5130800"/>
            <a:ext cx="4464050" cy="1143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72000" tIns="0" rIns="72000" bIns="0" anchor="ctr"/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ko-KR" altLang="en-US" dirty="0">
                <a:latin typeface="+mj-ea"/>
                <a:ea typeface="+mj-ea"/>
              </a:rPr>
              <a:t>전사 시너지 관점과 </a:t>
            </a:r>
            <a:r>
              <a:rPr lang="en-US" altLang="ko-KR" dirty="0">
                <a:latin typeface="+mj-ea"/>
                <a:ea typeface="+mj-ea"/>
              </a:rPr>
              <a:t>eMall </a:t>
            </a:r>
            <a:r>
              <a:rPr lang="ko-KR" altLang="en-US" dirty="0">
                <a:latin typeface="+mj-ea"/>
                <a:ea typeface="+mj-ea"/>
              </a:rPr>
              <a:t>운영 효율 극대화 관점의 검토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en-US" altLang="ko-KR" sz="1100" b="0" dirty="0">
                <a:latin typeface="+mj-ea"/>
                <a:ea typeface="+mj-ea"/>
              </a:rPr>
              <a:t>: E</a:t>
            </a:r>
            <a:r>
              <a:rPr lang="ko-KR" altLang="en-US" sz="1100" b="0" dirty="0">
                <a:latin typeface="+mj-ea"/>
                <a:ea typeface="+mj-ea"/>
              </a:rPr>
              <a:t>사업본부 수직 운영 조직 </a:t>
            </a:r>
            <a:r>
              <a:rPr lang="en-US" altLang="ko-KR" sz="1100" b="0" dirty="0">
                <a:latin typeface="+mj-ea"/>
                <a:ea typeface="+mj-ea"/>
              </a:rPr>
              <a:t>vs. Dual </a:t>
            </a:r>
            <a:r>
              <a:rPr lang="ko-KR" altLang="en-US" sz="1100" b="0" dirty="0">
                <a:latin typeface="+mj-ea"/>
                <a:ea typeface="+mj-ea"/>
              </a:rPr>
              <a:t>운영 조직 </a:t>
            </a:r>
            <a:br>
              <a:rPr lang="ko-KR" altLang="en-US" sz="1100" b="0" dirty="0">
                <a:latin typeface="+mj-ea"/>
                <a:ea typeface="+mj-ea"/>
              </a:rPr>
            </a:br>
            <a:r>
              <a:rPr lang="ko-KR" altLang="en-US" sz="1100" b="0" dirty="0">
                <a:latin typeface="+mj-ea"/>
                <a:ea typeface="+mj-ea"/>
              </a:rPr>
              <a:t>  </a:t>
            </a:r>
            <a:r>
              <a:rPr lang="en-US" altLang="ko-KR" sz="1100" b="0" dirty="0">
                <a:latin typeface="+mj-ea"/>
                <a:ea typeface="+mj-ea"/>
              </a:rPr>
              <a:t>vs. </a:t>
            </a:r>
            <a:r>
              <a:rPr lang="ko-KR" altLang="en-US" sz="1100" b="0" dirty="0">
                <a:latin typeface="+mj-ea"/>
                <a:ea typeface="+mj-ea"/>
              </a:rPr>
              <a:t>전사 공통 업무 조직 중심</a:t>
            </a:r>
          </a:p>
          <a:p>
            <a:pPr algn="l" eaLnBrk="1" hangingPunct="1">
              <a:buFontTx/>
              <a:buChar char="•"/>
            </a:pPr>
            <a:r>
              <a:rPr lang="ko-KR" altLang="en-US" dirty="0">
                <a:latin typeface="+mj-ea"/>
                <a:ea typeface="+mj-ea"/>
              </a:rPr>
              <a:t>업무별 필요 인력 규모 검토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en-US" altLang="ko-KR" sz="1100" b="0" dirty="0">
                <a:latin typeface="+mj-ea"/>
                <a:ea typeface="+mj-ea"/>
              </a:rPr>
              <a:t>- </a:t>
            </a:r>
            <a:r>
              <a:rPr lang="ko-KR" altLang="en-US" sz="1100" b="0" dirty="0">
                <a:latin typeface="+mj-ea"/>
                <a:ea typeface="+mj-ea"/>
              </a:rPr>
              <a:t>기본 방향 </a:t>
            </a:r>
            <a:r>
              <a:rPr lang="en-US" altLang="ko-KR" sz="1100" b="0" dirty="0">
                <a:latin typeface="+mj-ea"/>
                <a:ea typeface="+mj-ea"/>
              </a:rPr>
              <a:t>: </a:t>
            </a:r>
            <a:r>
              <a:rPr lang="ko-KR" altLang="en-US" sz="1100" b="0" dirty="0">
                <a:latin typeface="+mj-ea"/>
                <a:ea typeface="+mj-ea"/>
              </a:rPr>
              <a:t>신규 </a:t>
            </a:r>
            <a:r>
              <a:rPr lang="en-US" altLang="ko-KR" sz="1100" b="0" dirty="0">
                <a:latin typeface="+mj-ea"/>
                <a:ea typeface="+mj-ea"/>
              </a:rPr>
              <a:t>BM </a:t>
            </a:r>
            <a:r>
              <a:rPr lang="ko-KR" altLang="en-US" sz="1100" b="0" dirty="0">
                <a:latin typeface="+mj-ea"/>
                <a:ea typeface="+mj-ea"/>
              </a:rPr>
              <a:t>운영 위한 인력 강화 필요</a:t>
            </a:r>
            <a:br>
              <a:rPr lang="ko-KR" altLang="en-US" sz="1100" b="0" dirty="0">
                <a:latin typeface="+mj-ea"/>
                <a:ea typeface="+mj-ea"/>
              </a:rPr>
            </a:br>
            <a:r>
              <a:rPr lang="en-US" altLang="ko-KR" sz="1100" b="0" dirty="0">
                <a:latin typeface="+mj-ea"/>
                <a:ea typeface="+mj-ea"/>
              </a:rPr>
              <a:t>※ BM </a:t>
            </a:r>
            <a:r>
              <a:rPr lang="ko-KR" altLang="en-US" sz="1100" b="0" dirty="0">
                <a:latin typeface="+mj-ea"/>
                <a:ea typeface="+mj-ea"/>
              </a:rPr>
              <a:t>확정 시</a:t>
            </a:r>
            <a:r>
              <a:rPr lang="en-US" altLang="ko-KR" sz="1100" b="0" dirty="0">
                <a:latin typeface="+mj-ea"/>
                <a:ea typeface="+mj-ea"/>
              </a:rPr>
              <a:t>, </a:t>
            </a:r>
            <a:r>
              <a:rPr lang="ko-KR" altLang="en-US" sz="1100" b="0" dirty="0">
                <a:latin typeface="+mj-ea"/>
                <a:ea typeface="+mj-ea"/>
              </a:rPr>
              <a:t>필요 업무 인력 규모 산정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5168900" y="2286000"/>
            <a:ext cx="4464050" cy="10985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0" tIns="0" rIns="0" bIns="0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/>
            <a:r>
              <a:rPr lang="en-US" altLang="ko-KR">
                <a:latin typeface="+mj-ea"/>
                <a:ea typeface="+mj-ea"/>
              </a:rPr>
              <a:t>Ex) </a:t>
            </a:r>
            <a:r>
              <a:rPr lang="ko-KR" altLang="en-US">
                <a:latin typeface="+mj-ea"/>
                <a:ea typeface="+mj-ea"/>
              </a:rPr>
              <a:t>분석 업무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2921000" cy="247650"/>
          </a:xfrm>
        </p:spPr>
        <p:txBody>
          <a:bodyPr/>
          <a:lstStyle/>
          <a:p>
            <a:r>
              <a:rPr lang="en-US" altLang="ko-KR" dirty="0"/>
              <a:t>BM </a:t>
            </a:r>
            <a:r>
              <a:rPr lang="ko-KR" altLang="en-US" dirty="0"/>
              <a:t>실행을 위한 조직 변화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ko-KR"/>
              <a:t>BM </a:t>
            </a:r>
            <a:r>
              <a:rPr lang="ko-KR" altLang="en-US"/>
              <a:t>실행에 따라 신설</a:t>
            </a:r>
            <a:r>
              <a:rPr lang="en-US" altLang="ko-KR"/>
              <a:t>, </a:t>
            </a:r>
            <a:r>
              <a:rPr lang="ko-KR" altLang="en-US"/>
              <a:t>인력 강화</a:t>
            </a:r>
            <a:r>
              <a:rPr lang="en-US" altLang="ko-KR"/>
              <a:t>, </a:t>
            </a:r>
            <a:r>
              <a:rPr lang="ko-KR" altLang="en-US"/>
              <a:t>업무 이동</a:t>
            </a:r>
            <a:r>
              <a:rPr lang="en-US" altLang="ko-KR"/>
              <a:t>/</a:t>
            </a:r>
            <a:r>
              <a:rPr lang="ko-KR" altLang="en-US"/>
              <a:t>통합 등 조직 변화가 필요하며</a:t>
            </a:r>
            <a:r>
              <a:rPr lang="en-US" altLang="ko-KR"/>
              <a:t>, </a:t>
            </a:r>
            <a:r>
              <a:rPr lang="ko-KR" altLang="en-US"/>
              <a:t>이에 따라 표준 프로세스</a:t>
            </a:r>
            <a:r>
              <a:rPr lang="en-US" altLang="ko-KR"/>
              <a:t>, </a:t>
            </a:r>
            <a:r>
              <a:rPr lang="ko-KR" altLang="en-US"/>
              <a:t>운영 가이드라인</a:t>
            </a:r>
            <a:r>
              <a:rPr lang="en-US" altLang="ko-KR"/>
              <a:t>, </a:t>
            </a:r>
            <a:r>
              <a:rPr lang="ko-KR" altLang="en-US"/>
              <a:t>조직간 </a:t>
            </a:r>
            <a:r>
              <a:rPr lang="en-US" altLang="ko-KR"/>
              <a:t>R&amp;R</a:t>
            </a:r>
            <a:r>
              <a:rPr lang="ko-KR" altLang="en-US"/>
              <a:t>을 재개편 해야 함</a:t>
            </a:r>
            <a:r>
              <a:rPr lang="en-US" altLang="ko-KR"/>
              <a:t>.  </a:t>
            </a: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1356428" y="1639888"/>
            <a:ext cx="215283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400" dirty="0">
                <a:latin typeface="+mj-ea"/>
                <a:ea typeface="+mj-ea"/>
              </a:rPr>
              <a:t>BM</a:t>
            </a:r>
            <a:r>
              <a:rPr lang="ko-KR" altLang="en-US" sz="1400" dirty="0">
                <a:latin typeface="+mj-ea"/>
                <a:ea typeface="+mj-ea"/>
              </a:rPr>
              <a:t>에 따른 조직 변화 동인</a:t>
            </a: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1460500" y="2235200"/>
            <a:ext cx="30607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6075" indent="-1666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>
                <a:latin typeface="+mj-ea"/>
                <a:ea typeface="+mj-ea"/>
              </a:rPr>
              <a:t>신규 업무로 조직 신설</a:t>
            </a:r>
          </a:p>
          <a:p>
            <a:pPr lvl="1" algn="l" eaLnBrk="1" hangingPunct="1">
              <a:lnSpc>
                <a:spcPct val="120000"/>
              </a:lnSpc>
              <a:spcBef>
                <a:spcPct val="20000"/>
              </a:spcBef>
              <a:buFont typeface="Arial" charset="0"/>
              <a:buChar char="−"/>
            </a:pPr>
            <a:r>
              <a:rPr lang="ko-KR" altLang="en-US" b="0">
                <a:latin typeface="+mj-ea"/>
                <a:ea typeface="+mj-ea"/>
              </a:rPr>
              <a:t>개인화 분석 </a:t>
            </a:r>
            <a:r>
              <a:rPr lang="en-US" altLang="ko-KR" b="0">
                <a:latin typeface="+mj-ea"/>
                <a:ea typeface="+mj-ea"/>
              </a:rPr>
              <a:t>&amp; </a:t>
            </a:r>
            <a:r>
              <a:rPr lang="ko-KR" altLang="en-US" b="0">
                <a:latin typeface="+mj-ea"/>
                <a:ea typeface="+mj-ea"/>
              </a:rPr>
              <a:t>고객</a:t>
            </a:r>
            <a:r>
              <a:rPr lang="en-US" altLang="ko-KR" b="0">
                <a:latin typeface="+mj-ea"/>
                <a:ea typeface="+mj-ea"/>
              </a:rPr>
              <a:t>/</a:t>
            </a:r>
            <a:r>
              <a:rPr lang="ko-KR" altLang="en-US" b="0">
                <a:latin typeface="+mj-ea"/>
                <a:ea typeface="+mj-ea"/>
              </a:rPr>
              <a:t>상품 정보 분석</a:t>
            </a:r>
          </a:p>
          <a:p>
            <a:pPr lvl="1" algn="l" eaLnBrk="1" hangingPunct="1">
              <a:lnSpc>
                <a:spcPct val="120000"/>
              </a:lnSpc>
              <a:spcBef>
                <a:spcPct val="20000"/>
              </a:spcBef>
              <a:buFont typeface="Arial" charset="0"/>
              <a:buChar char="−"/>
            </a:pPr>
            <a:r>
              <a:rPr lang="ko-KR" altLang="en-US" b="0">
                <a:latin typeface="+mj-ea"/>
                <a:ea typeface="+mj-ea"/>
              </a:rPr>
              <a:t>전문몰 </a:t>
            </a:r>
            <a:r>
              <a:rPr lang="en-US" altLang="ko-KR" b="0">
                <a:latin typeface="+mj-ea"/>
                <a:ea typeface="+mj-ea"/>
              </a:rPr>
              <a:t>BM </a:t>
            </a:r>
            <a:r>
              <a:rPr lang="ko-KR" altLang="en-US" b="0">
                <a:latin typeface="+mj-ea"/>
                <a:ea typeface="+mj-ea"/>
              </a:rPr>
              <a:t>기획 및 운영</a:t>
            </a:r>
            <a:br>
              <a:rPr lang="ko-KR" altLang="en-US" b="0">
                <a:latin typeface="+mj-ea"/>
                <a:ea typeface="+mj-ea"/>
              </a:rPr>
            </a:br>
            <a:r>
              <a:rPr lang="en-US" altLang="ko-KR" b="0">
                <a:latin typeface="+mj-ea"/>
                <a:ea typeface="+mj-ea"/>
              </a:rPr>
              <a:t>(ex; B2B </a:t>
            </a:r>
            <a:r>
              <a:rPr lang="ko-KR" altLang="en-US" b="0">
                <a:latin typeface="+mj-ea"/>
                <a:ea typeface="+mj-ea"/>
              </a:rPr>
              <a:t>플랫폼 업무 대행 </a:t>
            </a:r>
            <a:r>
              <a:rPr lang="en-US" altLang="ko-KR" b="0">
                <a:latin typeface="+mj-ea"/>
                <a:ea typeface="+mj-ea"/>
              </a:rPr>
              <a:t>BM)</a:t>
            </a:r>
            <a:endParaRPr lang="en-US" altLang="ko-KR">
              <a:latin typeface="+mj-ea"/>
              <a:ea typeface="+mj-ea"/>
            </a:endParaRPr>
          </a:p>
        </p:txBody>
      </p:sp>
      <p:sp>
        <p:nvSpPr>
          <p:cNvPr id="31754" name="Text Box 10"/>
          <p:cNvSpPr txBox="1">
            <a:spLocks noChangeArrowheads="1"/>
          </p:cNvSpPr>
          <p:nvPr/>
        </p:nvSpPr>
        <p:spPr bwMode="auto">
          <a:xfrm>
            <a:off x="1460500" y="4805363"/>
            <a:ext cx="30607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6075" indent="-1666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>
                <a:latin typeface="+mj-ea"/>
                <a:ea typeface="+mj-ea"/>
              </a:rPr>
              <a:t>업무 강화의 인력 충원</a:t>
            </a:r>
          </a:p>
          <a:p>
            <a:pPr lvl="1" algn="l" eaLnBrk="1" hangingPunct="1">
              <a:lnSpc>
                <a:spcPct val="120000"/>
              </a:lnSpc>
              <a:spcBef>
                <a:spcPct val="20000"/>
              </a:spcBef>
              <a:buFont typeface="Arial" charset="0"/>
              <a:buChar char="−"/>
            </a:pPr>
            <a:r>
              <a:rPr lang="ko-KR" altLang="en-US" b="0">
                <a:latin typeface="+mj-ea"/>
                <a:ea typeface="+mj-ea"/>
              </a:rPr>
              <a:t>제휴마케팅 </a:t>
            </a:r>
            <a:r>
              <a:rPr lang="en-US" altLang="ko-KR" b="0">
                <a:latin typeface="+mj-ea"/>
                <a:ea typeface="+mj-ea"/>
              </a:rPr>
              <a:t>(ex;B2B </a:t>
            </a:r>
            <a:r>
              <a:rPr lang="ko-KR" altLang="en-US" b="0">
                <a:latin typeface="+mj-ea"/>
                <a:ea typeface="+mj-ea"/>
              </a:rPr>
              <a:t>몰 운영 대행</a:t>
            </a:r>
            <a:r>
              <a:rPr lang="en-US" altLang="ko-KR" b="0">
                <a:latin typeface="+mj-ea"/>
                <a:ea typeface="+mj-ea"/>
              </a:rPr>
              <a:t>)</a:t>
            </a:r>
          </a:p>
          <a:p>
            <a:pPr lvl="1" algn="l" eaLnBrk="1" hangingPunct="1">
              <a:lnSpc>
                <a:spcPct val="120000"/>
              </a:lnSpc>
              <a:spcBef>
                <a:spcPct val="20000"/>
              </a:spcBef>
              <a:buFont typeface="Arial" charset="0"/>
              <a:buChar char="−"/>
            </a:pPr>
            <a:r>
              <a:rPr lang="en-US" altLang="ko-KR" b="0">
                <a:latin typeface="+mj-ea"/>
                <a:ea typeface="+mj-ea"/>
              </a:rPr>
              <a:t>TV/SB/</a:t>
            </a:r>
            <a:r>
              <a:rPr lang="ko-KR" altLang="en-US" b="0">
                <a:latin typeface="+mj-ea"/>
                <a:ea typeface="+mj-ea"/>
              </a:rPr>
              <a:t>마트와 시너지 강화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6710031" y="1639888"/>
            <a:ext cx="138178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400">
                <a:latin typeface="+mj-ea"/>
                <a:ea typeface="+mj-ea"/>
              </a:rPr>
              <a:t>조직 변화의 방향</a:t>
            </a:r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>
            <a:off x="273050" y="1925638"/>
            <a:ext cx="4276725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1757" name="Line 13"/>
          <p:cNvSpPr>
            <a:spLocks noChangeShapeType="1"/>
          </p:cNvSpPr>
          <p:nvPr/>
        </p:nvSpPr>
        <p:spPr bwMode="auto">
          <a:xfrm>
            <a:off x="5168900" y="1925638"/>
            <a:ext cx="44640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1758" name="AutoShape 14"/>
          <p:cNvSpPr>
            <a:spLocks noChangeArrowheads="1"/>
          </p:cNvSpPr>
          <p:nvPr/>
        </p:nvSpPr>
        <p:spPr bwMode="auto">
          <a:xfrm rot="5400000">
            <a:off x="3694112" y="4013201"/>
            <a:ext cx="2339975" cy="25400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5168900" y="2033588"/>
            <a:ext cx="4464050" cy="250825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72000" tIns="0" rIns="72000" bIns="0" anchor="ctr"/>
          <a:lstStyle>
            <a:lvl1pPr marL="2730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/>
            <a:r>
              <a:rPr lang="ko-KR" altLang="en-US">
                <a:latin typeface="+mj-ea"/>
                <a:ea typeface="+mj-ea"/>
              </a:rPr>
              <a:t>신규 업무의 표준 프로세스 수립</a:t>
            </a:r>
          </a:p>
        </p:txBody>
      </p:sp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5168900" y="4878388"/>
            <a:ext cx="4464050" cy="250825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72000" tIns="0" rIns="72000" bIns="0" anchor="ctr"/>
          <a:lstStyle>
            <a:lvl1pPr marL="2730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/>
            <a:r>
              <a:rPr lang="ko-KR" altLang="en-US">
                <a:latin typeface="+mj-ea"/>
                <a:ea typeface="+mj-ea"/>
              </a:rPr>
              <a:t>조직 </a:t>
            </a:r>
            <a:r>
              <a:rPr lang="en-US" altLang="ko-KR">
                <a:latin typeface="+mj-ea"/>
                <a:ea typeface="+mj-ea"/>
              </a:rPr>
              <a:t>R&amp;R </a:t>
            </a:r>
            <a:r>
              <a:rPr lang="ko-KR" altLang="en-US">
                <a:latin typeface="+mj-ea"/>
                <a:ea typeface="+mj-ea"/>
              </a:rPr>
              <a:t>재개편 </a:t>
            </a:r>
            <a:r>
              <a:rPr lang="en-US" altLang="ko-KR">
                <a:latin typeface="+mj-ea"/>
                <a:ea typeface="+mj-ea"/>
              </a:rPr>
              <a:t>(</a:t>
            </a:r>
            <a:r>
              <a:rPr lang="ko-KR" altLang="en-US">
                <a:latin typeface="+mj-ea"/>
                <a:ea typeface="+mj-ea"/>
              </a:rPr>
              <a:t>조직 신설</a:t>
            </a:r>
            <a:r>
              <a:rPr lang="en-US" altLang="ko-KR">
                <a:latin typeface="+mj-ea"/>
                <a:ea typeface="+mj-ea"/>
              </a:rPr>
              <a:t>/</a:t>
            </a:r>
            <a:r>
              <a:rPr lang="ko-KR" altLang="en-US">
                <a:latin typeface="+mj-ea"/>
                <a:ea typeface="+mj-ea"/>
              </a:rPr>
              <a:t>인력 강화</a:t>
            </a:r>
            <a:r>
              <a:rPr lang="en-US" altLang="ko-KR">
                <a:latin typeface="+mj-ea"/>
                <a:ea typeface="+mj-ea"/>
              </a:rPr>
              <a:t>)</a:t>
            </a:r>
          </a:p>
        </p:txBody>
      </p:sp>
      <p:sp>
        <p:nvSpPr>
          <p:cNvPr id="31761" name="Rectangle 17"/>
          <p:cNvSpPr>
            <a:spLocks noChangeArrowheads="1"/>
          </p:cNvSpPr>
          <p:nvPr/>
        </p:nvSpPr>
        <p:spPr bwMode="auto">
          <a:xfrm>
            <a:off x="5168900" y="3694113"/>
            <a:ext cx="4464050" cy="10985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5168900" y="3436938"/>
            <a:ext cx="4464050" cy="250825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72000" tIns="0" rIns="72000" bIns="0" anchor="ctr"/>
          <a:lstStyle>
            <a:lvl1pPr marL="2730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/>
            <a:r>
              <a:rPr lang="ko-KR" altLang="en-US">
                <a:latin typeface="+mj-ea"/>
                <a:ea typeface="+mj-ea"/>
              </a:rPr>
              <a:t>관련 업무間 운영 가이드라인 정립 </a:t>
            </a:r>
          </a:p>
        </p:txBody>
      </p:sp>
      <p:sp>
        <p:nvSpPr>
          <p:cNvPr id="31763" name="Rectangle 19"/>
          <p:cNvSpPr>
            <a:spLocks noChangeArrowheads="1"/>
          </p:cNvSpPr>
          <p:nvPr/>
        </p:nvSpPr>
        <p:spPr bwMode="auto">
          <a:xfrm>
            <a:off x="5816600" y="2681288"/>
            <a:ext cx="612775" cy="396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b="0">
                <a:latin typeface="+mj-ea"/>
                <a:ea typeface="+mj-ea"/>
              </a:rPr>
              <a:t>고객 분석 기획</a:t>
            </a:r>
          </a:p>
        </p:txBody>
      </p:sp>
      <p:sp>
        <p:nvSpPr>
          <p:cNvPr id="31764" name="Rectangle 20"/>
          <p:cNvSpPr>
            <a:spLocks noChangeArrowheads="1"/>
          </p:cNvSpPr>
          <p:nvPr/>
        </p:nvSpPr>
        <p:spPr bwMode="auto">
          <a:xfrm>
            <a:off x="6753225" y="2681288"/>
            <a:ext cx="612775" cy="396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b="0" dirty="0">
                <a:latin typeface="+mj-ea"/>
                <a:ea typeface="+mj-ea"/>
              </a:rPr>
              <a:t>고객 정보 수집</a:t>
            </a:r>
            <a:br>
              <a:rPr lang="ko-KR" altLang="en-US" sz="1000" b="0" dirty="0">
                <a:latin typeface="+mj-ea"/>
                <a:ea typeface="+mj-ea"/>
              </a:rPr>
            </a:br>
            <a:r>
              <a:rPr lang="en-US" altLang="ko-KR" sz="1000" b="0" dirty="0">
                <a:latin typeface="+mj-ea"/>
                <a:ea typeface="+mj-ea"/>
              </a:rPr>
              <a:t>(</a:t>
            </a:r>
            <a:r>
              <a:rPr lang="ko-KR" altLang="en-US" sz="1000" b="0" dirty="0">
                <a:latin typeface="+mj-ea"/>
                <a:ea typeface="+mj-ea"/>
              </a:rPr>
              <a:t>시스템</a:t>
            </a:r>
            <a:r>
              <a:rPr lang="en-US" altLang="ko-KR" sz="1000" b="0" dirty="0">
                <a:latin typeface="+mj-ea"/>
                <a:ea typeface="+mj-ea"/>
              </a:rPr>
              <a:t>)</a:t>
            </a:r>
          </a:p>
        </p:txBody>
      </p:sp>
      <p:sp>
        <p:nvSpPr>
          <p:cNvPr id="31765" name="Rectangle 21"/>
          <p:cNvSpPr>
            <a:spLocks noChangeArrowheads="1"/>
          </p:cNvSpPr>
          <p:nvPr/>
        </p:nvSpPr>
        <p:spPr bwMode="auto">
          <a:xfrm>
            <a:off x="7689850" y="2681288"/>
            <a:ext cx="612775" cy="396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b="0" dirty="0">
                <a:latin typeface="+mj-ea"/>
                <a:ea typeface="+mj-ea"/>
              </a:rPr>
              <a:t>분석 </a:t>
            </a:r>
            <a:r>
              <a:rPr lang="en-US" altLang="ko-KR" sz="1000" b="0" dirty="0">
                <a:latin typeface="+mj-ea"/>
                <a:ea typeface="+mj-ea"/>
              </a:rPr>
              <a:t>(Tool </a:t>
            </a:r>
            <a:r>
              <a:rPr lang="ko-KR" altLang="en-US" sz="1000" b="0" dirty="0">
                <a:latin typeface="+mj-ea"/>
                <a:ea typeface="+mj-ea"/>
              </a:rPr>
              <a:t>이용</a:t>
            </a:r>
            <a:r>
              <a:rPr lang="en-US" altLang="ko-KR" sz="1000" b="0" dirty="0">
                <a:latin typeface="+mj-ea"/>
                <a:ea typeface="+mj-ea"/>
              </a:rPr>
              <a:t>)</a:t>
            </a:r>
          </a:p>
        </p:txBody>
      </p:sp>
      <p:sp>
        <p:nvSpPr>
          <p:cNvPr id="31766" name="Rectangle 22"/>
          <p:cNvSpPr>
            <a:spLocks noChangeArrowheads="1"/>
          </p:cNvSpPr>
          <p:nvPr/>
        </p:nvSpPr>
        <p:spPr bwMode="auto">
          <a:xfrm>
            <a:off x="8589963" y="2681288"/>
            <a:ext cx="612775" cy="396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b="0">
                <a:latin typeface="+mj-ea"/>
                <a:ea typeface="+mj-ea"/>
              </a:rPr>
              <a:t>결과 평가</a:t>
            </a:r>
          </a:p>
        </p:txBody>
      </p:sp>
      <p:cxnSp>
        <p:nvCxnSpPr>
          <p:cNvPr id="31767" name="AutoShape 23"/>
          <p:cNvCxnSpPr>
            <a:cxnSpLocks noChangeShapeType="1"/>
            <a:stCxn id="31763" idx="3"/>
            <a:endCxn id="31764" idx="1"/>
          </p:cNvCxnSpPr>
          <p:nvPr/>
        </p:nvCxnSpPr>
        <p:spPr bwMode="auto">
          <a:xfrm>
            <a:off x="6429375" y="2879725"/>
            <a:ext cx="3238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8" name="AutoShape 24"/>
          <p:cNvCxnSpPr>
            <a:cxnSpLocks noChangeShapeType="1"/>
            <a:stCxn id="31764" idx="3"/>
            <a:endCxn id="31765" idx="1"/>
          </p:cNvCxnSpPr>
          <p:nvPr/>
        </p:nvCxnSpPr>
        <p:spPr bwMode="auto">
          <a:xfrm>
            <a:off x="7366000" y="2879725"/>
            <a:ext cx="3238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9" name="AutoShape 25"/>
          <p:cNvCxnSpPr>
            <a:cxnSpLocks noChangeShapeType="1"/>
            <a:stCxn id="31765" idx="3"/>
            <a:endCxn id="31766" idx="1"/>
          </p:cNvCxnSpPr>
          <p:nvPr/>
        </p:nvCxnSpPr>
        <p:spPr bwMode="auto">
          <a:xfrm>
            <a:off x="8302625" y="2879725"/>
            <a:ext cx="28733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70" name="AutoShape 26"/>
          <p:cNvCxnSpPr>
            <a:cxnSpLocks noChangeShapeType="1"/>
            <a:stCxn id="31766" idx="0"/>
            <a:endCxn id="31765" idx="0"/>
          </p:cNvCxnSpPr>
          <p:nvPr/>
        </p:nvCxnSpPr>
        <p:spPr bwMode="auto">
          <a:xfrm rot="-5400000" flipH="1" flipV="1">
            <a:off x="8445500" y="2232026"/>
            <a:ext cx="1587" cy="900112"/>
          </a:xfrm>
          <a:prstGeom prst="bentConnector3">
            <a:avLst>
              <a:gd name="adj1" fmla="val -1440000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71" name="AutoShape 27"/>
          <p:cNvCxnSpPr>
            <a:cxnSpLocks noChangeShapeType="1"/>
            <a:stCxn id="31766" idx="3"/>
            <a:endCxn id="31763" idx="2"/>
          </p:cNvCxnSpPr>
          <p:nvPr/>
        </p:nvCxnSpPr>
        <p:spPr bwMode="auto">
          <a:xfrm flipH="1">
            <a:off x="6122988" y="2879725"/>
            <a:ext cx="3079750" cy="198438"/>
          </a:xfrm>
          <a:prstGeom prst="bentConnector4">
            <a:avLst>
              <a:gd name="adj1" fmla="val -7421"/>
              <a:gd name="adj2" fmla="val 21519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72" name="Rectangle 28"/>
          <p:cNvSpPr>
            <a:spLocks noChangeArrowheads="1"/>
          </p:cNvSpPr>
          <p:nvPr/>
        </p:nvSpPr>
        <p:spPr bwMode="auto">
          <a:xfrm>
            <a:off x="6213475" y="3903663"/>
            <a:ext cx="612775" cy="396875"/>
          </a:xfrm>
          <a:prstGeom prst="rect">
            <a:avLst/>
          </a:prstGeom>
          <a:solidFill>
            <a:srgbClr val="F8F8F8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개인화</a:t>
            </a:r>
            <a:br>
              <a:rPr lang="ko-KR" altLang="en-US" sz="1000">
                <a:latin typeface="+mj-ea"/>
                <a:ea typeface="+mj-ea"/>
              </a:rPr>
            </a:br>
            <a:r>
              <a:rPr lang="en-US" altLang="ko-KR" sz="1000">
                <a:latin typeface="+mj-ea"/>
                <a:ea typeface="+mj-ea"/>
              </a:rPr>
              <a:t>Rule </a:t>
            </a:r>
            <a:r>
              <a:rPr lang="ko-KR" altLang="en-US" sz="1000">
                <a:latin typeface="+mj-ea"/>
                <a:ea typeface="+mj-ea"/>
              </a:rPr>
              <a:t>분석</a:t>
            </a:r>
          </a:p>
        </p:txBody>
      </p:sp>
      <p:sp>
        <p:nvSpPr>
          <p:cNvPr id="31773" name="Rectangle 29"/>
          <p:cNvSpPr>
            <a:spLocks noChangeArrowheads="1"/>
          </p:cNvSpPr>
          <p:nvPr/>
        </p:nvSpPr>
        <p:spPr bwMode="auto">
          <a:xfrm>
            <a:off x="5240338" y="3903663"/>
            <a:ext cx="612775" cy="396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몰 기획팀</a:t>
            </a:r>
          </a:p>
        </p:txBody>
      </p:sp>
      <p:sp>
        <p:nvSpPr>
          <p:cNvPr id="31774" name="Rectangle 30"/>
          <p:cNvSpPr>
            <a:spLocks noChangeArrowheads="1"/>
          </p:cNvSpPr>
          <p:nvPr/>
        </p:nvSpPr>
        <p:spPr bwMode="auto">
          <a:xfrm>
            <a:off x="6932613" y="4265613"/>
            <a:ext cx="612775" cy="396875"/>
          </a:xfrm>
          <a:prstGeom prst="rect">
            <a:avLst/>
          </a:prstGeom>
          <a:solidFill>
            <a:srgbClr val="F8F8F8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고객</a:t>
            </a:r>
            <a:r>
              <a:rPr lang="en-US" altLang="ko-KR" sz="1000">
                <a:latin typeface="+mj-ea"/>
                <a:ea typeface="+mj-ea"/>
              </a:rPr>
              <a:t>/</a:t>
            </a:r>
            <a:r>
              <a:rPr lang="ko-KR" altLang="en-US" sz="1000">
                <a:latin typeface="+mj-ea"/>
                <a:ea typeface="+mj-ea"/>
              </a:rPr>
              <a:t>상품</a:t>
            </a:r>
            <a:br>
              <a:rPr lang="ko-KR" altLang="en-US" sz="1000">
                <a:latin typeface="+mj-ea"/>
                <a:ea typeface="+mj-ea"/>
              </a:rPr>
            </a:br>
            <a:r>
              <a:rPr lang="ko-KR" altLang="en-US" sz="1000">
                <a:latin typeface="+mj-ea"/>
                <a:ea typeface="+mj-ea"/>
              </a:rPr>
              <a:t>분석</a:t>
            </a:r>
          </a:p>
        </p:txBody>
      </p:sp>
      <p:sp>
        <p:nvSpPr>
          <p:cNvPr id="31775" name="Rectangle 31"/>
          <p:cNvSpPr>
            <a:spLocks noChangeArrowheads="1"/>
          </p:cNvSpPr>
          <p:nvPr/>
        </p:nvSpPr>
        <p:spPr bwMode="auto">
          <a:xfrm>
            <a:off x="7797800" y="3903663"/>
            <a:ext cx="720725" cy="396875"/>
          </a:xfrm>
          <a:prstGeom prst="rect">
            <a:avLst/>
          </a:prstGeom>
          <a:solidFill>
            <a:srgbClr val="F8F8F8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몰 제작</a:t>
            </a:r>
            <a:br>
              <a:rPr lang="ko-KR" altLang="en-US" sz="1000">
                <a:latin typeface="+mj-ea"/>
                <a:ea typeface="+mj-ea"/>
              </a:rPr>
            </a:br>
            <a:r>
              <a:rPr lang="en-US" altLang="ko-KR" sz="900">
                <a:latin typeface="+mj-ea"/>
                <a:ea typeface="+mj-ea"/>
              </a:rPr>
              <a:t>(</a:t>
            </a:r>
            <a:r>
              <a:rPr lang="ko-KR" altLang="en-US" sz="900">
                <a:latin typeface="+mj-ea"/>
                <a:ea typeface="+mj-ea"/>
              </a:rPr>
              <a:t>사이트 기능</a:t>
            </a:r>
            <a:r>
              <a:rPr lang="en-US" altLang="ko-KR" sz="900">
                <a:latin typeface="+mj-ea"/>
                <a:ea typeface="+mj-ea"/>
              </a:rPr>
              <a:t>/</a:t>
            </a:r>
            <a:r>
              <a:rPr lang="ko-KR" altLang="en-US" sz="900">
                <a:latin typeface="+mj-ea"/>
                <a:ea typeface="+mj-ea"/>
              </a:rPr>
              <a:t>서비스</a:t>
            </a:r>
            <a:r>
              <a:rPr lang="en-US" altLang="ko-KR" sz="900">
                <a:latin typeface="+mj-ea"/>
                <a:ea typeface="+mj-ea"/>
              </a:rPr>
              <a:t>)</a:t>
            </a:r>
          </a:p>
        </p:txBody>
      </p:sp>
      <p:sp>
        <p:nvSpPr>
          <p:cNvPr id="31776" name="Rectangle 32"/>
          <p:cNvSpPr>
            <a:spLocks noChangeArrowheads="1"/>
          </p:cNvSpPr>
          <p:nvPr/>
        </p:nvSpPr>
        <p:spPr bwMode="auto">
          <a:xfrm>
            <a:off x="8948738" y="3903663"/>
            <a:ext cx="612775" cy="396875"/>
          </a:xfrm>
          <a:prstGeom prst="rect">
            <a:avLst/>
          </a:prstGeom>
          <a:solidFill>
            <a:srgbClr val="F8F8F8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몰 운영</a:t>
            </a:r>
            <a:br>
              <a:rPr lang="ko-KR" altLang="en-US" sz="1000">
                <a:latin typeface="+mj-ea"/>
                <a:ea typeface="+mj-ea"/>
              </a:rPr>
            </a:br>
            <a:r>
              <a:rPr lang="en-US" altLang="ko-KR" sz="1000">
                <a:latin typeface="+mj-ea"/>
                <a:ea typeface="+mj-ea"/>
              </a:rPr>
              <a:t>(IT)</a:t>
            </a:r>
          </a:p>
        </p:txBody>
      </p:sp>
      <p:cxnSp>
        <p:nvCxnSpPr>
          <p:cNvPr id="31777" name="AutoShape 33"/>
          <p:cNvCxnSpPr>
            <a:cxnSpLocks noChangeShapeType="1"/>
            <a:stCxn id="31773" idx="3"/>
            <a:endCxn id="31772" idx="1"/>
          </p:cNvCxnSpPr>
          <p:nvPr/>
        </p:nvCxnSpPr>
        <p:spPr bwMode="auto">
          <a:xfrm>
            <a:off x="5853113" y="4102100"/>
            <a:ext cx="36036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78" name="AutoShape 34"/>
          <p:cNvCxnSpPr>
            <a:cxnSpLocks noChangeShapeType="1"/>
            <a:stCxn id="31772" idx="3"/>
            <a:endCxn id="31775" idx="1"/>
          </p:cNvCxnSpPr>
          <p:nvPr/>
        </p:nvCxnSpPr>
        <p:spPr bwMode="auto">
          <a:xfrm>
            <a:off x="6826250" y="4102100"/>
            <a:ext cx="9715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79" name="AutoShape 35"/>
          <p:cNvCxnSpPr>
            <a:cxnSpLocks noChangeShapeType="1"/>
            <a:stCxn id="31774" idx="1"/>
            <a:endCxn id="31772" idx="2"/>
          </p:cNvCxnSpPr>
          <p:nvPr/>
        </p:nvCxnSpPr>
        <p:spPr bwMode="auto">
          <a:xfrm rot="10800000">
            <a:off x="6519863" y="4300538"/>
            <a:ext cx="412750" cy="16351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80" name="AutoShape 36"/>
          <p:cNvCxnSpPr>
            <a:cxnSpLocks noChangeShapeType="1"/>
            <a:stCxn id="31775" idx="3"/>
            <a:endCxn id="31776" idx="1"/>
          </p:cNvCxnSpPr>
          <p:nvPr/>
        </p:nvCxnSpPr>
        <p:spPr bwMode="auto">
          <a:xfrm>
            <a:off x="8518525" y="4102100"/>
            <a:ext cx="4302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81" name="Text Box 37"/>
          <p:cNvSpPr txBox="1">
            <a:spLocks noChangeArrowheads="1"/>
          </p:cNvSpPr>
          <p:nvPr/>
        </p:nvSpPr>
        <p:spPr bwMode="auto">
          <a:xfrm>
            <a:off x="5556839" y="4359275"/>
            <a:ext cx="69891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800">
                <a:latin typeface="+mj-ea"/>
                <a:ea typeface="+mj-ea"/>
              </a:rPr>
              <a:t>신규 </a:t>
            </a:r>
            <a:r>
              <a:rPr lang="en-US" altLang="ko-KR" sz="800">
                <a:latin typeface="+mj-ea"/>
                <a:ea typeface="+mj-ea"/>
              </a:rPr>
              <a:t>Rule </a:t>
            </a:r>
            <a:r>
              <a:rPr lang="ko-KR" altLang="en-US" sz="800">
                <a:latin typeface="+mj-ea"/>
                <a:ea typeface="+mj-ea"/>
              </a:rPr>
              <a:t>기획</a:t>
            </a:r>
          </a:p>
        </p:txBody>
      </p:sp>
      <p:sp>
        <p:nvSpPr>
          <p:cNvPr id="31782" name="Text Box 38"/>
          <p:cNvSpPr txBox="1">
            <a:spLocks noChangeArrowheads="1"/>
          </p:cNvSpPr>
          <p:nvPr/>
        </p:nvSpPr>
        <p:spPr bwMode="auto">
          <a:xfrm>
            <a:off x="6475632" y="4481513"/>
            <a:ext cx="4472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800">
                <a:latin typeface="+mj-ea"/>
                <a:ea typeface="+mj-ea"/>
              </a:rPr>
              <a:t>관련 분석</a:t>
            </a:r>
            <a:br>
              <a:rPr lang="ko-KR" altLang="en-US" sz="800">
                <a:latin typeface="+mj-ea"/>
                <a:ea typeface="+mj-ea"/>
              </a:rPr>
            </a:br>
            <a:r>
              <a:rPr lang="ko-KR" altLang="en-US" sz="800">
                <a:latin typeface="+mj-ea"/>
                <a:ea typeface="+mj-ea"/>
              </a:rPr>
              <a:t>결과 공유</a:t>
            </a:r>
          </a:p>
        </p:txBody>
      </p:sp>
      <p:sp>
        <p:nvSpPr>
          <p:cNvPr id="31783" name="Text Box 39"/>
          <p:cNvSpPr txBox="1">
            <a:spLocks noChangeArrowheads="1"/>
          </p:cNvSpPr>
          <p:nvPr/>
        </p:nvSpPr>
        <p:spPr bwMode="auto">
          <a:xfrm>
            <a:off x="6889843" y="3833813"/>
            <a:ext cx="80150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+mj-ea"/>
                <a:ea typeface="+mj-ea"/>
              </a:rPr>
              <a:t>Rule </a:t>
            </a:r>
            <a:r>
              <a:rPr lang="ko-KR" altLang="en-US" sz="800">
                <a:latin typeface="+mj-ea"/>
                <a:ea typeface="+mj-ea"/>
              </a:rPr>
              <a:t>적용 사이트</a:t>
            </a:r>
            <a:br>
              <a:rPr lang="ko-KR" altLang="en-US" sz="800">
                <a:latin typeface="+mj-ea"/>
                <a:ea typeface="+mj-ea"/>
              </a:rPr>
            </a:br>
            <a:r>
              <a:rPr lang="ko-KR" altLang="en-US" sz="800">
                <a:latin typeface="+mj-ea"/>
                <a:ea typeface="+mj-ea"/>
              </a:rPr>
              <a:t>기능</a:t>
            </a:r>
            <a:r>
              <a:rPr lang="en-US" altLang="ko-KR" sz="800">
                <a:latin typeface="+mj-ea"/>
                <a:ea typeface="+mj-ea"/>
              </a:rPr>
              <a:t>/</a:t>
            </a:r>
            <a:r>
              <a:rPr lang="ko-KR" altLang="en-US" sz="800">
                <a:latin typeface="+mj-ea"/>
                <a:ea typeface="+mj-ea"/>
              </a:rPr>
              <a:t>서비스 제작</a:t>
            </a:r>
          </a:p>
        </p:txBody>
      </p:sp>
      <p:sp>
        <p:nvSpPr>
          <p:cNvPr id="31784" name="Text Box 40"/>
          <p:cNvSpPr txBox="1">
            <a:spLocks noChangeArrowheads="1"/>
          </p:cNvSpPr>
          <p:nvPr/>
        </p:nvSpPr>
        <p:spPr bwMode="auto">
          <a:xfrm>
            <a:off x="8185826" y="4344988"/>
            <a:ext cx="117339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+mj-ea"/>
                <a:ea typeface="+mj-ea"/>
              </a:rPr>
              <a:t>Rule </a:t>
            </a:r>
            <a:r>
              <a:rPr lang="ko-KR" altLang="en-US" sz="800">
                <a:latin typeface="+mj-ea"/>
                <a:ea typeface="+mj-ea"/>
              </a:rPr>
              <a:t>엔진</a:t>
            </a:r>
            <a:r>
              <a:rPr lang="en-US" altLang="ko-KR" sz="800">
                <a:latin typeface="+mj-ea"/>
                <a:ea typeface="+mj-ea"/>
              </a:rPr>
              <a:t>, DB </a:t>
            </a:r>
            <a:r>
              <a:rPr lang="ko-KR" altLang="en-US" sz="800">
                <a:latin typeface="+mj-ea"/>
                <a:ea typeface="+mj-ea"/>
              </a:rPr>
              <a:t>등 </a:t>
            </a:r>
            <a:r>
              <a:rPr lang="en-US" altLang="ko-KR" sz="800">
                <a:latin typeface="+mj-ea"/>
                <a:ea typeface="+mj-ea"/>
              </a:rPr>
              <a:t>IT </a:t>
            </a:r>
            <a:r>
              <a:rPr lang="ko-KR" altLang="en-US" sz="800">
                <a:latin typeface="+mj-ea"/>
                <a:ea typeface="+mj-ea"/>
              </a:rPr>
              <a:t>관리</a:t>
            </a:r>
          </a:p>
        </p:txBody>
      </p:sp>
      <p:sp>
        <p:nvSpPr>
          <p:cNvPr id="31785" name="AutoShape 41"/>
          <p:cNvSpPr>
            <a:spLocks noChangeArrowheads="1"/>
          </p:cNvSpPr>
          <p:nvPr/>
        </p:nvSpPr>
        <p:spPr bwMode="auto">
          <a:xfrm>
            <a:off x="546100" y="2235200"/>
            <a:ext cx="914400" cy="1044575"/>
          </a:xfrm>
          <a:prstGeom prst="homePlate">
            <a:avLst>
              <a:gd name="adj" fmla="val 25000"/>
            </a:avLst>
          </a:prstGeom>
          <a:solidFill>
            <a:srgbClr val="F8F8F8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>
                <a:latin typeface="+mj-ea"/>
                <a:ea typeface="+mj-ea"/>
              </a:rPr>
              <a:t>신설</a:t>
            </a:r>
          </a:p>
        </p:txBody>
      </p:sp>
      <p:sp>
        <p:nvSpPr>
          <p:cNvPr id="31786" name="AutoShape 42"/>
          <p:cNvSpPr>
            <a:spLocks noChangeArrowheads="1"/>
          </p:cNvSpPr>
          <p:nvPr/>
        </p:nvSpPr>
        <p:spPr bwMode="auto">
          <a:xfrm>
            <a:off x="546100" y="4805363"/>
            <a:ext cx="914400" cy="1044575"/>
          </a:xfrm>
          <a:prstGeom prst="homePlate">
            <a:avLst>
              <a:gd name="adj" fmla="val 25000"/>
            </a:avLst>
          </a:prstGeom>
          <a:solidFill>
            <a:srgbClr val="F8F8F8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>
                <a:latin typeface="+mj-ea"/>
                <a:ea typeface="+mj-ea"/>
              </a:rPr>
              <a:t>강화</a:t>
            </a:r>
          </a:p>
        </p:txBody>
      </p:sp>
      <p:sp>
        <p:nvSpPr>
          <p:cNvPr id="31787" name="Text Box 43"/>
          <p:cNvSpPr txBox="1">
            <a:spLocks noChangeArrowheads="1"/>
          </p:cNvSpPr>
          <p:nvPr/>
        </p:nvSpPr>
        <p:spPr bwMode="auto">
          <a:xfrm>
            <a:off x="1460500" y="3508375"/>
            <a:ext cx="30607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6075" indent="-1666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>
                <a:latin typeface="+mj-ea"/>
                <a:ea typeface="+mj-ea"/>
              </a:rPr>
              <a:t>관련 업무 통합 조직 신설</a:t>
            </a:r>
          </a:p>
          <a:p>
            <a:pPr lvl="1" algn="l" eaLnBrk="1" hangingPunct="1">
              <a:lnSpc>
                <a:spcPct val="120000"/>
              </a:lnSpc>
              <a:spcBef>
                <a:spcPct val="20000"/>
              </a:spcBef>
              <a:buFont typeface="Arial" charset="0"/>
              <a:buChar char="−"/>
            </a:pPr>
            <a:r>
              <a:rPr lang="en-US" altLang="ko-KR" b="0">
                <a:latin typeface="+mj-ea"/>
                <a:ea typeface="+mj-ea"/>
              </a:rPr>
              <a:t>web </a:t>
            </a:r>
            <a:r>
              <a:rPr lang="ko-KR" altLang="en-US" b="0">
                <a:latin typeface="+mj-ea"/>
                <a:ea typeface="+mj-ea"/>
              </a:rPr>
              <a:t>기능</a:t>
            </a:r>
            <a:r>
              <a:rPr lang="en-US" altLang="ko-KR" b="0">
                <a:latin typeface="+mj-ea"/>
                <a:ea typeface="+mj-ea"/>
              </a:rPr>
              <a:t>/</a:t>
            </a:r>
            <a:r>
              <a:rPr lang="ko-KR" altLang="en-US" b="0">
                <a:latin typeface="+mj-ea"/>
                <a:ea typeface="+mj-ea"/>
              </a:rPr>
              <a:t>컨텐츠 기획</a:t>
            </a:r>
            <a:r>
              <a:rPr lang="en-US" altLang="ko-KR" b="0">
                <a:latin typeface="+mj-ea"/>
                <a:ea typeface="+mj-ea"/>
              </a:rPr>
              <a:t>, </a:t>
            </a:r>
            <a:r>
              <a:rPr lang="ko-KR" altLang="en-US" b="0">
                <a:latin typeface="+mj-ea"/>
                <a:ea typeface="+mj-ea"/>
              </a:rPr>
              <a:t>제작</a:t>
            </a:r>
            <a:r>
              <a:rPr lang="en-US" altLang="ko-KR" b="0">
                <a:latin typeface="+mj-ea"/>
                <a:ea typeface="+mj-ea"/>
              </a:rPr>
              <a:t>, </a:t>
            </a:r>
            <a:r>
              <a:rPr lang="ko-KR" altLang="en-US" b="0">
                <a:latin typeface="+mj-ea"/>
                <a:ea typeface="+mj-ea"/>
              </a:rPr>
              <a:t>관리</a:t>
            </a:r>
          </a:p>
          <a:p>
            <a:pPr lvl="1" algn="l" eaLnBrk="1" hangingPunct="1">
              <a:lnSpc>
                <a:spcPct val="120000"/>
              </a:lnSpc>
              <a:spcBef>
                <a:spcPct val="20000"/>
              </a:spcBef>
              <a:buFont typeface="Arial" charset="0"/>
              <a:buChar char="−"/>
            </a:pPr>
            <a:r>
              <a:rPr lang="ko-KR" altLang="en-US" b="0">
                <a:latin typeface="+mj-ea"/>
                <a:ea typeface="+mj-ea"/>
              </a:rPr>
              <a:t>모바일</a:t>
            </a:r>
            <a:r>
              <a:rPr lang="en-US" altLang="ko-KR" b="0">
                <a:latin typeface="+mj-ea"/>
                <a:ea typeface="+mj-ea"/>
              </a:rPr>
              <a:t>, SNS/</a:t>
            </a:r>
            <a:r>
              <a:rPr lang="ko-KR" altLang="en-US" b="0">
                <a:latin typeface="+mj-ea"/>
                <a:ea typeface="+mj-ea"/>
              </a:rPr>
              <a:t>소셜커머스</a:t>
            </a:r>
          </a:p>
        </p:txBody>
      </p:sp>
      <p:sp>
        <p:nvSpPr>
          <p:cNvPr id="31788" name="AutoShape 44"/>
          <p:cNvSpPr>
            <a:spLocks noChangeArrowheads="1"/>
          </p:cNvSpPr>
          <p:nvPr/>
        </p:nvSpPr>
        <p:spPr bwMode="auto">
          <a:xfrm>
            <a:off x="546100" y="3508375"/>
            <a:ext cx="914400" cy="1044575"/>
          </a:xfrm>
          <a:prstGeom prst="homePlate">
            <a:avLst>
              <a:gd name="adj" fmla="val 25000"/>
            </a:avLst>
          </a:prstGeom>
          <a:solidFill>
            <a:srgbClr val="F8F8F8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>
                <a:latin typeface="+mj-ea"/>
                <a:ea typeface="+mj-ea"/>
              </a:rPr>
              <a:t>통합</a:t>
            </a:r>
          </a:p>
        </p:txBody>
      </p:sp>
      <p:sp>
        <p:nvSpPr>
          <p:cNvPr id="31789" name="Rectangle 45"/>
          <p:cNvSpPr>
            <a:spLocks noChangeArrowheads="1"/>
          </p:cNvSpPr>
          <p:nvPr/>
        </p:nvSpPr>
        <p:spPr bwMode="auto">
          <a:xfrm flipV="1">
            <a:off x="5146675" y="2033588"/>
            <a:ext cx="238125" cy="23812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1</a:t>
            </a:r>
          </a:p>
        </p:txBody>
      </p:sp>
      <p:sp>
        <p:nvSpPr>
          <p:cNvPr id="31790" name="Rectangle 46"/>
          <p:cNvSpPr>
            <a:spLocks noChangeArrowheads="1"/>
          </p:cNvSpPr>
          <p:nvPr/>
        </p:nvSpPr>
        <p:spPr bwMode="auto">
          <a:xfrm flipV="1">
            <a:off x="5146675" y="3451225"/>
            <a:ext cx="238125" cy="23812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31791" name="Rectangle 47"/>
          <p:cNvSpPr>
            <a:spLocks noChangeArrowheads="1"/>
          </p:cNvSpPr>
          <p:nvPr/>
        </p:nvSpPr>
        <p:spPr bwMode="auto">
          <a:xfrm flipV="1">
            <a:off x="5146675" y="4878388"/>
            <a:ext cx="238125" cy="23812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chemeClr val="bg1"/>
                </a:solidFill>
                <a:latin typeface="+mj-ea"/>
                <a:ea typeface="+mj-ea"/>
              </a:rPr>
              <a:t>3</a:t>
            </a:r>
          </a:p>
        </p:txBody>
      </p:sp>
      <p:sp>
        <p:nvSpPr>
          <p:cNvPr id="31792" name="Line 48"/>
          <p:cNvSpPr>
            <a:spLocks noChangeShapeType="1"/>
          </p:cNvSpPr>
          <p:nvPr/>
        </p:nvSpPr>
        <p:spPr bwMode="auto">
          <a:xfrm>
            <a:off x="1389063" y="3365500"/>
            <a:ext cx="30241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1793" name="Line 49"/>
          <p:cNvSpPr>
            <a:spLocks noChangeShapeType="1"/>
          </p:cNvSpPr>
          <p:nvPr/>
        </p:nvSpPr>
        <p:spPr bwMode="auto">
          <a:xfrm>
            <a:off x="1389063" y="4625975"/>
            <a:ext cx="30241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344488" y="2381250"/>
            <a:ext cx="250825" cy="1079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276850" y="2381250"/>
            <a:ext cx="250825" cy="1079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5168900" y="2020888"/>
            <a:ext cx="4464050" cy="34559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273050" y="2020888"/>
            <a:ext cx="4464050" cy="3455987"/>
          </a:xfrm>
          <a:prstGeom prst="rect">
            <a:avLst/>
          </a:prstGeom>
          <a:noFill/>
          <a:ln w="9525" algn="ctr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4870450" cy="247650"/>
          </a:xfrm>
        </p:spPr>
        <p:txBody>
          <a:bodyPr/>
          <a:lstStyle/>
          <a:p>
            <a:r>
              <a:rPr lang="en-US" altLang="ko-KR" dirty="0"/>
              <a:t>BM </a:t>
            </a:r>
            <a:r>
              <a:rPr lang="ko-KR" altLang="en-US" dirty="0"/>
              <a:t>실행을 위한 조직 변화 </a:t>
            </a:r>
            <a:r>
              <a:rPr lang="en-US" altLang="ko-KR" dirty="0"/>
              <a:t>&gt; To-Be </a:t>
            </a:r>
            <a:r>
              <a:rPr lang="ko-KR" altLang="en-US" dirty="0"/>
              <a:t>운영 모델</a:t>
            </a:r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ko-KR"/>
              <a:t>To-Be </a:t>
            </a:r>
            <a:r>
              <a:rPr lang="ko-KR" altLang="en-US"/>
              <a:t>운영 모델은 급변하는 환경 속에 신속한 고객 대응과 실행 효율성을 갖는 온라인 쇼핑몰 </a:t>
            </a:r>
            <a:r>
              <a:rPr lang="en-US" altLang="ko-KR"/>
              <a:t>value chain</a:t>
            </a:r>
            <a:r>
              <a:rPr lang="ko-KR" altLang="en-US"/>
              <a:t>이 완결된 모델을 제안함</a:t>
            </a: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2262220" y="1700213"/>
            <a:ext cx="4857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400">
                <a:latin typeface="+mj-ea"/>
                <a:ea typeface="+mj-ea"/>
              </a:rPr>
              <a:t>As-Is </a:t>
            </a:r>
            <a:endParaRPr lang="en-US" altLang="ko-KR" sz="1400" baseline="30000">
              <a:latin typeface="+mj-ea"/>
              <a:ea typeface="+mj-ea"/>
            </a:endParaRP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344488" y="2128838"/>
            <a:ext cx="1439862" cy="360362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dirty="0">
                <a:latin typeface="+mj-ea"/>
                <a:ea typeface="+mj-ea"/>
              </a:rPr>
              <a:t>쇼핑몰 사업본부</a:t>
            </a: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587375" y="2668588"/>
            <a:ext cx="936625" cy="3254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dirty="0">
                <a:latin typeface="+mj-ea"/>
                <a:ea typeface="+mj-ea"/>
              </a:rPr>
              <a:t>프로모션팀</a:t>
            </a:r>
            <a:r>
              <a:rPr lang="en-US" altLang="ko-KR" sz="1000" baseline="30000" dirty="0">
                <a:latin typeface="+mj-ea"/>
                <a:ea typeface="+mj-ea"/>
              </a:rPr>
              <a:t>1)</a:t>
            </a:r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587375" y="3101975"/>
            <a:ext cx="936625" cy="3254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dirty="0" err="1">
                <a:latin typeface="+mj-ea"/>
                <a:ea typeface="+mj-ea"/>
              </a:rPr>
              <a:t>식품팀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32780" name="Rectangle 12"/>
          <p:cNvSpPr>
            <a:spLocks noChangeArrowheads="1"/>
          </p:cNvSpPr>
          <p:nvPr/>
        </p:nvSpPr>
        <p:spPr bwMode="auto">
          <a:xfrm>
            <a:off x="587375" y="3532188"/>
            <a:ext cx="936625" cy="3254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dirty="0">
                <a:latin typeface="+mj-ea"/>
                <a:ea typeface="+mj-ea"/>
              </a:rPr>
              <a:t>생활문화팀</a:t>
            </a:r>
          </a:p>
        </p:txBody>
      </p:sp>
      <p:sp>
        <p:nvSpPr>
          <p:cNvPr id="32781" name="AutoShape 13"/>
          <p:cNvSpPr>
            <a:spLocks noChangeArrowheads="1"/>
          </p:cNvSpPr>
          <p:nvPr/>
        </p:nvSpPr>
        <p:spPr bwMode="auto">
          <a:xfrm>
            <a:off x="1604963" y="2668588"/>
            <a:ext cx="935037" cy="360362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marL="84138" indent="-8413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마케팅</a:t>
            </a:r>
            <a:r>
              <a:rPr lang="en-US" altLang="ko-KR" sz="1000" baseline="30000">
                <a:latin typeface="+mj-ea"/>
                <a:ea typeface="+mj-ea"/>
              </a:rPr>
              <a:t>2)</a:t>
            </a:r>
          </a:p>
        </p:txBody>
      </p:sp>
      <p:sp>
        <p:nvSpPr>
          <p:cNvPr id="32782" name="AutoShape 14"/>
          <p:cNvSpPr>
            <a:spLocks noChangeArrowheads="1"/>
          </p:cNvSpPr>
          <p:nvPr/>
        </p:nvSpPr>
        <p:spPr bwMode="auto">
          <a:xfrm>
            <a:off x="1604963" y="3101975"/>
            <a:ext cx="935037" cy="360363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>
            <a:lvl1pPr marL="84138" indent="-8413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식품 카테고리</a:t>
            </a:r>
            <a:br>
              <a:rPr lang="ko-KR" altLang="en-US" sz="1000">
                <a:latin typeface="+mj-ea"/>
                <a:ea typeface="+mj-ea"/>
              </a:rPr>
            </a:br>
            <a:r>
              <a:rPr lang="en-US" altLang="ko-KR" sz="1000">
                <a:latin typeface="+mj-ea"/>
                <a:ea typeface="+mj-ea"/>
              </a:rPr>
              <a:t>MD</a:t>
            </a:r>
          </a:p>
        </p:txBody>
      </p:sp>
      <p:sp>
        <p:nvSpPr>
          <p:cNvPr id="32783" name="AutoShape 15"/>
          <p:cNvSpPr>
            <a:spLocks noChangeArrowheads="1"/>
          </p:cNvSpPr>
          <p:nvPr/>
        </p:nvSpPr>
        <p:spPr bwMode="auto">
          <a:xfrm>
            <a:off x="1604963" y="3532188"/>
            <a:ext cx="935037" cy="360362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marL="84138" indent="-8413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생활문화</a:t>
            </a:r>
            <a:br>
              <a:rPr lang="ko-KR" altLang="en-US" sz="1000">
                <a:latin typeface="+mj-ea"/>
                <a:ea typeface="+mj-ea"/>
              </a:rPr>
            </a:br>
            <a:r>
              <a:rPr lang="ko-KR" altLang="en-US" sz="1000">
                <a:latin typeface="+mj-ea"/>
                <a:ea typeface="+mj-ea"/>
              </a:rPr>
              <a:t>카테고리 </a:t>
            </a:r>
            <a:r>
              <a:rPr lang="en-US" altLang="ko-KR" sz="1000">
                <a:latin typeface="+mj-ea"/>
                <a:ea typeface="+mj-ea"/>
              </a:rPr>
              <a:t>MD</a:t>
            </a:r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7154863" y="1700213"/>
            <a:ext cx="4921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400">
                <a:latin typeface="+mj-ea"/>
                <a:ea typeface="+mj-ea"/>
              </a:rPr>
              <a:t>To-Be</a:t>
            </a:r>
            <a:endParaRPr lang="en-US" altLang="ko-KR" sz="1400" baseline="30000">
              <a:latin typeface="+mj-ea"/>
              <a:ea typeface="+mj-ea"/>
            </a:endParaRPr>
          </a:p>
        </p:txBody>
      </p:sp>
      <p:sp>
        <p:nvSpPr>
          <p:cNvPr id="32786" name="Rectangle 18"/>
          <p:cNvSpPr>
            <a:spLocks noChangeArrowheads="1"/>
          </p:cNvSpPr>
          <p:nvPr/>
        </p:nvSpPr>
        <p:spPr bwMode="auto">
          <a:xfrm>
            <a:off x="5276850" y="2128838"/>
            <a:ext cx="1439863" cy="360362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dirty="0">
                <a:latin typeface="+mj-ea"/>
                <a:ea typeface="+mj-ea"/>
              </a:rPr>
              <a:t>쇼핑몰 사업본부</a:t>
            </a:r>
          </a:p>
        </p:txBody>
      </p:sp>
      <p:sp>
        <p:nvSpPr>
          <p:cNvPr id="32787" name="Rectangle 19"/>
          <p:cNvSpPr>
            <a:spLocks noChangeArrowheads="1"/>
          </p:cNvSpPr>
          <p:nvPr/>
        </p:nvSpPr>
        <p:spPr bwMode="auto">
          <a:xfrm>
            <a:off x="5529263" y="2668588"/>
            <a:ext cx="936625" cy="3254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dirty="0">
                <a:latin typeface="+mj-ea"/>
                <a:ea typeface="+mj-ea"/>
              </a:rPr>
              <a:t>프로모션팀</a:t>
            </a:r>
          </a:p>
        </p:txBody>
      </p:sp>
      <p:sp>
        <p:nvSpPr>
          <p:cNvPr id="32788" name="Rectangle 20"/>
          <p:cNvSpPr>
            <a:spLocks noChangeArrowheads="1"/>
          </p:cNvSpPr>
          <p:nvPr/>
        </p:nvSpPr>
        <p:spPr bwMode="auto">
          <a:xfrm>
            <a:off x="5529263" y="3101975"/>
            <a:ext cx="936625" cy="3254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dirty="0" err="1">
                <a:latin typeface="+mj-ea"/>
                <a:ea typeface="+mj-ea"/>
              </a:rPr>
              <a:t>식품팀</a:t>
            </a:r>
            <a:endParaRPr lang="ko-KR" altLang="en-US" sz="1000" dirty="0">
              <a:latin typeface="+mj-ea"/>
              <a:ea typeface="+mj-ea"/>
            </a:endParaRPr>
          </a:p>
        </p:txBody>
      </p:sp>
      <p:sp>
        <p:nvSpPr>
          <p:cNvPr id="32789" name="Rectangle 21"/>
          <p:cNvSpPr>
            <a:spLocks noChangeArrowheads="1"/>
          </p:cNvSpPr>
          <p:nvPr/>
        </p:nvSpPr>
        <p:spPr bwMode="auto">
          <a:xfrm>
            <a:off x="5529263" y="3532188"/>
            <a:ext cx="936625" cy="3254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 dirty="0">
                <a:latin typeface="+mj-ea"/>
                <a:ea typeface="+mj-ea"/>
              </a:rPr>
              <a:t>생활문화팀</a:t>
            </a:r>
          </a:p>
        </p:txBody>
      </p:sp>
      <p:sp>
        <p:nvSpPr>
          <p:cNvPr id="32790" name="Rectangle 22"/>
          <p:cNvSpPr>
            <a:spLocks noChangeArrowheads="1"/>
          </p:cNvSpPr>
          <p:nvPr/>
        </p:nvSpPr>
        <p:spPr bwMode="auto">
          <a:xfrm>
            <a:off x="5529263" y="3965575"/>
            <a:ext cx="936625" cy="325438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고객 </a:t>
            </a:r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</a:rPr>
              <a:t>Insight </a:t>
            </a:r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팀</a:t>
            </a:r>
          </a:p>
        </p:txBody>
      </p:sp>
      <p:sp>
        <p:nvSpPr>
          <p:cNvPr id="32791" name="AutoShape 23"/>
          <p:cNvSpPr>
            <a:spLocks noChangeArrowheads="1"/>
          </p:cNvSpPr>
          <p:nvPr/>
        </p:nvSpPr>
        <p:spPr bwMode="auto">
          <a:xfrm rot="5400000">
            <a:off x="3765550" y="4000501"/>
            <a:ext cx="2339975" cy="254000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lang="ko-KR" altLang="en-US">
              <a:latin typeface="+mj-ea"/>
              <a:ea typeface="+mj-ea"/>
            </a:endParaRPr>
          </a:p>
        </p:txBody>
      </p:sp>
      <p:sp>
        <p:nvSpPr>
          <p:cNvPr id="32792" name="Rectangle 24"/>
          <p:cNvSpPr>
            <a:spLocks noChangeArrowheads="1"/>
          </p:cNvSpPr>
          <p:nvPr/>
        </p:nvSpPr>
        <p:spPr bwMode="auto">
          <a:xfrm>
            <a:off x="5529263" y="4397375"/>
            <a:ext cx="936625" cy="325438"/>
          </a:xfrm>
          <a:prstGeom prst="rect">
            <a:avLst/>
          </a:prstGeom>
          <a:solidFill>
            <a:srgbClr val="80808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몰 기획팀</a:t>
            </a:r>
          </a:p>
        </p:txBody>
      </p:sp>
      <p:sp>
        <p:nvSpPr>
          <p:cNvPr id="32793" name="AutoShape 25"/>
          <p:cNvSpPr>
            <a:spLocks noChangeArrowheads="1"/>
          </p:cNvSpPr>
          <p:nvPr/>
        </p:nvSpPr>
        <p:spPr bwMode="auto">
          <a:xfrm>
            <a:off x="7545388" y="4397375"/>
            <a:ext cx="935037" cy="360363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몰 컨텐츠 관리 </a:t>
            </a:r>
          </a:p>
        </p:txBody>
      </p:sp>
      <p:sp>
        <p:nvSpPr>
          <p:cNvPr id="32794" name="AutoShape 26"/>
          <p:cNvSpPr>
            <a:spLocks noChangeArrowheads="1"/>
          </p:cNvSpPr>
          <p:nvPr/>
        </p:nvSpPr>
        <p:spPr bwMode="auto">
          <a:xfrm>
            <a:off x="6538913" y="3101975"/>
            <a:ext cx="935037" cy="360363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식품 카테고리</a:t>
            </a:r>
            <a:br>
              <a:rPr lang="ko-KR" altLang="en-US" sz="1000">
                <a:latin typeface="+mj-ea"/>
                <a:ea typeface="+mj-ea"/>
              </a:rPr>
            </a:br>
            <a:r>
              <a:rPr lang="en-US" altLang="ko-KR" sz="1000">
                <a:latin typeface="+mj-ea"/>
                <a:ea typeface="+mj-ea"/>
              </a:rPr>
              <a:t>MD</a:t>
            </a:r>
          </a:p>
        </p:txBody>
      </p:sp>
      <p:sp>
        <p:nvSpPr>
          <p:cNvPr id="32795" name="AutoShape 27"/>
          <p:cNvSpPr>
            <a:spLocks noChangeArrowheads="1"/>
          </p:cNvSpPr>
          <p:nvPr/>
        </p:nvSpPr>
        <p:spPr bwMode="auto">
          <a:xfrm>
            <a:off x="6538913" y="3532188"/>
            <a:ext cx="935037" cy="360362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생활문화</a:t>
            </a:r>
            <a:br>
              <a:rPr lang="ko-KR" altLang="en-US" sz="1000">
                <a:latin typeface="+mj-ea"/>
                <a:ea typeface="+mj-ea"/>
              </a:rPr>
            </a:br>
            <a:r>
              <a:rPr lang="ko-KR" altLang="en-US" sz="1000">
                <a:latin typeface="+mj-ea"/>
                <a:ea typeface="+mj-ea"/>
              </a:rPr>
              <a:t>카테고리 </a:t>
            </a:r>
            <a:r>
              <a:rPr lang="en-US" altLang="ko-KR" sz="1000">
                <a:latin typeface="+mj-ea"/>
                <a:ea typeface="+mj-ea"/>
              </a:rPr>
              <a:t>MD</a:t>
            </a:r>
          </a:p>
        </p:txBody>
      </p:sp>
      <p:sp>
        <p:nvSpPr>
          <p:cNvPr id="32796" name="AutoShape 28"/>
          <p:cNvSpPr>
            <a:spLocks noChangeArrowheads="1"/>
          </p:cNvSpPr>
          <p:nvPr/>
        </p:nvSpPr>
        <p:spPr bwMode="auto">
          <a:xfrm>
            <a:off x="6538913" y="4397375"/>
            <a:ext cx="935037" cy="360363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몰 기획</a:t>
            </a:r>
          </a:p>
        </p:txBody>
      </p:sp>
      <p:sp>
        <p:nvSpPr>
          <p:cNvPr id="32797" name="AutoShape 29"/>
          <p:cNvSpPr>
            <a:spLocks noChangeArrowheads="1"/>
          </p:cNvSpPr>
          <p:nvPr/>
        </p:nvSpPr>
        <p:spPr bwMode="auto">
          <a:xfrm>
            <a:off x="6538913" y="3965575"/>
            <a:ext cx="93503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개인화 분석 </a:t>
            </a:r>
          </a:p>
        </p:txBody>
      </p:sp>
      <p:sp>
        <p:nvSpPr>
          <p:cNvPr id="32798" name="AutoShape 30"/>
          <p:cNvSpPr>
            <a:spLocks noChangeArrowheads="1"/>
          </p:cNvSpPr>
          <p:nvPr/>
        </p:nvSpPr>
        <p:spPr bwMode="auto">
          <a:xfrm>
            <a:off x="7545388" y="3965575"/>
            <a:ext cx="935037" cy="360363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고객</a:t>
            </a:r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</a:rPr>
              <a:t>/</a:t>
            </a:r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상품 분석</a:t>
            </a:r>
          </a:p>
        </p:txBody>
      </p:sp>
      <p:sp>
        <p:nvSpPr>
          <p:cNvPr id="32799" name="AutoShape 31"/>
          <p:cNvSpPr>
            <a:spLocks noChangeArrowheads="1"/>
          </p:cNvSpPr>
          <p:nvPr/>
        </p:nvSpPr>
        <p:spPr bwMode="auto">
          <a:xfrm>
            <a:off x="8553450" y="2668588"/>
            <a:ext cx="935038" cy="360362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제휴 마케팅</a:t>
            </a:r>
          </a:p>
        </p:txBody>
      </p:sp>
      <p:sp>
        <p:nvSpPr>
          <p:cNvPr id="32803" name="Line 35"/>
          <p:cNvSpPr>
            <a:spLocks noChangeShapeType="1"/>
          </p:cNvSpPr>
          <p:nvPr/>
        </p:nvSpPr>
        <p:spPr bwMode="auto">
          <a:xfrm>
            <a:off x="273050" y="1949450"/>
            <a:ext cx="44640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2804" name="Line 36"/>
          <p:cNvSpPr>
            <a:spLocks noChangeShapeType="1"/>
          </p:cNvSpPr>
          <p:nvPr/>
        </p:nvSpPr>
        <p:spPr bwMode="auto">
          <a:xfrm>
            <a:off x="5168900" y="1949450"/>
            <a:ext cx="44640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2805" name="Text Box 37"/>
          <p:cNvSpPr txBox="1">
            <a:spLocks noChangeArrowheads="1"/>
          </p:cNvSpPr>
          <p:nvPr/>
        </p:nvSpPr>
        <p:spPr bwMode="auto">
          <a:xfrm>
            <a:off x="320675" y="5181600"/>
            <a:ext cx="140102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/>
            <a:r>
              <a:rPr lang="ko-KR" altLang="en-US" sz="800" b="0" dirty="0">
                <a:latin typeface="+mj-ea"/>
                <a:ea typeface="+mj-ea"/>
              </a:rPr>
              <a:t>주 </a:t>
            </a:r>
            <a:r>
              <a:rPr lang="en-US" altLang="ko-KR" sz="800" b="0" dirty="0">
                <a:latin typeface="+mj-ea"/>
                <a:ea typeface="+mj-ea"/>
              </a:rPr>
              <a:t>1) </a:t>
            </a:r>
            <a:r>
              <a:rPr lang="ko-KR" altLang="en-US" sz="800" b="0" dirty="0" err="1">
                <a:latin typeface="+mj-ea"/>
                <a:ea typeface="+mj-ea"/>
              </a:rPr>
              <a:t>팀명은</a:t>
            </a:r>
            <a:r>
              <a:rPr lang="ko-KR" altLang="en-US" sz="800" b="0" dirty="0">
                <a:latin typeface="+mj-ea"/>
                <a:ea typeface="+mj-ea"/>
              </a:rPr>
              <a:t> 조직도 참조</a:t>
            </a:r>
          </a:p>
          <a:p>
            <a:pPr algn="l" eaLnBrk="1" hangingPunct="1"/>
            <a:r>
              <a:rPr lang="ko-KR" altLang="en-US" sz="800" b="0" dirty="0">
                <a:latin typeface="+mj-ea"/>
                <a:ea typeface="+mj-ea"/>
              </a:rPr>
              <a:t>주 </a:t>
            </a:r>
            <a:r>
              <a:rPr lang="en-US" altLang="ko-KR" sz="800" b="0" dirty="0">
                <a:latin typeface="+mj-ea"/>
                <a:ea typeface="+mj-ea"/>
              </a:rPr>
              <a:t>2) </a:t>
            </a:r>
            <a:r>
              <a:rPr lang="ko-KR" altLang="en-US" sz="800" b="0" dirty="0">
                <a:latin typeface="+mj-ea"/>
                <a:ea typeface="+mj-ea"/>
              </a:rPr>
              <a:t>주요 업무는 조직도 참조</a:t>
            </a:r>
          </a:p>
        </p:txBody>
      </p:sp>
      <p:sp>
        <p:nvSpPr>
          <p:cNvPr id="32806" name="AutoShape 38"/>
          <p:cNvSpPr>
            <a:spLocks noChangeArrowheads="1"/>
          </p:cNvSpPr>
          <p:nvPr/>
        </p:nvSpPr>
        <p:spPr bwMode="auto">
          <a:xfrm>
            <a:off x="2613025" y="2668588"/>
            <a:ext cx="935038" cy="360362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marL="84138" indent="-8413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채널시너지</a:t>
            </a:r>
          </a:p>
        </p:txBody>
      </p:sp>
      <p:sp>
        <p:nvSpPr>
          <p:cNvPr id="32807" name="AutoShape 39"/>
          <p:cNvSpPr>
            <a:spLocks noChangeArrowheads="1"/>
          </p:cNvSpPr>
          <p:nvPr/>
        </p:nvSpPr>
        <p:spPr bwMode="auto">
          <a:xfrm>
            <a:off x="3621088" y="2668588"/>
            <a:ext cx="935037" cy="360362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marL="84138" indent="-8413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몰 기획</a:t>
            </a:r>
          </a:p>
        </p:txBody>
      </p:sp>
      <p:sp>
        <p:nvSpPr>
          <p:cNvPr id="32808" name="AutoShape 40"/>
          <p:cNvSpPr>
            <a:spLocks noChangeArrowheads="1"/>
          </p:cNvSpPr>
          <p:nvPr/>
        </p:nvSpPr>
        <p:spPr bwMode="auto">
          <a:xfrm>
            <a:off x="6538913" y="2668588"/>
            <a:ext cx="935037" cy="360362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마케팅</a:t>
            </a:r>
          </a:p>
        </p:txBody>
      </p:sp>
      <p:sp>
        <p:nvSpPr>
          <p:cNvPr id="32809" name="AutoShape 41"/>
          <p:cNvSpPr>
            <a:spLocks noChangeArrowheads="1"/>
          </p:cNvSpPr>
          <p:nvPr/>
        </p:nvSpPr>
        <p:spPr bwMode="auto">
          <a:xfrm>
            <a:off x="7545388" y="2668588"/>
            <a:ext cx="935037" cy="360362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채널시너지</a:t>
            </a:r>
          </a:p>
        </p:txBody>
      </p:sp>
      <p:sp>
        <p:nvSpPr>
          <p:cNvPr id="32810" name="Rectangle 42"/>
          <p:cNvSpPr>
            <a:spLocks noChangeArrowheads="1"/>
          </p:cNvSpPr>
          <p:nvPr/>
        </p:nvSpPr>
        <p:spPr bwMode="auto">
          <a:xfrm>
            <a:off x="8048625" y="2128838"/>
            <a:ext cx="447675" cy="2159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신설</a:t>
            </a:r>
          </a:p>
        </p:txBody>
      </p:sp>
      <p:sp>
        <p:nvSpPr>
          <p:cNvPr id="32811" name="Rectangle 43"/>
          <p:cNvSpPr>
            <a:spLocks noChangeArrowheads="1"/>
          </p:cNvSpPr>
          <p:nvPr/>
        </p:nvSpPr>
        <p:spPr bwMode="auto">
          <a:xfrm>
            <a:off x="9077325" y="2128838"/>
            <a:ext cx="447675" cy="215900"/>
          </a:xfrm>
          <a:prstGeom prst="rect">
            <a:avLst/>
          </a:prstGeom>
          <a:solidFill>
            <a:srgbClr val="F8F8F8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latin typeface="+mj-ea"/>
                <a:ea typeface="+mj-ea"/>
              </a:rPr>
              <a:t>강화</a:t>
            </a:r>
          </a:p>
        </p:txBody>
      </p:sp>
      <p:sp>
        <p:nvSpPr>
          <p:cNvPr id="32812" name="Rectangle 44"/>
          <p:cNvSpPr>
            <a:spLocks noChangeArrowheads="1"/>
          </p:cNvSpPr>
          <p:nvPr/>
        </p:nvSpPr>
        <p:spPr bwMode="auto">
          <a:xfrm>
            <a:off x="8540750" y="2128838"/>
            <a:ext cx="447675" cy="215900"/>
          </a:xfrm>
          <a:prstGeom prst="rect">
            <a:avLst/>
          </a:prstGeom>
          <a:solidFill>
            <a:srgbClr val="80808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통합</a:t>
            </a:r>
          </a:p>
        </p:txBody>
      </p:sp>
      <p:cxnSp>
        <p:nvCxnSpPr>
          <p:cNvPr id="32813" name="AutoShape 45"/>
          <p:cNvCxnSpPr>
            <a:cxnSpLocks noChangeShapeType="1"/>
            <a:stCxn id="32770" idx="2"/>
            <a:endCxn id="32778" idx="1"/>
          </p:cNvCxnSpPr>
          <p:nvPr/>
        </p:nvCxnSpPr>
        <p:spPr bwMode="auto">
          <a:xfrm rot="16200000" flipH="1">
            <a:off x="357188" y="2601912"/>
            <a:ext cx="342900" cy="11747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14" name="AutoShape 46"/>
          <p:cNvCxnSpPr>
            <a:cxnSpLocks noChangeShapeType="1"/>
            <a:stCxn id="32770" idx="2"/>
            <a:endCxn id="32779" idx="1"/>
          </p:cNvCxnSpPr>
          <p:nvPr/>
        </p:nvCxnSpPr>
        <p:spPr bwMode="auto">
          <a:xfrm rot="16200000" flipH="1">
            <a:off x="140494" y="2818606"/>
            <a:ext cx="776288" cy="11747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15" name="AutoShape 47"/>
          <p:cNvCxnSpPr>
            <a:cxnSpLocks noChangeShapeType="1"/>
            <a:stCxn id="32770" idx="2"/>
            <a:endCxn id="32780" idx="1"/>
          </p:cNvCxnSpPr>
          <p:nvPr/>
        </p:nvCxnSpPr>
        <p:spPr bwMode="auto">
          <a:xfrm rot="16200000" flipH="1">
            <a:off x="-74612" y="3033712"/>
            <a:ext cx="1206500" cy="11747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16" name="Rectangle 48"/>
          <p:cNvSpPr>
            <a:spLocks noChangeArrowheads="1"/>
          </p:cNvSpPr>
          <p:nvPr/>
        </p:nvSpPr>
        <p:spPr bwMode="auto">
          <a:xfrm>
            <a:off x="5529263" y="4829175"/>
            <a:ext cx="936625" cy="325438"/>
          </a:xfrm>
          <a:prstGeom prst="rect">
            <a:avLst/>
          </a:prstGeom>
          <a:solidFill>
            <a:srgbClr val="80808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000">
                <a:solidFill>
                  <a:schemeClr val="bg1"/>
                </a:solidFill>
                <a:latin typeface="+mj-ea"/>
                <a:ea typeface="+mj-ea"/>
              </a:rPr>
              <a:t>Digital </a:t>
            </a:r>
            <a:r>
              <a:rPr lang="ko-KR" altLang="en-US" sz="1000">
                <a:solidFill>
                  <a:schemeClr val="bg1"/>
                </a:solidFill>
                <a:latin typeface="+mj-ea"/>
                <a:ea typeface="+mj-ea"/>
              </a:rPr>
              <a:t>채널팀</a:t>
            </a:r>
          </a:p>
        </p:txBody>
      </p:sp>
      <p:sp>
        <p:nvSpPr>
          <p:cNvPr id="32817" name="AutoShape 49"/>
          <p:cNvSpPr>
            <a:spLocks noChangeArrowheads="1"/>
          </p:cNvSpPr>
          <p:nvPr/>
        </p:nvSpPr>
        <p:spPr bwMode="auto">
          <a:xfrm>
            <a:off x="7545388" y="4829175"/>
            <a:ext cx="935037" cy="360363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000">
                <a:latin typeface="+mj-ea"/>
                <a:ea typeface="+mj-ea"/>
              </a:rPr>
              <a:t>SNS/</a:t>
            </a:r>
            <a:br>
              <a:rPr lang="en-US" altLang="ko-KR" sz="1000">
                <a:latin typeface="+mj-ea"/>
                <a:ea typeface="+mj-ea"/>
              </a:rPr>
            </a:br>
            <a:r>
              <a:rPr lang="ko-KR" altLang="en-US" sz="1000">
                <a:latin typeface="+mj-ea"/>
                <a:ea typeface="+mj-ea"/>
              </a:rPr>
              <a:t>소셜 커머스</a:t>
            </a:r>
          </a:p>
        </p:txBody>
      </p:sp>
      <p:sp>
        <p:nvSpPr>
          <p:cNvPr id="32818" name="AutoShape 50"/>
          <p:cNvSpPr>
            <a:spLocks noChangeArrowheads="1"/>
          </p:cNvSpPr>
          <p:nvPr/>
        </p:nvSpPr>
        <p:spPr bwMode="auto">
          <a:xfrm>
            <a:off x="6538913" y="4829175"/>
            <a:ext cx="935037" cy="360363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000">
                <a:latin typeface="+mj-ea"/>
                <a:ea typeface="+mj-ea"/>
              </a:rPr>
              <a:t>Mobile</a:t>
            </a:r>
          </a:p>
        </p:txBody>
      </p:sp>
      <p:cxnSp>
        <p:nvCxnSpPr>
          <p:cNvPr id="32819" name="AutoShape 51"/>
          <p:cNvCxnSpPr>
            <a:cxnSpLocks noChangeShapeType="1"/>
            <a:stCxn id="32771" idx="2"/>
            <a:endCxn id="32787" idx="1"/>
          </p:cNvCxnSpPr>
          <p:nvPr/>
        </p:nvCxnSpPr>
        <p:spPr bwMode="auto">
          <a:xfrm rot="16200000" flipH="1">
            <a:off x="5294313" y="2597150"/>
            <a:ext cx="342900" cy="127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0" name="AutoShape 52"/>
          <p:cNvCxnSpPr>
            <a:cxnSpLocks noChangeShapeType="1"/>
            <a:stCxn id="32771" idx="2"/>
            <a:endCxn id="32788" idx="1"/>
          </p:cNvCxnSpPr>
          <p:nvPr/>
        </p:nvCxnSpPr>
        <p:spPr bwMode="auto">
          <a:xfrm rot="16200000" flipH="1">
            <a:off x="5077619" y="2813844"/>
            <a:ext cx="776288" cy="127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1" name="AutoShape 53"/>
          <p:cNvCxnSpPr>
            <a:cxnSpLocks noChangeShapeType="1"/>
            <a:stCxn id="32771" idx="2"/>
            <a:endCxn id="32789" idx="1"/>
          </p:cNvCxnSpPr>
          <p:nvPr/>
        </p:nvCxnSpPr>
        <p:spPr bwMode="auto">
          <a:xfrm rot="16200000" flipH="1">
            <a:off x="4862513" y="3028950"/>
            <a:ext cx="1206500" cy="127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2" name="AutoShape 54"/>
          <p:cNvCxnSpPr>
            <a:cxnSpLocks noChangeShapeType="1"/>
            <a:stCxn id="32771" idx="2"/>
            <a:endCxn id="32790" idx="1"/>
          </p:cNvCxnSpPr>
          <p:nvPr/>
        </p:nvCxnSpPr>
        <p:spPr bwMode="auto">
          <a:xfrm rot="16200000" flipH="1">
            <a:off x="4645819" y="3245644"/>
            <a:ext cx="1639888" cy="127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3" name="AutoShape 55"/>
          <p:cNvCxnSpPr>
            <a:cxnSpLocks noChangeShapeType="1"/>
            <a:stCxn id="32771" idx="2"/>
            <a:endCxn id="32792" idx="1"/>
          </p:cNvCxnSpPr>
          <p:nvPr/>
        </p:nvCxnSpPr>
        <p:spPr bwMode="auto">
          <a:xfrm rot="16200000" flipH="1">
            <a:off x="4429919" y="3461544"/>
            <a:ext cx="2071688" cy="127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4" name="AutoShape 56"/>
          <p:cNvCxnSpPr>
            <a:cxnSpLocks noChangeShapeType="1"/>
            <a:stCxn id="32771" idx="2"/>
            <a:endCxn id="32816" idx="1"/>
          </p:cNvCxnSpPr>
          <p:nvPr/>
        </p:nvCxnSpPr>
        <p:spPr bwMode="auto">
          <a:xfrm rot="16200000" flipH="1">
            <a:off x="4214019" y="3677444"/>
            <a:ext cx="2503488" cy="127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26" name="TextBox 19"/>
          <p:cNvSpPr txBox="1">
            <a:spLocks noChangeArrowheads="1"/>
          </p:cNvSpPr>
          <p:nvPr/>
        </p:nvSpPr>
        <p:spPr bwMode="auto">
          <a:xfrm>
            <a:off x="5168900" y="5513388"/>
            <a:ext cx="4464050" cy="803275"/>
          </a:xfrm>
          <a:prstGeom prst="rect">
            <a:avLst/>
          </a:prstGeom>
          <a:solidFill>
            <a:srgbClr val="F8F8F8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46800" tIns="36000" rIns="46800" bIns="36000" anchor="ctr"/>
          <a:lstStyle>
            <a:lvl1pPr marL="271463" indent="-9683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ko-KR" altLang="en-US" sz="1100" b="0">
                <a:latin typeface="+mj-ea"/>
                <a:ea typeface="+mj-ea"/>
                <a:cs typeface="Arial" charset="0"/>
              </a:rPr>
              <a:t>마케팅</a:t>
            </a:r>
            <a:r>
              <a:rPr lang="en-US" altLang="ko-KR" sz="1100" b="0">
                <a:latin typeface="+mj-ea"/>
                <a:ea typeface="+mj-ea"/>
                <a:cs typeface="Arial" charset="0"/>
              </a:rPr>
              <a:t>,MD, </a:t>
            </a:r>
            <a:r>
              <a:rPr lang="ko-KR" altLang="en-US" sz="1100" b="0">
                <a:latin typeface="+mj-ea"/>
                <a:ea typeface="+mj-ea"/>
                <a:cs typeface="Arial" charset="0"/>
              </a:rPr>
              <a:t>제휴 업무의 기반인 분석 조직 신설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ko-KR" altLang="en-US" sz="1100" b="0">
                <a:latin typeface="+mj-ea"/>
                <a:ea typeface="+mj-ea"/>
                <a:cs typeface="Arial" charset="0"/>
              </a:rPr>
              <a:t>신규 채널에 대한 통합 접근 위한 조직 명확화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en-US" altLang="ko-KR" sz="1100" b="0">
                <a:latin typeface="+mj-ea"/>
                <a:ea typeface="+mj-ea"/>
                <a:cs typeface="Arial" charset="0"/>
              </a:rPr>
              <a:t>Web</a:t>
            </a:r>
            <a:r>
              <a:rPr lang="ko-KR" altLang="en-US" sz="1100" b="0">
                <a:latin typeface="+mj-ea"/>
                <a:ea typeface="+mj-ea"/>
                <a:cs typeface="Arial" charset="0"/>
              </a:rPr>
              <a:t>으로서의 기획</a:t>
            </a:r>
            <a:r>
              <a:rPr lang="en-US" altLang="ko-KR" sz="1100" b="0">
                <a:latin typeface="+mj-ea"/>
                <a:ea typeface="+mj-ea"/>
                <a:cs typeface="Arial" charset="0"/>
              </a:rPr>
              <a:t>~</a:t>
            </a:r>
            <a:r>
              <a:rPr lang="ko-KR" altLang="en-US" sz="1100" b="0">
                <a:latin typeface="+mj-ea"/>
                <a:ea typeface="+mj-ea"/>
                <a:cs typeface="Arial" charset="0"/>
              </a:rPr>
              <a:t>운영</a:t>
            </a:r>
            <a:r>
              <a:rPr lang="en-US" altLang="ko-KR" sz="1100" b="0">
                <a:latin typeface="+mj-ea"/>
                <a:ea typeface="+mj-ea"/>
                <a:cs typeface="Arial" charset="0"/>
              </a:rPr>
              <a:t>~</a:t>
            </a:r>
            <a:r>
              <a:rPr lang="ko-KR" altLang="en-US" sz="1100" b="0">
                <a:latin typeface="+mj-ea"/>
                <a:ea typeface="+mj-ea"/>
                <a:cs typeface="Arial" charset="0"/>
              </a:rPr>
              <a:t>제작</a:t>
            </a:r>
            <a:r>
              <a:rPr lang="en-US" altLang="ko-KR" sz="1100" b="0">
                <a:latin typeface="+mj-ea"/>
                <a:ea typeface="+mj-ea"/>
                <a:cs typeface="Arial" charset="0"/>
              </a:rPr>
              <a:t>~IT</a:t>
            </a:r>
            <a:r>
              <a:rPr lang="ko-KR" altLang="en-US" sz="1100" b="0">
                <a:latin typeface="+mj-ea"/>
                <a:ea typeface="+mj-ea"/>
                <a:cs typeface="Arial" charset="0"/>
              </a:rPr>
              <a:t>의</a:t>
            </a:r>
            <a:br>
              <a:rPr lang="ko-KR" altLang="en-US" sz="1100" b="0">
                <a:latin typeface="+mj-ea"/>
                <a:ea typeface="+mj-ea"/>
                <a:cs typeface="Arial" charset="0"/>
              </a:rPr>
            </a:br>
            <a:r>
              <a:rPr lang="ko-KR" altLang="en-US" sz="1100" b="0">
                <a:latin typeface="+mj-ea"/>
                <a:ea typeface="+mj-ea"/>
                <a:cs typeface="Arial" charset="0"/>
              </a:rPr>
              <a:t>일련의 프로세스별 담당 조직 명확화</a:t>
            </a:r>
          </a:p>
        </p:txBody>
      </p:sp>
      <p:sp>
        <p:nvSpPr>
          <p:cNvPr id="32827" name="TextBox 19"/>
          <p:cNvSpPr txBox="1">
            <a:spLocks noChangeArrowheads="1"/>
          </p:cNvSpPr>
          <p:nvPr/>
        </p:nvSpPr>
        <p:spPr bwMode="auto">
          <a:xfrm>
            <a:off x="273050" y="5513388"/>
            <a:ext cx="4464050" cy="803275"/>
          </a:xfrm>
          <a:prstGeom prst="rect">
            <a:avLst/>
          </a:prstGeom>
          <a:solidFill>
            <a:srgbClr val="F8F8F8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lIns="46800" tIns="36000" rIns="46800" bIns="36000" anchor="ctr"/>
          <a:lstStyle>
            <a:lvl1pPr marL="271463" indent="-9683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ko-KR" altLang="en-US" sz="1100" b="0">
                <a:latin typeface="+mj-ea"/>
                <a:ea typeface="+mj-ea"/>
                <a:cs typeface="Arial" charset="0"/>
              </a:rPr>
              <a:t>마케팅과 </a:t>
            </a:r>
            <a:r>
              <a:rPr lang="en-US" altLang="ko-KR" sz="1100" b="0">
                <a:latin typeface="+mj-ea"/>
                <a:ea typeface="+mj-ea"/>
                <a:cs typeface="Arial" charset="0"/>
              </a:rPr>
              <a:t>MD </a:t>
            </a:r>
            <a:r>
              <a:rPr lang="ko-KR" altLang="en-US" sz="1100" b="0">
                <a:latin typeface="+mj-ea"/>
                <a:ea typeface="+mj-ea"/>
                <a:cs typeface="Arial" charset="0"/>
              </a:rPr>
              <a:t>중심 조직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buFont typeface="Arial" charset="0"/>
              <a:buChar char="•"/>
            </a:pPr>
            <a:r>
              <a:rPr lang="ko-KR" altLang="en-US" sz="1100" b="0">
                <a:latin typeface="+mj-ea"/>
                <a:ea typeface="+mj-ea"/>
                <a:cs typeface="Arial" charset="0"/>
              </a:rPr>
              <a:t>분석 기반 위한 조직과 쇼핑몰 기획</a:t>
            </a:r>
            <a:r>
              <a:rPr lang="en-US" altLang="ko-KR" sz="1100" b="0">
                <a:latin typeface="+mj-ea"/>
                <a:ea typeface="+mj-ea"/>
                <a:cs typeface="Arial" charset="0"/>
              </a:rPr>
              <a:t>/</a:t>
            </a:r>
            <a:r>
              <a:rPr lang="ko-KR" altLang="en-US" sz="1100" b="0">
                <a:latin typeface="+mj-ea"/>
                <a:ea typeface="+mj-ea"/>
                <a:cs typeface="Arial" charset="0"/>
              </a:rPr>
              <a:t>관리 조직이 없음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0350" y="434975"/>
            <a:ext cx="2959100" cy="247650"/>
          </a:xfrm>
        </p:spPr>
        <p:txBody>
          <a:bodyPr/>
          <a:lstStyle/>
          <a:p>
            <a:r>
              <a:rPr lang="en-US" altLang="ko-KR" dirty="0"/>
              <a:t>eMall BM </a:t>
            </a:r>
            <a:r>
              <a:rPr lang="ko-KR" altLang="en-US" dirty="0"/>
              <a:t>추진 방안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ko-KR" dirty="0"/>
              <a:t>eMall BM </a:t>
            </a:r>
            <a:r>
              <a:rPr lang="ko-KR" altLang="en-US" dirty="0"/>
              <a:t>프로젝트 수행을 위해 시장 트렌드에 기반한 </a:t>
            </a:r>
            <a:r>
              <a:rPr lang="en-US" altLang="ko-KR" dirty="0"/>
              <a:t>Top-down </a:t>
            </a:r>
            <a:r>
              <a:rPr lang="ko-KR" altLang="en-US" dirty="0"/>
              <a:t>관점과 기존 </a:t>
            </a:r>
            <a:r>
              <a:rPr lang="en-US" altLang="ko-KR" dirty="0"/>
              <a:t>eMall</a:t>
            </a:r>
            <a:r>
              <a:rPr lang="ko-KR" altLang="en-US" dirty="0"/>
              <a:t> </a:t>
            </a:r>
            <a:r>
              <a:rPr lang="en-US" altLang="ko-KR" dirty="0"/>
              <a:t>BM </a:t>
            </a:r>
            <a:r>
              <a:rPr lang="ko-KR" altLang="en-US" dirty="0"/>
              <a:t>및 고객분석을 통한 </a:t>
            </a:r>
            <a:r>
              <a:rPr lang="en-US" altLang="ko-KR" dirty="0"/>
              <a:t>Bottom-up </a:t>
            </a:r>
            <a:r>
              <a:rPr lang="ko-KR" altLang="en-US" dirty="0"/>
              <a:t>관점에서 </a:t>
            </a:r>
            <a:r>
              <a:rPr lang="en-US" altLang="ko-KR" dirty="0"/>
              <a:t>eMall</a:t>
            </a:r>
            <a:r>
              <a:rPr lang="ko-KR" altLang="en-US" dirty="0"/>
              <a:t>에 가장 적합한 </a:t>
            </a:r>
            <a:r>
              <a:rPr lang="en-US" altLang="ko-KR" dirty="0"/>
              <a:t>BM</a:t>
            </a:r>
            <a:r>
              <a:rPr lang="ko-KR" altLang="en-US" dirty="0"/>
              <a:t>을 도출함</a:t>
            </a:r>
          </a:p>
        </p:txBody>
      </p:sp>
      <p:sp>
        <p:nvSpPr>
          <p:cNvPr id="725010" name="Rectangle 18"/>
          <p:cNvSpPr>
            <a:spLocks noChangeArrowheads="1"/>
          </p:cNvSpPr>
          <p:nvPr/>
        </p:nvSpPr>
        <p:spPr bwMode="gray">
          <a:xfrm>
            <a:off x="381000" y="2082800"/>
            <a:ext cx="1979613" cy="923925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>
              <a:defRPr/>
            </a:pPr>
            <a:r>
              <a:rPr lang="en-US" altLang="ko-KR">
                <a:solidFill>
                  <a:srgbClr val="000000"/>
                </a:solidFill>
                <a:latin typeface="+mj-ea"/>
                <a:ea typeface="+mj-ea"/>
              </a:rPr>
              <a:t>As-Is Review  </a:t>
            </a:r>
          </a:p>
        </p:txBody>
      </p:sp>
      <p:sp>
        <p:nvSpPr>
          <p:cNvPr id="725024" name="Rectangle 32"/>
          <p:cNvSpPr>
            <a:spLocks noChangeArrowheads="1"/>
          </p:cNvSpPr>
          <p:nvPr/>
        </p:nvSpPr>
        <p:spPr bwMode="gray">
          <a:xfrm>
            <a:off x="992188" y="3983038"/>
            <a:ext cx="1362075" cy="360362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>
              <a:defRPr/>
            </a:pPr>
            <a:r>
              <a:rPr lang="en-US" altLang="ko-KR">
                <a:solidFill>
                  <a:srgbClr val="000000"/>
                </a:solidFill>
                <a:latin typeface="+mj-ea"/>
                <a:ea typeface="+mj-ea"/>
              </a:rPr>
              <a:t>BM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상세 설계</a:t>
            </a:r>
          </a:p>
        </p:txBody>
      </p:sp>
      <p:sp>
        <p:nvSpPr>
          <p:cNvPr id="725028" name="Rectangle 36"/>
          <p:cNvSpPr>
            <a:spLocks noChangeArrowheads="1"/>
          </p:cNvSpPr>
          <p:nvPr/>
        </p:nvSpPr>
        <p:spPr bwMode="gray">
          <a:xfrm>
            <a:off x="992188" y="3159125"/>
            <a:ext cx="1368425" cy="360363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>
              <a:defRPr/>
            </a:pPr>
            <a:r>
              <a:rPr lang="ko-KR" altLang="en-US" dirty="0">
                <a:solidFill>
                  <a:srgbClr val="000000"/>
                </a:solidFill>
                <a:latin typeface="+mj-ea"/>
                <a:ea typeface="+mj-ea"/>
              </a:rPr>
              <a:t>시장조사</a:t>
            </a:r>
          </a:p>
        </p:txBody>
      </p:sp>
      <p:sp>
        <p:nvSpPr>
          <p:cNvPr id="725029" name="Rectangle 37"/>
          <p:cNvSpPr>
            <a:spLocks noChangeArrowheads="1"/>
          </p:cNvSpPr>
          <p:nvPr/>
        </p:nvSpPr>
        <p:spPr bwMode="gray">
          <a:xfrm>
            <a:off x="992188" y="3567113"/>
            <a:ext cx="1368425" cy="360362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>
              <a:defRPr/>
            </a:pPr>
            <a:r>
              <a:rPr lang="en-US" altLang="ko-KR">
                <a:solidFill>
                  <a:srgbClr val="000000"/>
                </a:solidFill>
                <a:latin typeface="+mj-ea"/>
                <a:ea typeface="+mj-ea"/>
              </a:rPr>
              <a:t>BM 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구체화 및 선정</a:t>
            </a:r>
          </a:p>
        </p:txBody>
      </p:sp>
      <p:sp>
        <p:nvSpPr>
          <p:cNvPr id="725034" name="Rectangle 42"/>
          <p:cNvSpPr>
            <a:spLocks noChangeArrowheads="1"/>
          </p:cNvSpPr>
          <p:nvPr/>
        </p:nvSpPr>
        <p:spPr bwMode="gray">
          <a:xfrm>
            <a:off x="381000" y="3157538"/>
            <a:ext cx="539750" cy="1187450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>
              <a:defRPr/>
            </a:pPr>
            <a:r>
              <a:rPr lang="en-US" altLang="ko-KR">
                <a:solidFill>
                  <a:srgbClr val="000000"/>
                </a:solidFill>
                <a:latin typeface="+mj-ea"/>
                <a:ea typeface="+mj-ea"/>
              </a:rPr>
              <a:t>BM</a:t>
            </a:r>
          </a:p>
          <a:p>
            <a:pPr eaLnBrk="0" hangingPunct="0">
              <a:defRPr/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설계</a:t>
            </a:r>
          </a:p>
        </p:txBody>
      </p:sp>
      <p:sp>
        <p:nvSpPr>
          <p:cNvPr id="725042" name="Rectangle 50"/>
          <p:cNvSpPr>
            <a:spLocks noChangeArrowheads="1"/>
          </p:cNvSpPr>
          <p:nvPr/>
        </p:nvSpPr>
        <p:spPr bwMode="gray">
          <a:xfrm>
            <a:off x="387350" y="5400675"/>
            <a:ext cx="1979613" cy="863600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>
              <a:defRPr/>
            </a:pPr>
            <a:r>
              <a:rPr lang="en-US" altLang="ko-KR">
                <a:solidFill>
                  <a:srgbClr val="000000"/>
                </a:solidFill>
                <a:latin typeface="+mj-ea"/>
                <a:ea typeface="+mj-ea"/>
              </a:rPr>
              <a:t>UX/UI 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시안 설계</a:t>
            </a:r>
          </a:p>
        </p:txBody>
      </p:sp>
      <p:sp>
        <p:nvSpPr>
          <p:cNvPr id="34829" name="Text Box 41"/>
          <p:cNvSpPr txBox="1">
            <a:spLocks noChangeArrowheads="1"/>
          </p:cNvSpPr>
          <p:nvPr/>
        </p:nvSpPr>
        <p:spPr bwMode="auto">
          <a:xfrm>
            <a:off x="4992688" y="1962150"/>
            <a:ext cx="236537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사업전략 및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파악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임직원 인터뷰 수행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Website Search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국내외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사례 및 트렌드 조사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현황 정리</a:t>
            </a:r>
          </a:p>
        </p:txBody>
      </p:sp>
      <p:sp>
        <p:nvSpPr>
          <p:cNvPr id="34830" name="Rectangle 47"/>
          <p:cNvSpPr>
            <a:spLocks noChangeArrowheads="1"/>
          </p:cNvSpPr>
          <p:nvPr/>
        </p:nvSpPr>
        <p:spPr bwMode="gray">
          <a:xfrm>
            <a:off x="5612800" y="1665288"/>
            <a:ext cx="78066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 typeface="돋움체" pitchFamily="49" charset="-127"/>
              <a:buNone/>
            </a:pPr>
            <a:r>
              <a:rPr lang="ko-KR" altLang="en-US" sz="1400">
                <a:latin typeface="+mj-ea"/>
                <a:ea typeface="+mj-ea"/>
                <a:cs typeface="Arial" charset="0"/>
              </a:rPr>
              <a:t>주요 활동</a:t>
            </a:r>
          </a:p>
        </p:txBody>
      </p:sp>
      <p:sp>
        <p:nvSpPr>
          <p:cNvPr id="34831" name="Line 48"/>
          <p:cNvSpPr>
            <a:spLocks noChangeShapeType="1"/>
          </p:cNvSpPr>
          <p:nvPr/>
        </p:nvSpPr>
        <p:spPr bwMode="gray">
          <a:xfrm>
            <a:off x="4943475" y="1925638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32" name="Rectangle 47"/>
          <p:cNvSpPr>
            <a:spLocks noChangeArrowheads="1"/>
          </p:cNvSpPr>
          <p:nvPr/>
        </p:nvSpPr>
        <p:spPr bwMode="gray">
          <a:xfrm>
            <a:off x="3317764" y="1665288"/>
            <a:ext cx="82413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 typeface="돋움체" pitchFamily="49" charset="-127"/>
              <a:buNone/>
            </a:pPr>
            <a:r>
              <a:rPr lang="en-US" altLang="ko-KR" sz="1400">
                <a:latin typeface="+mj-ea"/>
                <a:ea typeface="+mj-ea"/>
                <a:cs typeface="Arial" charset="0"/>
              </a:rPr>
              <a:t>Approach</a:t>
            </a:r>
            <a:endParaRPr lang="ko-KR" altLang="en-US" sz="1400">
              <a:latin typeface="+mj-ea"/>
              <a:ea typeface="+mj-ea"/>
              <a:cs typeface="Arial" charset="0"/>
            </a:endParaRPr>
          </a:p>
        </p:txBody>
      </p:sp>
      <p:sp>
        <p:nvSpPr>
          <p:cNvPr id="34833" name="Line 48"/>
          <p:cNvSpPr>
            <a:spLocks noChangeShapeType="1"/>
          </p:cNvSpPr>
          <p:nvPr/>
        </p:nvSpPr>
        <p:spPr bwMode="gray">
          <a:xfrm>
            <a:off x="2593975" y="1925638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34" name="Text Box 41"/>
          <p:cNvSpPr txBox="1">
            <a:spLocks noChangeArrowheads="1"/>
          </p:cNvSpPr>
          <p:nvPr/>
        </p:nvSpPr>
        <p:spPr bwMode="auto">
          <a:xfrm>
            <a:off x="7313613" y="1962150"/>
            <a:ext cx="23653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현황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</a:t>
            </a:r>
            <a:r>
              <a:rPr kumimoji="1" lang="en-US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진단 결과서</a:t>
            </a:r>
            <a:endParaRPr kumimoji="1" lang="ko-KR" altLang="en-US" sz="1000" b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Best Practice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분석서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시장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Trend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및 기술 분석서</a:t>
            </a:r>
          </a:p>
        </p:txBody>
      </p:sp>
      <p:sp>
        <p:nvSpPr>
          <p:cNvPr id="34835" name="Rectangle 47"/>
          <p:cNvSpPr>
            <a:spLocks noChangeArrowheads="1"/>
          </p:cNvSpPr>
          <p:nvPr/>
        </p:nvSpPr>
        <p:spPr bwMode="gray">
          <a:xfrm>
            <a:off x="7856657" y="1665288"/>
            <a:ext cx="96019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 typeface="돋움체" pitchFamily="49" charset="-127"/>
              <a:buNone/>
            </a:pPr>
            <a:r>
              <a:rPr lang="ko-KR" altLang="en-US" sz="1400">
                <a:latin typeface="+mj-ea"/>
                <a:ea typeface="+mj-ea"/>
                <a:cs typeface="Arial" charset="0"/>
              </a:rPr>
              <a:t>주요 산출물</a:t>
            </a:r>
          </a:p>
        </p:txBody>
      </p:sp>
      <p:sp>
        <p:nvSpPr>
          <p:cNvPr id="34836" name="Line 48"/>
          <p:cNvSpPr>
            <a:spLocks noChangeShapeType="1"/>
          </p:cNvSpPr>
          <p:nvPr/>
        </p:nvSpPr>
        <p:spPr bwMode="gray">
          <a:xfrm>
            <a:off x="7267575" y="1925638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37" name="Text Box 41"/>
          <p:cNvSpPr txBox="1">
            <a:spLocks noChangeArrowheads="1"/>
          </p:cNvSpPr>
          <p:nvPr/>
        </p:nvSpPr>
        <p:spPr bwMode="auto">
          <a:xfrm>
            <a:off x="2605088" y="1962150"/>
            <a:ext cx="236537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현행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분석을 통한</a:t>
            </a:r>
            <a:b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Bottom-up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방식의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검토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국내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/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해외 업체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Benchmarking</a:t>
            </a:r>
            <a:b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및 시장 트렌드를 반영한</a:t>
            </a:r>
            <a:b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Top-down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방식의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검토</a:t>
            </a:r>
          </a:p>
        </p:txBody>
      </p:sp>
      <p:sp>
        <p:nvSpPr>
          <p:cNvPr id="34838" name="Line 48"/>
          <p:cNvSpPr>
            <a:spLocks noChangeShapeType="1"/>
          </p:cNvSpPr>
          <p:nvPr/>
        </p:nvSpPr>
        <p:spPr bwMode="gray">
          <a:xfrm>
            <a:off x="4943475" y="3132138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39" name="Line 48"/>
          <p:cNvSpPr>
            <a:spLocks noChangeShapeType="1"/>
          </p:cNvSpPr>
          <p:nvPr/>
        </p:nvSpPr>
        <p:spPr bwMode="gray">
          <a:xfrm>
            <a:off x="2593975" y="3132138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40" name="Line 48"/>
          <p:cNvSpPr>
            <a:spLocks noChangeShapeType="1"/>
          </p:cNvSpPr>
          <p:nvPr/>
        </p:nvSpPr>
        <p:spPr bwMode="gray">
          <a:xfrm>
            <a:off x="7267575" y="3132138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41" name="Text Box 41"/>
          <p:cNvSpPr txBox="1">
            <a:spLocks noChangeArrowheads="1"/>
          </p:cNvSpPr>
          <p:nvPr/>
        </p:nvSpPr>
        <p:spPr bwMode="auto">
          <a:xfrm>
            <a:off x="4992688" y="3232150"/>
            <a:ext cx="23653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리스트 작성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평가 체계의 기반한 도입</a:t>
            </a:r>
            <a:b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우선 순위 평가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세부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정의서 작성</a:t>
            </a:r>
          </a:p>
        </p:txBody>
      </p:sp>
      <p:sp>
        <p:nvSpPr>
          <p:cNvPr id="34842" name="Text Box 41"/>
          <p:cNvSpPr txBox="1">
            <a:spLocks noChangeArrowheads="1"/>
          </p:cNvSpPr>
          <p:nvPr/>
        </p:nvSpPr>
        <p:spPr bwMode="auto">
          <a:xfrm>
            <a:off x="7313613" y="3232150"/>
            <a:ext cx="2365375" cy="281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리스트 및 정의서</a:t>
            </a:r>
          </a:p>
        </p:txBody>
      </p:sp>
      <p:sp>
        <p:nvSpPr>
          <p:cNvPr id="34843" name="Text Box 41"/>
          <p:cNvSpPr txBox="1">
            <a:spLocks noChangeArrowheads="1"/>
          </p:cNvSpPr>
          <p:nvPr/>
        </p:nvSpPr>
        <p:spPr bwMode="auto">
          <a:xfrm>
            <a:off x="2605088" y="3132138"/>
            <a:ext cx="2365375" cy="281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endParaRPr kumimoji="1" lang="en-US" altLang="ko-KR" sz="1000" b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34844" name="Line 48"/>
          <p:cNvSpPr>
            <a:spLocks noChangeShapeType="1"/>
          </p:cNvSpPr>
          <p:nvPr/>
        </p:nvSpPr>
        <p:spPr bwMode="gray">
          <a:xfrm>
            <a:off x="4943475" y="4379913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45" name="Line 48"/>
          <p:cNvSpPr>
            <a:spLocks noChangeShapeType="1"/>
          </p:cNvSpPr>
          <p:nvPr/>
        </p:nvSpPr>
        <p:spPr bwMode="gray">
          <a:xfrm>
            <a:off x="2593975" y="4379913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46" name="Line 48"/>
          <p:cNvSpPr>
            <a:spLocks noChangeShapeType="1"/>
          </p:cNvSpPr>
          <p:nvPr/>
        </p:nvSpPr>
        <p:spPr bwMode="gray">
          <a:xfrm>
            <a:off x="7267575" y="4379913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47" name="Line 48"/>
          <p:cNvSpPr>
            <a:spLocks noChangeShapeType="1"/>
          </p:cNvSpPr>
          <p:nvPr/>
        </p:nvSpPr>
        <p:spPr bwMode="gray">
          <a:xfrm>
            <a:off x="4943475" y="6308725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48" name="Line 48"/>
          <p:cNvSpPr>
            <a:spLocks noChangeShapeType="1"/>
          </p:cNvSpPr>
          <p:nvPr/>
        </p:nvSpPr>
        <p:spPr bwMode="gray">
          <a:xfrm>
            <a:off x="2593975" y="6308725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49" name="Line 48"/>
          <p:cNvSpPr>
            <a:spLocks noChangeShapeType="1"/>
          </p:cNvSpPr>
          <p:nvPr/>
        </p:nvSpPr>
        <p:spPr bwMode="gray">
          <a:xfrm>
            <a:off x="7267575" y="6308725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50" name="Text Box 41"/>
          <p:cNvSpPr txBox="1">
            <a:spLocks noChangeArrowheads="1"/>
          </p:cNvSpPr>
          <p:nvPr/>
        </p:nvSpPr>
        <p:spPr bwMode="auto">
          <a:xfrm>
            <a:off x="2605088" y="3232150"/>
            <a:ext cx="23653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고려 가능한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 리스트 확보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실행효과 및 용이성 등을 고려한</a:t>
            </a:r>
            <a:b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평가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Framework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수립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개선 및 도입이 필요한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선정</a:t>
            </a:r>
          </a:p>
        </p:txBody>
      </p:sp>
      <p:sp>
        <p:nvSpPr>
          <p:cNvPr id="34851" name="Text Box 41"/>
          <p:cNvSpPr txBox="1">
            <a:spLocks noChangeArrowheads="1"/>
          </p:cNvSpPr>
          <p:nvPr/>
        </p:nvSpPr>
        <p:spPr bwMode="auto">
          <a:xfrm>
            <a:off x="4992688" y="5421313"/>
            <a:ext cx="23653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고객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Web experience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분석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Website wireframe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작성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UI/UX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가이드라인 확보</a:t>
            </a:r>
          </a:p>
        </p:txBody>
      </p:sp>
      <p:sp>
        <p:nvSpPr>
          <p:cNvPr id="34852" name="Text Box 41"/>
          <p:cNvSpPr txBox="1">
            <a:spLocks noChangeArrowheads="1"/>
          </p:cNvSpPr>
          <p:nvPr/>
        </p:nvSpPr>
        <p:spPr bwMode="auto">
          <a:xfrm>
            <a:off x="7313613" y="5421313"/>
            <a:ext cx="23653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Website wireframe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Contents/Function/Navigation</a:t>
            </a:r>
            <a:b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</a:b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/Design Guideline</a:t>
            </a:r>
          </a:p>
        </p:txBody>
      </p:sp>
      <p:sp>
        <p:nvSpPr>
          <p:cNvPr id="34853" name="Text Box 41"/>
          <p:cNvSpPr txBox="1">
            <a:spLocks noChangeArrowheads="1"/>
          </p:cNvSpPr>
          <p:nvPr/>
        </p:nvSpPr>
        <p:spPr bwMode="auto">
          <a:xfrm>
            <a:off x="2605088" y="5421313"/>
            <a:ext cx="2365375" cy="499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고객 관점의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Web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개선요소 도출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UI/UX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개선 전략 수립</a:t>
            </a:r>
          </a:p>
        </p:txBody>
      </p:sp>
      <p:sp>
        <p:nvSpPr>
          <p:cNvPr id="725023" name="Rectangle 31"/>
          <p:cNvSpPr>
            <a:spLocks noChangeArrowheads="1"/>
          </p:cNvSpPr>
          <p:nvPr/>
        </p:nvSpPr>
        <p:spPr bwMode="gray">
          <a:xfrm>
            <a:off x="382588" y="4454525"/>
            <a:ext cx="1979612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36000" tIns="10800" rIns="18000" bIns="10800" anchor="ctr"/>
          <a:lstStyle/>
          <a:p>
            <a:pPr eaLnBrk="0" hangingPunct="0">
              <a:defRPr/>
            </a:pPr>
            <a:r>
              <a:rPr lang="en-US" altLang="ko-KR">
                <a:solidFill>
                  <a:srgbClr val="000000"/>
                </a:solidFill>
                <a:latin typeface="+mj-ea"/>
                <a:ea typeface="+mj-ea"/>
              </a:rPr>
              <a:t>Target 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고객 분석</a:t>
            </a:r>
            <a:endParaRPr lang="ko-KR" altLang="ko-KR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34856" name="Text Box 41"/>
          <p:cNvSpPr txBox="1">
            <a:spLocks noChangeArrowheads="1"/>
          </p:cNvSpPr>
          <p:nvPr/>
        </p:nvSpPr>
        <p:spPr bwMode="auto">
          <a:xfrm>
            <a:off x="4992688" y="4483100"/>
            <a:ext cx="23653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고객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Segmentation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및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Profiling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고객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Data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기반 </a:t>
            </a: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Insight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도출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적용 가능성 검토</a:t>
            </a:r>
          </a:p>
        </p:txBody>
      </p:sp>
      <p:sp>
        <p:nvSpPr>
          <p:cNvPr id="34857" name="Text Box 41"/>
          <p:cNvSpPr txBox="1">
            <a:spLocks noChangeArrowheads="1"/>
          </p:cNvSpPr>
          <p:nvPr/>
        </p:nvSpPr>
        <p:spPr bwMode="auto">
          <a:xfrm>
            <a:off x="7313613" y="4483100"/>
            <a:ext cx="2365375" cy="499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Segmentation Map </a:t>
            </a:r>
            <a:r>
              <a:rPr kumimoji="1" lang="ko-KR" altLang="en-US" sz="10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및 </a:t>
            </a:r>
            <a:r>
              <a:rPr kumimoji="1" lang="en-US" altLang="ko-KR" sz="10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Profile ,</a:t>
            </a:r>
            <a:r>
              <a:rPr kumimoji="1" lang="ko-KR" altLang="en-US" sz="10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고객 분석 결과서</a:t>
            </a:r>
          </a:p>
        </p:txBody>
      </p:sp>
      <p:sp>
        <p:nvSpPr>
          <p:cNvPr id="34858" name="Text Box 41"/>
          <p:cNvSpPr txBox="1">
            <a:spLocks noChangeArrowheads="1"/>
          </p:cNvSpPr>
          <p:nvPr/>
        </p:nvSpPr>
        <p:spPr bwMode="auto">
          <a:xfrm>
            <a:off x="2605088" y="4483100"/>
            <a:ext cx="23653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4450" rIns="18000" bIns="44450">
            <a:spAutoFit/>
          </a:bodyPr>
          <a:lstStyle>
            <a:lvl1pPr marL="177800" indent="-1778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</a:t>
            </a:r>
            <a:r>
              <a:rPr kumimoji="1" lang="ko-KR" altLang="en-US" sz="10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고객 </a:t>
            </a:r>
            <a:r>
              <a:rPr kumimoji="1" lang="en-US" altLang="ko-KR" sz="10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Segmentation</a:t>
            </a:r>
            <a:r>
              <a:rPr kumimoji="1" lang="ko-KR" altLang="en-US" sz="10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을 통한 전략 </a:t>
            </a:r>
            <a:r>
              <a:rPr kumimoji="1" lang="ko-KR" altLang="en-US" sz="1000" b="0" dirty="0" err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고객군</a:t>
            </a:r>
            <a:r>
              <a:rPr kumimoji="1" lang="ko-KR" altLang="en-US" sz="10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선정</a:t>
            </a:r>
          </a:p>
          <a:p>
            <a:pPr algn="l">
              <a:lnSpc>
                <a:spcPts val="1700"/>
              </a:lnSpc>
              <a:buFont typeface="Wingdings" pitchFamily="2" charset="2"/>
              <a:buChar char="§"/>
            </a:pPr>
            <a:r>
              <a:rPr kumimoji="1" lang="en-US" altLang="ko-KR" sz="10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000" b="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적합성 평가 근거 활용</a:t>
            </a:r>
          </a:p>
        </p:txBody>
      </p:sp>
      <p:sp>
        <p:nvSpPr>
          <p:cNvPr id="34859" name="Line 48"/>
          <p:cNvSpPr>
            <a:spLocks noChangeShapeType="1"/>
          </p:cNvSpPr>
          <p:nvPr/>
        </p:nvSpPr>
        <p:spPr bwMode="gray">
          <a:xfrm>
            <a:off x="4943475" y="5345113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60" name="Line 48"/>
          <p:cNvSpPr>
            <a:spLocks noChangeShapeType="1"/>
          </p:cNvSpPr>
          <p:nvPr/>
        </p:nvSpPr>
        <p:spPr bwMode="gray">
          <a:xfrm>
            <a:off x="2593975" y="5345113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61" name="Line 48"/>
          <p:cNvSpPr>
            <a:spLocks noChangeShapeType="1"/>
          </p:cNvSpPr>
          <p:nvPr/>
        </p:nvSpPr>
        <p:spPr bwMode="gray">
          <a:xfrm>
            <a:off x="7267575" y="5345113"/>
            <a:ext cx="21240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4862" name="Rectangle 47"/>
          <p:cNvSpPr>
            <a:spLocks noChangeArrowheads="1"/>
          </p:cNvSpPr>
          <p:nvPr/>
        </p:nvSpPr>
        <p:spPr bwMode="gray">
          <a:xfrm>
            <a:off x="942375" y="1665288"/>
            <a:ext cx="78066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buFont typeface="돋움체" pitchFamily="49" charset="-127"/>
              <a:buNone/>
            </a:pPr>
            <a:r>
              <a:rPr lang="ko-KR" altLang="en-US" sz="1400">
                <a:latin typeface="+mj-ea"/>
                <a:ea typeface="+mj-ea"/>
                <a:cs typeface="Arial" charset="0"/>
              </a:rPr>
              <a:t>추진 단계</a:t>
            </a:r>
          </a:p>
        </p:txBody>
      </p:sp>
      <p:sp>
        <p:nvSpPr>
          <p:cNvPr id="34863" name="Line 48"/>
          <p:cNvSpPr>
            <a:spLocks noChangeShapeType="1"/>
          </p:cNvSpPr>
          <p:nvPr/>
        </p:nvSpPr>
        <p:spPr bwMode="gray">
          <a:xfrm>
            <a:off x="374650" y="1925638"/>
            <a:ext cx="197961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2" name="Text Box 6"/>
          <p:cNvSpPr txBox="1">
            <a:spLocks noChangeArrowheads="1"/>
          </p:cNvSpPr>
          <p:nvPr/>
        </p:nvSpPr>
        <p:spPr bwMode="auto">
          <a:xfrm>
            <a:off x="5457825" y="3104964"/>
            <a:ext cx="4233863" cy="2022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latinLnBrk="1">
              <a:lnSpc>
                <a:spcPct val="130000"/>
              </a:lnSpc>
            </a:pPr>
            <a:r>
              <a:rPr kumimoji="1" lang="en-US" altLang="ko-KR" sz="1400" dirty="0">
                <a:latin typeface="+mj-ea"/>
                <a:ea typeface="+mj-ea"/>
              </a:rPr>
              <a:t>1. eMall BM </a:t>
            </a:r>
            <a:r>
              <a:rPr kumimoji="1" lang="ko-KR" altLang="en-US" sz="1400" dirty="0">
                <a:latin typeface="+mj-ea"/>
                <a:ea typeface="+mj-ea"/>
              </a:rPr>
              <a:t>개선에 따른 </a:t>
            </a:r>
            <a:r>
              <a:rPr kumimoji="1" lang="en-US" altLang="ko-KR" sz="1400" dirty="0">
                <a:latin typeface="+mj-ea"/>
                <a:ea typeface="+mj-ea"/>
              </a:rPr>
              <a:t>PI</a:t>
            </a:r>
            <a:r>
              <a:rPr kumimoji="1" lang="ko-KR" altLang="en-US" sz="1400" dirty="0">
                <a:latin typeface="+mj-ea"/>
                <a:ea typeface="+mj-ea"/>
              </a:rPr>
              <a:t>컨설팅 추진 필요성</a:t>
            </a:r>
            <a:br>
              <a:rPr kumimoji="1" lang="ko-KR" altLang="en-US" sz="1400" dirty="0">
                <a:latin typeface="+mj-ea"/>
                <a:ea typeface="+mj-ea"/>
              </a:rPr>
            </a:b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2.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주요 과제부문별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Best Practice</a:t>
            </a:r>
            <a:b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</a:b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3. PI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추진 전략 </a:t>
            </a:r>
            <a:b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</a:b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-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업무 프로세스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PI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추진 전략</a:t>
            </a:r>
            <a:b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</a:b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- TO-BE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프로세스 변화관리 전략</a:t>
            </a:r>
            <a:b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</a:b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- EA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추진 전략</a:t>
            </a:r>
          </a:p>
          <a:p>
            <a:pPr algn="l" latinLnBrk="1">
              <a:lnSpc>
                <a:spcPct val="130000"/>
              </a:lnSpc>
            </a:pP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-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솔루션 구성 전략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2EB3C2D1-E3B7-3E84-D959-F6AD45853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1763" y="1513295"/>
            <a:ext cx="41293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/>
            <a:r>
              <a:rPr kumimoji="1" lang="en-US" altLang="ko-KR" sz="1800" dirty="0">
                <a:solidFill>
                  <a:schemeClr val="bg1"/>
                </a:solidFill>
                <a:latin typeface="+mj-ea"/>
                <a:ea typeface="+mj-ea"/>
              </a:rPr>
              <a:t>eMall BM (Business Model) </a:t>
            </a:r>
            <a:r>
              <a:rPr kumimoji="1" lang="ko-KR" altLang="en-US" sz="1800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888DC3-8897-A24D-E173-B7C5CA8B2D76}"/>
              </a:ext>
            </a:extLst>
          </p:cNvPr>
          <p:cNvSpPr/>
          <p:nvPr/>
        </p:nvSpPr>
        <p:spPr>
          <a:xfrm>
            <a:off x="1262850" y="3104964"/>
            <a:ext cx="4050190" cy="432000"/>
          </a:xfrm>
          <a:prstGeom prst="rect">
            <a:avLst/>
          </a:prstGeom>
          <a:solidFill>
            <a:srgbClr val="000066">
              <a:alpha val="1693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08000" indent="-108000" algn="ctr" latinLnBrk="0">
              <a:buFont typeface="Arial" panose="020B0604020202020204" pitchFamily="34" charset="0"/>
              <a:buChar char="•"/>
              <a:defRPr/>
            </a:pPr>
            <a:endParaRPr lang="ko-KR" altLang="en-US" sz="1050" kern="0" dirty="0">
              <a:solidFill>
                <a:srgbClr val="646464"/>
              </a:solidFill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DE596D-4427-D679-B853-3C05307A6E5B}"/>
              </a:ext>
            </a:extLst>
          </p:cNvPr>
          <p:cNvSpPr txBox="1"/>
          <p:nvPr/>
        </p:nvSpPr>
        <p:spPr>
          <a:xfrm>
            <a:off x="1405373" y="2198975"/>
            <a:ext cx="2571217" cy="16550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제안개요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eMall BM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개선 전략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PI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컨설팅 추진 방안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dirty="0">
                <a:solidFill>
                  <a:prstClr val="black"/>
                </a:solidFill>
                <a:latin typeface="+mj-ea"/>
                <a:ea typeface="+mj-ea"/>
              </a:rPr>
              <a:t>프로젝트 관리 및 추진 계획</a:t>
            </a:r>
            <a:endParaRPr lang="en-US" sz="1400" b="1" dirty="0">
              <a:solidFill>
                <a:prstClr val="black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오각형 52"/>
          <p:cNvSpPr>
            <a:spLocks noChangeArrowheads="1"/>
          </p:cNvSpPr>
          <p:nvPr/>
        </p:nvSpPr>
        <p:spPr bwMode="auto">
          <a:xfrm>
            <a:off x="307975" y="1520825"/>
            <a:ext cx="6256338" cy="4860925"/>
          </a:xfrm>
          <a:prstGeom prst="homePlate">
            <a:avLst>
              <a:gd name="adj" fmla="val 8914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54000" tIns="0" rIns="0" bIns="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/>
            <a:endParaRPr kumimoji="1" lang="ko-KR" altLang="en-US" sz="1300">
              <a:latin typeface="+mj-ea"/>
              <a:ea typeface="+mj-ea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3632200" cy="247650"/>
          </a:xfrm>
        </p:spPr>
        <p:txBody>
          <a:bodyPr>
            <a:noAutofit/>
          </a:bodyPr>
          <a:lstStyle/>
          <a:p>
            <a:r>
              <a:rPr lang="en-US" altLang="ko-KR" dirty="0"/>
              <a:t>Process Transformation </a:t>
            </a:r>
            <a:r>
              <a:rPr lang="ko-KR" altLang="en-US" dirty="0"/>
              <a:t>필요성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60350" y="914400"/>
            <a:ext cx="9337675" cy="511175"/>
          </a:xfrm>
          <a:noFill/>
          <a:ln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r>
              <a:rPr lang="en-US" altLang="ko-KR"/>
              <a:t>BM</a:t>
            </a:r>
            <a:r>
              <a:rPr lang="ko-KR" altLang="en-US"/>
              <a:t>의 성공적 이행을 위해서는 이를 지원하는 조직</a:t>
            </a:r>
            <a:r>
              <a:rPr lang="en-US" altLang="ko-KR"/>
              <a:t>, Policy, R&amp;R, </a:t>
            </a:r>
            <a:r>
              <a:rPr lang="ko-KR" altLang="en-US"/>
              <a:t>프로세스</a:t>
            </a:r>
            <a:r>
              <a:rPr lang="en-US" altLang="ko-KR"/>
              <a:t>, </a:t>
            </a:r>
            <a:r>
              <a:rPr lang="ko-KR" altLang="en-US"/>
              <a:t>시스템 전 영역별로 전사최적화 관점을 고려한 통합적 분석을 해야 하며</a:t>
            </a:r>
            <a:r>
              <a:rPr lang="en-US" altLang="ko-KR"/>
              <a:t>, </a:t>
            </a:r>
            <a:r>
              <a:rPr lang="ko-KR" altLang="en-US"/>
              <a:t>이를 바탕으로 한 </a:t>
            </a:r>
            <a:r>
              <a:rPr lang="en-US" altLang="ko-KR"/>
              <a:t>Process Transformation</a:t>
            </a:r>
            <a:r>
              <a:rPr lang="ko-KR" altLang="en-US"/>
              <a:t>이 필요함</a:t>
            </a:r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gray">
          <a:xfrm>
            <a:off x="1025736" y="1665288"/>
            <a:ext cx="4552529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0" tIns="0" rIns="0" bIns="0">
            <a:noAutofit/>
          </a:bodyPr>
          <a:lstStyle/>
          <a:p>
            <a:pPr>
              <a:buFont typeface="맑은 고딕" pitchFamily="50" charset="-127"/>
              <a:buNone/>
            </a:pPr>
            <a:r>
              <a:rPr lang="en-US" altLang="ko-KR" sz="1300" dirty="0">
                <a:latin typeface="+mj-ea"/>
                <a:ea typeface="+mj-ea"/>
                <a:cs typeface="Arial" charset="0"/>
              </a:rPr>
              <a:t>eMall</a:t>
            </a:r>
            <a:r>
              <a:rPr lang="ko-KR" altLang="en-US" sz="1300" dirty="0">
                <a:latin typeface="+mj-ea"/>
                <a:ea typeface="+mj-ea"/>
                <a:cs typeface="Arial" charset="0"/>
              </a:rPr>
              <a:t> </a:t>
            </a:r>
            <a:r>
              <a:rPr lang="en-US" altLang="ko-KR" sz="1300" dirty="0">
                <a:latin typeface="+mj-ea"/>
                <a:ea typeface="+mj-ea"/>
                <a:cs typeface="Arial" charset="0"/>
              </a:rPr>
              <a:t>BM </a:t>
            </a:r>
            <a:r>
              <a:rPr lang="ko-KR" altLang="en-US" sz="1300" dirty="0">
                <a:latin typeface="+mj-ea"/>
                <a:ea typeface="+mj-ea"/>
                <a:cs typeface="Arial" charset="0"/>
              </a:rPr>
              <a:t>실현을 위한 업무 프로세스 개선 요구사항 </a:t>
            </a:r>
            <a:r>
              <a:rPr lang="en-US" altLang="ko-KR" sz="1300" dirty="0">
                <a:latin typeface="+mj-ea"/>
                <a:ea typeface="+mj-ea"/>
                <a:cs typeface="Arial" charset="0"/>
              </a:rPr>
              <a:t>(</a:t>
            </a:r>
            <a:r>
              <a:rPr lang="ko-KR" altLang="en-US" sz="1300" dirty="0">
                <a:latin typeface="+mj-ea"/>
                <a:ea typeface="+mj-ea"/>
                <a:cs typeface="Arial" charset="0"/>
              </a:rPr>
              <a:t>가설적</a:t>
            </a:r>
            <a:r>
              <a:rPr lang="en-US" altLang="ko-KR" sz="1300" dirty="0">
                <a:latin typeface="+mj-ea"/>
                <a:ea typeface="+mj-ea"/>
                <a:cs typeface="Arial" charset="0"/>
              </a:rPr>
              <a:t>)</a:t>
            </a:r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gray">
          <a:xfrm>
            <a:off x="631825" y="1939925"/>
            <a:ext cx="539908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66568" name="Group 8"/>
          <p:cNvGrpSpPr>
            <a:grpSpLocks/>
          </p:cNvGrpSpPr>
          <p:nvPr/>
        </p:nvGrpSpPr>
        <p:grpSpPr bwMode="auto">
          <a:xfrm>
            <a:off x="6357938" y="1520825"/>
            <a:ext cx="3240087" cy="4860925"/>
            <a:chOff x="4005" y="958"/>
            <a:chExt cx="2041" cy="3062"/>
          </a:xfrm>
        </p:grpSpPr>
        <p:sp>
          <p:nvSpPr>
            <p:cNvPr id="66569" name="오각형 52"/>
            <p:cNvSpPr>
              <a:spLocks noChangeArrowheads="1"/>
            </p:cNvSpPr>
            <p:nvPr/>
          </p:nvSpPr>
          <p:spPr bwMode="auto">
            <a:xfrm>
              <a:off x="4005" y="958"/>
              <a:ext cx="2041" cy="306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54000" tIns="0" rIns="0" bIns="0" anchor="ctr">
              <a:no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/>
              <a:endParaRPr kumimoji="1" lang="ko-KR" altLang="en-US" sz="1300">
                <a:latin typeface="+mj-ea"/>
                <a:ea typeface="+mj-ea"/>
              </a:endParaRPr>
            </a:p>
          </p:txBody>
        </p:sp>
        <p:sp>
          <p:nvSpPr>
            <p:cNvPr id="2059" name="Text Box 79"/>
            <p:cNvSpPr txBox="1">
              <a:spLocks noChangeArrowheads="1"/>
            </p:cNvSpPr>
            <p:nvPr/>
          </p:nvSpPr>
          <p:spPr bwMode="auto">
            <a:xfrm>
              <a:off x="4095" y="2606"/>
              <a:ext cx="1817" cy="1344"/>
            </a:xfrm>
            <a:prstGeom prst="rect">
              <a:avLst/>
            </a:prstGeom>
            <a:solidFill>
              <a:srgbClr val="EAEAEA"/>
            </a:solidFill>
            <a:ln w="9525" algn="ctr">
              <a:solidFill>
                <a:schemeClr val="bg2"/>
              </a:solidFill>
              <a:miter lim="800000"/>
              <a:headEnd/>
              <a:tailEnd/>
            </a:ln>
          </p:spPr>
          <p:txBody>
            <a:bodyPr lIns="72000" tIns="108000" rIns="72000" bIns="108000">
              <a:noAutofit/>
            </a:bodyPr>
            <a:lstStyle>
              <a:lvl1pPr marL="87313" indent="-87313" eaLnBrk="0" hangingPunct="0"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444500" indent="-177800" eaLnBrk="0" hangingPunct="0"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</a:pPr>
              <a:r>
                <a:rPr kumimoji="1" lang="en-US" altLang="ko-KR" sz="1100" u="sng">
                  <a:latin typeface="+mj-ea"/>
                  <a:ea typeface="+mj-ea"/>
                </a:rPr>
                <a:t>BM</a:t>
              </a:r>
              <a:r>
                <a:rPr kumimoji="1" lang="ko-KR" altLang="en-US" sz="1100" u="sng">
                  <a:latin typeface="+mj-ea"/>
                  <a:ea typeface="+mj-ea"/>
                </a:rPr>
                <a:t>을 통한 매출 성장의 기대 효과</a:t>
              </a:r>
              <a:r>
                <a:rPr kumimoji="1" lang="ko-KR" altLang="en-US" sz="1100" b="0">
                  <a:latin typeface="+mj-ea"/>
                  <a:ea typeface="+mj-ea"/>
                </a:rPr>
                <a:t>를 </a:t>
              </a:r>
              <a:r>
                <a:rPr kumimoji="1" lang="en-US" altLang="ko-KR" sz="1100" b="0">
                  <a:latin typeface="+mj-ea"/>
                  <a:ea typeface="+mj-ea"/>
                </a:rPr>
                <a:t>100% </a:t>
              </a:r>
              <a:r>
                <a:rPr kumimoji="1" lang="ko-KR" altLang="en-US" sz="1100" b="0">
                  <a:latin typeface="+mj-ea"/>
                  <a:ea typeface="+mj-ea"/>
                </a:rPr>
                <a:t>달성하기 위해서는 새로운 프로세스의 정립</a:t>
              </a:r>
              <a:r>
                <a:rPr kumimoji="1" lang="en-US" altLang="ko-KR" sz="1100" b="0">
                  <a:latin typeface="+mj-ea"/>
                  <a:ea typeface="+mj-ea"/>
                </a:rPr>
                <a:t>, </a:t>
              </a:r>
              <a:r>
                <a:rPr kumimoji="1" lang="ko-KR" altLang="en-US" sz="1100" b="0">
                  <a:latin typeface="+mj-ea"/>
                  <a:ea typeface="+mj-ea"/>
                </a:rPr>
                <a:t>조직</a:t>
              </a:r>
              <a:r>
                <a:rPr kumimoji="1" lang="en-US" altLang="ko-KR" sz="1100" b="0">
                  <a:latin typeface="+mj-ea"/>
                  <a:ea typeface="+mj-ea"/>
                </a:rPr>
                <a:t>/R&amp;R</a:t>
              </a:r>
              <a:r>
                <a:rPr kumimoji="1" lang="ko-KR" altLang="en-US" sz="1100" b="0">
                  <a:latin typeface="+mj-ea"/>
                  <a:ea typeface="+mj-ea"/>
                </a:rPr>
                <a:t>의 정의 </a:t>
              </a:r>
              <a:r>
                <a:rPr kumimoji="1" lang="en-US" altLang="ko-KR" sz="1100" b="0">
                  <a:latin typeface="+mj-ea"/>
                  <a:ea typeface="+mj-ea"/>
                </a:rPr>
                <a:t>, </a:t>
              </a:r>
              <a:r>
                <a:rPr kumimoji="1" lang="ko-KR" altLang="en-US" sz="1100" b="0">
                  <a:latin typeface="+mj-ea"/>
                  <a:ea typeface="+mj-ea"/>
                </a:rPr>
                <a:t>시스템 기능 요건 정의의 </a:t>
              </a:r>
              <a:r>
                <a:rPr kumimoji="1" lang="ko-KR" altLang="en-US" sz="1100" u="sng">
                  <a:latin typeface="+mj-ea"/>
                  <a:ea typeface="+mj-ea"/>
                </a:rPr>
                <a:t>운영 모델 요소들이 전사차원에서 잘 연계</a:t>
              </a:r>
              <a:r>
                <a:rPr kumimoji="1" lang="ko-KR" altLang="en-US" sz="1100" b="0">
                  <a:latin typeface="+mj-ea"/>
                  <a:ea typeface="+mj-ea"/>
                </a:rPr>
                <a:t>되어져야 하며</a:t>
              </a:r>
              <a:r>
                <a:rPr kumimoji="1" lang="en-US" altLang="ko-KR" sz="1100" b="0">
                  <a:latin typeface="+mj-ea"/>
                  <a:ea typeface="+mj-ea"/>
                </a:rPr>
                <a:t>, ,   </a:t>
              </a:r>
            </a:p>
            <a:p>
              <a:pPr algn="l" eaLnBrk="1" hangingPunct="1">
                <a:lnSpc>
                  <a:spcPct val="130000"/>
                </a:lnSpc>
                <a:spcBef>
                  <a:spcPct val="50000"/>
                </a:spcBef>
                <a:buFontTx/>
                <a:buChar char="•"/>
              </a:pPr>
              <a:r>
                <a:rPr kumimoji="1" lang="ko-KR" altLang="en-US" sz="1100" b="0">
                  <a:latin typeface="+mj-ea"/>
                  <a:ea typeface="+mj-ea"/>
                </a:rPr>
                <a:t>이는 채널 간 시너지 효과 및 안정적인 시스템 구축을 위한 </a:t>
              </a:r>
              <a:r>
                <a:rPr kumimoji="1" lang="en-US" altLang="ko-KR" sz="1100" u="sng">
                  <a:latin typeface="+mj-ea"/>
                  <a:ea typeface="+mj-ea"/>
                </a:rPr>
                <a:t>BM</a:t>
              </a:r>
              <a:r>
                <a:rPr kumimoji="1" lang="ko-KR" altLang="en-US" sz="1100" u="sng">
                  <a:latin typeface="+mj-ea"/>
                  <a:ea typeface="+mj-ea"/>
                </a:rPr>
                <a:t>중심의 총괄적인  프로세스 혁신이 필요함</a:t>
              </a:r>
              <a:r>
                <a:rPr kumimoji="1" lang="ko-KR" altLang="en-US" sz="1100" b="0">
                  <a:latin typeface="+mj-ea"/>
                  <a:ea typeface="+mj-ea"/>
                </a:rPr>
                <a:t>을 의미함</a:t>
              </a:r>
            </a:p>
          </p:txBody>
        </p:sp>
        <p:sp>
          <p:nvSpPr>
            <p:cNvPr id="66571" name="Line 11"/>
            <p:cNvSpPr>
              <a:spLocks noChangeShapeType="1"/>
            </p:cNvSpPr>
            <p:nvPr/>
          </p:nvSpPr>
          <p:spPr bwMode="auto">
            <a:xfrm>
              <a:off x="4083" y="1222"/>
              <a:ext cx="186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Autofit/>
            </a:bodyPr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6572" name="Rectangle 12"/>
            <p:cNvSpPr>
              <a:spLocks noChangeArrowheads="1"/>
            </p:cNvSpPr>
            <p:nvPr/>
          </p:nvSpPr>
          <p:spPr bwMode="auto">
            <a:xfrm>
              <a:off x="4095" y="1344"/>
              <a:ext cx="1817" cy="927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noAutofit/>
            </a:bodyPr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6573" name="AutoShape 13"/>
            <p:cNvSpPr>
              <a:spLocks noChangeArrowheads="1"/>
            </p:cNvSpPr>
            <p:nvPr/>
          </p:nvSpPr>
          <p:spPr bwMode="gray">
            <a:xfrm>
              <a:off x="4135" y="1784"/>
              <a:ext cx="544" cy="386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 algn="ctr">
              <a:solidFill>
                <a:srgbClr val="96969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8000" tIns="10800" rIns="18000" bIns="10800" anchor="ctr">
              <a:no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맑은 고딕" pitchFamily="50" charset="-127"/>
                <a:buNone/>
              </a:pPr>
              <a:r>
                <a:rPr lang="ko-KR" altLang="en-US" sz="110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프로세스</a:t>
              </a:r>
              <a:br>
                <a:rPr lang="ko-KR" altLang="en-US" sz="110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</a:br>
              <a:r>
                <a:rPr lang="ko-KR" altLang="en-US" sz="110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정립</a:t>
              </a:r>
            </a:p>
          </p:txBody>
        </p:sp>
        <p:sp>
          <p:nvSpPr>
            <p:cNvPr id="2" name="Text Box 79"/>
            <p:cNvSpPr txBox="1">
              <a:spLocks noChangeArrowheads="1"/>
            </p:cNvSpPr>
            <p:nvPr/>
          </p:nvSpPr>
          <p:spPr bwMode="auto">
            <a:xfrm>
              <a:off x="4135" y="1351"/>
              <a:ext cx="1723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36000" rIns="72000" bIns="36000">
              <a:noAutofit/>
            </a:bodyPr>
            <a:lstStyle>
              <a:lvl1pPr eaLnBrk="0" hangingPunct="0"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366713" indent="-177800" eaLnBrk="0" hangingPunct="0"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15000" algn="l"/>
                </a:tabLs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ts val="500"/>
                </a:spcBef>
              </a:pPr>
              <a:r>
                <a:rPr kumimoji="1" lang="ko-KR" altLang="en-US" sz="1100" i="1">
                  <a:latin typeface="+mj-ea"/>
                  <a:ea typeface="+mj-ea"/>
                </a:rPr>
                <a:t>“</a:t>
              </a:r>
              <a:r>
                <a:rPr kumimoji="1" lang="en-US" altLang="ko-KR" sz="1100" i="1">
                  <a:latin typeface="+mj-ea"/>
                  <a:ea typeface="+mj-ea"/>
                </a:rPr>
                <a:t>BM </a:t>
              </a:r>
              <a:r>
                <a:rPr kumimoji="1" lang="ko-KR" altLang="en-US" sz="1100" i="1">
                  <a:latin typeface="+mj-ea"/>
                  <a:ea typeface="+mj-ea"/>
                </a:rPr>
                <a:t>실현을 위해서는 프로세스</a:t>
              </a:r>
              <a:r>
                <a:rPr kumimoji="1" lang="en-US" altLang="ko-KR" sz="1100" i="1">
                  <a:latin typeface="+mj-ea"/>
                  <a:ea typeface="+mj-ea"/>
                </a:rPr>
                <a:t>, </a:t>
              </a:r>
              <a:r>
                <a:rPr kumimoji="1" lang="ko-KR" altLang="en-US" sz="1100" i="1">
                  <a:latin typeface="+mj-ea"/>
                  <a:ea typeface="+mj-ea"/>
                </a:rPr>
                <a:t>조직</a:t>
              </a:r>
              <a:r>
                <a:rPr kumimoji="1" lang="en-US" altLang="ko-KR" sz="1100" i="1">
                  <a:latin typeface="+mj-ea"/>
                  <a:ea typeface="+mj-ea"/>
                </a:rPr>
                <a:t>/R&amp;R, </a:t>
              </a:r>
              <a:r>
                <a:rPr kumimoji="1" lang="ko-KR" altLang="en-US" sz="1100" i="1">
                  <a:latin typeface="+mj-ea"/>
                  <a:ea typeface="+mj-ea"/>
                </a:rPr>
                <a:t>시스템의 운영 모델 변경이 요구됨”</a:t>
              </a:r>
            </a:p>
          </p:txBody>
        </p:sp>
        <p:sp>
          <p:nvSpPr>
            <p:cNvPr id="66575" name="Rectangle 15"/>
            <p:cNvSpPr>
              <a:spLocks noChangeArrowheads="1"/>
            </p:cNvSpPr>
            <p:nvPr/>
          </p:nvSpPr>
          <p:spPr bwMode="gray">
            <a:xfrm>
              <a:off x="4027" y="1049"/>
              <a:ext cx="2005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noAutofit/>
            </a:bodyPr>
            <a:lstStyle/>
            <a:p>
              <a:pPr>
                <a:buFont typeface="맑은 고딕" pitchFamily="50" charset="-127"/>
                <a:buNone/>
              </a:pPr>
              <a:r>
                <a:rPr kumimoji="1" lang="en-US" altLang="ko-KR">
                  <a:latin typeface="+mj-ea"/>
                  <a:ea typeface="+mj-ea"/>
                </a:rPr>
                <a:t>BM </a:t>
              </a:r>
              <a:r>
                <a:rPr kumimoji="1" lang="ko-KR" altLang="en-US">
                  <a:latin typeface="+mj-ea"/>
                  <a:ea typeface="+mj-ea"/>
                </a:rPr>
                <a:t>중심의 </a:t>
              </a:r>
              <a:r>
                <a:rPr kumimoji="1" lang="en-US" altLang="ko-KR">
                  <a:latin typeface="+mj-ea"/>
                  <a:ea typeface="+mj-ea"/>
                </a:rPr>
                <a:t>Process Transformation</a:t>
              </a:r>
              <a:r>
                <a:rPr kumimoji="1" lang="ko-KR" altLang="en-US">
                  <a:latin typeface="+mj-ea"/>
                  <a:ea typeface="+mj-ea"/>
                </a:rPr>
                <a:t>의 필요성</a:t>
              </a:r>
            </a:p>
          </p:txBody>
        </p:sp>
        <p:sp>
          <p:nvSpPr>
            <p:cNvPr id="66576" name="AutoShape 16"/>
            <p:cNvSpPr>
              <a:spLocks noChangeArrowheads="1"/>
            </p:cNvSpPr>
            <p:nvPr/>
          </p:nvSpPr>
          <p:spPr bwMode="gray">
            <a:xfrm>
              <a:off x="4740" y="1784"/>
              <a:ext cx="544" cy="386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 algn="ctr">
              <a:solidFill>
                <a:srgbClr val="96969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8000" tIns="10800" rIns="18000" bIns="10800" anchor="ctr">
              <a:no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맑은 고딕" pitchFamily="50" charset="-127"/>
                <a:buNone/>
              </a:pPr>
              <a:r>
                <a:rPr lang="ko-KR" altLang="en-US" sz="110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조직</a:t>
              </a:r>
              <a:r>
                <a:rPr lang="en-US" altLang="ko-KR" sz="110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/R&amp;R</a:t>
              </a:r>
            </a:p>
          </p:txBody>
        </p:sp>
        <p:sp>
          <p:nvSpPr>
            <p:cNvPr id="66577" name="AutoShape 17"/>
            <p:cNvSpPr>
              <a:spLocks noChangeArrowheads="1"/>
            </p:cNvSpPr>
            <p:nvPr/>
          </p:nvSpPr>
          <p:spPr bwMode="gray">
            <a:xfrm>
              <a:off x="5337" y="1784"/>
              <a:ext cx="544" cy="386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 w="9525" algn="ctr">
              <a:solidFill>
                <a:srgbClr val="96969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18000" tIns="10800" rIns="18000" bIns="10800" anchor="ctr">
              <a:no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맑은 고딕" pitchFamily="50" charset="-127"/>
                <a:buNone/>
              </a:pPr>
              <a:r>
                <a:rPr lang="ko-KR" altLang="en-US" sz="110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시스템 </a:t>
              </a:r>
              <a:br>
                <a:rPr lang="ko-KR" altLang="en-US" sz="110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</a:br>
              <a:r>
                <a:rPr lang="ko-KR" altLang="en-US" sz="110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기능 요건</a:t>
              </a:r>
            </a:p>
          </p:txBody>
        </p:sp>
        <p:sp>
          <p:nvSpPr>
            <p:cNvPr id="66578" name="AutoShape 77"/>
            <p:cNvSpPr>
              <a:spLocks noChangeArrowheads="1"/>
            </p:cNvSpPr>
            <p:nvPr/>
          </p:nvSpPr>
          <p:spPr bwMode="auto">
            <a:xfrm rot="10800000">
              <a:off x="4256" y="2347"/>
              <a:ext cx="1497" cy="182"/>
            </a:xfrm>
            <a:prstGeom prst="triangle">
              <a:avLst>
                <a:gd name="adj" fmla="val 5000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lIns="46800" tIns="46800" rIns="46800" bIns="46800" anchor="ctr">
              <a:no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l" eaLnBrk="1" latinLnBrk="1" hangingPunct="1">
                <a:spcBef>
                  <a:spcPct val="50000"/>
                </a:spcBef>
              </a:pPr>
              <a:endParaRPr kumimoji="1" lang="ko-KR" altLang="en-US" sz="1400" b="0">
                <a:latin typeface="+mj-ea"/>
                <a:ea typeface="+mj-ea"/>
              </a:endParaRPr>
            </a:p>
          </p:txBody>
        </p:sp>
      </p:grpSp>
      <p:sp>
        <p:nvSpPr>
          <p:cNvPr id="66580" name="Rectangle 20"/>
          <p:cNvSpPr>
            <a:spLocks noChangeArrowheads="1"/>
          </p:cNvSpPr>
          <p:nvPr/>
        </p:nvSpPr>
        <p:spPr bwMode="auto">
          <a:xfrm>
            <a:off x="5178425" y="2332038"/>
            <a:ext cx="309563" cy="180975"/>
          </a:xfrm>
          <a:prstGeom prst="rect">
            <a:avLst/>
          </a:prstGeom>
          <a:solidFill>
            <a:srgbClr val="F8F8F8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r>
              <a:rPr lang="ko-KR" altLang="en-US" sz="600">
                <a:latin typeface="+mj-ea"/>
                <a:ea typeface="+mj-ea"/>
              </a:rPr>
              <a:t>프로세스</a:t>
            </a:r>
          </a:p>
        </p:txBody>
      </p:sp>
      <p:sp>
        <p:nvSpPr>
          <p:cNvPr id="66581" name="Rectangle 21"/>
          <p:cNvSpPr>
            <a:spLocks noChangeArrowheads="1"/>
          </p:cNvSpPr>
          <p:nvPr/>
        </p:nvSpPr>
        <p:spPr bwMode="auto">
          <a:xfrm>
            <a:off x="5859463" y="2332038"/>
            <a:ext cx="309562" cy="180975"/>
          </a:xfrm>
          <a:prstGeom prst="rect">
            <a:avLst/>
          </a:prstGeom>
          <a:solidFill>
            <a:srgbClr val="F8F8F8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r>
              <a:rPr lang="ko-KR" altLang="en-US" sz="600">
                <a:latin typeface="+mj-ea"/>
                <a:ea typeface="+mj-ea"/>
              </a:rPr>
              <a:t>시스템</a:t>
            </a:r>
          </a:p>
        </p:txBody>
      </p:sp>
      <p:sp>
        <p:nvSpPr>
          <p:cNvPr id="66582" name="Rectangle 22"/>
          <p:cNvSpPr>
            <a:spLocks noChangeArrowheads="1"/>
          </p:cNvSpPr>
          <p:nvPr/>
        </p:nvSpPr>
        <p:spPr bwMode="auto">
          <a:xfrm>
            <a:off x="4845050" y="2332038"/>
            <a:ext cx="309563" cy="180975"/>
          </a:xfrm>
          <a:prstGeom prst="rect">
            <a:avLst/>
          </a:prstGeom>
          <a:solidFill>
            <a:srgbClr val="F8F8F8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r>
              <a:rPr lang="en-US" altLang="ko-KR" sz="600">
                <a:latin typeface="+mj-ea"/>
                <a:ea typeface="+mj-ea"/>
              </a:rPr>
              <a:t>Policy</a:t>
            </a:r>
          </a:p>
        </p:txBody>
      </p:sp>
      <p:sp>
        <p:nvSpPr>
          <p:cNvPr id="66583" name="Rectangle 23"/>
          <p:cNvSpPr>
            <a:spLocks noChangeArrowheads="1"/>
          </p:cNvSpPr>
          <p:nvPr/>
        </p:nvSpPr>
        <p:spPr bwMode="auto">
          <a:xfrm>
            <a:off x="5178425" y="2692400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84" name="Rectangle 24"/>
          <p:cNvSpPr>
            <a:spLocks noChangeArrowheads="1"/>
          </p:cNvSpPr>
          <p:nvPr/>
        </p:nvSpPr>
        <p:spPr bwMode="auto">
          <a:xfrm>
            <a:off x="5859463" y="2690813"/>
            <a:ext cx="309562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85" name="Rectangle 25"/>
          <p:cNvSpPr>
            <a:spLocks noChangeArrowheads="1"/>
          </p:cNvSpPr>
          <p:nvPr/>
        </p:nvSpPr>
        <p:spPr bwMode="auto">
          <a:xfrm>
            <a:off x="4845050" y="2690813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86" name="Rectangle 26"/>
          <p:cNvSpPr>
            <a:spLocks noChangeArrowheads="1"/>
          </p:cNvSpPr>
          <p:nvPr/>
        </p:nvSpPr>
        <p:spPr bwMode="auto">
          <a:xfrm>
            <a:off x="5178425" y="2900363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87" name="Rectangle 27"/>
          <p:cNvSpPr>
            <a:spLocks noChangeArrowheads="1"/>
          </p:cNvSpPr>
          <p:nvPr/>
        </p:nvSpPr>
        <p:spPr bwMode="auto">
          <a:xfrm>
            <a:off x="5859463" y="2898775"/>
            <a:ext cx="309562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88" name="Rectangle 28"/>
          <p:cNvSpPr>
            <a:spLocks noChangeArrowheads="1"/>
          </p:cNvSpPr>
          <p:nvPr/>
        </p:nvSpPr>
        <p:spPr bwMode="auto">
          <a:xfrm>
            <a:off x="4845050" y="2898775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89" name="Rectangle 29"/>
          <p:cNvSpPr>
            <a:spLocks noChangeArrowheads="1"/>
          </p:cNvSpPr>
          <p:nvPr/>
        </p:nvSpPr>
        <p:spPr bwMode="auto">
          <a:xfrm>
            <a:off x="5178425" y="3416300"/>
            <a:ext cx="309563" cy="16668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90" name="Rectangle 30"/>
          <p:cNvSpPr>
            <a:spLocks noChangeArrowheads="1"/>
          </p:cNvSpPr>
          <p:nvPr/>
        </p:nvSpPr>
        <p:spPr bwMode="auto">
          <a:xfrm>
            <a:off x="5859463" y="3413125"/>
            <a:ext cx="309562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91" name="Rectangle 31"/>
          <p:cNvSpPr>
            <a:spLocks noChangeArrowheads="1"/>
          </p:cNvSpPr>
          <p:nvPr/>
        </p:nvSpPr>
        <p:spPr bwMode="auto">
          <a:xfrm>
            <a:off x="4845050" y="3413125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92" name="Rectangle 32"/>
          <p:cNvSpPr>
            <a:spLocks noChangeArrowheads="1"/>
          </p:cNvSpPr>
          <p:nvPr/>
        </p:nvSpPr>
        <p:spPr bwMode="auto">
          <a:xfrm>
            <a:off x="5178425" y="3616325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93" name="Rectangle 33"/>
          <p:cNvSpPr>
            <a:spLocks noChangeArrowheads="1"/>
          </p:cNvSpPr>
          <p:nvPr/>
        </p:nvSpPr>
        <p:spPr bwMode="auto">
          <a:xfrm>
            <a:off x="5859463" y="3614738"/>
            <a:ext cx="309562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94" name="Rectangle 34"/>
          <p:cNvSpPr>
            <a:spLocks noChangeArrowheads="1"/>
          </p:cNvSpPr>
          <p:nvPr/>
        </p:nvSpPr>
        <p:spPr bwMode="auto">
          <a:xfrm>
            <a:off x="4845050" y="3614738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95" name="Rectangle 35"/>
          <p:cNvSpPr>
            <a:spLocks noChangeArrowheads="1"/>
          </p:cNvSpPr>
          <p:nvPr/>
        </p:nvSpPr>
        <p:spPr bwMode="auto">
          <a:xfrm>
            <a:off x="5178425" y="4157663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96" name="Rectangle 36"/>
          <p:cNvSpPr>
            <a:spLocks noChangeArrowheads="1"/>
          </p:cNvSpPr>
          <p:nvPr/>
        </p:nvSpPr>
        <p:spPr bwMode="auto">
          <a:xfrm>
            <a:off x="5859463" y="4156075"/>
            <a:ext cx="309562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97" name="Rectangle 37"/>
          <p:cNvSpPr>
            <a:spLocks noChangeArrowheads="1"/>
          </p:cNvSpPr>
          <p:nvPr/>
        </p:nvSpPr>
        <p:spPr bwMode="auto">
          <a:xfrm>
            <a:off x="4845050" y="4156075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98" name="Rectangle 38"/>
          <p:cNvSpPr>
            <a:spLocks noChangeArrowheads="1"/>
          </p:cNvSpPr>
          <p:nvPr/>
        </p:nvSpPr>
        <p:spPr bwMode="auto">
          <a:xfrm>
            <a:off x="5178425" y="4360863"/>
            <a:ext cx="309563" cy="16668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599" name="Rectangle 39"/>
          <p:cNvSpPr>
            <a:spLocks noChangeArrowheads="1"/>
          </p:cNvSpPr>
          <p:nvPr/>
        </p:nvSpPr>
        <p:spPr bwMode="auto">
          <a:xfrm>
            <a:off x="5859463" y="4359275"/>
            <a:ext cx="309562" cy="16668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00" name="Rectangle 40"/>
          <p:cNvSpPr>
            <a:spLocks noChangeArrowheads="1"/>
          </p:cNvSpPr>
          <p:nvPr/>
        </p:nvSpPr>
        <p:spPr bwMode="auto">
          <a:xfrm>
            <a:off x="4845050" y="4359275"/>
            <a:ext cx="309563" cy="16668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01" name="Rectangle 41"/>
          <p:cNvSpPr>
            <a:spLocks noChangeArrowheads="1"/>
          </p:cNvSpPr>
          <p:nvPr/>
        </p:nvSpPr>
        <p:spPr bwMode="auto">
          <a:xfrm>
            <a:off x="5178425" y="4738688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02" name="Rectangle 42"/>
          <p:cNvSpPr>
            <a:spLocks noChangeArrowheads="1"/>
          </p:cNvSpPr>
          <p:nvPr/>
        </p:nvSpPr>
        <p:spPr bwMode="auto">
          <a:xfrm>
            <a:off x="5859463" y="4737100"/>
            <a:ext cx="309562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03" name="Rectangle 43"/>
          <p:cNvSpPr>
            <a:spLocks noChangeArrowheads="1"/>
          </p:cNvSpPr>
          <p:nvPr/>
        </p:nvSpPr>
        <p:spPr bwMode="auto">
          <a:xfrm>
            <a:off x="4845050" y="4737100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04" name="Rectangle 44"/>
          <p:cNvSpPr>
            <a:spLocks noChangeArrowheads="1"/>
          </p:cNvSpPr>
          <p:nvPr/>
        </p:nvSpPr>
        <p:spPr bwMode="auto">
          <a:xfrm>
            <a:off x="5178425" y="4951413"/>
            <a:ext cx="309563" cy="166687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05" name="Rectangle 45"/>
          <p:cNvSpPr>
            <a:spLocks noChangeArrowheads="1"/>
          </p:cNvSpPr>
          <p:nvPr/>
        </p:nvSpPr>
        <p:spPr bwMode="auto">
          <a:xfrm>
            <a:off x="5859463" y="4949825"/>
            <a:ext cx="309562" cy="16668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06" name="Rectangle 46"/>
          <p:cNvSpPr>
            <a:spLocks noChangeArrowheads="1"/>
          </p:cNvSpPr>
          <p:nvPr/>
        </p:nvSpPr>
        <p:spPr bwMode="auto">
          <a:xfrm>
            <a:off x="4845050" y="4949825"/>
            <a:ext cx="309563" cy="16668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07" name="Rectangle 47"/>
          <p:cNvSpPr>
            <a:spLocks noChangeArrowheads="1"/>
          </p:cNvSpPr>
          <p:nvPr/>
        </p:nvSpPr>
        <p:spPr bwMode="auto">
          <a:xfrm>
            <a:off x="5178425" y="5367338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08" name="Rectangle 48"/>
          <p:cNvSpPr>
            <a:spLocks noChangeArrowheads="1"/>
          </p:cNvSpPr>
          <p:nvPr/>
        </p:nvSpPr>
        <p:spPr bwMode="auto">
          <a:xfrm>
            <a:off x="5859463" y="5365750"/>
            <a:ext cx="309562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09" name="Rectangle 49"/>
          <p:cNvSpPr>
            <a:spLocks noChangeArrowheads="1"/>
          </p:cNvSpPr>
          <p:nvPr/>
        </p:nvSpPr>
        <p:spPr bwMode="auto">
          <a:xfrm>
            <a:off x="4845050" y="5365750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pic>
        <p:nvPicPr>
          <p:cNvPr id="66610" name="Picture 50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0" y="2651125"/>
            <a:ext cx="9207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11" name="Picture 5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2651125"/>
            <a:ext cx="9207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12" name="Picture 5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3" y="2851150"/>
            <a:ext cx="9207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13" name="Picture 5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2851150"/>
            <a:ext cx="9207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14" name="Picture 5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88" y="3375025"/>
            <a:ext cx="9207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15" name="Picture 5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3375025"/>
            <a:ext cx="9207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16" name="Picture 5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88" y="3592513"/>
            <a:ext cx="920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17" name="Picture 5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3592513"/>
            <a:ext cx="920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18" name="Picture 5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3" y="4340225"/>
            <a:ext cx="9207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19" name="Picture 5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4340225"/>
            <a:ext cx="9207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20" name="Picture 60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88" y="4748213"/>
            <a:ext cx="920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21" name="Picture 6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4748213"/>
            <a:ext cx="920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22" name="Picture 6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3" y="4916488"/>
            <a:ext cx="920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23" name="Picture 6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88" y="4916488"/>
            <a:ext cx="920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24" name="Picture 6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4916488"/>
            <a:ext cx="920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25" name="Picture 6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3" y="5337175"/>
            <a:ext cx="9207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26" name="Picture 6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5337175"/>
            <a:ext cx="9207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627" name="Rectangle 67"/>
          <p:cNvSpPr>
            <a:spLocks noChangeArrowheads="1"/>
          </p:cNvSpPr>
          <p:nvPr/>
        </p:nvSpPr>
        <p:spPr bwMode="auto">
          <a:xfrm>
            <a:off x="5518150" y="2332038"/>
            <a:ext cx="309563" cy="180975"/>
          </a:xfrm>
          <a:prstGeom prst="rect">
            <a:avLst/>
          </a:prstGeom>
          <a:solidFill>
            <a:srgbClr val="F8F8F8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r>
              <a:rPr lang="en-US" altLang="ko-KR" sz="600">
                <a:latin typeface="+mj-ea"/>
                <a:ea typeface="+mj-ea"/>
              </a:rPr>
              <a:t>R&amp;R</a:t>
            </a:r>
          </a:p>
        </p:txBody>
      </p:sp>
      <p:sp>
        <p:nvSpPr>
          <p:cNvPr id="66628" name="Rectangle 68"/>
          <p:cNvSpPr>
            <a:spLocks noChangeArrowheads="1"/>
          </p:cNvSpPr>
          <p:nvPr/>
        </p:nvSpPr>
        <p:spPr bwMode="auto">
          <a:xfrm>
            <a:off x="5518150" y="2690813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29" name="Rectangle 69"/>
          <p:cNvSpPr>
            <a:spLocks noChangeArrowheads="1"/>
          </p:cNvSpPr>
          <p:nvPr/>
        </p:nvSpPr>
        <p:spPr bwMode="auto">
          <a:xfrm>
            <a:off x="5518150" y="2898775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30" name="Rectangle 70"/>
          <p:cNvSpPr>
            <a:spLocks noChangeArrowheads="1"/>
          </p:cNvSpPr>
          <p:nvPr/>
        </p:nvSpPr>
        <p:spPr bwMode="auto">
          <a:xfrm>
            <a:off x="5518150" y="3413125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31" name="Rectangle 71"/>
          <p:cNvSpPr>
            <a:spLocks noChangeArrowheads="1"/>
          </p:cNvSpPr>
          <p:nvPr/>
        </p:nvSpPr>
        <p:spPr bwMode="auto">
          <a:xfrm>
            <a:off x="5518150" y="3614738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32" name="Rectangle 72"/>
          <p:cNvSpPr>
            <a:spLocks noChangeArrowheads="1"/>
          </p:cNvSpPr>
          <p:nvPr/>
        </p:nvSpPr>
        <p:spPr bwMode="auto">
          <a:xfrm>
            <a:off x="5518150" y="4156075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33" name="Rectangle 73"/>
          <p:cNvSpPr>
            <a:spLocks noChangeArrowheads="1"/>
          </p:cNvSpPr>
          <p:nvPr/>
        </p:nvSpPr>
        <p:spPr bwMode="auto">
          <a:xfrm>
            <a:off x="5518150" y="4359275"/>
            <a:ext cx="309563" cy="16668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34" name="Rectangle 74"/>
          <p:cNvSpPr>
            <a:spLocks noChangeArrowheads="1"/>
          </p:cNvSpPr>
          <p:nvPr/>
        </p:nvSpPr>
        <p:spPr bwMode="auto">
          <a:xfrm>
            <a:off x="5518150" y="4737100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35" name="Rectangle 75"/>
          <p:cNvSpPr>
            <a:spLocks noChangeArrowheads="1"/>
          </p:cNvSpPr>
          <p:nvPr/>
        </p:nvSpPr>
        <p:spPr bwMode="auto">
          <a:xfrm>
            <a:off x="5518150" y="4949825"/>
            <a:ext cx="309563" cy="166688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36" name="Rectangle 76"/>
          <p:cNvSpPr>
            <a:spLocks noChangeArrowheads="1"/>
          </p:cNvSpPr>
          <p:nvPr/>
        </p:nvSpPr>
        <p:spPr bwMode="auto">
          <a:xfrm>
            <a:off x="5518150" y="5365750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pic>
        <p:nvPicPr>
          <p:cNvPr id="66637" name="Picture 7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813" y="3375025"/>
            <a:ext cx="9207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38" name="Picture 7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813" y="4916488"/>
            <a:ext cx="920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640" name="Rectangle 80"/>
          <p:cNvSpPr>
            <a:spLocks noChangeArrowheads="1"/>
          </p:cNvSpPr>
          <p:nvPr/>
        </p:nvSpPr>
        <p:spPr bwMode="auto">
          <a:xfrm>
            <a:off x="3921125" y="5221288"/>
            <a:ext cx="995363" cy="1524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000">
                <a:latin typeface="+mj-ea"/>
                <a:ea typeface="+mj-ea"/>
              </a:rPr>
              <a:t>고객</a:t>
            </a:r>
            <a:r>
              <a:rPr lang="en-US" altLang="ko-KR" sz="1000">
                <a:latin typeface="+mj-ea"/>
                <a:ea typeface="+mj-ea"/>
              </a:rPr>
              <a:t>/</a:t>
            </a:r>
            <a:r>
              <a:rPr lang="ko-KR" altLang="en-US" sz="1000">
                <a:latin typeface="+mj-ea"/>
                <a:ea typeface="+mj-ea"/>
              </a:rPr>
              <a:t>서비스</a:t>
            </a:r>
            <a:r>
              <a:rPr lang="en-US" altLang="ko-KR" sz="1000">
                <a:latin typeface="+mj-ea"/>
                <a:ea typeface="+mj-ea"/>
              </a:rPr>
              <a:t>/CRM</a:t>
            </a:r>
          </a:p>
        </p:txBody>
      </p:sp>
      <p:sp>
        <p:nvSpPr>
          <p:cNvPr id="66641" name="Rectangle 81"/>
          <p:cNvSpPr>
            <a:spLocks noChangeArrowheads="1"/>
          </p:cNvSpPr>
          <p:nvPr/>
        </p:nvSpPr>
        <p:spPr bwMode="auto">
          <a:xfrm>
            <a:off x="3908425" y="2528888"/>
            <a:ext cx="900113" cy="155575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000">
                <a:latin typeface="+mj-ea"/>
                <a:ea typeface="+mj-ea"/>
              </a:rPr>
              <a:t>공급업체</a:t>
            </a:r>
          </a:p>
        </p:txBody>
      </p:sp>
      <p:sp>
        <p:nvSpPr>
          <p:cNvPr id="66642" name="Rectangle 82"/>
          <p:cNvSpPr>
            <a:spLocks noChangeArrowheads="1"/>
          </p:cNvSpPr>
          <p:nvPr/>
        </p:nvSpPr>
        <p:spPr bwMode="auto">
          <a:xfrm>
            <a:off x="3910013" y="3213100"/>
            <a:ext cx="1438275" cy="1524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000">
                <a:latin typeface="+mj-ea"/>
                <a:ea typeface="+mj-ea"/>
              </a:rPr>
              <a:t>마케팅</a:t>
            </a:r>
            <a:r>
              <a:rPr lang="en-US" altLang="ko-KR" sz="1000">
                <a:latin typeface="+mj-ea"/>
                <a:ea typeface="+mj-ea"/>
              </a:rPr>
              <a:t>/</a:t>
            </a:r>
            <a:r>
              <a:rPr lang="ko-KR" altLang="en-US" sz="1000">
                <a:latin typeface="+mj-ea"/>
                <a:ea typeface="+mj-ea"/>
              </a:rPr>
              <a:t>상품</a:t>
            </a:r>
            <a:r>
              <a:rPr lang="en-US" altLang="ko-KR" sz="1000">
                <a:latin typeface="+mj-ea"/>
                <a:ea typeface="+mj-ea"/>
              </a:rPr>
              <a:t>/QA</a:t>
            </a:r>
          </a:p>
        </p:txBody>
      </p:sp>
      <p:sp>
        <p:nvSpPr>
          <p:cNvPr id="66643" name="Rectangle 83"/>
          <p:cNvSpPr>
            <a:spLocks noChangeArrowheads="1"/>
          </p:cNvSpPr>
          <p:nvPr/>
        </p:nvSpPr>
        <p:spPr bwMode="auto">
          <a:xfrm>
            <a:off x="3910013" y="3960813"/>
            <a:ext cx="898525" cy="1524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en-US" altLang="ko-KR" sz="1000">
                <a:latin typeface="+mj-ea"/>
                <a:ea typeface="+mj-ea"/>
              </a:rPr>
              <a:t>SCM/</a:t>
            </a:r>
            <a:r>
              <a:rPr lang="ko-KR" altLang="en-US" sz="1000">
                <a:latin typeface="+mj-ea"/>
                <a:ea typeface="+mj-ea"/>
              </a:rPr>
              <a:t>방송</a:t>
            </a:r>
            <a:r>
              <a:rPr lang="en-US" altLang="ko-KR" sz="1000">
                <a:latin typeface="+mj-ea"/>
                <a:ea typeface="+mj-ea"/>
              </a:rPr>
              <a:t>/</a:t>
            </a:r>
            <a:r>
              <a:rPr lang="ko-KR" altLang="en-US" sz="1000">
                <a:latin typeface="+mj-ea"/>
                <a:ea typeface="+mj-ea"/>
              </a:rPr>
              <a:t>주문</a:t>
            </a:r>
          </a:p>
        </p:txBody>
      </p:sp>
      <p:sp>
        <p:nvSpPr>
          <p:cNvPr id="66644" name="Rectangle 84"/>
          <p:cNvSpPr>
            <a:spLocks noChangeArrowheads="1"/>
          </p:cNvSpPr>
          <p:nvPr/>
        </p:nvSpPr>
        <p:spPr bwMode="auto">
          <a:xfrm>
            <a:off x="3910013" y="4608513"/>
            <a:ext cx="935037" cy="1524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ko-KR" altLang="en-US" sz="1000">
                <a:latin typeface="+mj-ea"/>
                <a:ea typeface="+mj-ea"/>
              </a:rPr>
              <a:t>물류</a:t>
            </a:r>
          </a:p>
        </p:txBody>
      </p:sp>
      <p:sp>
        <p:nvSpPr>
          <p:cNvPr id="66645" name="Rectangle 85"/>
          <p:cNvSpPr>
            <a:spLocks noChangeArrowheads="1"/>
          </p:cNvSpPr>
          <p:nvPr/>
        </p:nvSpPr>
        <p:spPr bwMode="auto">
          <a:xfrm>
            <a:off x="3811588" y="2716213"/>
            <a:ext cx="9969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000" b="0" u="sng">
                <a:latin typeface="+mj-ea"/>
                <a:ea typeface="+mj-ea"/>
              </a:rPr>
              <a:t>거래처 분리</a:t>
            </a:r>
          </a:p>
        </p:txBody>
      </p:sp>
      <p:sp>
        <p:nvSpPr>
          <p:cNvPr id="66646" name="Rectangle 86"/>
          <p:cNvSpPr>
            <a:spLocks noChangeArrowheads="1"/>
          </p:cNvSpPr>
          <p:nvPr/>
        </p:nvSpPr>
        <p:spPr bwMode="auto">
          <a:xfrm>
            <a:off x="3811588" y="2868613"/>
            <a:ext cx="9969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000" b="0" u="sng">
                <a:latin typeface="+mj-ea"/>
                <a:ea typeface="+mj-ea"/>
              </a:rPr>
              <a:t>계약유형개선</a:t>
            </a:r>
          </a:p>
        </p:txBody>
      </p:sp>
      <p:cxnSp>
        <p:nvCxnSpPr>
          <p:cNvPr id="66647" name="AutoShape 87"/>
          <p:cNvCxnSpPr>
            <a:cxnSpLocks noChangeShapeType="1"/>
            <a:stCxn id="66657" idx="3"/>
            <a:endCxn id="66645" idx="1"/>
          </p:cNvCxnSpPr>
          <p:nvPr/>
        </p:nvCxnSpPr>
        <p:spPr bwMode="auto">
          <a:xfrm flipV="1">
            <a:off x="3332163" y="2792413"/>
            <a:ext cx="479425" cy="1638300"/>
          </a:xfrm>
          <a:prstGeom prst="straightConnector1">
            <a:avLst/>
          </a:prstGeom>
          <a:noFill/>
          <a:ln w="31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6648" name="Rectangle 88"/>
          <p:cNvSpPr>
            <a:spLocks noChangeArrowheads="1"/>
          </p:cNvSpPr>
          <p:nvPr/>
        </p:nvSpPr>
        <p:spPr bwMode="auto">
          <a:xfrm>
            <a:off x="3811588" y="3430588"/>
            <a:ext cx="9969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000" b="0" u="sng">
                <a:latin typeface="+mj-ea"/>
                <a:ea typeface="+mj-ea"/>
              </a:rPr>
              <a:t>프로모션 개선</a:t>
            </a:r>
          </a:p>
        </p:txBody>
      </p:sp>
      <p:sp>
        <p:nvSpPr>
          <p:cNvPr id="66649" name="Rectangle 89"/>
          <p:cNvSpPr>
            <a:spLocks noChangeArrowheads="1"/>
          </p:cNvSpPr>
          <p:nvPr/>
        </p:nvSpPr>
        <p:spPr bwMode="auto">
          <a:xfrm>
            <a:off x="3811588" y="3582988"/>
            <a:ext cx="9969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000" b="0" u="sng">
                <a:latin typeface="+mj-ea"/>
                <a:ea typeface="+mj-ea"/>
              </a:rPr>
              <a:t>이벤트 개선</a:t>
            </a:r>
          </a:p>
        </p:txBody>
      </p:sp>
      <p:sp>
        <p:nvSpPr>
          <p:cNvPr id="66650" name="Rectangle 90"/>
          <p:cNvSpPr>
            <a:spLocks noChangeArrowheads="1"/>
          </p:cNvSpPr>
          <p:nvPr/>
        </p:nvSpPr>
        <p:spPr bwMode="auto">
          <a:xfrm>
            <a:off x="3811588" y="4113213"/>
            <a:ext cx="9969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000" b="0" u="sng">
                <a:latin typeface="+mj-ea"/>
                <a:ea typeface="+mj-ea"/>
              </a:rPr>
              <a:t>주문 기능 개선</a:t>
            </a:r>
          </a:p>
        </p:txBody>
      </p:sp>
      <p:sp>
        <p:nvSpPr>
          <p:cNvPr id="66651" name="Rectangle 91"/>
          <p:cNvSpPr>
            <a:spLocks noChangeArrowheads="1"/>
          </p:cNvSpPr>
          <p:nvPr/>
        </p:nvSpPr>
        <p:spPr bwMode="auto">
          <a:xfrm>
            <a:off x="3811588" y="4265613"/>
            <a:ext cx="9969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000" b="0" u="sng">
                <a:latin typeface="+mj-ea"/>
                <a:ea typeface="+mj-ea"/>
              </a:rPr>
              <a:t>실시간 주문</a:t>
            </a:r>
          </a:p>
        </p:txBody>
      </p:sp>
      <p:sp>
        <p:nvSpPr>
          <p:cNvPr id="66652" name="Rectangle 92"/>
          <p:cNvSpPr>
            <a:spLocks noChangeArrowheads="1"/>
          </p:cNvSpPr>
          <p:nvPr/>
        </p:nvSpPr>
        <p:spPr bwMode="auto">
          <a:xfrm>
            <a:off x="3811588" y="4751388"/>
            <a:ext cx="9969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000" b="0" u="sng">
                <a:latin typeface="+mj-ea"/>
                <a:ea typeface="+mj-ea"/>
              </a:rPr>
              <a:t>묶음상품발송</a:t>
            </a:r>
          </a:p>
        </p:txBody>
      </p:sp>
      <p:sp>
        <p:nvSpPr>
          <p:cNvPr id="66653" name="Rectangle 93"/>
          <p:cNvSpPr>
            <a:spLocks noChangeArrowheads="1"/>
          </p:cNvSpPr>
          <p:nvPr/>
        </p:nvSpPr>
        <p:spPr bwMode="auto">
          <a:xfrm>
            <a:off x="3811588" y="4903788"/>
            <a:ext cx="9969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000" b="0" u="sng">
                <a:latin typeface="+mj-ea"/>
                <a:ea typeface="+mj-ea"/>
              </a:rPr>
              <a:t>현장배송</a:t>
            </a:r>
          </a:p>
        </p:txBody>
      </p:sp>
      <p:sp>
        <p:nvSpPr>
          <p:cNvPr id="66654" name="Rectangle 94"/>
          <p:cNvSpPr>
            <a:spLocks noChangeArrowheads="1"/>
          </p:cNvSpPr>
          <p:nvPr/>
        </p:nvSpPr>
        <p:spPr bwMode="auto">
          <a:xfrm>
            <a:off x="3811588" y="5383213"/>
            <a:ext cx="9969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000" b="0" u="sng">
                <a:latin typeface="+mj-ea"/>
                <a:ea typeface="+mj-ea"/>
              </a:rPr>
              <a:t>주문취소개선</a:t>
            </a:r>
          </a:p>
        </p:txBody>
      </p:sp>
      <p:sp>
        <p:nvSpPr>
          <p:cNvPr id="66655" name="Rectangle 95"/>
          <p:cNvSpPr>
            <a:spLocks noChangeArrowheads="1"/>
          </p:cNvSpPr>
          <p:nvPr/>
        </p:nvSpPr>
        <p:spPr bwMode="auto">
          <a:xfrm>
            <a:off x="3811588" y="5535613"/>
            <a:ext cx="9969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000" b="0" u="sng">
                <a:latin typeface="+mj-ea"/>
                <a:ea typeface="+mj-ea"/>
              </a:rPr>
              <a:t>회원탈퇴개선</a:t>
            </a:r>
          </a:p>
        </p:txBody>
      </p:sp>
      <p:sp>
        <p:nvSpPr>
          <p:cNvPr id="66656" name="Rectangle 96"/>
          <p:cNvSpPr>
            <a:spLocks noChangeArrowheads="1"/>
          </p:cNvSpPr>
          <p:nvPr/>
        </p:nvSpPr>
        <p:spPr bwMode="auto">
          <a:xfrm>
            <a:off x="3811588" y="5700713"/>
            <a:ext cx="99695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b="0">
                <a:latin typeface="+mj-ea"/>
                <a:ea typeface="+mj-ea"/>
              </a:rPr>
              <a:t>..</a:t>
            </a:r>
          </a:p>
        </p:txBody>
      </p:sp>
      <p:sp>
        <p:nvSpPr>
          <p:cNvPr id="66657" name="Rectangle 97"/>
          <p:cNvSpPr>
            <a:spLocks noChangeArrowheads="1"/>
          </p:cNvSpPr>
          <p:nvPr/>
        </p:nvSpPr>
        <p:spPr bwMode="auto">
          <a:xfrm>
            <a:off x="3224213" y="4351338"/>
            <a:ext cx="107950" cy="157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6658" name="Rectangle 98"/>
          <p:cNvSpPr>
            <a:spLocks noChangeArrowheads="1"/>
          </p:cNvSpPr>
          <p:nvPr/>
        </p:nvSpPr>
        <p:spPr bwMode="auto">
          <a:xfrm>
            <a:off x="3224213" y="3055938"/>
            <a:ext cx="107950" cy="157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cxnSp>
        <p:nvCxnSpPr>
          <p:cNvPr id="66659" name="AutoShape 99"/>
          <p:cNvCxnSpPr>
            <a:cxnSpLocks noChangeShapeType="1"/>
            <a:stCxn id="66658" idx="3"/>
            <a:endCxn id="66650" idx="1"/>
          </p:cNvCxnSpPr>
          <p:nvPr/>
        </p:nvCxnSpPr>
        <p:spPr bwMode="auto">
          <a:xfrm>
            <a:off x="3332163" y="3135313"/>
            <a:ext cx="479425" cy="1054100"/>
          </a:xfrm>
          <a:prstGeom prst="straightConnector1">
            <a:avLst/>
          </a:prstGeom>
          <a:noFill/>
          <a:ln w="31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6660" name="AutoShape 100"/>
          <p:cNvCxnSpPr>
            <a:cxnSpLocks noChangeShapeType="1"/>
            <a:stCxn id="66658" idx="3"/>
            <a:endCxn id="66653" idx="1"/>
          </p:cNvCxnSpPr>
          <p:nvPr/>
        </p:nvCxnSpPr>
        <p:spPr bwMode="auto">
          <a:xfrm>
            <a:off x="3332163" y="3135313"/>
            <a:ext cx="479425" cy="1844675"/>
          </a:xfrm>
          <a:prstGeom prst="straightConnector1">
            <a:avLst/>
          </a:prstGeom>
          <a:noFill/>
          <a:ln w="31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6661" name="AutoShape 101"/>
          <p:cNvCxnSpPr>
            <a:cxnSpLocks noChangeShapeType="1"/>
            <a:stCxn id="66657" idx="3"/>
            <a:endCxn id="66651" idx="1"/>
          </p:cNvCxnSpPr>
          <p:nvPr/>
        </p:nvCxnSpPr>
        <p:spPr bwMode="auto">
          <a:xfrm flipV="1">
            <a:off x="3332163" y="4341813"/>
            <a:ext cx="479425" cy="88900"/>
          </a:xfrm>
          <a:prstGeom prst="straightConnector1">
            <a:avLst/>
          </a:prstGeom>
          <a:noFill/>
          <a:ln w="31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6662" name="AutoShape 102"/>
          <p:cNvCxnSpPr>
            <a:cxnSpLocks noChangeShapeType="1"/>
            <a:stCxn id="66657" idx="3"/>
            <a:endCxn id="66653" idx="1"/>
          </p:cNvCxnSpPr>
          <p:nvPr/>
        </p:nvCxnSpPr>
        <p:spPr bwMode="auto">
          <a:xfrm>
            <a:off x="3332163" y="4430713"/>
            <a:ext cx="479425" cy="549275"/>
          </a:xfrm>
          <a:prstGeom prst="straightConnector1">
            <a:avLst/>
          </a:prstGeom>
          <a:noFill/>
          <a:ln w="31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6664" name="AutoShape 104"/>
          <p:cNvCxnSpPr>
            <a:cxnSpLocks noChangeShapeType="1"/>
            <a:stCxn id="66657" idx="3"/>
            <a:endCxn id="66654" idx="1"/>
          </p:cNvCxnSpPr>
          <p:nvPr/>
        </p:nvCxnSpPr>
        <p:spPr bwMode="auto">
          <a:xfrm>
            <a:off x="3332163" y="4430713"/>
            <a:ext cx="479425" cy="1028700"/>
          </a:xfrm>
          <a:prstGeom prst="straightConnector1">
            <a:avLst/>
          </a:prstGeom>
          <a:noFill/>
          <a:ln w="31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6665" name="AutoShape 105"/>
          <p:cNvCxnSpPr>
            <a:cxnSpLocks noChangeShapeType="1"/>
            <a:endCxn id="66646" idx="1"/>
          </p:cNvCxnSpPr>
          <p:nvPr/>
        </p:nvCxnSpPr>
        <p:spPr bwMode="auto">
          <a:xfrm flipV="1">
            <a:off x="3332163" y="2944813"/>
            <a:ext cx="479425" cy="2386012"/>
          </a:xfrm>
          <a:prstGeom prst="straightConnector1">
            <a:avLst/>
          </a:prstGeom>
          <a:noFill/>
          <a:ln w="31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66666" name="Picture 10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3392488"/>
            <a:ext cx="9207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67" name="Picture 10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213" y="4149725"/>
            <a:ext cx="9207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68" name="Picture 10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4149725"/>
            <a:ext cx="92075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669" name="Rectangle 109"/>
          <p:cNvSpPr>
            <a:spLocks noChangeArrowheads="1"/>
          </p:cNvSpPr>
          <p:nvPr/>
        </p:nvSpPr>
        <p:spPr bwMode="auto">
          <a:xfrm>
            <a:off x="5178425" y="5564188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70" name="Rectangle 110"/>
          <p:cNvSpPr>
            <a:spLocks noChangeArrowheads="1"/>
          </p:cNvSpPr>
          <p:nvPr/>
        </p:nvSpPr>
        <p:spPr bwMode="auto">
          <a:xfrm>
            <a:off x="5859463" y="5562600"/>
            <a:ext cx="309562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sp>
        <p:nvSpPr>
          <p:cNvPr id="66671" name="Rectangle 111"/>
          <p:cNvSpPr>
            <a:spLocks noChangeArrowheads="1"/>
          </p:cNvSpPr>
          <p:nvPr/>
        </p:nvSpPr>
        <p:spPr bwMode="auto">
          <a:xfrm>
            <a:off x="4845050" y="5562600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pic>
        <p:nvPicPr>
          <p:cNvPr id="66672" name="Picture 11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3" y="5534025"/>
            <a:ext cx="9207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73" name="Picture 11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88" y="5534025"/>
            <a:ext cx="9207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674" name="Picture 11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5534025"/>
            <a:ext cx="9207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675" name="Rectangle 115"/>
          <p:cNvSpPr>
            <a:spLocks noChangeArrowheads="1"/>
          </p:cNvSpPr>
          <p:nvPr/>
        </p:nvSpPr>
        <p:spPr bwMode="auto">
          <a:xfrm>
            <a:off x="5518150" y="5562600"/>
            <a:ext cx="309563" cy="168275"/>
          </a:xfrm>
          <a:prstGeom prst="rect">
            <a:avLst/>
          </a:prstGeom>
          <a:solidFill>
            <a:schemeClr val="bg1"/>
          </a:solidFill>
          <a:ln w="317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 sz="700">
              <a:latin typeface="+mj-ea"/>
              <a:ea typeface="+mj-ea"/>
            </a:endParaRPr>
          </a:p>
        </p:txBody>
      </p:sp>
      <p:cxnSp>
        <p:nvCxnSpPr>
          <p:cNvPr id="66676" name="AutoShape 116"/>
          <p:cNvCxnSpPr>
            <a:cxnSpLocks noChangeShapeType="1"/>
            <a:stCxn id="66677" idx="3"/>
            <a:endCxn id="66649" idx="1"/>
          </p:cNvCxnSpPr>
          <p:nvPr/>
        </p:nvCxnSpPr>
        <p:spPr bwMode="auto">
          <a:xfrm flipV="1">
            <a:off x="3325813" y="3659188"/>
            <a:ext cx="485775" cy="2100262"/>
          </a:xfrm>
          <a:prstGeom prst="straightConnector1">
            <a:avLst/>
          </a:prstGeom>
          <a:noFill/>
          <a:ln w="31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6677" name="Rectangle 117"/>
          <p:cNvSpPr>
            <a:spLocks noChangeArrowheads="1"/>
          </p:cNvSpPr>
          <p:nvPr/>
        </p:nvSpPr>
        <p:spPr bwMode="auto">
          <a:xfrm>
            <a:off x="3217863" y="5680075"/>
            <a:ext cx="107950" cy="15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cxnSp>
        <p:nvCxnSpPr>
          <p:cNvPr id="66678" name="AutoShape 118"/>
          <p:cNvCxnSpPr>
            <a:cxnSpLocks noChangeShapeType="1"/>
            <a:stCxn id="66677" idx="3"/>
            <a:endCxn id="66655" idx="1"/>
          </p:cNvCxnSpPr>
          <p:nvPr/>
        </p:nvCxnSpPr>
        <p:spPr bwMode="auto">
          <a:xfrm flipV="1">
            <a:off x="3325813" y="5611813"/>
            <a:ext cx="485775" cy="147637"/>
          </a:xfrm>
          <a:prstGeom prst="straightConnector1">
            <a:avLst/>
          </a:prstGeom>
          <a:noFill/>
          <a:ln w="31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6679" name="Oval 119"/>
          <p:cNvSpPr>
            <a:spLocks noChangeArrowheads="1"/>
          </p:cNvSpPr>
          <p:nvPr/>
        </p:nvSpPr>
        <p:spPr bwMode="auto">
          <a:xfrm>
            <a:off x="4665663" y="4908550"/>
            <a:ext cx="1662112" cy="284163"/>
          </a:xfrm>
          <a:prstGeom prst="ellipse">
            <a:avLst/>
          </a:prstGeom>
          <a:solidFill>
            <a:srgbClr val="A50021">
              <a:alpha val="20000"/>
            </a:srgbClr>
          </a:solidFill>
          <a:ln w="31750" cap="rnd" algn="ctr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6680" name="Oval 120"/>
          <p:cNvSpPr>
            <a:spLocks noChangeArrowheads="1"/>
          </p:cNvSpPr>
          <p:nvPr/>
        </p:nvSpPr>
        <p:spPr bwMode="auto">
          <a:xfrm rot="16200000">
            <a:off x="4364831" y="3879057"/>
            <a:ext cx="3235325" cy="401638"/>
          </a:xfrm>
          <a:prstGeom prst="ellipse">
            <a:avLst/>
          </a:prstGeom>
          <a:solidFill>
            <a:srgbClr val="A50021">
              <a:alpha val="20000"/>
            </a:srgbClr>
          </a:solidFill>
          <a:ln w="31750" cap="rnd" algn="ctr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6681" name="Rectangle 121"/>
          <p:cNvSpPr>
            <a:spLocks noChangeArrowheads="1"/>
          </p:cNvSpPr>
          <p:nvPr/>
        </p:nvSpPr>
        <p:spPr bwMode="auto">
          <a:xfrm>
            <a:off x="2860675" y="5984875"/>
            <a:ext cx="17700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noAutofit/>
          </a:bodyPr>
          <a:lstStyle/>
          <a:p>
            <a:r>
              <a:rPr lang="ko-KR" altLang="en-US" sz="1000">
                <a:latin typeface="+mj-ea"/>
                <a:ea typeface="+mj-ea"/>
              </a:rPr>
              <a:t>한 프로세스가 여러 개의 </a:t>
            </a:r>
            <a:r>
              <a:rPr lang="en-US" altLang="ko-KR" sz="1000">
                <a:latin typeface="+mj-ea"/>
                <a:ea typeface="+mj-ea"/>
              </a:rPr>
              <a:t>BM</a:t>
            </a:r>
            <a:r>
              <a:rPr lang="ko-KR" altLang="en-US" sz="1000">
                <a:latin typeface="+mj-ea"/>
                <a:ea typeface="+mj-ea"/>
              </a:rPr>
              <a:t>에 </a:t>
            </a:r>
            <a:br>
              <a:rPr lang="ko-KR" altLang="en-US" sz="1000">
                <a:latin typeface="+mj-ea"/>
                <a:ea typeface="+mj-ea"/>
              </a:rPr>
            </a:br>
            <a:r>
              <a:rPr lang="ko-KR" altLang="en-US" sz="1000">
                <a:latin typeface="+mj-ea"/>
                <a:ea typeface="+mj-ea"/>
              </a:rPr>
              <a:t>의해 영향을 받음</a:t>
            </a:r>
          </a:p>
        </p:txBody>
      </p:sp>
      <p:sp>
        <p:nvSpPr>
          <p:cNvPr id="66682" name="Rectangle 122"/>
          <p:cNvSpPr>
            <a:spLocks noChangeArrowheads="1"/>
          </p:cNvSpPr>
          <p:nvPr/>
        </p:nvSpPr>
        <p:spPr bwMode="auto">
          <a:xfrm>
            <a:off x="4730750" y="5984875"/>
            <a:ext cx="13747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noAutofit/>
          </a:bodyPr>
          <a:lstStyle/>
          <a:p>
            <a:r>
              <a:rPr lang="ko-KR" altLang="en-US" sz="1000">
                <a:latin typeface="+mj-ea"/>
                <a:ea typeface="+mj-ea"/>
              </a:rPr>
              <a:t>통합적 관점에서 </a:t>
            </a:r>
          </a:p>
          <a:p>
            <a:r>
              <a:rPr lang="ko-KR" altLang="en-US" sz="1000">
                <a:latin typeface="+mj-ea"/>
                <a:ea typeface="+mj-ea"/>
              </a:rPr>
              <a:t>시스템 영향도 분석 필요</a:t>
            </a:r>
          </a:p>
        </p:txBody>
      </p:sp>
      <p:sp>
        <p:nvSpPr>
          <p:cNvPr id="66683" name="Line 123"/>
          <p:cNvSpPr>
            <a:spLocks noChangeShapeType="1"/>
          </p:cNvSpPr>
          <p:nvPr/>
        </p:nvSpPr>
        <p:spPr bwMode="auto">
          <a:xfrm flipH="1">
            <a:off x="4089400" y="5121275"/>
            <a:ext cx="755650" cy="863600"/>
          </a:xfrm>
          <a:prstGeom prst="line">
            <a:avLst/>
          </a:prstGeom>
          <a:noFill/>
          <a:ln w="31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6684" name="Line 124"/>
          <p:cNvSpPr>
            <a:spLocks noChangeShapeType="1"/>
          </p:cNvSpPr>
          <p:nvPr/>
        </p:nvSpPr>
        <p:spPr bwMode="auto">
          <a:xfrm flipH="1">
            <a:off x="5518150" y="5459413"/>
            <a:ext cx="341313" cy="525462"/>
          </a:xfrm>
          <a:prstGeom prst="line">
            <a:avLst/>
          </a:prstGeom>
          <a:noFill/>
          <a:ln w="31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8BD3C8-0D15-0459-7235-3F22753A2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73" y="2528888"/>
            <a:ext cx="2921360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5092700" cy="247650"/>
          </a:xfrm>
        </p:spPr>
        <p:txBody>
          <a:bodyPr/>
          <a:lstStyle/>
          <a:p>
            <a:r>
              <a:rPr lang="en-US" altLang="ko-KR" dirty="0"/>
              <a:t>BM </a:t>
            </a:r>
            <a:r>
              <a:rPr lang="ko-KR" altLang="en-US" dirty="0"/>
              <a:t>중심 </a:t>
            </a:r>
            <a:r>
              <a:rPr lang="en-US" altLang="ko-KR" dirty="0"/>
              <a:t>Process Transformation </a:t>
            </a:r>
            <a:r>
              <a:rPr lang="ko-KR" altLang="en-US" dirty="0"/>
              <a:t>추진 방향성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 </a:t>
            </a:r>
            <a:r>
              <a:rPr lang="en-US" altLang="ko-KR"/>
              <a:t>BM </a:t>
            </a:r>
            <a:r>
              <a:rPr lang="ko-KR" altLang="en-US"/>
              <a:t>효익의 전사적 가시성 확보를 위한 최적의 프로세스</a:t>
            </a:r>
            <a:r>
              <a:rPr lang="en-US" altLang="ko-KR"/>
              <a:t>, </a:t>
            </a:r>
            <a:r>
              <a:rPr lang="ko-KR" altLang="en-US"/>
              <a:t>조직</a:t>
            </a:r>
            <a:r>
              <a:rPr lang="en-US" altLang="ko-KR"/>
              <a:t>, IT </a:t>
            </a:r>
            <a:r>
              <a:rPr lang="ko-KR" altLang="en-US"/>
              <a:t>역량을 설계하며</a:t>
            </a:r>
            <a:r>
              <a:rPr lang="en-US" altLang="ko-KR"/>
              <a:t>, </a:t>
            </a:r>
            <a:r>
              <a:rPr lang="ko-KR" altLang="en-US"/>
              <a:t>향후 운영에서의 효율성을 확보할 수 있는 방안도 함께 고려함</a:t>
            </a:r>
          </a:p>
        </p:txBody>
      </p:sp>
      <p:grpSp>
        <p:nvGrpSpPr>
          <p:cNvPr id="67589" name="Group 2"/>
          <p:cNvGrpSpPr>
            <a:grpSpLocks/>
          </p:cNvGrpSpPr>
          <p:nvPr/>
        </p:nvGrpSpPr>
        <p:grpSpPr bwMode="auto">
          <a:xfrm>
            <a:off x="236538" y="1639452"/>
            <a:ext cx="3082925" cy="3456855"/>
            <a:chOff x="171" y="1147"/>
            <a:chExt cx="3265" cy="2895"/>
          </a:xfrm>
        </p:grpSpPr>
        <p:sp>
          <p:nvSpPr>
            <p:cNvPr id="67590" name="Rectangle 3"/>
            <p:cNvSpPr>
              <a:spLocks noChangeArrowheads="1"/>
            </p:cNvSpPr>
            <p:nvPr/>
          </p:nvSpPr>
          <p:spPr bwMode="auto">
            <a:xfrm>
              <a:off x="171" y="1147"/>
              <a:ext cx="3265" cy="2895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5E5E5"/>
                </a:gs>
              </a:gsLst>
              <a:lin ang="5400000" scaled="1"/>
            </a:gradFill>
            <a:ln w="6350" algn="ctr">
              <a:solidFill>
                <a:srgbClr val="B2B2B2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/>
              <a:r>
                <a:rPr kumimoji="1" lang="ko-KR" altLang="en-US" sz="1300">
                  <a:solidFill>
                    <a:srgbClr val="000000"/>
                  </a:solidFill>
                  <a:latin typeface="+mj-ea"/>
                  <a:ea typeface="+mj-ea"/>
                </a:rPr>
                <a:t>경영자 관점</a:t>
              </a:r>
            </a:p>
          </p:txBody>
        </p:sp>
        <p:sp>
          <p:nvSpPr>
            <p:cNvPr id="67592" name="AutoShape 5"/>
            <p:cNvSpPr>
              <a:spLocks noChangeArrowheads="1"/>
            </p:cNvSpPr>
            <p:nvPr/>
          </p:nvSpPr>
          <p:spPr bwMode="auto">
            <a:xfrm>
              <a:off x="217" y="1389"/>
              <a:ext cx="3173" cy="2614"/>
            </a:xfrm>
            <a:prstGeom prst="roundRect">
              <a:avLst>
                <a:gd name="adj" fmla="val 1153"/>
              </a:avLst>
            </a:prstGeom>
            <a:solidFill>
              <a:srgbClr val="FFFFFF"/>
            </a:solidFill>
            <a:ln w="3175" algn="ctr">
              <a:solidFill>
                <a:srgbClr val="808080"/>
              </a:solidFill>
              <a:round/>
              <a:headEnd/>
              <a:tailEnd type="none" w="med" len="sm"/>
            </a:ln>
          </p:spPr>
          <p:txBody>
            <a:bodyPr lIns="54000" rIns="0" anchor="ctr"/>
            <a:lstStyle>
              <a:lvl1pPr marL="95250" indent="-952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l" eaLnBrk="1" hangingPunct="1">
                <a:spcBef>
                  <a:spcPct val="20000"/>
                </a:spcBef>
                <a:buClr>
                  <a:srgbClr val="4D4D4D"/>
                </a:buClr>
                <a:buFont typeface="Wingdings 2" pitchFamily="18" charset="2"/>
                <a:buChar char="¡"/>
              </a:pPr>
              <a:endParaRPr kumimoji="1" lang="ko-KR" altLang="en-US" sz="1300" b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67593" name="Picture 11" descr="Partner"/>
          <p:cNvPicPr preferRelativeResize="0">
            <a:picLocks noChangeArrowheads="1"/>
          </p:cNvPicPr>
          <p:nvPr/>
        </p:nvPicPr>
        <p:blipFill>
          <a:blip r:embed="rId2">
            <a:lum bright="4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08000" y="2106177"/>
            <a:ext cx="725488" cy="685800"/>
          </a:xfrm>
          <a:prstGeom prst="rect">
            <a:avLst/>
          </a:prstGeom>
          <a:gradFill rotWithShape="1">
            <a:gsLst>
              <a:gs pos="0">
                <a:srgbClr val="D9ECF7"/>
              </a:gs>
              <a:gs pos="7001">
                <a:srgbClr val="E6E6E6"/>
              </a:gs>
              <a:gs pos="32001">
                <a:srgbClr val="7D8496"/>
              </a:gs>
              <a:gs pos="47000">
                <a:srgbClr val="E6E6E6"/>
              </a:gs>
              <a:gs pos="85001">
                <a:srgbClr val="7D8496"/>
              </a:gs>
              <a:gs pos="100000">
                <a:srgbClr val="E6E6E6"/>
              </a:gs>
            </a:gsLst>
            <a:lin ang="16200000"/>
          </a:gradFill>
          <a:ln w="9525">
            <a:solidFill>
              <a:schemeClr val="bg2"/>
            </a:solidFill>
            <a:miter lim="800000"/>
            <a:headEnd/>
            <a:tailEnd/>
          </a:ln>
        </p:spPr>
      </p:pic>
      <p:sp>
        <p:nvSpPr>
          <p:cNvPr id="67594" name="AutoShape 444" descr="blue-bar-(1)"/>
          <p:cNvSpPr>
            <a:spLocks noChangeArrowheads="1"/>
          </p:cNvSpPr>
          <p:nvPr/>
        </p:nvSpPr>
        <p:spPr bwMode="auto">
          <a:xfrm>
            <a:off x="1306513" y="2106177"/>
            <a:ext cx="1835150" cy="685800"/>
          </a:xfrm>
          <a:prstGeom prst="roundRect">
            <a:avLst>
              <a:gd name="adj" fmla="val 16667"/>
            </a:avLst>
          </a:prstGeom>
          <a:solidFill>
            <a:srgbClr val="000066"/>
          </a:solidFill>
          <a:ln>
            <a:noFill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ko-KR" sz="1050">
                <a:solidFill>
                  <a:srgbClr val="FFFFFF"/>
                </a:solidFill>
                <a:latin typeface="+mj-ea"/>
                <a:ea typeface="+mj-ea"/>
              </a:rPr>
              <a:t>BM </a:t>
            </a:r>
            <a:r>
              <a:rPr lang="ko-KR" altLang="en-US" sz="1050">
                <a:solidFill>
                  <a:srgbClr val="FFFFFF"/>
                </a:solidFill>
                <a:latin typeface="+mj-ea"/>
                <a:ea typeface="+mj-ea"/>
              </a:rPr>
              <a:t>이행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ko-KR" altLang="en-US" sz="1050">
                <a:solidFill>
                  <a:srgbClr val="FFFFFF"/>
                </a:solidFill>
                <a:latin typeface="+mj-ea"/>
                <a:ea typeface="+mj-ea"/>
              </a:rPr>
              <a:t>가시성 확보</a:t>
            </a:r>
          </a:p>
        </p:txBody>
      </p:sp>
      <p:grpSp>
        <p:nvGrpSpPr>
          <p:cNvPr id="67595" name="Group 11"/>
          <p:cNvGrpSpPr>
            <a:grpSpLocks/>
          </p:cNvGrpSpPr>
          <p:nvPr/>
        </p:nvGrpSpPr>
        <p:grpSpPr bwMode="auto">
          <a:xfrm>
            <a:off x="376238" y="2888814"/>
            <a:ext cx="2817812" cy="530225"/>
            <a:chOff x="1117" y="1119"/>
            <a:chExt cx="934" cy="403"/>
          </a:xfrm>
        </p:grpSpPr>
        <p:grpSp>
          <p:nvGrpSpPr>
            <p:cNvPr id="67596" name="Group 448"/>
            <p:cNvGrpSpPr>
              <a:grpSpLocks/>
            </p:cNvGrpSpPr>
            <p:nvPr/>
          </p:nvGrpSpPr>
          <p:grpSpPr bwMode="auto">
            <a:xfrm>
              <a:off x="1122" y="1119"/>
              <a:ext cx="923" cy="403"/>
              <a:chOff x="4668" y="841"/>
              <a:chExt cx="743" cy="358"/>
            </a:xfrm>
          </p:grpSpPr>
          <p:sp>
            <p:nvSpPr>
              <p:cNvPr id="67597" name="AutoShape 449"/>
              <p:cNvSpPr>
                <a:spLocks noChangeArrowheads="1"/>
              </p:cNvSpPr>
              <p:nvPr/>
            </p:nvSpPr>
            <p:spPr bwMode="auto">
              <a:xfrm>
                <a:off x="4668" y="841"/>
                <a:ext cx="743" cy="358"/>
              </a:xfrm>
              <a:prstGeom prst="roundRect">
                <a:avLst>
                  <a:gd name="adj" fmla="val 4926"/>
                </a:avLst>
              </a:prstGeom>
              <a:gradFill rotWithShape="1">
                <a:gsLst>
                  <a:gs pos="0">
                    <a:srgbClr val="E3E3E3"/>
                  </a:gs>
                  <a:gs pos="100000">
                    <a:srgbClr val="C0C0C0"/>
                  </a:gs>
                </a:gsLst>
                <a:lin ang="5400000" scaled="1"/>
              </a:gradFill>
              <a:ln w="12700" algn="ctr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1pPr>
                <a:lvl2pPr marL="742950" indent="-28575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2pPr>
                <a:lvl3pPr marL="11430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3pPr>
                <a:lvl4pPr marL="16002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4pPr>
                <a:lvl5pPr marL="20574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9pPr>
              </a:lstStyle>
              <a:p>
                <a:pPr eaLnBrk="1" hangingPunct="1"/>
                <a:endParaRPr lang="ko-KR" altLang="en-US" sz="11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67598" name="AutoShape 450"/>
              <p:cNvSpPr>
                <a:spLocks noChangeArrowheads="1"/>
              </p:cNvSpPr>
              <p:nvPr/>
            </p:nvSpPr>
            <p:spPr bwMode="auto">
              <a:xfrm>
                <a:off x="4680" y="848"/>
                <a:ext cx="719" cy="164"/>
              </a:xfrm>
              <a:prstGeom prst="roundRect">
                <a:avLst>
                  <a:gd name="adj" fmla="val 10713"/>
                </a:avLst>
              </a:prstGeom>
              <a:gradFill rotWithShape="1">
                <a:gsLst>
                  <a:gs pos="0">
                    <a:srgbClr val="F2F2F2"/>
                  </a:gs>
                  <a:gs pos="100000">
                    <a:srgbClr val="D2D2D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1pPr>
                <a:lvl2pPr marL="742950" indent="-28575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2pPr>
                <a:lvl3pPr marL="11430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3pPr>
                <a:lvl4pPr marL="16002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4pPr>
                <a:lvl5pPr marL="20574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9pPr>
              </a:lstStyle>
              <a:p>
                <a:pPr eaLnBrk="1" hangingPunct="1"/>
                <a:endParaRPr lang="ko-KR" altLang="en-US" sz="11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67599" name="Rectangle 451"/>
            <p:cNvSpPr>
              <a:spLocks noChangeArrowheads="1"/>
            </p:cNvSpPr>
            <p:nvPr/>
          </p:nvSpPr>
          <p:spPr bwMode="auto">
            <a:xfrm>
              <a:off x="1117" y="1184"/>
              <a:ext cx="93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30000"/>
                </a:spcBef>
              </a:pPr>
              <a:r>
                <a:rPr kumimoji="1" lang="en-US" altLang="ko-KR" sz="1100" dirty="0">
                  <a:solidFill>
                    <a:srgbClr val="000000"/>
                  </a:solidFill>
                  <a:latin typeface="+mj-ea"/>
                  <a:ea typeface="+mj-ea"/>
                </a:rPr>
                <a:t>BM 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+mj-ea"/>
                  <a:ea typeface="+mj-ea"/>
                </a:rPr>
                <a:t>모니터링에 필요한 정보를 </a:t>
              </a:r>
              <a:br>
                <a:rPr kumimoji="1" lang="ko-KR" altLang="en-US" sz="1100" dirty="0">
                  <a:solidFill>
                    <a:srgbClr val="000000"/>
                  </a:solidFill>
                  <a:latin typeface="+mj-ea"/>
                  <a:ea typeface="+mj-ea"/>
                </a:rPr>
              </a:br>
              <a:r>
                <a:rPr kumimoji="1" lang="ko-KR" altLang="en-US" sz="1100" dirty="0">
                  <a:solidFill>
                    <a:srgbClr val="000000"/>
                  </a:solidFill>
                  <a:latin typeface="+mj-ea"/>
                  <a:ea typeface="+mj-ea"/>
                </a:rPr>
                <a:t>적절한 시점에 정확하게 제공</a:t>
              </a:r>
            </a:p>
          </p:txBody>
        </p:sp>
      </p:grpSp>
      <p:sp>
        <p:nvSpPr>
          <p:cNvPr id="67600" name="Rectangle 49"/>
          <p:cNvSpPr>
            <a:spLocks noChangeArrowheads="1"/>
          </p:cNvSpPr>
          <p:nvPr/>
        </p:nvSpPr>
        <p:spPr bwMode="auto">
          <a:xfrm>
            <a:off x="376238" y="3504764"/>
            <a:ext cx="2817812" cy="1423988"/>
          </a:xfrm>
          <a:prstGeom prst="rect">
            <a:avLst/>
          </a:prstGeom>
          <a:solidFill>
            <a:srgbClr val="EFF4F9"/>
          </a:solidFill>
          <a:ln w="6350" algn="ctr">
            <a:solidFill>
              <a:srgbClr val="D6E1F0"/>
            </a:solidFill>
            <a:miter lim="800000"/>
            <a:headEnd/>
            <a:tailEnd type="none" w="med" len="sm"/>
          </a:ln>
        </p:spPr>
        <p:txBody>
          <a:bodyPr lIns="90000" tIns="46800" rIns="90000" bIns="46800" anchor="ctr"/>
          <a:lstStyle>
            <a:lvl1pPr marL="85725" indent="-857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61950" indent="-889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3413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06463" indent="-95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kumimoji="1" lang="en-US" altLang="ko-KR" sz="1100" b="0">
                <a:latin typeface="+mj-ea"/>
                <a:ea typeface="+mj-ea"/>
                <a:cs typeface="Arial" charset="0"/>
              </a:rPr>
              <a:t>BM</a:t>
            </a: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이행 조직</a:t>
            </a:r>
            <a:r>
              <a:rPr kumimoji="1" lang="en-US" altLang="ko-KR" sz="1100" b="0">
                <a:latin typeface="+mj-ea"/>
                <a:ea typeface="+mj-ea"/>
                <a:cs typeface="Arial" charset="0"/>
              </a:rPr>
              <a:t>, </a:t>
            </a: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프로세스 별 성과분석 지표 제공 </a:t>
            </a:r>
          </a:p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다차원 분석 기능을 활용한 주단위</a:t>
            </a:r>
            <a:r>
              <a:rPr kumimoji="1" lang="en-US" altLang="ko-KR" sz="1100" b="0">
                <a:latin typeface="+mj-ea"/>
                <a:ea typeface="+mj-ea"/>
                <a:cs typeface="Arial" charset="0"/>
              </a:rPr>
              <a:t>, </a:t>
            </a: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월단위 사업부별 손익 관리 기능 제공</a:t>
            </a:r>
          </a:p>
        </p:txBody>
      </p:sp>
      <p:grpSp>
        <p:nvGrpSpPr>
          <p:cNvPr id="67601" name="Group 6"/>
          <p:cNvGrpSpPr>
            <a:grpSpLocks/>
          </p:cNvGrpSpPr>
          <p:nvPr/>
        </p:nvGrpSpPr>
        <p:grpSpPr bwMode="auto">
          <a:xfrm>
            <a:off x="3375025" y="1639452"/>
            <a:ext cx="3082925" cy="3456855"/>
            <a:chOff x="171" y="1147"/>
            <a:chExt cx="3265" cy="2895"/>
          </a:xfrm>
        </p:grpSpPr>
        <p:sp>
          <p:nvSpPr>
            <p:cNvPr id="67602" name="Rectangle 7"/>
            <p:cNvSpPr>
              <a:spLocks noChangeArrowheads="1"/>
            </p:cNvSpPr>
            <p:nvPr/>
          </p:nvSpPr>
          <p:spPr bwMode="auto">
            <a:xfrm>
              <a:off x="171" y="1147"/>
              <a:ext cx="3265" cy="2895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5E5E5"/>
                </a:gs>
              </a:gsLst>
              <a:lin ang="5400000" scaled="1"/>
            </a:gradFill>
            <a:ln w="6350" algn="ctr">
              <a:solidFill>
                <a:srgbClr val="B2B2B2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/>
              <a:r>
                <a:rPr kumimoji="1" lang="ko-KR" altLang="en-US" sz="1300">
                  <a:solidFill>
                    <a:srgbClr val="000000"/>
                  </a:solidFill>
                  <a:latin typeface="+mj-ea"/>
                  <a:ea typeface="+mj-ea"/>
                </a:rPr>
                <a:t>사용자 관점</a:t>
              </a:r>
            </a:p>
          </p:txBody>
        </p:sp>
        <p:sp>
          <p:nvSpPr>
            <p:cNvPr id="67604" name="AutoShape 9"/>
            <p:cNvSpPr>
              <a:spLocks noChangeArrowheads="1"/>
            </p:cNvSpPr>
            <p:nvPr/>
          </p:nvSpPr>
          <p:spPr bwMode="auto">
            <a:xfrm>
              <a:off x="217" y="1389"/>
              <a:ext cx="3173" cy="2614"/>
            </a:xfrm>
            <a:prstGeom prst="roundRect">
              <a:avLst>
                <a:gd name="adj" fmla="val 1153"/>
              </a:avLst>
            </a:prstGeom>
            <a:solidFill>
              <a:srgbClr val="FFFFFF"/>
            </a:solidFill>
            <a:ln w="3175" algn="ctr">
              <a:solidFill>
                <a:srgbClr val="808080"/>
              </a:solidFill>
              <a:round/>
              <a:headEnd/>
              <a:tailEnd type="none" w="med" len="sm"/>
            </a:ln>
          </p:spPr>
          <p:txBody>
            <a:bodyPr lIns="54000" rIns="0" anchor="ctr"/>
            <a:lstStyle>
              <a:lvl1pPr marL="95250" indent="-952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l" eaLnBrk="1" hangingPunct="1">
                <a:spcBef>
                  <a:spcPct val="20000"/>
                </a:spcBef>
                <a:buClr>
                  <a:srgbClr val="4D4D4D"/>
                </a:buClr>
                <a:buFont typeface="Wingdings 2" pitchFamily="18" charset="2"/>
                <a:buChar char="¡"/>
              </a:pPr>
              <a:endParaRPr kumimoji="1" lang="ko-KR" altLang="en-US" sz="1300" b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67605" name="Picture 12"/>
          <p:cNvPicPr>
            <a:picLocks noChangeAspect="1" noChangeArrowheads="1"/>
          </p:cNvPicPr>
          <p:nvPr/>
        </p:nvPicPr>
        <p:blipFill>
          <a:blip r:embed="rId3">
            <a:lum bright="3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3656013" y="2106177"/>
            <a:ext cx="549275" cy="685800"/>
          </a:xfrm>
          <a:prstGeom prst="rect">
            <a:avLst/>
          </a:prstGeom>
          <a:gradFill rotWithShape="1">
            <a:gsLst>
              <a:gs pos="0">
                <a:srgbClr val="D9ECF7"/>
              </a:gs>
              <a:gs pos="7001">
                <a:srgbClr val="E6E6E6"/>
              </a:gs>
              <a:gs pos="32001">
                <a:srgbClr val="7D8496"/>
              </a:gs>
              <a:gs pos="47000">
                <a:srgbClr val="E6E6E6"/>
              </a:gs>
              <a:gs pos="85001">
                <a:srgbClr val="7D8496"/>
              </a:gs>
              <a:gs pos="100000">
                <a:srgbClr val="E6E6E6"/>
              </a:gs>
            </a:gsLst>
            <a:lin ang="16200000"/>
          </a:gradFill>
          <a:ln w="9525">
            <a:solidFill>
              <a:schemeClr val="bg2"/>
            </a:solidFill>
            <a:miter lim="800000"/>
            <a:headEnd/>
            <a:tailEnd/>
          </a:ln>
        </p:spPr>
      </p:pic>
      <p:grpSp>
        <p:nvGrpSpPr>
          <p:cNvPr id="67606" name="Group 184"/>
          <p:cNvGrpSpPr>
            <a:grpSpLocks/>
          </p:cNvGrpSpPr>
          <p:nvPr/>
        </p:nvGrpSpPr>
        <p:grpSpPr bwMode="auto">
          <a:xfrm>
            <a:off x="3509963" y="2888814"/>
            <a:ext cx="2817812" cy="530225"/>
            <a:chOff x="4581" y="1297"/>
            <a:chExt cx="1312" cy="390"/>
          </a:xfrm>
        </p:grpSpPr>
        <p:grpSp>
          <p:nvGrpSpPr>
            <p:cNvPr id="67607" name="Group 448"/>
            <p:cNvGrpSpPr>
              <a:grpSpLocks/>
            </p:cNvGrpSpPr>
            <p:nvPr/>
          </p:nvGrpSpPr>
          <p:grpSpPr bwMode="auto">
            <a:xfrm>
              <a:off x="4581" y="1297"/>
              <a:ext cx="1312" cy="390"/>
              <a:chOff x="4668" y="841"/>
              <a:chExt cx="743" cy="358"/>
            </a:xfrm>
          </p:grpSpPr>
          <p:sp>
            <p:nvSpPr>
              <p:cNvPr id="67608" name="AutoShape 449"/>
              <p:cNvSpPr>
                <a:spLocks noChangeArrowheads="1"/>
              </p:cNvSpPr>
              <p:nvPr/>
            </p:nvSpPr>
            <p:spPr bwMode="auto">
              <a:xfrm>
                <a:off x="4668" y="841"/>
                <a:ext cx="743" cy="358"/>
              </a:xfrm>
              <a:prstGeom prst="roundRect">
                <a:avLst>
                  <a:gd name="adj" fmla="val 4926"/>
                </a:avLst>
              </a:prstGeom>
              <a:gradFill rotWithShape="1">
                <a:gsLst>
                  <a:gs pos="0">
                    <a:srgbClr val="E3E3E3"/>
                  </a:gs>
                  <a:gs pos="100000">
                    <a:srgbClr val="C0C0C0"/>
                  </a:gs>
                </a:gsLst>
                <a:lin ang="5400000" scaled="1"/>
              </a:gradFill>
              <a:ln w="12700" algn="ctr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1pPr>
                <a:lvl2pPr marL="742950" indent="-28575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2pPr>
                <a:lvl3pPr marL="11430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3pPr>
                <a:lvl4pPr marL="16002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4pPr>
                <a:lvl5pPr marL="20574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9pPr>
              </a:lstStyle>
              <a:p>
                <a:pPr eaLnBrk="1" hangingPunct="1"/>
                <a:endParaRPr lang="ko-KR" altLang="en-US" sz="11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67609" name="AutoShape 450"/>
              <p:cNvSpPr>
                <a:spLocks noChangeArrowheads="1"/>
              </p:cNvSpPr>
              <p:nvPr/>
            </p:nvSpPr>
            <p:spPr bwMode="auto">
              <a:xfrm>
                <a:off x="4680" y="848"/>
                <a:ext cx="719" cy="164"/>
              </a:xfrm>
              <a:prstGeom prst="roundRect">
                <a:avLst>
                  <a:gd name="adj" fmla="val 10713"/>
                </a:avLst>
              </a:prstGeom>
              <a:gradFill rotWithShape="1">
                <a:gsLst>
                  <a:gs pos="0">
                    <a:srgbClr val="F2F2F2"/>
                  </a:gs>
                  <a:gs pos="100000">
                    <a:srgbClr val="D2D2D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1pPr>
                <a:lvl2pPr marL="742950" indent="-28575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2pPr>
                <a:lvl3pPr marL="11430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3pPr>
                <a:lvl4pPr marL="16002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4pPr>
                <a:lvl5pPr marL="20574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9pPr>
              </a:lstStyle>
              <a:p>
                <a:pPr eaLnBrk="1" hangingPunct="1"/>
                <a:endParaRPr lang="ko-KR" altLang="en-US" sz="11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67610" name="Rectangle 451"/>
            <p:cNvSpPr>
              <a:spLocks noChangeArrowheads="1"/>
            </p:cNvSpPr>
            <p:nvPr/>
          </p:nvSpPr>
          <p:spPr bwMode="auto">
            <a:xfrm>
              <a:off x="4598" y="1359"/>
              <a:ext cx="1278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30000"/>
                </a:spcBef>
              </a:pPr>
              <a:r>
                <a:rPr kumimoji="1" lang="ko-KR" altLang="en-US" sz="1100">
                  <a:solidFill>
                    <a:srgbClr val="000000"/>
                  </a:solidFill>
                  <a:latin typeface="+mj-ea"/>
                  <a:ea typeface="+mj-ea"/>
                </a:rPr>
                <a:t>역량 확보를 위해서는 쉽고</a:t>
              </a:r>
              <a:r>
                <a:rPr kumimoji="1" lang="en-US" altLang="ko-KR" sz="1100">
                  <a:solidFill>
                    <a:srgbClr val="000000"/>
                  </a:solidFill>
                  <a:latin typeface="+mj-ea"/>
                  <a:ea typeface="+mj-ea"/>
                </a:rPr>
                <a:t>, </a:t>
              </a:r>
              <a:r>
                <a:rPr kumimoji="1" lang="ko-KR" altLang="en-US" sz="1100">
                  <a:solidFill>
                    <a:srgbClr val="000000"/>
                  </a:solidFill>
                  <a:latin typeface="+mj-ea"/>
                  <a:ea typeface="+mj-ea"/>
                </a:rPr>
                <a:t>빠른 시스템으로 사용자의 편의성 확보 필요</a:t>
              </a:r>
            </a:p>
          </p:txBody>
        </p:sp>
      </p:grpSp>
      <p:grpSp>
        <p:nvGrpSpPr>
          <p:cNvPr id="67611" name="Group 6"/>
          <p:cNvGrpSpPr>
            <a:grpSpLocks/>
          </p:cNvGrpSpPr>
          <p:nvPr/>
        </p:nvGrpSpPr>
        <p:grpSpPr bwMode="auto">
          <a:xfrm>
            <a:off x="6515100" y="1639452"/>
            <a:ext cx="3082925" cy="3456855"/>
            <a:chOff x="171" y="1147"/>
            <a:chExt cx="3265" cy="2895"/>
          </a:xfrm>
        </p:grpSpPr>
        <p:sp>
          <p:nvSpPr>
            <p:cNvPr id="67612" name="Rectangle 7"/>
            <p:cNvSpPr>
              <a:spLocks noChangeArrowheads="1"/>
            </p:cNvSpPr>
            <p:nvPr/>
          </p:nvSpPr>
          <p:spPr bwMode="auto">
            <a:xfrm>
              <a:off x="171" y="1147"/>
              <a:ext cx="3265" cy="2895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5E5E5"/>
                </a:gs>
              </a:gsLst>
              <a:lin ang="5400000" scaled="1"/>
            </a:gradFill>
            <a:ln w="6350" algn="ctr">
              <a:solidFill>
                <a:srgbClr val="B2B2B2"/>
              </a:solidFill>
              <a:miter lim="800000"/>
              <a:headEnd/>
              <a:tailEnd type="none" w="med" len="sm"/>
            </a:ln>
          </p:spPr>
          <p:txBody>
            <a:bodyPr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/>
              <a:r>
                <a:rPr kumimoji="1" lang="ko-KR" altLang="en-US" sz="1300">
                  <a:solidFill>
                    <a:srgbClr val="000000"/>
                  </a:solidFill>
                  <a:latin typeface="+mj-ea"/>
                  <a:ea typeface="+mj-ea"/>
                </a:rPr>
                <a:t>운영자 관점</a:t>
              </a:r>
            </a:p>
          </p:txBody>
        </p:sp>
        <p:sp>
          <p:nvSpPr>
            <p:cNvPr id="67614" name="AutoShape 9"/>
            <p:cNvSpPr>
              <a:spLocks noChangeArrowheads="1"/>
            </p:cNvSpPr>
            <p:nvPr/>
          </p:nvSpPr>
          <p:spPr bwMode="auto">
            <a:xfrm>
              <a:off x="217" y="1389"/>
              <a:ext cx="3173" cy="2614"/>
            </a:xfrm>
            <a:prstGeom prst="roundRect">
              <a:avLst>
                <a:gd name="adj" fmla="val 1153"/>
              </a:avLst>
            </a:prstGeom>
            <a:solidFill>
              <a:srgbClr val="FFFFFF"/>
            </a:solidFill>
            <a:ln w="3175" algn="ctr">
              <a:solidFill>
                <a:srgbClr val="808080"/>
              </a:solidFill>
              <a:round/>
              <a:headEnd/>
              <a:tailEnd type="none" w="med" len="sm"/>
            </a:ln>
          </p:spPr>
          <p:txBody>
            <a:bodyPr lIns="54000" rIns="0" anchor="ctr"/>
            <a:lstStyle>
              <a:lvl1pPr marL="95250" indent="-952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l" eaLnBrk="1" hangingPunct="1">
                <a:spcBef>
                  <a:spcPct val="20000"/>
                </a:spcBef>
                <a:buClr>
                  <a:srgbClr val="4D4D4D"/>
                </a:buClr>
                <a:buFont typeface="Wingdings 2" pitchFamily="18" charset="2"/>
                <a:buChar char="¡"/>
              </a:pPr>
              <a:endParaRPr kumimoji="1" lang="ko-KR" altLang="en-US" sz="1300" b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7615" name="Rectangle 49"/>
          <p:cNvSpPr>
            <a:spLocks noChangeArrowheads="1"/>
          </p:cNvSpPr>
          <p:nvPr/>
        </p:nvSpPr>
        <p:spPr bwMode="auto">
          <a:xfrm>
            <a:off x="3509963" y="3504764"/>
            <a:ext cx="2817812" cy="1423988"/>
          </a:xfrm>
          <a:prstGeom prst="rect">
            <a:avLst/>
          </a:prstGeom>
          <a:solidFill>
            <a:srgbClr val="EFF4F9"/>
          </a:solidFill>
          <a:ln w="6350" algn="ctr">
            <a:solidFill>
              <a:srgbClr val="D6E1F0"/>
            </a:solidFill>
            <a:miter lim="800000"/>
            <a:headEnd/>
            <a:tailEnd type="none" w="med" len="sm"/>
          </a:ln>
        </p:spPr>
        <p:txBody>
          <a:bodyPr lIns="90000" tIns="46800" rIns="90000" bIns="46800" anchor="ctr"/>
          <a:lstStyle>
            <a:lvl1pPr marL="85725" indent="-857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61950" indent="-889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3413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06463" indent="-95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업무 생산성 및 효율성 향상</a:t>
            </a:r>
          </a:p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신속</a:t>
            </a:r>
            <a:r>
              <a:rPr kumimoji="1" lang="en-US" altLang="ko-KR" sz="1100" b="0" dirty="0">
                <a:latin typeface="+mj-ea"/>
                <a:ea typeface="+mj-ea"/>
                <a:cs typeface="Arial" charset="0"/>
              </a:rPr>
              <a:t>/</a:t>
            </a: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정확한 분석 및 대응 방안 도출</a:t>
            </a:r>
          </a:p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kumimoji="1" lang="ko-KR" altLang="en-US" sz="1100" b="0" dirty="0">
                <a:latin typeface="+mj-ea"/>
                <a:ea typeface="+mj-ea"/>
                <a:cs typeface="Arial" charset="0"/>
              </a:rPr>
              <a:t>사용자 편의성 및 접근 용이성 확보</a:t>
            </a:r>
          </a:p>
        </p:txBody>
      </p:sp>
      <p:sp>
        <p:nvSpPr>
          <p:cNvPr id="67616" name="AutoShape 444" descr="blue-bar-(1)"/>
          <p:cNvSpPr>
            <a:spLocks noChangeArrowheads="1"/>
          </p:cNvSpPr>
          <p:nvPr/>
        </p:nvSpPr>
        <p:spPr bwMode="auto">
          <a:xfrm>
            <a:off x="4349750" y="2106177"/>
            <a:ext cx="1758950" cy="685800"/>
          </a:xfrm>
          <a:prstGeom prst="roundRect">
            <a:avLst>
              <a:gd name="adj" fmla="val 16667"/>
            </a:avLst>
          </a:prstGeom>
          <a:solidFill>
            <a:srgbClr val="000066"/>
          </a:solidFill>
          <a:ln>
            <a:noFill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ko-KR" sz="1050" dirty="0">
                <a:solidFill>
                  <a:srgbClr val="FFFFFF"/>
                </a:solidFill>
                <a:latin typeface="+mj-ea"/>
                <a:ea typeface="+mj-ea"/>
              </a:rPr>
              <a:t>BM </a:t>
            </a:r>
            <a:r>
              <a:rPr lang="ko-KR" altLang="en-US" sz="1050" dirty="0">
                <a:solidFill>
                  <a:srgbClr val="FFFFFF"/>
                </a:solidFill>
                <a:latin typeface="+mj-ea"/>
                <a:ea typeface="+mj-ea"/>
              </a:rPr>
              <a:t>이행을 위한 프로세스</a:t>
            </a:r>
            <a:r>
              <a:rPr lang="en-US" altLang="ko-KR" sz="1050" dirty="0">
                <a:solidFill>
                  <a:srgbClr val="FFFFFF"/>
                </a:solidFill>
                <a:latin typeface="+mj-ea"/>
                <a:ea typeface="+mj-ea"/>
              </a:rPr>
              <a:t>,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ko-KR" altLang="en-US" sz="1050" dirty="0">
                <a:solidFill>
                  <a:srgbClr val="FFFFFF"/>
                </a:solidFill>
                <a:latin typeface="+mj-ea"/>
                <a:ea typeface="+mj-ea"/>
              </a:rPr>
              <a:t>조직</a:t>
            </a:r>
            <a:r>
              <a:rPr lang="en-US" altLang="ko-KR" sz="1050" dirty="0">
                <a:solidFill>
                  <a:srgbClr val="FFFFFF"/>
                </a:solidFill>
                <a:latin typeface="+mj-ea"/>
                <a:ea typeface="+mj-ea"/>
              </a:rPr>
              <a:t>, IT </a:t>
            </a:r>
            <a:r>
              <a:rPr lang="ko-KR" altLang="en-US" sz="1050" dirty="0">
                <a:solidFill>
                  <a:srgbClr val="FFFFFF"/>
                </a:solidFill>
                <a:latin typeface="+mj-ea"/>
                <a:ea typeface="+mj-ea"/>
              </a:rPr>
              <a:t>역량 확보</a:t>
            </a:r>
          </a:p>
        </p:txBody>
      </p:sp>
      <p:sp>
        <p:nvSpPr>
          <p:cNvPr id="67617" name="AutoShape 444" descr="blue-bar-(1)"/>
          <p:cNvSpPr>
            <a:spLocks noChangeArrowheads="1"/>
          </p:cNvSpPr>
          <p:nvPr/>
        </p:nvSpPr>
        <p:spPr bwMode="auto">
          <a:xfrm>
            <a:off x="7561263" y="2106177"/>
            <a:ext cx="1758950" cy="685800"/>
          </a:xfrm>
          <a:prstGeom prst="roundRect">
            <a:avLst>
              <a:gd name="adj" fmla="val 16667"/>
            </a:avLst>
          </a:prstGeom>
          <a:solidFill>
            <a:srgbClr val="000066"/>
          </a:solidFill>
          <a:ln>
            <a:noFill/>
          </a:ln>
        </p:spPr>
        <p:txBody>
          <a:bodyPr wrap="none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ko-KR" altLang="en-US" sz="1050">
                <a:solidFill>
                  <a:srgbClr val="FFFFFF"/>
                </a:solidFill>
                <a:latin typeface="+mj-ea"/>
                <a:ea typeface="+mj-ea"/>
              </a:rPr>
              <a:t>운영 효율성 확보</a:t>
            </a:r>
          </a:p>
        </p:txBody>
      </p:sp>
      <p:pic>
        <p:nvPicPr>
          <p:cNvPr id="67618" name="Picture 34" descr="서식복사-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799263" y="2061727"/>
            <a:ext cx="719137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AACFF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7619" name="Group 184"/>
          <p:cNvGrpSpPr>
            <a:grpSpLocks/>
          </p:cNvGrpSpPr>
          <p:nvPr/>
        </p:nvGrpSpPr>
        <p:grpSpPr bwMode="auto">
          <a:xfrm>
            <a:off x="6632575" y="2888814"/>
            <a:ext cx="2817813" cy="530225"/>
            <a:chOff x="4581" y="1297"/>
            <a:chExt cx="1312" cy="390"/>
          </a:xfrm>
        </p:grpSpPr>
        <p:grpSp>
          <p:nvGrpSpPr>
            <p:cNvPr id="67620" name="Group 448"/>
            <p:cNvGrpSpPr>
              <a:grpSpLocks/>
            </p:cNvGrpSpPr>
            <p:nvPr/>
          </p:nvGrpSpPr>
          <p:grpSpPr bwMode="auto">
            <a:xfrm>
              <a:off x="4581" y="1297"/>
              <a:ext cx="1312" cy="390"/>
              <a:chOff x="4668" y="841"/>
              <a:chExt cx="743" cy="358"/>
            </a:xfrm>
          </p:grpSpPr>
          <p:sp>
            <p:nvSpPr>
              <p:cNvPr id="67621" name="AutoShape 449"/>
              <p:cNvSpPr>
                <a:spLocks noChangeArrowheads="1"/>
              </p:cNvSpPr>
              <p:nvPr/>
            </p:nvSpPr>
            <p:spPr bwMode="auto">
              <a:xfrm>
                <a:off x="4668" y="841"/>
                <a:ext cx="743" cy="358"/>
              </a:xfrm>
              <a:prstGeom prst="roundRect">
                <a:avLst>
                  <a:gd name="adj" fmla="val 4926"/>
                </a:avLst>
              </a:prstGeom>
              <a:gradFill rotWithShape="1">
                <a:gsLst>
                  <a:gs pos="0">
                    <a:srgbClr val="E3E3E3"/>
                  </a:gs>
                  <a:gs pos="100000">
                    <a:srgbClr val="C0C0C0"/>
                  </a:gs>
                </a:gsLst>
                <a:lin ang="5400000" scaled="1"/>
              </a:gradFill>
              <a:ln w="12700" algn="ctr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1pPr>
                <a:lvl2pPr marL="742950" indent="-28575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2pPr>
                <a:lvl3pPr marL="11430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3pPr>
                <a:lvl4pPr marL="16002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4pPr>
                <a:lvl5pPr marL="20574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9pPr>
              </a:lstStyle>
              <a:p>
                <a:pPr eaLnBrk="1" hangingPunct="1"/>
                <a:endParaRPr lang="ko-KR" altLang="en-US" sz="11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67622" name="AutoShape 450"/>
              <p:cNvSpPr>
                <a:spLocks noChangeArrowheads="1"/>
              </p:cNvSpPr>
              <p:nvPr/>
            </p:nvSpPr>
            <p:spPr bwMode="auto">
              <a:xfrm>
                <a:off x="4680" y="848"/>
                <a:ext cx="719" cy="164"/>
              </a:xfrm>
              <a:prstGeom prst="roundRect">
                <a:avLst>
                  <a:gd name="adj" fmla="val 10713"/>
                </a:avLst>
              </a:prstGeom>
              <a:gradFill rotWithShape="1">
                <a:gsLst>
                  <a:gs pos="0">
                    <a:srgbClr val="F2F2F2"/>
                  </a:gs>
                  <a:gs pos="100000">
                    <a:srgbClr val="D2D2D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1pPr>
                <a:lvl2pPr marL="742950" indent="-28575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2pPr>
                <a:lvl3pPr marL="11430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3pPr>
                <a:lvl4pPr marL="16002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4pPr>
                <a:lvl5pPr marL="2057400" indent="-228600" eaLnBrk="0" hangingPunct="0"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>
                    <a:solidFill>
                      <a:schemeClr val="tx1"/>
                    </a:solidFill>
                    <a:latin typeface="Arial" charset="0"/>
                    <a:ea typeface="맑은 고딕" pitchFamily="50" charset="-127"/>
                  </a:defRPr>
                </a:lvl9pPr>
              </a:lstStyle>
              <a:p>
                <a:pPr eaLnBrk="1" hangingPunct="1"/>
                <a:endParaRPr lang="ko-KR" altLang="en-US" sz="1100">
                  <a:solidFill>
                    <a:srgbClr val="000000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67623" name="Rectangle 451"/>
            <p:cNvSpPr>
              <a:spLocks noChangeArrowheads="1"/>
            </p:cNvSpPr>
            <p:nvPr/>
          </p:nvSpPr>
          <p:spPr bwMode="auto">
            <a:xfrm>
              <a:off x="4598" y="1359"/>
              <a:ext cx="1278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30000"/>
                </a:spcBef>
              </a:pPr>
              <a:r>
                <a:rPr kumimoji="1" lang="en-US" altLang="ko-KR" sz="1100" dirty="0">
                  <a:solidFill>
                    <a:srgbClr val="000000"/>
                  </a:solidFill>
                  <a:latin typeface="+mj-ea"/>
                  <a:ea typeface="+mj-ea"/>
                </a:rPr>
                <a:t>eMall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+mj-ea"/>
                  <a:ea typeface="+mj-ea"/>
                </a:rPr>
                <a:t>의 </a:t>
              </a:r>
              <a:r>
                <a:rPr kumimoji="1" lang="en-US" altLang="ko-KR" sz="1100" dirty="0">
                  <a:solidFill>
                    <a:srgbClr val="000000"/>
                  </a:solidFill>
                  <a:latin typeface="+mj-ea"/>
                  <a:ea typeface="+mj-ea"/>
                </a:rPr>
                <a:t>TO-BE 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+mj-ea"/>
                  <a:ea typeface="+mj-ea"/>
                </a:rPr>
                <a:t>운영 모델에 따라</a:t>
              </a:r>
              <a:br>
                <a:rPr kumimoji="1" lang="ko-KR" altLang="en-US" sz="1100" dirty="0">
                  <a:solidFill>
                    <a:srgbClr val="000000"/>
                  </a:solidFill>
                  <a:latin typeface="+mj-ea"/>
                  <a:ea typeface="+mj-ea"/>
                </a:rPr>
              </a:br>
              <a:r>
                <a:rPr kumimoji="1" lang="en-US" altLang="ko-KR" sz="1100" dirty="0">
                  <a:solidFill>
                    <a:srgbClr val="000000"/>
                  </a:solidFill>
                  <a:latin typeface="+mj-ea"/>
                  <a:ea typeface="+mj-ea"/>
                </a:rPr>
                <a:t>IT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+mj-ea"/>
                  <a:ea typeface="+mj-ea"/>
                </a:rPr>
                <a:t>의 효율적인 운영</a:t>
              </a:r>
            </a:p>
          </p:txBody>
        </p:sp>
      </p:grpSp>
      <p:sp>
        <p:nvSpPr>
          <p:cNvPr id="67624" name="Rectangle 49"/>
          <p:cNvSpPr>
            <a:spLocks noChangeArrowheads="1"/>
          </p:cNvSpPr>
          <p:nvPr/>
        </p:nvSpPr>
        <p:spPr bwMode="auto">
          <a:xfrm>
            <a:off x="6632575" y="3504764"/>
            <a:ext cx="2817813" cy="1423988"/>
          </a:xfrm>
          <a:prstGeom prst="rect">
            <a:avLst/>
          </a:prstGeom>
          <a:solidFill>
            <a:srgbClr val="EFF4F9"/>
          </a:solidFill>
          <a:ln w="6350" algn="ctr">
            <a:solidFill>
              <a:srgbClr val="D6E1F0"/>
            </a:solidFill>
            <a:miter lim="800000"/>
            <a:headEnd/>
            <a:tailEnd type="none" w="med" len="sm"/>
          </a:ln>
        </p:spPr>
        <p:txBody>
          <a:bodyPr lIns="90000" tIns="46800" rIns="90000" bIns="46800" anchor="ctr"/>
          <a:lstStyle>
            <a:lvl1pPr marL="85725" indent="-857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61950" indent="-889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3413" indent="-8731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06463" indent="-95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시스템 구축 완료 후</a:t>
            </a:r>
            <a:r>
              <a:rPr kumimoji="1" lang="en-US" altLang="ko-KR" sz="1100" b="0">
                <a:latin typeface="+mj-ea"/>
                <a:ea typeface="+mj-ea"/>
                <a:cs typeface="Arial" charset="0"/>
              </a:rPr>
              <a:t>, </a:t>
            </a: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신속한 운영 안정화 기반 마련</a:t>
            </a:r>
          </a:p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조직</a:t>
            </a:r>
            <a:r>
              <a:rPr kumimoji="1" lang="en-US" altLang="ko-KR" sz="1100" b="0">
                <a:latin typeface="+mj-ea"/>
                <a:ea typeface="+mj-ea"/>
                <a:cs typeface="Arial" charset="0"/>
              </a:rPr>
              <a:t>/R&amp;R </a:t>
            </a: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등의 운영모델에 따른 효율적인 운영</a:t>
            </a:r>
          </a:p>
          <a:p>
            <a:pPr algn="l" eaLnBrk="1" hangingPunct="1">
              <a:spcBef>
                <a:spcPct val="20000"/>
              </a:spcBef>
              <a:buFontTx/>
              <a:buChar char="•"/>
            </a:pPr>
            <a:r>
              <a:rPr kumimoji="1" lang="en-US" altLang="ko-KR" sz="1100" b="0">
                <a:latin typeface="+mj-ea"/>
                <a:ea typeface="+mj-ea"/>
                <a:cs typeface="Arial" charset="0"/>
              </a:rPr>
              <a:t>IT </a:t>
            </a: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운영 프로세스에 의거한 명확한 </a:t>
            </a:r>
            <a:r>
              <a:rPr kumimoji="1" lang="en-US" altLang="ko-KR" sz="1100" b="0">
                <a:latin typeface="+mj-ea"/>
                <a:ea typeface="+mj-ea"/>
                <a:cs typeface="Arial" charset="0"/>
              </a:rPr>
              <a:t>IT </a:t>
            </a: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서비스 제공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5457825" y="3045679"/>
            <a:ext cx="4233863" cy="2022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latinLnBrk="1">
              <a:lnSpc>
                <a:spcPct val="130000"/>
              </a:lnSpc>
            </a:pP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1. eMall BM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개선에 따른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PI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컨설팅 추진 필요성</a:t>
            </a:r>
            <a:br>
              <a:rPr kumimoji="1" lang="ko-KR" altLang="en-US" sz="1400" dirty="0">
                <a:latin typeface="+mj-ea"/>
                <a:ea typeface="+mj-ea"/>
              </a:rPr>
            </a:br>
            <a:r>
              <a:rPr kumimoji="1" lang="en-US" altLang="ko-KR" sz="1400" dirty="0">
                <a:latin typeface="+mj-ea"/>
                <a:ea typeface="+mj-ea"/>
              </a:rPr>
              <a:t>2. </a:t>
            </a:r>
            <a:r>
              <a:rPr kumimoji="1" lang="ko-KR" altLang="en-US" sz="1400" dirty="0">
                <a:latin typeface="+mj-ea"/>
                <a:ea typeface="+mj-ea"/>
              </a:rPr>
              <a:t>주요 과제부문별 </a:t>
            </a:r>
            <a:r>
              <a:rPr kumimoji="1" lang="en-US" altLang="ko-KR" sz="1400" dirty="0">
                <a:latin typeface="+mj-ea"/>
                <a:ea typeface="+mj-ea"/>
              </a:rPr>
              <a:t>Best Practice</a:t>
            </a:r>
            <a:br>
              <a:rPr kumimoji="1" lang="en-US" altLang="ko-KR" sz="1400" dirty="0">
                <a:latin typeface="+mj-ea"/>
                <a:ea typeface="+mj-ea"/>
              </a:rPr>
            </a:b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3. PI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추진 전략 </a:t>
            </a:r>
            <a:b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</a:b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-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업무 프로세스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PI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추진 전략</a:t>
            </a:r>
            <a:b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</a:b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- TO-BE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프로세스 변화관리 전략</a:t>
            </a:r>
            <a:b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</a:b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- EA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추진 전략</a:t>
            </a:r>
          </a:p>
          <a:p>
            <a:pPr algn="l" latinLnBrk="1">
              <a:lnSpc>
                <a:spcPct val="130000"/>
              </a:lnSpc>
            </a:pP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-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솔루션 구성 전략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7872B89F-5F09-A771-B0CE-7DB225A6B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1763" y="1513295"/>
            <a:ext cx="41293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/>
            <a:r>
              <a:rPr kumimoji="1" lang="en-US" altLang="ko-KR" sz="1800" dirty="0">
                <a:solidFill>
                  <a:schemeClr val="bg1"/>
                </a:solidFill>
                <a:latin typeface="+mj-ea"/>
                <a:ea typeface="+mj-ea"/>
              </a:rPr>
              <a:t>eMall BM (Business Model) </a:t>
            </a:r>
            <a:r>
              <a:rPr kumimoji="1" lang="ko-KR" altLang="en-US" sz="1800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3585E1-A34C-FABE-BA44-F11BF39F11C9}"/>
              </a:ext>
            </a:extLst>
          </p:cNvPr>
          <p:cNvSpPr/>
          <p:nvPr/>
        </p:nvSpPr>
        <p:spPr>
          <a:xfrm>
            <a:off x="1262850" y="3104964"/>
            <a:ext cx="4050190" cy="432000"/>
          </a:xfrm>
          <a:prstGeom prst="rect">
            <a:avLst/>
          </a:prstGeom>
          <a:solidFill>
            <a:srgbClr val="000066">
              <a:alpha val="1693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08000" indent="-108000" algn="ctr" latinLnBrk="0">
              <a:buFont typeface="Arial" panose="020B0604020202020204" pitchFamily="34" charset="0"/>
              <a:buChar char="•"/>
              <a:defRPr/>
            </a:pPr>
            <a:endParaRPr lang="ko-KR" altLang="en-US" sz="1050" kern="0" dirty="0">
              <a:solidFill>
                <a:srgbClr val="646464"/>
              </a:solidFill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393C6-E437-4FA3-0143-AD26BF52A287}"/>
              </a:ext>
            </a:extLst>
          </p:cNvPr>
          <p:cNvSpPr txBox="1"/>
          <p:nvPr/>
        </p:nvSpPr>
        <p:spPr>
          <a:xfrm>
            <a:off x="1405373" y="2198975"/>
            <a:ext cx="2571217" cy="16550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제안개요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eMall BM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개선 전략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PI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컨설팅 추진 방안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dirty="0">
                <a:solidFill>
                  <a:prstClr val="black"/>
                </a:solidFill>
                <a:latin typeface="+mj-ea"/>
                <a:ea typeface="+mj-ea"/>
              </a:rPr>
              <a:t>프로젝트 관리 및 추진 계획</a:t>
            </a:r>
            <a:endParaRPr lang="en-US" altLang="ko-KR" sz="1400" dirty="0">
              <a:solidFill>
                <a:prstClr val="black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2"/>
          <p:cNvSpPr>
            <a:spLocks noGrp="1" noChangeArrowheads="1"/>
          </p:cNvSpPr>
          <p:nvPr>
            <p:ph type="title" idx="4294967295"/>
          </p:nvPr>
        </p:nvSpPr>
        <p:spPr>
          <a:xfrm>
            <a:off x="257175" y="504825"/>
            <a:ext cx="4591050" cy="247650"/>
          </a:xfrm>
        </p:spPr>
        <p:txBody>
          <a:bodyPr/>
          <a:lstStyle/>
          <a:p>
            <a:r>
              <a:rPr lang="en-US" altLang="ko-KR" dirty="0"/>
              <a:t>eMall </a:t>
            </a:r>
            <a:r>
              <a:rPr lang="ko-KR" altLang="en-US" dirty="0"/>
              <a:t>산업에 대한 풍부한 경험</a:t>
            </a:r>
          </a:p>
        </p:txBody>
      </p:sp>
      <p:sp>
        <p:nvSpPr>
          <p:cNvPr id="74755" name="Rectangle 43"/>
          <p:cNvSpPr>
            <a:spLocks noChangeArrowheads="1"/>
          </p:cNvSpPr>
          <p:nvPr/>
        </p:nvSpPr>
        <p:spPr bwMode="auto">
          <a:xfrm>
            <a:off x="260350" y="941388"/>
            <a:ext cx="9366250" cy="491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marL="742950" indent="-204788"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marL="1143000" indent="-228600"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marL="1600200" indent="-228600"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marL="2057400" indent="-228600"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r>
              <a:rPr lang="ko-KR" altLang="en-US" dirty="0">
                <a:latin typeface="+mj-ea"/>
                <a:ea typeface="+mj-ea"/>
              </a:rPr>
              <a:t>제안기업은 </a:t>
            </a:r>
            <a:r>
              <a:rPr lang="en-US" altLang="ko-KR" dirty="0">
                <a:latin typeface="+mj-ea"/>
                <a:ea typeface="+mj-ea"/>
              </a:rPr>
              <a:t>eMall </a:t>
            </a:r>
            <a:r>
              <a:rPr lang="ko-KR" altLang="en-US" dirty="0">
                <a:latin typeface="+mj-ea"/>
                <a:ea typeface="+mj-ea"/>
              </a:rPr>
              <a:t>산업에 있어서 수많은 국내외 기업들을 대상으로 다양한 프로젝트를 수행하였고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이러한 풍부한 산업 전문 지식과 서비스 경험을 바탕으로 고객이 지향하는 비즈니스 가치 창출을 위한 최적의 솔루션을 제시할 것임</a:t>
            </a:r>
          </a:p>
        </p:txBody>
      </p:sp>
      <p:grpSp>
        <p:nvGrpSpPr>
          <p:cNvPr id="74756" name="Group 4"/>
          <p:cNvGrpSpPr>
            <a:grpSpLocks/>
          </p:cNvGrpSpPr>
          <p:nvPr/>
        </p:nvGrpSpPr>
        <p:grpSpPr bwMode="auto">
          <a:xfrm>
            <a:off x="265113" y="1689100"/>
            <a:ext cx="4295775" cy="4806950"/>
            <a:chOff x="167" y="1056"/>
            <a:chExt cx="2706" cy="2974"/>
          </a:xfrm>
        </p:grpSpPr>
        <p:sp>
          <p:nvSpPr>
            <p:cNvPr id="74757" name="Freeform 5"/>
            <p:cNvSpPr>
              <a:spLocks/>
            </p:cNvSpPr>
            <p:nvPr/>
          </p:nvSpPr>
          <p:spPr bwMode="auto">
            <a:xfrm>
              <a:off x="167" y="1066"/>
              <a:ext cx="2706" cy="2964"/>
            </a:xfrm>
            <a:custGeom>
              <a:avLst/>
              <a:gdLst>
                <a:gd name="T0" fmla="*/ 0 w 2401"/>
                <a:gd name="T1" fmla="*/ 0 h 2848"/>
                <a:gd name="T2" fmla="*/ 1906 w 2401"/>
                <a:gd name="T3" fmla="*/ 0 h 2848"/>
                <a:gd name="T4" fmla="*/ 2401 w 2401"/>
                <a:gd name="T5" fmla="*/ 1418 h 2848"/>
                <a:gd name="T6" fmla="*/ 1906 w 2401"/>
                <a:gd name="T7" fmla="*/ 2848 h 2848"/>
                <a:gd name="T8" fmla="*/ 1 w 2401"/>
                <a:gd name="T9" fmla="*/ 2844 h 2848"/>
                <a:gd name="T10" fmla="*/ 0 w 2401"/>
                <a:gd name="T11" fmla="*/ 0 h 2848"/>
                <a:gd name="T12" fmla="*/ 0 w 2401"/>
                <a:gd name="T13" fmla="*/ 0 h 2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1" h="2848">
                  <a:moveTo>
                    <a:pt x="0" y="0"/>
                  </a:moveTo>
                  <a:lnTo>
                    <a:pt x="1906" y="0"/>
                  </a:lnTo>
                  <a:lnTo>
                    <a:pt x="2401" y="1418"/>
                  </a:lnTo>
                  <a:lnTo>
                    <a:pt x="1906" y="2848"/>
                  </a:lnTo>
                  <a:lnTo>
                    <a:pt x="1" y="28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808080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4758" name="Freeform 6"/>
            <p:cNvSpPr>
              <a:spLocks/>
            </p:cNvSpPr>
            <p:nvPr/>
          </p:nvSpPr>
          <p:spPr bwMode="auto">
            <a:xfrm>
              <a:off x="168" y="1056"/>
              <a:ext cx="2285" cy="384"/>
            </a:xfrm>
            <a:custGeom>
              <a:avLst/>
              <a:gdLst>
                <a:gd name="T0" fmla="*/ 0 w 2304"/>
                <a:gd name="T1" fmla="*/ 0 h 384"/>
                <a:gd name="T2" fmla="*/ 2160 w 2304"/>
                <a:gd name="T3" fmla="*/ 0 h 384"/>
                <a:gd name="T4" fmla="*/ 2304 w 2304"/>
                <a:gd name="T5" fmla="*/ 384 h 384"/>
                <a:gd name="T6" fmla="*/ 0 w 2304"/>
                <a:gd name="T7" fmla="*/ 384 h 384"/>
                <a:gd name="T8" fmla="*/ 0 w 2304"/>
                <a:gd name="T9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4" h="384">
                  <a:moveTo>
                    <a:pt x="0" y="0"/>
                  </a:moveTo>
                  <a:lnTo>
                    <a:pt x="2160" y="0"/>
                  </a:lnTo>
                  <a:lnTo>
                    <a:pt x="2304" y="384"/>
                  </a:lnTo>
                  <a:lnTo>
                    <a:pt x="0" y="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74759" name="Group 7"/>
          <p:cNvGrpSpPr>
            <a:grpSpLocks/>
          </p:cNvGrpSpPr>
          <p:nvPr/>
        </p:nvGrpSpPr>
        <p:grpSpPr bwMode="auto">
          <a:xfrm>
            <a:off x="5335588" y="1689100"/>
            <a:ext cx="4295775" cy="4806950"/>
            <a:chOff x="3361" y="1056"/>
            <a:chExt cx="2706" cy="2974"/>
          </a:xfrm>
        </p:grpSpPr>
        <p:sp>
          <p:nvSpPr>
            <p:cNvPr id="74760" name="Freeform 8"/>
            <p:cNvSpPr>
              <a:spLocks/>
            </p:cNvSpPr>
            <p:nvPr/>
          </p:nvSpPr>
          <p:spPr bwMode="auto">
            <a:xfrm rot="10800000">
              <a:off x="3361" y="1066"/>
              <a:ext cx="2706" cy="2964"/>
            </a:xfrm>
            <a:custGeom>
              <a:avLst/>
              <a:gdLst>
                <a:gd name="T0" fmla="*/ 0 w 2401"/>
                <a:gd name="T1" fmla="*/ 0 h 2848"/>
                <a:gd name="T2" fmla="*/ 1906 w 2401"/>
                <a:gd name="T3" fmla="*/ 0 h 2848"/>
                <a:gd name="T4" fmla="*/ 2401 w 2401"/>
                <a:gd name="T5" fmla="*/ 1418 h 2848"/>
                <a:gd name="T6" fmla="*/ 1906 w 2401"/>
                <a:gd name="T7" fmla="*/ 2848 h 2848"/>
                <a:gd name="T8" fmla="*/ 1 w 2401"/>
                <a:gd name="T9" fmla="*/ 2844 h 2848"/>
                <a:gd name="T10" fmla="*/ 0 w 2401"/>
                <a:gd name="T11" fmla="*/ 0 h 2848"/>
                <a:gd name="T12" fmla="*/ 0 w 2401"/>
                <a:gd name="T13" fmla="*/ 0 h 2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1" h="2848">
                  <a:moveTo>
                    <a:pt x="0" y="0"/>
                  </a:moveTo>
                  <a:lnTo>
                    <a:pt x="1906" y="0"/>
                  </a:lnTo>
                  <a:lnTo>
                    <a:pt x="2401" y="1418"/>
                  </a:lnTo>
                  <a:lnTo>
                    <a:pt x="1906" y="2848"/>
                  </a:lnTo>
                  <a:lnTo>
                    <a:pt x="1" y="28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808080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4761" name="Freeform 9"/>
            <p:cNvSpPr>
              <a:spLocks/>
            </p:cNvSpPr>
            <p:nvPr/>
          </p:nvSpPr>
          <p:spPr bwMode="auto">
            <a:xfrm>
              <a:off x="3778" y="1056"/>
              <a:ext cx="2285" cy="384"/>
            </a:xfrm>
            <a:custGeom>
              <a:avLst/>
              <a:gdLst>
                <a:gd name="T0" fmla="*/ 96 w 2256"/>
                <a:gd name="T1" fmla="*/ 0 h 384"/>
                <a:gd name="T2" fmla="*/ 2256 w 2256"/>
                <a:gd name="T3" fmla="*/ 0 h 384"/>
                <a:gd name="T4" fmla="*/ 2256 w 2256"/>
                <a:gd name="T5" fmla="*/ 384 h 384"/>
                <a:gd name="T6" fmla="*/ 0 w 2256"/>
                <a:gd name="T7" fmla="*/ 384 h 384"/>
                <a:gd name="T8" fmla="*/ 144 w 2256"/>
                <a:gd name="T9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6" h="384">
                  <a:moveTo>
                    <a:pt x="96" y="0"/>
                  </a:moveTo>
                  <a:lnTo>
                    <a:pt x="2256" y="0"/>
                  </a:lnTo>
                  <a:lnTo>
                    <a:pt x="2256" y="384"/>
                  </a:lnTo>
                  <a:lnTo>
                    <a:pt x="0" y="384"/>
                  </a:lnTo>
                  <a:lnTo>
                    <a:pt x="144" y="0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chemeClr val="bg2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74762" name="Group 180"/>
          <p:cNvGrpSpPr>
            <a:grpSpLocks/>
          </p:cNvGrpSpPr>
          <p:nvPr/>
        </p:nvGrpSpPr>
        <p:grpSpPr bwMode="auto">
          <a:xfrm>
            <a:off x="4003675" y="3154363"/>
            <a:ext cx="1897063" cy="1895475"/>
            <a:chOff x="4674" y="4293"/>
            <a:chExt cx="521" cy="520"/>
          </a:xfrm>
        </p:grpSpPr>
        <p:sp>
          <p:nvSpPr>
            <p:cNvPr id="74763" name="Oval 181"/>
            <p:cNvSpPr>
              <a:spLocks noChangeArrowheads="1"/>
            </p:cNvSpPr>
            <p:nvPr/>
          </p:nvSpPr>
          <p:spPr bwMode="auto">
            <a:xfrm>
              <a:off x="4674" y="4293"/>
              <a:ext cx="521" cy="520"/>
            </a:xfrm>
            <a:prstGeom prst="ellipse">
              <a:avLst/>
            </a:prstGeom>
            <a:gradFill rotWithShape="1">
              <a:gsLst>
                <a:gs pos="0">
                  <a:srgbClr val="797979"/>
                </a:gs>
                <a:gs pos="50000">
                  <a:srgbClr val="B0B0B0"/>
                </a:gs>
                <a:gs pos="100000">
                  <a:srgbClr val="797979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>
                <a:spcAft>
                  <a:spcPct val="15000"/>
                </a:spcAft>
                <a:buClr>
                  <a:schemeClr val="tx1"/>
                </a:buClr>
                <a:buFont typeface="Times" pitchFamily="18" charset="0"/>
                <a:buNone/>
              </a:pPr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4764" name="Oval 182"/>
            <p:cNvSpPr>
              <a:spLocks noChangeArrowheads="1"/>
            </p:cNvSpPr>
            <p:nvPr/>
          </p:nvSpPr>
          <p:spPr bwMode="auto">
            <a:xfrm>
              <a:off x="4697" y="4316"/>
              <a:ext cx="475" cy="474"/>
            </a:xfrm>
            <a:prstGeom prst="ellipse">
              <a:avLst/>
            </a:prstGeom>
            <a:gradFill rotWithShape="1">
              <a:gsLst>
                <a:gs pos="0">
                  <a:srgbClr val="AAAAAA"/>
                </a:gs>
                <a:gs pos="50000">
                  <a:srgbClr val="DDDDDD"/>
                </a:gs>
                <a:gs pos="100000">
                  <a:srgbClr val="AAAAAA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>
                <a:spcAft>
                  <a:spcPct val="15000"/>
                </a:spcAft>
                <a:buClr>
                  <a:schemeClr val="tx1"/>
                </a:buClr>
                <a:buFont typeface="Times" pitchFamily="18" charset="0"/>
                <a:buNone/>
              </a:pPr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4765" name="Oval 183"/>
            <p:cNvSpPr>
              <a:spLocks noChangeArrowheads="1"/>
            </p:cNvSpPr>
            <p:nvPr/>
          </p:nvSpPr>
          <p:spPr bwMode="auto">
            <a:xfrm>
              <a:off x="4706" y="4326"/>
              <a:ext cx="455" cy="454"/>
            </a:xfrm>
            <a:prstGeom prst="ellipse">
              <a:avLst/>
            </a:prstGeom>
            <a:solidFill>
              <a:srgbClr val="EEEEEE"/>
            </a:solidFill>
            <a:ln w="12700" algn="ctr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endParaRPr lang="ko-KR" altLang="en-US" sz="1600">
                <a:solidFill>
                  <a:srgbClr val="000000"/>
                </a:solidFill>
                <a:latin typeface="+mj-ea"/>
                <a:ea typeface="+mj-ea"/>
                <a:cs typeface="Arial" charset="0"/>
              </a:endParaRPr>
            </a:p>
          </p:txBody>
        </p:sp>
      </p:grpSp>
      <p:sp>
        <p:nvSpPr>
          <p:cNvPr id="74766" name="Text Box 14"/>
          <p:cNvSpPr txBox="1">
            <a:spLocks noChangeArrowheads="1"/>
          </p:cNvSpPr>
          <p:nvPr/>
        </p:nvSpPr>
        <p:spPr bwMode="auto">
          <a:xfrm>
            <a:off x="4140200" y="3586163"/>
            <a:ext cx="1676400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chemeClr val="bg2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914400" algn="l"/>
                <a:tab pos="7315200" algn="r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spcAft>
                <a:spcPct val="15000"/>
              </a:spcAft>
              <a:buClr>
                <a:schemeClr val="tx1"/>
              </a:buClr>
              <a:buFont typeface="Times" pitchFamily="18" charset="0"/>
              <a:buNone/>
            </a:pPr>
            <a:r>
              <a:rPr lang="ko-KR" altLang="en-US" sz="1300" dirty="0">
                <a:latin typeface="+mj-ea"/>
                <a:ea typeface="+mj-ea"/>
                <a:cs typeface="Arial" charset="0"/>
              </a:rPr>
              <a:t>다양한 국내외</a:t>
            </a:r>
            <a:br>
              <a:rPr lang="ko-KR" altLang="en-US" sz="1300" dirty="0">
                <a:latin typeface="+mj-ea"/>
                <a:ea typeface="+mj-ea"/>
                <a:cs typeface="Arial" charset="0"/>
              </a:rPr>
            </a:br>
            <a:r>
              <a:rPr lang="en-US" altLang="ko-KR" sz="1300" dirty="0">
                <a:latin typeface="+mj-ea"/>
                <a:ea typeface="+mj-ea"/>
                <a:cs typeface="Arial" charset="0"/>
              </a:rPr>
              <a:t>eMall </a:t>
            </a:r>
            <a:r>
              <a:rPr lang="ko-KR" altLang="en-US" sz="1300" dirty="0">
                <a:latin typeface="+mj-ea"/>
                <a:ea typeface="+mj-ea"/>
                <a:cs typeface="Arial" charset="0"/>
              </a:rPr>
              <a:t>산업의</a:t>
            </a:r>
            <a:br>
              <a:rPr lang="ko-KR" altLang="en-US" sz="1300" dirty="0">
                <a:latin typeface="+mj-ea"/>
                <a:ea typeface="+mj-ea"/>
                <a:cs typeface="Arial" charset="0"/>
              </a:rPr>
            </a:br>
            <a:r>
              <a:rPr lang="ko-KR" altLang="en-US" sz="1300" dirty="0">
                <a:latin typeface="+mj-ea"/>
                <a:ea typeface="+mj-ea"/>
                <a:cs typeface="Arial" charset="0"/>
              </a:rPr>
              <a:t>프로젝트 성공</a:t>
            </a:r>
            <a:br>
              <a:rPr lang="ko-KR" altLang="en-US" sz="1300" dirty="0">
                <a:latin typeface="+mj-ea"/>
                <a:ea typeface="+mj-ea"/>
                <a:cs typeface="Arial" charset="0"/>
              </a:rPr>
            </a:br>
            <a:r>
              <a:rPr lang="ko-KR" altLang="en-US" sz="1300" dirty="0">
                <a:latin typeface="+mj-ea"/>
                <a:ea typeface="+mj-ea"/>
                <a:cs typeface="Arial" charset="0"/>
              </a:rPr>
              <a:t>경험 활용</a:t>
            </a:r>
          </a:p>
        </p:txBody>
      </p:sp>
      <p:sp>
        <p:nvSpPr>
          <p:cNvPr id="74767" name="Text Box 15"/>
          <p:cNvSpPr txBox="1">
            <a:spLocks noChangeArrowheads="1"/>
          </p:cNvSpPr>
          <p:nvPr/>
        </p:nvSpPr>
        <p:spPr bwMode="auto">
          <a:xfrm>
            <a:off x="560279" y="1894116"/>
            <a:ext cx="281327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DD66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atinLnBrk="1"/>
            <a:r>
              <a:rPr kumimoji="1" lang="ko-KR" altLang="en-US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제안기업</a:t>
            </a:r>
            <a:r>
              <a:rPr kumimoji="1" lang="en-US" altLang="ko-KR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 </a:t>
            </a:r>
            <a:r>
              <a:rPr kumimoji="1" lang="ko-KR" altLang="en-US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해외</a:t>
            </a:r>
            <a:r>
              <a:rPr kumimoji="1" lang="en-US" altLang="ko-KR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 </a:t>
            </a:r>
            <a:r>
              <a:rPr kumimoji="1" lang="ko-KR" altLang="en-US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프로젝트 수행 경험</a:t>
            </a:r>
          </a:p>
        </p:txBody>
      </p:sp>
      <p:sp>
        <p:nvSpPr>
          <p:cNvPr id="74768" name="Text Box 16"/>
          <p:cNvSpPr txBox="1">
            <a:spLocks noChangeArrowheads="1"/>
          </p:cNvSpPr>
          <p:nvPr/>
        </p:nvSpPr>
        <p:spPr bwMode="auto">
          <a:xfrm>
            <a:off x="6522696" y="1894116"/>
            <a:ext cx="286136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DD66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atinLnBrk="1"/>
            <a:r>
              <a:rPr kumimoji="1" lang="ko-KR" altLang="en-US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제안기업</a:t>
            </a:r>
            <a:r>
              <a:rPr kumimoji="1" lang="en-US" altLang="ko-KR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 </a:t>
            </a:r>
            <a:r>
              <a:rPr kumimoji="1" lang="ko-KR" altLang="en-US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국내</a:t>
            </a:r>
            <a:r>
              <a:rPr kumimoji="1" lang="en-US" altLang="ko-KR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 </a:t>
            </a:r>
            <a:r>
              <a:rPr kumimoji="1" lang="ko-KR" altLang="en-US" sz="1400" dirty="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프로젝트 수행 경험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4013200" cy="247650"/>
          </a:xfrm>
        </p:spPr>
        <p:txBody>
          <a:bodyPr/>
          <a:lstStyle/>
          <a:p>
            <a:r>
              <a:rPr kumimoji="0" lang="ko-KR" altLang="en-US" dirty="0"/>
              <a:t>개선과제 후보 도출 및 벤치마킹</a:t>
            </a:r>
            <a:endParaRPr kumimoji="0" lang="en-US" altLang="ko-KR" dirty="0"/>
          </a:p>
        </p:txBody>
      </p:sp>
      <p:graphicFrame>
        <p:nvGraphicFramePr>
          <p:cNvPr id="87043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507950"/>
              </p:ext>
            </p:extLst>
          </p:nvPr>
        </p:nvGraphicFramePr>
        <p:xfrm>
          <a:off x="260350" y="1438993"/>
          <a:ext cx="9193213" cy="4833276"/>
        </p:xfrm>
        <a:graphic>
          <a:graphicData uri="http://schemas.openxmlformats.org/drawingml/2006/table">
            <a:tbl>
              <a:tblPr/>
              <a:tblGrid>
                <a:gridCol w="1379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9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900"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Mega 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프로세스</a:t>
                      </a:r>
                    </a:p>
                  </a:txBody>
                  <a:tcPr marL="0" marR="0" marT="0" marB="0" horzOverflow="overflow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개선과제</a:t>
                      </a: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벤치마킹 영역</a:t>
                      </a: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벤치마킹 대상</a:t>
                      </a: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추가</a:t>
                      </a: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 rowSpan="2"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공급업체</a:t>
                      </a:r>
                    </a:p>
                  </a:txBody>
                  <a:tcPr marL="36000" marR="36000" marT="36000" marB="36000" anchor="ctr" horzOverflow="overflow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공급사 평가 체계 수립 및 성과 모니터링을 통한 정기적 성과 향상 프로그램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5725" indent="-85725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62000" indent="-30480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2192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764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1336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908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30480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5052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9624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공급사의 성과를 평가할 수 있는 항목의 체계화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공급사의 평가를 위한 성과 데이터 수집 및 분석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성과 분석에 따른 보상 및 페널티 부여 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굴림" pitchFamily="50" charset="-127"/>
                        </a:rPr>
                        <a:t> xxxx , xxxx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Y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1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프로모션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상품 기획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예측 등 코어 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MD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프로세스 협업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5725" indent="-85725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62000" indent="-30480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2192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764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1336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908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30480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5052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9624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공급사와의 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Joint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마케팅 캠페인 기획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SCM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프로세스의 협업 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굴림" pitchFamily="50" charset="-127"/>
                        </a:rPr>
                        <a:t> xxxx , xxxx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075">
                <a:tc rowSpan="6"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마케팅</a:t>
                      </a:r>
                      <a:r>
                        <a:rPr kumimoji="0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상품</a:t>
                      </a:r>
                      <a:r>
                        <a:rPr kumimoji="0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/QA/</a:t>
                      </a: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영업기획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다매체 상의 상품 코드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/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정보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가격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프로모션 조건의 체계적 관리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5725" indent="-85725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62000" indent="-30480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2192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764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1336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908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30480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5052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9624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동일 상품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단일 마스터를 매체 별 공동 기획 및 관리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동일 상품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매체별 가격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/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프로모션 정보 관리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굴림" pitchFamily="50" charset="-127"/>
                        </a:rPr>
                        <a:t> xxxx , xxxx</a:t>
                      </a:r>
                      <a:endParaRPr kumimoji="1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카테고리 역할 및 상품 구색 관리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(IN/OUT)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체계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5725" indent="-85725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62000" indent="-30480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2192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764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1336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908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30480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5052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9624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상품 카테고리 역할정의 및 역할별 운영 정책 정의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카테고리 별 상품 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Keep/Drop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활동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굴림" pitchFamily="50" charset="-127"/>
                        </a:rPr>
                        <a:t> xxxx , xxxx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전략적 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Pricing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체계</a:t>
                      </a: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5725" indent="-85725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62000" indent="-30480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2192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764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1336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908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30480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5052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9624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상품 카테고리 별 역할 관리 체계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역할 별 가격 정책의 셋업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가격 관리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업데이트 절차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굴림" pitchFamily="50" charset="-127"/>
                        </a:rPr>
                        <a:t> xxxx , xxxx</a:t>
                      </a:r>
                      <a:endParaRPr kumimoji="1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Y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매체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상품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(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군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),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프로모션 성과 분석 및 리포팅 지원 체계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5725" indent="-85725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62000" indent="-30480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2192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764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1336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908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30480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5052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9624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프로모션 성과 분석 및 피드백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분석자료 및 피드백에 근거한 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Action plan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도출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굴림" pitchFamily="50" charset="-127"/>
                        </a:rPr>
                        <a:t> xxxx , xxxx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1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전사 목표 지향적 운영 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MD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체계 구축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5725" indent="-85725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62000" indent="-30480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2192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764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1336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908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30480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5052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9624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다양하고 다차원적인 분석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예측 시스템 구축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전사적인 운영 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MD 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체계 구축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유연하고 확장성 있는 코드 관리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굴림" pitchFamily="50" charset="-127"/>
                        </a:rPr>
                        <a:t> xxxx , xxxx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Y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7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효율적인 프로모션 지원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5725" indent="-85725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62000" indent="-30480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2192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764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1336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908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30480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5052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9624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맞춤형 프로모션을 위한 데이터 최적화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상시할인쿠폰을 이용한 거래처 자발적인 프로모션 참여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프로모션 통합운영관리 강화 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결과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효과분석</a:t>
                      </a: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)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굴림" pitchFamily="50" charset="-127"/>
                        </a:rPr>
                        <a:t> xxxx , xxxx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Y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rowSpan="2"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SCM/</a:t>
                      </a: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방송</a:t>
                      </a:r>
                      <a:r>
                        <a:rPr kumimoji="0" lang="en-US" altLang="ko-KR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주문</a:t>
                      </a:r>
                    </a:p>
                  </a:txBody>
                  <a:tcPr marL="36000" marR="36000" marT="36000" marB="36000" anchor="ctr" horzOverflow="overflow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상품 유형 별 유연한 주문 등록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,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처리 방법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5725" indent="-85725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62000" indent="-30480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2192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764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1336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908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30480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5052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9624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상품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/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주문 유형의 체계화 및 프로세스 설계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굴림" pitchFamily="50" charset="-127"/>
                        </a:rPr>
                        <a:t> xxxx , xxxx</a:t>
                      </a: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고객 중심의 매체 통합 주문 이력 및 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VOC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관리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85725" indent="-85725"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762000" indent="-304800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marL="12192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marL="16764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marL="2133600" indent="-304800"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marL="25908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marL="30480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marL="35052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marL="3962400" indent="-304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매체 별로 발생하는 주문을 이력 통합하여 관리하는 체계</a:t>
                      </a:r>
                    </a:p>
                    <a:p>
                      <a:pPr marL="85725" marR="0" lvl="0" indent="-857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매체 별로 발생하는 고객 응대 이력을 수집하고 통합 </a:t>
                      </a:r>
                      <a:r>
                        <a:rPr kumimoji="0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VOC </a:t>
                      </a:r>
                      <a:r>
                        <a:rPr kumimoji="0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굴림" pitchFamily="50" charset="-127"/>
                        </a:rPr>
                        <a:t>분류체계 마련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굴림" pitchFamily="50" charset="-127"/>
                        </a:rPr>
                        <a:t> xxxx , xxxx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latinLnBrk="1">
                        <a:lnSpc>
                          <a:spcPct val="120000"/>
                        </a:lnSpc>
                        <a:buFont typeface="Wingdings" pitchFamily="2" charset="2"/>
                        <a:defRPr kumimoji="1" sz="1200" b="1">
                          <a:solidFill>
                            <a:schemeClr val="tx1"/>
                          </a:solidFill>
                          <a:latin typeface="Arial" charset="0"/>
                          <a:ea typeface="맑은 고딕" pitchFamily="50" charset="-127"/>
                          <a:cs typeface="굴림" pitchFamily="50" charset="-127"/>
                        </a:defRPr>
                      </a:lvl1pPr>
                      <a:lvl2pPr marL="465138" indent="-7938" algn="l" latinLnBrk="1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2pPr>
                      <a:lvl3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3pPr>
                      <a:lvl4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4pPr>
                      <a:lvl5pPr algn="l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 Narrow" pitchFamily="34" charset="0"/>
                        <a:defRPr kumimoji="1" sz="16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  <a:cs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굴림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7110" name="Rectangle 70"/>
          <p:cNvSpPr>
            <a:spLocks noChangeArrowheads="1"/>
          </p:cNvSpPr>
          <p:nvPr/>
        </p:nvSpPr>
        <p:spPr bwMode="auto">
          <a:xfrm>
            <a:off x="260350" y="914400"/>
            <a:ext cx="936783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ko-KR" altLang="en-US" dirty="0">
                <a:latin typeface="+mj-ea"/>
                <a:ea typeface="+mj-ea"/>
              </a:rPr>
              <a:t>개선과제별 관련프로세스에 따라 동종 유통기업 사례 또는 타 산업군의 글로벌 선도기업 사례 분석을 수행함으로써</a:t>
            </a:r>
            <a:r>
              <a:rPr kumimoji="0" lang="en-US" altLang="ko-KR" dirty="0">
                <a:latin typeface="+mj-ea"/>
                <a:ea typeface="+mj-ea"/>
              </a:rPr>
              <a:t>, </a:t>
            </a:r>
            <a:r>
              <a:rPr kumimoji="0" lang="ko-KR" altLang="en-US" dirty="0">
                <a:latin typeface="+mj-ea"/>
                <a:ea typeface="+mj-ea"/>
              </a:rPr>
              <a:t>보다 실질적이고 구체적인 벤치마킹 분석을 수행할 것임</a:t>
            </a:r>
            <a:endParaRPr lang="ko-KR" altLang="en-US" dirty="0">
              <a:latin typeface="+mj-ea"/>
              <a:ea typeface="+mj-ea"/>
              <a:cs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A311E-4F6F-3269-765B-F4CF4AEC9827}"/>
              </a:ext>
            </a:extLst>
          </p:cNvPr>
          <p:cNvSpPr txBox="1"/>
          <p:nvPr/>
        </p:nvSpPr>
        <p:spPr>
          <a:xfrm rot="2700000">
            <a:off x="8531658" y="1556041"/>
            <a:ext cx="1196208" cy="262943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solidFill>
              <a:srgbClr val="FF0000"/>
            </a:solidFill>
          </a:ln>
        </p:spPr>
        <p:txBody>
          <a:bodyPr wrap="square" lIns="82800" tIns="54000" rIns="82800" bIns="5400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</a:rPr>
              <a:t>ILLUSTRATIVE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5" name="Oval 28">
            <a:extLst>
              <a:ext uri="{FF2B5EF4-FFF2-40B4-BE49-F238E27FC236}">
                <a16:creationId xmlns:a16="http://schemas.microsoft.com/office/drawing/2014/main" id="{29157487-FFD4-E362-80B4-7E2652072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596" y="2672916"/>
            <a:ext cx="255777" cy="233363"/>
          </a:xfrm>
          <a:prstGeom prst="ellipse">
            <a:avLst/>
          </a:prstGeom>
          <a:solidFill>
            <a:srgbClr val="000066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93700" indent="-2095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06000"/>
              </a:lnSpc>
              <a:spcBef>
                <a:spcPct val="50000"/>
              </a:spcBef>
            </a:pPr>
            <a:r>
              <a:rPr lang="en-US" altLang="ko-KR" sz="1100" b="0">
                <a:solidFill>
                  <a:schemeClr val="bg1"/>
                </a:solidFill>
                <a:latin typeface="+mj-ea"/>
                <a:ea typeface="+mj-ea"/>
              </a:rPr>
              <a:t>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073650" y="2781300"/>
            <a:ext cx="4716463" cy="233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260350" y="914400"/>
            <a:ext cx="9367838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r>
              <a:rPr lang="ko-KR" altLang="en-US">
                <a:latin typeface="+mj-ea"/>
                <a:ea typeface="+mj-ea"/>
              </a:rPr>
              <a:t>고객 관점의 상품 운영을 지원하고 신상품의 도입을 빠르게 대응할 수 있으며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채널간의 유기적인 상품 운영을 가능하게 하여 성과 증진에 기여하는 상품 정보 체계의 개선을 추진함</a:t>
            </a:r>
          </a:p>
        </p:txBody>
      </p:sp>
      <p:grpSp>
        <p:nvGrpSpPr>
          <p:cNvPr id="90116" name="Group 4"/>
          <p:cNvGrpSpPr>
            <a:grpSpLocks/>
          </p:cNvGrpSpPr>
          <p:nvPr/>
        </p:nvGrpSpPr>
        <p:grpSpPr bwMode="auto">
          <a:xfrm>
            <a:off x="236538" y="1592263"/>
            <a:ext cx="9361487" cy="4799012"/>
            <a:chOff x="149" y="1003"/>
            <a:chExt cx="5897" cy="3023"/>
          </a:xfrm>
        </p:grpSpPr>
        <p:sp>
          <p:nvSpPr>
            <p:cNvPr id="90117" name="Text Box 5"/>
            <p:cNvSpPr txBox="1">
              <a:spLocks noChangeArrowheads="1"/>
            </p:cNvSpPr>
            <p:nvPr/>
          </p:nvSpPr>
          <p:spPr bwMode="gray">
            <a:xfrm>
              <a:off x="4501" y="1003"/>
              <a:ext cx="718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ko-KR" altLang="en-US" sz="1400" dirty="0">
                  <a:latin typeface="+mj-ea"/>
                  <a:ea typeface="+mj-ea"/>
                  <a:cs typeface="Arial" charset="0"/>
                </a:rPr>
                <a:t> </a:t>
              </a:r>
              <a:r>
                <a:rPr lang="en-US" altLang="ko-KR" sz="1400" dirty="0">
                  <a:latin typeface="+mj-ea"/>
                  <a:ea typeface="+mj-ea"/>
                  <a:cs typeface="Arial" charset="0"/>
                </a:rPr>
                <a:t>To-Be Image</a:t>
              </a:r>
            </a:p>
          </p:txBody>
        </p:sp>
        <p:sp>
          <p:nvSpPr>
            <p:cNvPr id="90118" name="Text Box 6"/>
            <p:cNvSpPr txBox="1">
              <a:spLocks noChangeArrowheads="1"/>
            </p:cNvSpPr>
            <p:nvPr/>
          </p:nvSpPr>
          <p:spPr bwMode="gray">
            <a:xfrm>
              <a:off x="1285" y="1003"/>
              <a:ext cx="684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ko-KR" altLang="en-US" sz="1400">
                  <a:latin typeface="+mj-ea"/>
                  <a:ea typeface="+mj-ea"/>
                  <a:cs typeface="Arial" charset="0"/>
                </a:rPr>
                <a:t> 추진 방향성 </a:t>
              </a:r>
            </a:p>
          </p:txBody>
        </p:sp>
        <p:sp>
          <p:nvSpPr>
            <p:cNvPr id="90119" name="Rectangle 6"/>
            <p:cNvSpPr>
              <a:spLocks noChangeArrowheads="1"/>
            </p:cNvSpPr>
            <p:nvPr/>
          </p:nvSpPr>
          <p:spPr bwMode="gray">
            <a:xfrm>
              <a:off x="2087" y="1624"/>
              <a:ext cx="875" cy="569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algn="ctr">
              <a:solidFill>
                <a:srgbClr val="DDDDDD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고객 중심의</a:t>
              </a:r>
            </a:p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상품 운영 지원</a:t>
              </a:r>
              <a:b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</a:b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체계 수립</a:t>
              </a:r>
            </a:p>
          </p:txBody>
        </p:sp>
        <p:sp>
          <p:nvSpPr>
            <p:cNvPr id="90120" name="Rectangle 7"/>
            <p:cNvSpPr>
              <a:spLocks noChangeArrowheads="1"/>
            </p:cNvSpPr>
            <p:nvPr/>
          </p:nvSpPr>
          <p:spPr bwMode="gray">
            <a:xfrm>
              <a:off x="2087" y="2860"/>
              <a:ext cx="875" cy="565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algn="ctr">
              <a:solidFill>
                <a:srgbClr val="DDDDDD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en-US" altLang="ko-KR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Omni Channel</a:t>
              </a:r>
            </a:p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dirty="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상품 정보 모델링</a:t>
              </a:r>
            </a:p>
          </p:txBody>
        </p:sp>
        <p:sp>
          <p:nvSpPr>
            <p:cNvPr id="90121" name="Rectangle 9"/>
            <p:cNvSpPr>
              <a:spLocks noChangeArrowheads="1"/>
            </p:cNvSpPr>
            <p:nvPr/>
          </p:nvSpPr>
          <p:spPr bwMode="gray">
            <a:xfrm>
              <a:off x="2087" y="3475"/>
              <a:ext cx="875" cy="551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algn="ctr">
              <a:solidFill>
                <a:srgbClr val="DDDDDD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en-US" altLang="ko-KR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Up &amp; Cross Selling</a:t>
              </a:r>
            </a:p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en-US" altLang="ko-KR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 </a:t>
              </a: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기반 마련</a:t>
              </a:r>
            </a:p>
          </p:txBody>
        </p:sp>
        <p:sp>
          <p:nvSpPr>
            <p:cNvPr id="90122" name="Rectangle 8"/>
            <p:cNvSpPr>
              <a:spLocks noChangeArrowheads="1"/>
            </p:cNvSpPr>
            <p:nvPr/>
          </p:nvSpPr>
          <p:spPr bwMode="gray">
            <a:xfrm>
              <a:off x="2087" y="2242"/>
              <a:ext cx="875" cy="569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 algn="ctr">
              <a:solidFill>
                <a:srgbClr val="DDDDDD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lIns="90000" tIns="46800" rIns="90000" bIns="46800" anchor="ctr"/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en-US" altLang="ko-KR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Time to Market </a:t>
              </a:r>
            </a:p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대응 </a:t>
              </a:r>
            </a:p>
          </p:txBody>
        </p:sp>
        <p:sp>
          <p:nvSpPr>
            <p:cNvPr id="90123" name="AutoShape 11"/>
            <p:cNvSpPr>
              <a:spLocks noChangeArrowheads="1"/>
            </p:cNvSpPr>
            <p:nvPr/>
          </p:nvSpPr>
          <p:spPr bwMode="gray">
            <a:xfrm>
              <a:off x="2087" y="1373"/>
              <a:ext cx="897" cy="195"/>
            </a:xfrm>
            <a:prstGeom prst="roundRect">
              <a:avLst>
                <a:gd name="adj" fmla="val 16667"/>
              </a:avLst>
            </a:prstGeom>
            <a:solidFill>
              <a:srgbClr val="EAEAEA"/>
            </a:solidFill>
            <a:ln w="9525" algn="ctr">
              <a:solidFill>
                <a:srgbClr val="969696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lIns="18000" tIns="46800" rIns="18000" bIns="46800" anchor="ctr"/>
            <a:lstStyle/>
            <a:p>
              <a:pPr eaLnBrk="0" hangingPunct="0">
                <a:lnSpc>
                  <a:spcPct val="110000"/>
                </a:lnSpc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30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고객 중심</a:t>
              </a:r>
            </a:p>
          </p:txBody>
        </p:sp>
        <p:sp>
          <p:nvSpPr>
            <p:cNvPr id="90124" name="Text Box 12"/>
            <p:cNvSpPr txBox="1">
              <a:spLocks noChangeArrowheads="1"/>
            </p:cNvSpPr>
            <p:nvPr/>
          </p:nvSpPr>
          <p:spPr bwMode="gray">
            <a:xfrm>
              <a:off x="149" y="1503"/>
              <a:ext cx="1566" cy="2523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DDDDDD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lIns="90000" tIns="46800" rIns="90000" bIns="46800" anchor="b"/>
            <a:lstStyle>
              <a:lvl1pPr marL="179388" indent="-179388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l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Wingdings" pitchFamily="2" charset="2"/>
                <a:buNone/>
              </a:pPr>
              <a:endParaRPr lang="ko-KR" altLang="en-US" b="0">
                <a:solidFill>
                  <a:srgbClr val="000000"/>
                </a:solidFill>
                <a:latin typeface="+mj-ea"/>
                <a:ea typeface="+mj-ea"/>
                <a:cs typeface="Arial" charset="0"/>
              </a:endParaRPr>
            </a:p>
          </p:txBody>
        </p:sp>
        <p:sp>
          <p:nvSpPr>
            <p:cNvPr id="90125" name="AutoShape 13"/>
            <p:cNvSpPr>
              <a:spLocks noChangeArrowheads="1"/>
            </p:cNvSpPr>
            <p:nvPr/>
          </p:nvSpPr>
          <p:spPr bwMode="gray">
            <a:xfrm>
              <a:off x="396" y="1373"/>
              <a:ext cx="1049" cy="195"/>
            </a:xfrm>
            <a:prstGeom prst="roundRect">
              <a:avLst>
                <a:gd name="adj" fmla="val 16667"/>
              </a:avLst>
            </a:prstGeom>
            <a:solidFill>
              <a:srgbClr val="EAEAEA"/>
            </a:solidFill>
            <a:ln w="9525" algn="ctr">
              <a:solidFill>
                <a:srgbClr val="969696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lIns="18000" tIns="46800" rIns="18000" bIns="46800" anchor="ctr"/>
            <a:lstStyle/>
            <a:p>
              <a:pPr eaLnBrk="0" hangingPunct="0">
                <a:lnSpc>
                  <a:spcPct val="110000"/>
                </a:lnSpc>
                <a:spcBef>
                  <a:spcPct val="50000"/>
                </a:spcBef>
                <a:buClr>
                  <a:schemeClr val="tx1"/>
                </a:buClr>
                <a:buFont typeface="Wingdings" pitchFamily="2" charset="2"/>
                <a:buNone/>
              </a:pPr>
              <a:r>
                <a:rPr lang="ko-KR" altLang="en-US" sz="130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판매자 중심</a:t>
              </a:r>
            </a:p>
          </p:txBody>
        </p:sp>
        <p:sp>
          <p:nvSpPr>
            <p:cNvPr id="90126" name="Rectangle 14"/>
            <p:cNvSpPr>
              <a:spLocks noChangeArrowheads="1"/>
            </p:cNvSpPr>
            <p:nvPr/>
          </p:nvSpPr>
          <p:spPr bwMode="gray">
            <a:xfrm>
              <a:off x="195" y="2260"/>
              <a:ext cx="1437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177800" indent="-1778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Char char="§"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과거 상품과 속성이 다른 신규 상품의 도입시 적시 수용이 가능한 확장성 있는 구조 아님</a:t>
              </a:r>
            </a:p>
          </p:txBody>
        </p:sp>
        <p:sp>
          <p:nvSpPr>
            <p:cNvPr id="90127" name="Rectangle 15"/>
            <p:cNvSpPr>
              <a:spLocks noChangeArrowheads="1"/>
            </p:cNvSpPr>
            <p:nvPr/>
          </p:nvSpPr>
          <p:spPr bwMode="gray">
            <a:xfrm>
              <a:off x="195" y="1751"/>
              <a:ext cx="154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177800" indent="-1778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Char char="§"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고객의 구매 요인을 고려한 상품 분류 체계를 구성하고 있지 않음</a:t>
              </a:r>
            </a:p>
          </p:txBody>
        </p:sp>
        <p:sp>
          <p:nvSpPr>
            <p:cNvPr id="90128" name="Rectangle 16"/>
            <p:cNvSpPr>
              <a:spLocks noChangeArrowheads="1"/>
            </p:cNvSpPr>
            <p:nvPr/>
          </p:nvSpPr>
          <p:spPr bwMode="gray">
            <a:xfrm>
              <a:off x="195" y="2884"/>
              <a:ext cx="1520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177800" indent="-1778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Char char="§"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각채널 별로 상이한 관점의 상품군별 매출 분석으로 통합적 </a:t>
              </a:r>
              <a:r>
                <a:rPr lang="en-US" altLang="ko-KR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Insight </a:t>
              </a: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제공 어려움</a:t>
              </a:r>
            </a:p>
          </p:txBody>
        </p:sp>
        <p:sp>
          <p:nvSpPr>
            <p:cNvPr id="90129" name="Rectangle 17"/>
            <p:cNvSpPr>
              <a:spLocks noChangeArrowheads="1"/>
            </p:cNvSpPr>
            <p:nvPr/>
          </p:nvSpPr>
          <p:spPr bwMode="gray">
            <a:xfrm>
              <a:off x="195" y="3509"/>
              <a:ext cx="1531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marL="177800" indent="-1778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Font typeface="Wingdings" pitchFamily="2" charset="2"/>
                <a:buChar char="§"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고객</a:t>
              </a:r>
              <a:r>
                <a:rPr lang="en-US" altLang="ko-KR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-</a:t>
              </a: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상품</a:t>
              </a:r>
              <a:r>
                <a:rPr lang="en-US" altLang="ko-KR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-</a:t>
              </a: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채널 연계를 통한 추가 판매기회 창출 위한 </a:t>
              </a:r>
              <a:r>
                <a:rPr lang="en-US" altLang="ko-KR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Offering </a:t>
              </a: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구성에 제약 있음</a:t>
              </a:r>
            </a:p>
          </p:txBody>
        </p:sp>
        <p:sp>
          <p:nvSpPr>
            <p:cNvPr id="90130" name="Line 18"/>
            <p:cNvSpPr>
              <a:spLocks noChangeShapeType="1"/>
            </p:cNvSpPr>
            <p:nvPr/>
          </p:nvSpPr>
          <p:spPr bwMode="gray">
            <a:xfrm>
              <a:off x="195" y="1150"/>
              <a:ext cx="27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90131" name="Line 19"/>
            <p:cNvSpPr>
              <a:spLocks noChangeShapeType="1"/>
            </p:cNvSpPr>
            <p:nvPr/>
          </p:nvSpPr>
          <p:spPr bwMode="gray">
            <a:xfrm>
              <a:off x="3302" y="1166"/>
              <a:ext cx="27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90132" name="AutoShape 20"/>
            <p:cNvSpPr>
              <a:spLocks/>
            </p:cNvSpPr>
            <p:nvPr/>
          </p:nvSpPr>
          <p:spPr bwMode="auto">
            <a:xfrm>
              <a:off x="3138" y="3271"/>
              <a:ext cx="884" cy="249"/>
            </a:xfrm>
            <a:prstGeom prst="borderCallout1">
              <a:avLst>
                <a:gd name="adj1" fmla="val 28917"/>
                <a:gd name="adj2" fmla="val 105431"/>
                <a:gd name="adj3" fmla="val -189958"/>
                <a:gd name="adj4" fmla="val 128731"/>
              </a:avLst>
            </a:prstGeom>
            <a:solidFill>
              <a:srgbClr val="DADEFE"/>
            </a:solidFill>
            <a:ln w="9525" algn="ctr">
              <a:solidFill>
                <a:srgbClr val="5F5F5F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5F5F5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ＭＳ Ｐゴシック" pitchFamily="34" charset="-128"/>
                <a:buNone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판매코드 및 단품코드 적용</a:t>
              </a:r>
            </a:p>
          </p:txBody>
        </p:sp>
        <p:sp>
          <p:nvSpPr>
            <p:cNvPr id="90133" name="AutoShape 21"/>
            <p:cNvSpPr>
              <a:spLocks/>
            </p:cNvSpPr>
            <p:nvPr/>
          </p:nvSpPr>
          <p:spPr bwMode="auto">
            <a:xfrm>
              <a:off x="4385" y="1480"/>
              <a:ext cx="1134" cy="249"/>
            </a:xfrm>
            <a:prstGeom prst="borderCallout1">
              <a:avLst>
                <a:gd name="adj1" fmla="val 28917"/>
                <a:gd name="adj2" fmla="val -4231"/>
                <a:gd name="adj3" fmla="val 263454"/>
                <a:gd name="adj4" fmla="val -15963"/>
              </a:avLst>
            </a:prstGeom>
            <a:solidFill>
              <a:srgbClr val="DADEFE"/>
            </a:solidFill>
            <a:ln w="9525" algn="ctr">
              <a:solidFill>
                <a:srgbClr val="5F5F5F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5F5F5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ＭＳ Ｐゴシック" pitchFamily="34" charset="-128"/>
                <a:buNone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소분류 별 상품 구매 요인</a:t>
              </a:r>
              <a:r>
                <a:rPr lang="en-US" altLang="ko-KR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(KBF) </a:t>
              </a: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도출</a:t>
              </a:r>
            </a:p>
          </p:txBody>
        </p:sp>
        <p:sp>
          <p:nvSpPr>
            <p:cNvPr id="90134" name="AutoShape 22"/>
            <p:cNvSpPr>
              <a:spLocks/>
            </p:cNvSpPr>
            <p:nvPr/>
          </p:nvSpPr>
          <p:spPr bwMode="auto">
            <a:xfrm>
              <a:off x="5020" y="3067"/>
              <a:ext cx="863" cy="249"/>
            </a:xfrm>
            <a:prstGeom prst="borderCallout1">
              <a:avLst>
                <a:gd name="adj1" fmla="val 28917"/>
                <a:gd name="adj2" fmla="val 105560"/>
                <a:gd name="adj3" fmla="val -226505"/>
                <a:gd name="adj4" fmla="val 116454"/>
              </a:avLst>
            </a:prstGeom>
            <a:solidFill>
              <a:srgbClr val="DADEFE"/>
            </a:solidFill>
            <a:ln w="9525" algn="ctr">
              <a:solidFill>
                <a:srgbClr val="5F5F5F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5F5F5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ＭＳ Ｐゴシック" pitchFamily="34" charset="-128"/>
                <a:buNone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멀티 채널 수용 구조 확립</a:t>
              </a:r>
            </a:p>
          </p:txBody>
        </p:sp>
        <p:sp>
          <p:nvSpPr>
            <p:cNvPr id="90135" name="AutoShape 23"/>
            <p:cNvSpPr>
              <a:spLocks/>
            </p:cNvSpPr>
            <p:nvPr/>
          </p:nvSpPr>
          <p:spPr bwMode="auto">
            <a:xfrm>
              <a:off x="3455" y="3612"/>
              <a:ext cx="884" cy="249"/>
            </a:xfrm>
            <a:prstGeom prst="borderCallout1">
              <a:avLst>
                <a:gd name="adj1" fmla="val 28917"/>
                <a:gd name="adj2" fmla="val 105431"/>
                <a:gd name="adj3" fmla="val -230120"/>
                <a:gd name="adj4" fmla="val 142759"/>
              </a:avLst>
            </a:prstGeom>
            <a:solidFill>
              <a:srgbClr val="DADEFE"/>
            </a:solidFill>
            <a:ln w="9525" algn="ctr">
              <a:solidFill>
                <a:srgbClr val="5F5F5F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5F5F5F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ＭＳ Ｐゴシック" pitchFamily="34" charset="-128"/>
                <a:buNone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패키지상품</a:t>
              </a:r>
            </a:p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tx1"/>
                </a:buClr>
                <a:buFont typeface="ＭＳ Ｐゴシック" pitchFamily="34" charset="-128"/>
                <a:buNone/>
              </a:pPr>
              <a:r>
                <a:rPr lang="ko-KR" altLang="en-US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구성 체계</a:t>
              </a:r>
            </a:p>
          </p:txBody>
        </p:sp>
        <p:sp>
          <p:nvSpPr>
            <p:cNvPr id="1421321" name="AutoShape 9"/>
            <p:cNvSpPr>
              <a:spLocks noChangeArrowheads="1"/>
            </p:cNvSpPr>
            <p:nvPr/>
          </p:nvSpPr>
          <p:spPr bwMode="gray">
            <a:xfrm rot="5400000">
              <a:off x="1281" y="2613"/>
              <a:ext cx="1261" cy="148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lIns="36000" rIns="36000" anchor="ctr"/>
            <a:lstStyle/>
            <a:p>
              <a:pPr latinLnBrk="1">
                <a:spcBef>
                  <a:spcPct val="50000"/>
                </a:spcBef>
                <a:defRPr/>
              </a:pPr>
              <a:endParaRPr kumimoji="1" lang="ko-KR" altLang="en-US" sz="1000">
                <a:latin typeface="+mj-ea"/>
                <a:ea typeface="+mj-ea"/>
              </a:endParaRPr>
            </a:p>
          </p:txBody>
        </p:sp>
      </p:grpSp>
      <p:sp>
        <p:nvSpPr>
          <p:cNvPr id="90139" name="Rectangle 27"/>
          <p:cNvSpPr>
            <a:spLocks noChangeArrowheads="1"/>
          </p:cNvSpPr>
          <p:nvPr/>
        </p:nvSpPr>
        <p:spPr bwMode="gray">
          <a:xfrm>
            <a:off x="260350" y="434151"/>
            <a:ext cx="3712235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2pPr>
            <a:lvl3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3pPr>
            <a:lvl4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4pPr>
            <a:lvl5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9pPr>
          </a:lstStyle>
          <a:p>
            <a:r>
              <a:rPr lang="ko-KR" altLang="en-US" sz="1800" dirty="0">
                <a:latin typeface="+mj-ea"/>
                <a:ea typeface="+mj-ea"/>
              </a:rPr>
              <a:t>상품정보 체계 수립  </a:t>
            </a:r>
            <a:r>
              <a:rPr lang="en-US" altLang="ko-KR" sz="1800" dirty="0">
                <a:latin typeface="+mj-ea"/>
                <a:ea typeface="+mj-ea"/>
              </a:rPr>
              <a:t>: To-be </a:t>
            </a:r>
            <a:r>
              <a:rPr lang="ko-KR" altLang="en-US" sz="1800" dirty="0">
                <a:latin typeface="+mj-ea"/>
                <a:ea typeface="+mj-ea"/>
              </a:rPr>
              <a:t>방향성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D35936-A6A8-3D02-9D65-0D81A9DFE735}"/>
              </a:ext>
            </a:extLst>
          </p:cNvPr>
          <p:cNvSpPr txBox="1"/>
          <p:nvPr/>
        </p:nvSpPr>
        <p:spPr>
          <a:xfrm rot="2700000">
            <a:off x="8531658" y="1556041"/>
            <a:ext cx="1196208" cy="262943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solidFill>
              <a:srgbClr val="FF0000"/>
            </a:solidFill>
          </a:ln>
        </p:spPr>
        <p:txBody>
          <a:bodyPr wrap="square" lIns="82800" tIns="54000" rIns="82800" bIns="5400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</a:rPr>
              <a:t>ILLUSTRATIVE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85" name="Rectangle 49"/>
          <p:cNvSpPr>
            <a:spLocks noChangeArrowheads="1"/>
          </p:cNvSpPr>
          <p:nvPr/>
        </p:nvSpPr>
        <p:spPr bwMode="gray">
          <a:xfrm>
            <a:off x="415925" y="5138738"/>
            <a:ext cx="4500563" cy="1385887"/>
          </a:xfrm>
          <a:prstGeom prst="rect">
            <a:avLst/>
          </a:prstGeom>
          <a:solidFill>
            <a:schemeClr val="bg1"/>
          </a:solidFill>
          <a:ln w="6350" algn="ctr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46063" y="868363"/>
            <a:ext cx="9459912" cy="511175"/>
          </a:xfrm>
        </p:spPr>
        <p:txBody>
          <a:bodyPr>
            <a:noAutofit/>
          </a:bodyPr>
          <a:lstStyle/>
          <a:p>
            <a:r>
              <a:rPr lang="ko-KR" altLang="en-US"/>
              <a:t>고객의 구매 의사결정 요소를 반영하지 못하는 상품 분류체계와 정보 관리가 이루어지고 있으며 </a:t>
            </a:r>
            <a:r>
              <a:rPr lang="en-US" altLang="ko-KR"/>
              <a:t>, </a:t>
            </a:r>
            <a:r>
              <a:rPr lang="ko-KR" altLang="en-US"/>
              <a:t>상품코드가 확장성 없이 구성되어 있음</a:t>
            </a:r>
          </a:p>
        </p:txBody>
      </p:sp>
      <p:sp>
        <p:nvSpPr>
          <p:cNvPr id="91139" name="Text Box 3"/>
          <p:cNvSpPr txBox="1">
            <a:spLocks noChangeArrowheads="1"/>
          </p:cNvSpPr>
          <p:nvPr/>
        </p:nvSpPr>
        <p:spPr bwMode="gray">
          <a:xfrm>
            <a:off x="647700" y="1573213"/>
            <a:ext cx="3949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400">
                <a:latin typeface="+mj-ea"/>
                <a:ea typeface="+mj-ea"/>
                <a:cs typeface="Arial" charset="0"/>
              </a:rPr>
              <a:t>고객과 연계되지 못한 상품 분류 체계 및 속성 관리</a:t>
            </a:r>
          </a:p>
        </p:txBody>
      </p:sp>
      <p:sp>
        <p:nvSpPr>
          <p:cNvPr id="91140" name="Line 4"/>
          <p:cNvSpPr>
            <a:spLocks noChangeShapeType="1"/>
          </p:cNvSpPr>
          <p:nvPr/>
        </p:nvSpPr>
        <p:spPr bwMode="gray">
          <a:xfrm>
            <a:off x="358775" y="1817688"/>
            <a:ext cx="4451350" cy="0"/>
          </a:xfrm>
          <a:prstGeom prst="line">
            <a:avLst/>
          </a:prstGeom>
          <a:noFill/>
          <a:ln w="6350">
            <a:solidFill>
              <a:srgbClr val="1F60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72000" tIns="72000" rIns="72000" bIns="7200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1141" name="Text Box 5"/>
          <p:cNvSpPr txBox="1">
            <a:spLocks noChangeArrowheads="1"/>
          </p:cNvSpPr>
          <p:nvPr/>
        </p:nvSpPr>
        <p:spPr bwMode="gray">
          <a:xfrm>
            <a:off x="5794375" y="1557338"/>
            <a:ext cx="32686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400">
                <a:latin typeface="+mj-ea"/>
                <a:ea typeface="+mj-ea"/>
                <a:cs typeface="Arial" charset="0"/>
              </a:rPr>
              <a:t>코드의 경직성으로 인한 상품 운영의 한계</a:t>
            </a:r>
          </a:p>
        </p:txBody>
      </p:sp>
      <p:sp>
        <p:nvSpPr>
          <p:cNvPr id="91142" name="Line 6"/>
          <p:cNvSpPr>
            <a:spLocks noChangeShapeType="1"/>
          </p:cNvSpPr>
          <p:nvPr/>
        </p:nvSpPr>
        <p:spPr bwMode="gray">
          <a:xfrm>
            <a:off x="5181600" y="1801813"/>
            <a:ext cx="4451350" cy="0"/>
          </a:xfrm>
          <a:prstGeom prst="line">
            <a:avLst/>
          </a:prstGeom>
          <a:noFill/>
          <a:ln w="6350">
            <a:solidFill>
              <a:srgbClr val="1F60A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72000" tIns="72000" rIns="72000" bIns="7200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1143" name="Rectangle 7"/>
          <p:cNvSpPr>
            <a:spLocks noChangeArrowheads="1"/>
          </p:cNvSpPr>
          <p:nvPr/>
        </p:nvSpPr>
        <p:spPr bwMode="gray">
          <a:xfrm>
            <a:off x="393700" y="2112963"/>
            <a:ext cx="4271963" cy="2544762"/>
          </a:xfrm>
          <a:prstGeom prst="rect">
            <a:avLst/>
          </a:prstGeom>
          <a:solidFill>
            <a:schemeClr val="bg1">
              <a:lumMod val="95000"/>
              <a:alpha val="39999"/>
            </a:schemeClr>
          </a:solidFill>
          <a:ln>
            <a:noFill/>
          </a:ln>
          <a:effectLst/>
        </p:spPr>
        <p:txBody>
          <a:bodyPr lIns="72000" tIns="72000" rIns="72000" bIns="7200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1144" name="Oval 301"/>
          <p:cNvSpPr>
            <a:spLocks noChangeArrowheads="1"/>
          </p:cNvSpPr>
          <p:nvPr/>
        </p:nvSpPr>
        <p:spPr bwMode="gray">
          <a:xfrm>
            <a:off x="3538538" y="3452813"/>
            <a:ext cx="493712" cy="29210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spcBef>
                <a:spcPct val="20000"/>
              </a:spcBef>
              <a:buClr>
                <a:srgbClr val="000000"/>
              </a:buClr>
              <a:buSzPct val="100000"/>
              <a:buFont typeface="Wingdings" pitchFamily="2" charset="2"/>
              <a:buNone/>
            </a:pPr>
            <a:r>
              <a:rPr lang="ko-KR" altLang="en-US" sz="1000" b="0">
                <a:latin typeface="+mj-ea"/>
                <a:ea typeface="+mj-ea"/>
                <a:cs typeface="Arial" charset="0"/>
              </a:rPr>
              <a:t>상품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b</a:t>
            </a:r>
          </a:p>
        </p:txBody>
      </p:sp>
      <p:sp>
        <p:nvSpPr>
          <p:cNvPr id="91145" name="AutoShape 9"/>
          <p:cNvSpPr>
            <a:spLocks noChangeArrowheads="1"/>
          </p:cNvSpPr>
          <p:nvPr/>
        </p:nvSpPr>
        <p:spPr bwMode="gray">
          <a:xfrm>
            <a:off x="3048000" y="2470150"/>
            <a:ext cx="863600" cy="209550"/>
          </a:xfrm>
          <a:prstGeom prst="roundRect">
            <a:avLst>
              <a:gd name="adj" fmla="val 9556"/>
            </a:avLst>
          </a:prstGeom>
          <a:solidFill>
            <a:srgbClr val="F8F8F8"/>
          </a:solidFill>
          <a:ln w="635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대형가전</a:t>
            </a:r>
          </a:p>
        </p:txBody>
      </p:sp>
      <p:sp>
        <p:nvSpPr>
          <p:cNvPr id="91146" name="AutoShape 10"/>
          <p:cNvSpPr>
            <a:spLocks noChangeArrowheads="1"/>
          </p:cNvSpPr>
          <p:nvPr/>
        </p:nvSpPr>
        <p:spPr bwMode="gray">
          <a:xfrm>
            <a:off x="3048000" y="2755900"/>
            <a:ext cx="863600" cy="209550"/>
          </a:xfrm>
          <a:prstGeom prst="roundRect">
            <a:avLst>
              <a:gd name="adj" fmla="val 9556"/>
            </a:avLst>
          </a:prstGeom>
          <a:solidFill>
            <a:srgbClr val="F8F8F8"/>
          </a:solidFill>
          <a:ln w="635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영상가전</a:t>
            </a:r>
          </a:p>
        </p:txBody>
      </p:sp>
      <p:sp>
        <p:nvSpPr>
          <p:cNvPr id="91147" name="AutoShape 11"/>
          <p:cNvSpPr>
            <a:spLocks noChangeArrowheads="1"/>
          </p:cNvSpPr>
          <p:nvPr/>
        </p:nvSpPr>
        <p:spPr bwMode="gray">
          <a:xfrm>
            <a:off x="3048000" y="3040063"/>
            <a:ext cx="863600" cy="212725"/>
          </a:xfrm>
          <a:prstGeom prst="roundRect">
            <a:avLst>
              <a:gd name="adj" fmla="val 9556"/>
            </a:avLst>
          </a:prstGeom>
          <a:solidFill>
            <a:srgbClr val="F8F8F8"/>
          </a:solidFill>
          <a:ln w="635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TV</a:t>
            </a:r>
          </a:p>
        </p:txBody>
      </p:sp>
      <p:cxnSp>
        <p:nvCxnSpPr>
          <p:cNvPr id="91148" name="AutoShape 12"/>
          <p:cNvCxnSpPr>
            <a:cxnSpLocks noChangeShapeType="1"/>
            <a:stCxn id="91145" idx="2"/>
            <a:endCxn id="91146" idx="0"/>
          </p:cNvCxnSpPr>
          <p:nvPr/>
        </p:nvCxnSpPr>
        <p:spPr bwMode="gray">
          <a:xfrm rot="5400000">
            <a:off x="3441700" y="2717800"/>
            <a:ext cx="76200" cy="0"/>
          </a:xfrm>
          <a:prstGeom prst="straightConnector1">
            <a:avLst/>
          </a:prstGeom>
          <a:noFill/>
          <a:ln w="12700">
            <a:solidFill>
              <a:srgbClr val="4D4D4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63500" dir="5400000" sy="50000" rotWithShape="0">
                    <a:srgbClr val="6666FF">
                      <a:alpha val="50000"/>
                    </a:srgbClr>
                  </a:outerShdw>
                </a:effectLst>
              </a14:hiddenEffects>
            </a:ext>
          </a:extLst>
        </p:spPr>
      </p:cxnSp>
      <p:cxnSp>
        <p:nvCxnSpPr>
          <p:cNvPr id="91149" name="AutoShape 13"/>
          <p:cNvCxnSpPr>
            <a:cxnSpLocks noChangeShapeType="1"/>
            <a:stCxn id="91146" idx="2"/>
            <a:endCxn id="91147" idx="0"/>
          </p:cNvCxnSpPr>
          <p:nvPr/>
        </p:nvCxnSpPr>
        <p:spPr bwMode="gray">
          <a:xfrm rot="5400000">
            <a:off x="3442493" y="3002757"/>
            <a:ext cx="74613" cy="0"/>
          </a:xfrm>
          <a:prstGeom prst="straightConnector1">
            <a:avLst/>
          </a:prstGeom>
          <a:noFill/>
          <a:ln w="12700">
            <a:solidFill>
              <a:srgbClr val="4D4D4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63500" dir="5400000" sy="50000" rotWithShape="0">
                    <a:srgbClr val="6666FF">
                      <a:alpha val="50000"/>
                    </a:srgbClr>
                  </a:outerShdw>
                </a:effectLst>
              </a14:hiddenEffects>
            </a:ext>
          </a:extLst>
        </p:spPr>
      </p:cxnSp>
      <p:cxnSp>
        <p:nvCxnSpPr>
          <p:cNvPr id="91150" name="AutoShape 14"/>
          <p:cNvCxnSpPr>
            <a:cxnSpLocks noChangeShapeType="1"/>
            <a:stCxn id="91147" idx="2"/>
            <a:endCxn id="91144" idx="0"/>
          </p:cNvCxnSpPr>
          <p:nvPr/>
        </p:nvCxnSpPr>
        <p:spPr bwMode="gray">
          <a:xfrm rot="16200000" flipH="1">
            <a:off x="3532981" y="3199607"/>
            <a:ext cx="200025" cy="306388"/>
          </a:xfrm>
          <a:prstGeom prst="bentConnector3">
            <a:avLst>
              <a:gd name="adj1" fmla="val 4910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1151" name="Oval 301"/>
          <p:cNvSpPr>
            <a:spLocks noChangeArrowheads="1"/>
          </p:cNvSpPr>
          <p:nvPr/>
        </p:nvSpPr>
        <p:spPr bwMode="gray">
          <a:xfrm>
            <a:off x="1776413" y="3452813"/>
            <a:ext cx="492125" cy="29210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spcBef>
                <a:spcPct val="20000"/>
              </a:spcBef>
              <a:buClr>
                <a:srgbClr val="000000"/>
              </a:buClr>
              <a:buSzPct val="100000"/>
              <a:buFont typeface="Wingdings" pitchFamily="2" charset="2"/>
              <a:buNone/>
            </a:pPr>
            <a:r>
              <a:rPr lang="ko-KR" altLang="en-US" sz="1000" b="0">
                <a:latin typeface="+mj-ea"/>
                <a:ea typeface="+mj-ea"/>
                <a:cs typeface="Arial" charset="0"/>
              </a:rPr>
              <a:t>상품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2</a:t>
            </a:r>
          </a:p>
        </p:txBody>
      </p:sp>
      <p:sp>
        <p:nvSpPr>
          <p:cNvPr id="91152" name="AutoShape 16"/>
          <p:cNvSpPr>
            <a:spLocks noChangeArrowheads="1"/>
          </p:cNvSpPr>
          <p:nvPr/>
        </p:nvSpPr>
        <p:spPr bwMode="gray">
          <a:xfrm>
            <a:off x="1590675" y="2470150"/>
            <a:ext cx="863600" cy="209550"/>
          </a:xfrm>
          <a:prstGeom prst="roundRect">
            <a:avLst>
              <a:gd name="adj" fmla="val 9556"/>
            </a:avLst>
          </a:prstGeom>
          <a:solidFill>
            <a:srgbClr val="F8F8F8"/>
          </a:solidFill>
          <a:ln w="635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수산물</a:t>
            </a:r>
          </a:p>
        </p:txBody>
      </p:sp>
      <p:sp>
        <p:nvSpPr>
          <p:cNvPr id="91153" name="AutoShape 17"/>
          <p:cNvSpPr>
            <a:spLocks noChangeArrowheads="1"/>
          </p:cNvSpPr>
          <p:nvPr/>
        </p:nvSpPr>
        <p:spPr bwMode="gray">
          <a:xfrm>
            <a:off x="1590675" y="2755900"/>
            <a:ext cx="863600" cy="209550"/>
          </a:xfrm>
          <a:prstGeom prst="roundRect">
            <a:avLst>
              <a:gd name="adj" fmla="val 9556"/>
            </a:avLst>
          </a:prstGeom>
          <a:solidFill>
            <a:srgbClr val="F8F8F8"/>
          </a:solidFill>
          <a:ln w="635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국내산선어</a:t>
            </a:r>
          </a:p>
        </p:txBody>
      </p:sp>
      <p:sp>
        <p:nvSpPr>
          <p:cNvPr id="91154" name="AutoShape 18"/>
          <p:cNvSpPr>
            <a:spLocks noChangeArrowheads="1"/>
          </p:cNvSpPr>
          <p:nvPr/>
        </p:nvSpPr>
        <p:spPr bwMode="gray">
          <a:xfrm>
            <a:off x="1590675" y="3040063"/>
            <a:ext cx="863600" cy="212725"/>
          </a:xfrm>
          <a:prstGeom prst="roundRect">
            <a:avLst>
              <a:gd name="adj" fmla="val 9556"/>
            </a:avLst>
          </a:prstGeom>
          <a:solidFill>
            <a:srgbClr val="F8F8F8"/>
          </a:solidFill>
          <a:ln w="635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10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고등어</a:t>
            </a:r>
          </a:p>
        </p:txBody>
      </p:sp>
      <p:cxnSp>
        <p:nvCxnSpPr>
          <p:cNvPr id="91155" name="AutoShape 19"/>
          <p:cNvCxnSpPr>
            <a:cxnSpLocks noChangeShapeType="1"/>
            <a:stCxn id="91152" idx="2"/>
            <a:endCxn id="91153" idx="0"/>
          </p:cNvCxnSpPr>
          <p:nvPr/>
        </p:nvCxnSpPr>
        <p:spPr bwMode="gray">
          <a:xfrm rot="5400000">
            <a:off x="1984375" y="2717800"/>
            <a:ext cx="76200" cy="0"/>
          </a:xfrm>
          <a:prstGeom prst="straightConnector1">
            <a:avLst/>
          </a:prstGeom>
          <a:noFill/>
          <a:ln w="12700">
            <a:solidFill>
              <a:srgbClr val="4D4D4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63500" dir="5400000" sy="50000" rotWithShape="0">
                    <a:srgbClr val="6666FF">
                      <a:alpha val="50000"/>
                    </a:srgbClr>
                  </a:outerShdw>
                </a:effectLst>
              </a14:hiddenEffects>
            </a:ext>
          </a:extLst>
        </p:spPr>
      </p:cxnSp>
      <p:cxnSp>
        <p:nvCxnSpPr>
          <p:cNvPr id="91156" name="AutoShape 20"/>
          <p:cNvCxnSpPr>
            <a:cxnSpLocks noChangeShapeType="1"/>
            <a:stCxn id="91153" idx="2"/>
            <a:endCxn id="91154" idx="0"/>
          </p:cNvCxnSpPr>
          <p:nvPr/>
        </p:nvCxnSpPr>
        <p:spPr bwMode="gray">
          <a:xfrm rot="5400000">
            <a:off x="1985168" y="3002757"/>
            <a:ext cx="74613" cy="0"/>
          </a:xfrm>
          <a:prstGeom prst="straightConnector1">
            <a:avLst/>
          </a:prstGeom>
          <a:noFill/>
          <a:ln w="12700">
            <a:solidFill>
              <a:srgbClr val="4D4D4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63500" dir="5400000" sy="50000" rotWithShape="0">
                    <a:srgbClr val="6666FF">
                      <a:alpha val="50000"/>
                    </a:srgbClr>
                  </a:outerShdw>
                </a:effectLst>
              </a14:hiddenEffects>
            </a:ext>
          </a:extLst>
        </p:spPr>
      </p:cxnSp>
      <p:cxnSp>
        <p:nvCxnSpPr>
          <p:cNvPr id="91157" name="AutoShape 21"/>
          <p:cNvCxnSpPr>
            <a:cxnSpLocks noChangeShapeType="1"/>
            <a:stCxn id="91154" idx="2"/>
            <a:endCxn id="91151" idx="0"/>
          </p:cNvCxnSpPr>
          <p:nvPr/>
        </p:nvCxnSpPr>
        <p:spPr bwMode="gray">
          <a:xfrm rot="5400000">
            <a:off x="1922462" y="3352801"/>
            <a:ext cx="2000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1158" name="Oval 301"/>
          <p:cNvSpPr>
            <a:spLocks noChangeArrowheads="1"/>
          </p:cNvSpPr>
          <p:nvPr/>
        </p:nvSpPr>
        <p:spPr bwMode="gray">
          <a:xfrm>
            <a:off x="2306638" y="3452813"/>
            <a:ext cx="492125" cy="29210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spcBef>
                <a:spcPct val="20000"/>
              </a:spcBef>
              <a:buClr>
                <a:srgbClr val="000000"/>
              </a:buClr>
              <a:buSzPct val="100000"/>
              <a:buFont typeface="Wingdings" pitchFamily="2" charset="2"/>
              <a:buNone/>
            </a:pPr>
            <a:r>
              <a:rPr lang="ko-KR" altLang="en-US" sz="1000" b="0">
                <a:latin typeface="+mj-ea"/>
                <a:ea typeface="+mj-ea"/>
                <a:cs typeface="Arial" charset="0"/>
              </a:rPr>
              <a:t>상품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3</a:t>
            </a:r>
          </a:p>
        </p:txBody>
      </p:sp>
      <p:sp>
        <p:nvSpPr>
          <p:cNvPr id="91159" name="Oval 301"/>
          <p:cNvSpPr>
            <a:spLocks noChangeArrowheads="1"/>
          </p:cNvSpPr>
          <p:nvPr/>
        </p:nvSpPr>
        <p:spPr bwMode="gray">
          <a:xfrm>
            <a:off x="1243013" y="3452813"/>
            <a:ext cx="492125" cy="29210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spcBef>
                <a:spcPct val="20000"/>
              </a:spcBef>
              <a:buClr>
                <a:srgbClr val="000000"/>
              </a:buClr>
              <a:buSzPct val="100000"/>
              <a:buFont typeface="Wingdings" pitchFamily="2" charset="2"/>
              <a:buNone/>
            </a:pPr>
            <a:r>
              <a:rPr lang="ko-KR" altLang="en-US" sz="1000" b="0">
                <a:latin typeface="+mj-ea"/>
                <a:ea typeface="+mj-ea"/>
                <a:cs typeface="Arial" charset="0"/>
              </a:rPr>
              <a:t>상품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1</a:t>
            </a:r>
          </a:p>
        </p:txBody>
      </p:sp>
      <p:sp>
        <p:nvSpPr>
          <p:cNvPr id="91160" name="Oval 301"/>
          <p:cNvSpPr>
            <a:spLocks noChangeArrowheads="1"/>
          </p:cNvSpPr>
          <p:nvPr/>
        </p:nvSpPr>
        <p:spPr bwMode="gray">
          <a:xfrm>
            <a:off x="2952750" y="3452813"/>
            <a:ext cx="493713" cy="29210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69696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spcBef>
                <a:spcPct val="20000"/>
              </a:spcBef>
              <a:buClr>
                <a:srgbClr val="000000"/>
              </a:buClr>
              <a:buSzPct val="100000"/>
              <a:buFont typeface="Wingdings" pitchFamily="2" charset="2"/>
              <a:buNone/>
            </a:pPr>
            <a:r>
              <a:rPr lang="ko-KR" altLang="en-US" sz="1000" b="0">
                <a:latin typeface="+mj-ea"/>
                <a:ea typeface="+mj-ea"/>
                <a:cs typeface="Arial" charset="0"/>
              </a:rPr>
              <a:t>상품</a:t>
            </a:r>
            <a:r>
              <a:rPr lang="en-US" altLang="ko-KR" sz="1000" b="0">
                <a:latin typeface="+mj-ea"/>
                <a:ea typeface="+mj-ea"/>
                <a:cs typeface="Arial" charset="0"/>
              </a:rPr>
              <a:t>a</a:t>
            </a:r>
          </a:p>
        </p:txBody>
      </p:sp>
      <p:cxnSp>
        <p:nvCxnSpPr>
          <p:cNvPr id="91161" name="AutoShape 25"/>
          <p:cNvCxnSpPr>
            <a:cxnSpLocks noChangeShapeType="1"/>
            <a:stCxn id="91154" idx="2"/>
            <a:endCxn id="91159" idx="0"/>
          </p:cNvCxnSpPr>
          <p:nvPr/>
        </p:nvCxnSpPr>
        <p:spPr bwMode="gray">
          <a:xfrm rot="5400000">
            <a:off x="1655762" y="3086101"/>
            <a:ext cx="200025" cy="533400"/>
          </a:xfrm>
          <a:prstGeom prst="bentConnector3">
            <a:avLst>
              <a:gd name="adj1" fmla="val 4910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1162" name="AutoShape 26"/>
          <p:cNvCxnSpPr>
            <a:cxnSpLocks noChangeShapeType="1"/>
            <a:stCxn id="91154" idx="2"/>
            <a:endCxn id="91158" idx="0"/>
          </p:cNvCxnSpPr>
          <p:nvPr/>
        </p:nvCxnSpPr>
        <p:spPr bwMode="gray">
          <a:xfrm rot="16200000" flipH="1">
            <a:off x="2187575" y="3087688"/>
            <a:ext cx="200025" cy="530225"/>
          </a:xfrm>
          <a:prstGeom prst="bentConnector3">
            <a:avLst>
              <a:gd name="adj1" fmla="val 4910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1163" name="AutoShape 27"/>
          <p:cNvCxnSpPr>
            <a:cxnSpLocks noChangeShapeType="1"/>
            <a:stCxn id="91147" idx="2"/>
            <a:endCxn id="91160" idx="0"/>
          </p:cNvCxnSpPr>
          <p:nvPr/>
        </p:nvCxnSpPr>
        <p:spPr bwMode="gray">
          <a:xfrm rot="5400000">
            <a:off x="3240087" y="3213101"/>
            <a:ext cx="200025" cy="279400"/>
          </a:xfrm>
          <a:prstGeom prst="bentConnector3">
            <a:avLst>
              <a:gd name="adj1" fmla="val 4910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1164" name="Rectangle 28"/>
          <p:cNvSpPr>
            <a:spLocks noChangeArrowheads="1"/>
          </p:cNvSpPr>
          <p:nvPr/>
        </p:nvSpPr>
        <p:spPr bwMode="auto">
          <a:xfrm>
            <a:off x="3044825" y="2136775"/>
            <a:ext cx="8096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85725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30000"/>
              </a:spcBef>
              <a:buFont typeface="맑은 고딕" pitchFamily="50" charset="-127"/>
              <a:buNone/>
            </a:pPr>
            <a:r>
              <a:rPr lang="ko-KR" altLang="en-US" u="sng">
                <a:latin typeface="+mj-ea"/>
                <a:ea typeface="+mj-ea"/>
                <a:cs typeface="Arial" charset="0"/>
              </a:rPr>
              <a:t>가전류</a:t>
            </a:r>
          </a:p>
        </p:txBody>
      </p:sp>
      <p:sp>
        <p:nvSpPr>
          <p:cNvPr id="91165" name="Oval 29"/>
          <p:cNvSpPr>
            <a:spLocks noChangeArrowheads="1"/>
          </p:cNvSpPr>
          <p:nvPr/>
        </p:nvSpPr>
        <p:spPr bwMode="gray">
          <a:xfrm>
            <a:off x="460375" y="2524125"/>
            <a:ext cx="161925" cy="163513"/>
          </a:xfrm>
          <a:prstGeom prst="ellipse">
            <a:avLst/>
          </a:prstGeom>
          <a:solidFill>
            <a:srgbClr val="000066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eaLnBrk="0" hangingPunct="0">
              <a:lnSpc>
                <a:spcPct val="106000"/>
              </a:lnSpc>
              <a:spcBef>
                <a:spcPct val="50000"/>
              </a:spcBef>
            </a:pPr>
            <a:r>
              <a:rPr lang="en-US" altLang="ko-KR" sz="1100" b="0">
                <a:solidFill>
                  <a:schemeClr val="bg1"/>
                </a:solidFill>
                <a:latin typeface="+mj-ea"/>
                <a:ea typeface="+mj-ea"/>
              </a:rPr>
              <a:t>1</a:t>
            </a:r>
          </a:p>
        </p:txBody>
      </p:sp>
      <p:sp>
        <p:nvSpPr>
          <p:cNvPr id="91166" name="Oval 30"/>
          <p:cNvSpPr>
            <a:spLocks noChangeArrowheads="1"/>
          </p:cNvSpPr>
          <p:nvPr/>
        </p:nvSpPr>
        <p:spPr bwMode="gray">
          <a:xfrm>
            <a:off x="460375" y="4040188"/>
            <a:ext cx="161925" cy="163512"/>
          </a:xfrm>
          <a:prstGeom prst="ellipse">
            <a:avLst/>
          </a:prstGeom>
          <a:solidFill>
            <a:srgbClr val="000066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eaLnBrk="0" hangingPunct="0">
              <a:lnSpc>
                <a:spcPct val="106000"/>
              </a:lnSpc>
              <a:spcBef>
                <a:spcPct val="50000"/>
              </a:spcBef>
            </a:pPr>
            <a:r>
              <a:rPr lang="en-US" altLang="ko-KR" sz="1100" b="0">
                <a:solidFill>
                  <a:schemeClr val="bg1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91167" name="AutoShape 31"/>
          <p:cNvSpPr>
            <a:spLocks/>
          </p:cNvSpPr>
          <p:nvPr/>
        </p:nvSpPr>
        <p:spPr bwMode="gray">
          <a:xfrm>
            <a:off x="1781175" y="4337050"/>
            <a:ext cx="828675" cy="211138"/>
          </a:xfrm>
          <a:prstGeom prst="borderCallout2">
            <a:avLst>
              <a:gd name="adj1" fmla="val 61019"/>
              <a:gd name="adj2" fmla="val -9194"/>
              <a:gd name="adj3" fmla="val 61019"/>
              <a:gd name="adj4" fmla="val -21074"/>
              <a:gd name="adj5" fmla="val -288981"/>
              <a:gd name="adj6" fmla="val -27778"/>
            </a:avLst>
          </a:prstGeom>
          <a:solidFill>
            <a:srgbClr val="E6E5FF"/>
          </a:solidFill>
          <a:ln w="3175" algn="ctr">
            <a:solidFill>
              <a:srgbClr val="333333"/>
            </a:solidFill>
            <a:prstDash val="sysDot"/>
            <a:miter lim="800000"/>
            <a:headEnd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63500" dir="5400000" sy="50000" rotWithShape="0">
                    <a:srgbClr val="6666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>
              <a:buSzPct val="80000"/>
              <a:buFont typeface="Wingdings" pitchFamily="2" charset="2"/>
              <a:buNone/>
            </a:pPr>
            <a:r>
              <a:rPr lang="ko-KR" altLang="en-US" sz="900" b="0">
                <a:latin typeface="+mj-ea"/>
                <a:ea typeface="+mj-ea"/>
                <a:cs typeface="Arial" charset="0"/>
              </a:rPr>
              <a:t>판매 관리 속성</a:t>
            </a:r>
          </a:p>
        </p:txBody>
      </p:sp>
      <p:sp>
        <p:nvSpPr>
          <p:cNvPr id="107" name="TextBox 106"/>
          <p:cNvSpPr txBox="1">
            <a:spLocks noChangeArrowheads="1"/>
          </p:cNvSpPr>
          <p:nvPr/>
        </p:nvSpPr>
        <p:spPr bwMode="gray">
          <a:xfrm>
            <a:off x="2611438" y="3827463"/>
            <a:ext cx="2156739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36000" rIns="72000" bIns="360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ko-KR" altLang="en-US" sz="1000" b="0" dirty="0">
                <a:solidFill>
                  <a:srgbClr val="003399"/>
                </a:solidFill>
                <a:latin typeface="+mj-ea"/>
                <a:ea typeface="+mj-ea"/>
                <a:cs typeface="Arial" charset="0"/>
              </a:rPr>
              <a:t>거래처</a:t>
            </a:r>
            <a:r>
              <a:rPr lang="en-US" altLang="ko-KR" sz="1000" b="0" dirty="0">
                <a:solidFill>
                  <a:srgbClr val="003399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000" b="0" dirty="0">
                <a:solidFill>
                  <a:srgbClr val="003399"/>
                </a:solidFill>
                <a:latin typeface="+mj-ea"/>
                <a:ea typeface="+mj-ea"/>
                <a:cs typeface="Arial" charset="0"/>
              </a:rPr>
              <a:t>구매담당자</a:t>
            </a:r>
            <a:r>
              <a:rPr lang="en-US" altLang="ko-KR" sz="1000" b="0" dirty="0">
                <a:solidFill>
                  <a:srgbClr val="003399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000" b="0" dirty="0">
                <a:solidFill>
                  <a:srgbClr val="003399"/>
                </a:solidFill>
                <a:latin typeface="+mj-ea"/>
                <a:ea typeface="+mj-ea"/>
                <a:cs typeface="Arial" charset="0"/>
              </a:rPr>
              <a:t>반품주체 등</a:t>
            </a:r>
          </a:p>
        </p:txBody>
      </p:sp>
      <p:sp>
        <p:nvSpPr>
          <p:cNvPr id="91169" name="AutoShape 33"/>
          <p:cNvSpPr>
            <a:spLocks/>
          </p:cNvSpPr>
          <p:nvPr/>
        </p:nvSpPr>
        <p:spPr bwMode="gray">
          <a:xfrm flipH="1">
            <a:off x="1387475" y="2493963"/>
            <a:ext cx="144463" cy="692150"/>
          </a:xfrm>
          <a:prstGeom prst="rightBrace">
            <a:avLst>
              <a:gd name="adj1" fmla="val 39927"/>
              <a:gd name="adj2" fmla="val 50000"/>
            </a:avLst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1170" name="Rectangle 34"/>
          <p:cNvSpPr>
            <a:spLocks noChangeArrowheads="1"/>
          </p:cNvSpPr>
          <p:nvPr/>
        </p:nvSpPr>
        <p:spPr bwMode="auto">
          <a:xfrm>
            <a:off x="452438" y="2517775"/>
            <a:ext cx="118745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174625" indent="-174625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</a:pPr>
            <a:r>
              <a:rPr lang="ko-KR" altLang="en-US" sz="1100">
                <a:latin typeface="+mj-ea"/>
                <a:ea typeface="+mj-ea"/>
                <a:cs typeface="Arial" charset="0"/>
              </a:rPr>
              <a:t>관리 위주의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</a:pPr>
            <a:r>
              <a:rPr lang="ko-KR" altLang="en-US" sz="1100">
                <a:latin typeface="+mj-ea"/>
                <a:ea typeface="+mj-ea"/>
                <a:cs typeface="Arial" charset="0"/>
              </a:rPr>
              <a:t> 상품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</a:pPr>
            <a:r>
              <a:rPr lang="ko-KR" altLang="en-US" sz="1100">
                <a:latin typeface="+mj-ea"/>
                <a:ea typeface="+mj-ea"/>
                <a:cs typeface="Arial" charset="0"/>
              </a:rPr>
              <a:t>카테고리</a:t>
            </a:r>
          </a:p>
        </p:txBody>
      </p:sp>
      <p:sp>
        <p:nvSpPr>
          <p:cNvPr id="91171" name="AutoShape 35"/>
          <p:cNvSpPr>
            <a:spLocks/>
          </p:cNvSpPr>
          <p:nvPr/>
        </p:nvSpPr>
        <p:spPr bwMode="gray">
          <a:xfrm>
            <a:off x="1781175" y="3938588"/>
            <a:ext cx="828675" cy="211137"/>
          </a:xfrm>
          <a:prstGeom prst="borderCallout2">
            <a:avLst>
              <a:gd name="adj1" fmla="val 61019"/>
              <a:gd name="adj2" fmla="val -9194"/>
              <a:gd name="adj3" fmla="val 61019"/>
              <a:gd name="adj4" fmla="val -15898"/>
              <a:gd name="adj5" fmla="val -99153"/>
              <a:gd name="adj6" fmla="val -19731"/>
            </a:avLst>
          </a:prstGeom>
          <a:solidFill>
            <a:srgbClr val="E6E5FF"/>
          </a:solidFill>
          <a:ln w="3175" algn="ctr">
            <a:solidFill>
              <a:srgbClr val="333333"/>
            </a:solidFill>
            <a:prstDash val="sysDot"/>
            <a:miter lim="800000"/>
            <a:headEnd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63500" dir="5400000" sy="50000" rotWithShape="0">
                    <a:srgbClr val="6666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>
              <a:buSzPct val="80000"/>
              <a:buFont typeface="Wingdings" pitchFamily="2" charset="2"/>
              <a:buNone/>
            </a:pPr>
            <a:r>
              <a:rPr lang="ko-KR" altLang="en-US" sz="900" b="0" dirty="0">
                <a:latin typeface="+mj-ea"/>
                <a:ea typeface="+mj-ea"/>
                <a:cs typeface="Arial" charset="0"/>
              </a:rPr>
              <a:t>소싱 관리 속성</a:t>
            </a:r>
          </a:p>
        </p:txBody>
      </p:sp>
      <p:sp>
        <p:nvSpPr>
          <p:cNvPr id="2" name="TextBox 106"/>
          <p:cNvSpPr txBox="1">
            <a:spLocks noChangeArrowheads="1"/>
          </p:cNvSpPr>
          <p:nvPr/>
        </p:nvSpPr>
        <p:spPr bwMode="gray">
          <a:xfrm>
            <a:off x="2613025" y="4238625"/>
            <a:ext cx="205263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36000" rIns="72000" bIns="36000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ct val="50000"/>
              </a:spcBef>
              <a:buSzPct val="100000"/>
              <a:buFont typeface="Wingdings" pitchFamily="2" charset="2"/>
              <a:buNone/>
            </a:pPr>
            <a:r>
              <a:rPr lang="ko-KR" altLang="en-US" sz="1000" b="0">
                <a:solidFill>
                  <a:srgbClr val="003399"/>
                </a:solidFill>
                <a:latin typeface="+mj-ea"/>
                <a:ea typeface="+mj-ea"/>
                <a:cs typeface="Arial" charset="0"/>
              </a:rPr>
              <a:t>과세구분</a:t>
            </a:r>
            <a:r>
              <a:rPr lang="en-US" altLang="ko-KR" sz="1000" b="0">
                <a:solidFill>
                  <a:srgbClr val="003399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000" b="0">
                <a:solidFill>
                  <a:srgbClr val="003399"/>
                </a:solidFill>
                <a:latin typeface="+mj-ea"/>
                <a:ea typeface="+mj-ea"/>
                <a:cs typeface="Arial" charset="0"/>
              </a:rPr>
              <a:t>보관구분</a:t>
            </a:r>
            <a:r>
              <a:rPr lang="en-US" altLang="ko-KR" sz="1000" b="0">
                <a:solidFill>
                  <a:srgbClr val="003399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sz="1000" b="0">
                <a:solidFill>
                  <a:srgbClr val="003399"/>
                </a:solidFill>
                <a:latin typeface="+mj-ea"/>
                <a:ea typeface="+mj-ea"/>
                <a:cs typeface="Arial" charset="0"/>
              </a:rPr>
              <a:t>배송구분 등</a:t>
            </a:r>
          </a:p>
        </p:txBody>
      </p:sp>
      <p:sp>
        <p:nvSpPr>
          <p:cNvPr id="91173" name="AutoShape 37"/>
          <p:cNvSpPr>
            <a:spLocks/>
          </p:cNvSpPr>
          <p:nvPr/>
        </p:nvSpPr>
        <p:spPr bwMode="gray">
          <a:xfrm flipH="1">
            <a:off x="1387475" y="3922713"/>
            <a:ext cx="144463" cy="690562"/>
          </a:xfrm>
          <a:prstGeom prst="rightBrace">
            <a:avLst>
              <a:gd name="adj1" fmla="val 39835"/>
              <a:gd name="adj2" fmla="val 50000"/>
            </a:avLst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1174" name="Rectangle 38"/>
          <p:cNvSpPr>
            <a:spLocks noChangeArrowheads="1"/>
          </p:cNvSpPr>
          <p:nvPr/>
        </p:nvSpPr>
        <p:spPr bwMode="auto">
          <a:xfrm>
            <a:off x="452438" y="4037013"/>
            <a:ext cx="1187450" cy="37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174625" indent="-174625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30000"/>
              </a:spcBef>
            </a:pPr>
            <a:r>
              <a:rPr lang="ko-KR" altLang="en-US" sz="1100">
                <a:latin typeface="+mj-ea"/>
                <a:ea typeface="+mj-ea"/>
                <a:cs typeface="Arial" charset="0"/>
              </a:rPr>
              <a:t>관리 위주의</a:t>
            </a:r>
          </a:p>
          <a:p>
            <a:pPr eaLnBrk="1" hangingPunct="1">
              <a:lnSpc>
                <a:spcPct val="70000"/>
              </a:lnSpc>
              <a:spcBef>
                <a:spcPct val="30000"/>
              </a:spcBef>
            </a:pPr>
            <a:r>
              <a:rPr lang="ko-KR" altLang="en-US" sz="1100">
                <a:latin typeface="+mj-ea"/>
                <a:ea typeface="+mj-ea"/>
                <a:cs typeface="Arial" charset="0"/>
              </a:rPr>
              <a:t> 상품 속성</a:t>
            </a:r>
          </a:p>
        </p:txBody>
      </p:sp>
      <p:grpSp>
        <p:nvGrpSpPr>
          <p:cNvPr id="91175" name="Group 39"/>
          <p:cNvGrpSpPr>
            <a:grpSpLocks/>
          </p:cNvGrpSpPr>
          <p:nvPr/>
        </p:nvGrpSpPr>
        <p:grpSpPr bwMode="auto">
          <a:xfrm>
            <a:off x="596900" y="5291138"/>
            <a:ext cx="673100" cy="622300"/>
            <a:chOff x="2534" y="1402"/>
            <a:chExt cx="416" cy="429"/>
          </a:xfrm>
        </p:grpSpPr>
        <p:pic>
          <p:nvPicPr>
            <p:cNvPr id="91176" name="Picture 64" descr="people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85" t="21753" r="19777" b="12991"/>
            <a:stretch>
              <a:fillRect/>
            </a:stretch>
          </p:blipFill>
          <p:spPr bwMode="gray">
            <a:xfrm>
              <a:off x="2534" y="1402"/>
              <a:ext cx="416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177" name="Rectangle 41"/>
            <p:cNvSpPr>
              <a:spLocks noChangeArrowheads="1"/>
            </p:cNvSpPr>
            <p:nvPr/>
          </p:nvSpPr>
          <p:spPr bwMode="auto">
            <a:xfrm>
              <a:off x="2641" y="1675"/>
              <a:ext cx="202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>
              <a:no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ko-KR" altLang="en-US" sz="1000">
                  <a:latin typeface="+mj-ea"/>
                  <a:ea typeface="+mj-ea"/>
                  <a:cs typeface="Arial" charset="0"/>
                </a:rPr>
                <a:t>고객</a:t>
              </a:r>
            </a:p>
          </p:txBody>
        </p:sp>
      </p:grpSp>
      <p:sp>
        <p:nvSpPr>
          <p:cNvPr id="91178" name="Rectangle 42"/>
          <p:cNvSpPr>
            <a:spLocks noChangeArrowheads="1"/>
          </p:cNvSpPr>
          <p:nvPr/>
        </p:nvSpPr>
        <p:spPr bwMode="auto">
          <a:xfrm>
            <a:off x="1189894" y="5446713"/>
            <a:ext cx="1682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85725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30000"/>
              </a:spcBef>
              <a:buFont typeface="맑은 고딕" pitchFamily="50" charset="-127"/>
              <a:buNone/>
            </a:pP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국내산 생선</a:t>
            </a:r>
            <a:endParaRPr lang="en-US" altLang="ko-KR" sz="1100" b="0" dirty="0">
              <a:latin typeface="+mj-ea"/>
              <a:ea typeface="+mj-ea"/>
              <a:cs typeface="Arial" charset="0"/>
            </a:endParaRPr>
          </a:p>
        </p:txBody>
      </p:sp>
      <p:sp>
        <p:nvSpPr>
          <p:cNvPr id="91179" name="Rectangle 43"/>
          <p:cNvSpPr>
            <a:spLocks noChangeArrowheads="1"/>
          </p:cNvSpPr>
          <p:nvPr/>
        </p:nvSpPr>
        <p:spPr bwMode="auto">
          <a:xfrm>
            <a:off x="1171575" y="5953125"/>
            <a:ext cx="167005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85725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30000"/>
              </a:spcBef>
              <a:buFont typeface="맑은 고딕" pitchFamily="50" charset="-127"/>
              <a:buNone/>
            </a:pP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40</a:t>
            </a:r>
            <a:r>
              <a:rPr lang="ko-KR" altLang="en-US" sz="1100" b="0" dirty="0">
                <a:latin typeface="+mj-ea"/>
                <a:ea typeface="+mj-ea"/>
                <a:cs typeface="Arial" charset="0"/>
              </a:rPr>
              <a:t>인치 이상 </a:t>
            </a:r>
            <a:r>
              <a:rPr lang="en-US" altLang="ko-KR" sz="1100" b="0" dirty="0">
                <a:latin typeface="+mj-ea"/>
                <a:ea typeface="+mj-ea"/>
                <a:cs typeface="Arial" charset="0"/>
              </a:rPr>
              <a:t>TV</a:t>
            </a:r>
          </a:p>
        </p:txBody>
      </p:sp>
      <p:sp>
        <p:nvSpPr>
          <p:cNvPr id="91180" name="Text Box 198"/>
          <p:cNvSpPr txBox="1">
            <a:spLocks noChangeArrowheads="1"/>
          </p:cNvSpPr>
          <p:nvPr/>
        </p:nvSpPr>
        <p:spPr bwMode="gray">
          <a:xfrm>
            <a:off x="2736850" y="5426075"/>
            <a:ext cx="2189163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>
            <a:lvl1pPr marL="180975" indent="-18097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ct val="20000"/>
              </a:spcBef>
              <a:buSzPct val="100000"/>
              <a:buFont typeface="Arial" charset="0"/>
              <a:buChar char="→"/>
            </a:pPr>
            <a:r>
              <a:rPr lang="ko-KR" altLang="en-US" sz="1100" b="0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식품은 </a:t>
            </a:r>
            <a:r>
              <a:rPr lang="ko-KR" altLang="en-US" sz="1100" b="0" u="sng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원산지</a:t>
            </a:r>
            <a:r>
              <a:rPr lang="en-US" altLang="ko-KR" sz="1100" b="0" u="sng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, </a:t>
            </a:r>
            <a:r>
              <a:rPr lang="ko-KR" altLang="en-US" sz="1100" b="0" u="sng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규격</a:t>
            </a:r>
            <a:r>
              <a:rPr lang="en-US" altLang="ko-KR" sz="1100" b="0" u="sng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, </a:t>
            </a:r>
            <a:r>
              <a:rPr lang="ko-KR" altLang="en-US" sz="1100" b="0" u="sng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브랜드</a:t>
            </a:r>
            <a:r>
              <a:rPr lang="ko-KR" altLang="en-US" sz="1100" b="0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 등이 주요 의사결정 기준임</a:t>
            </a:r>
            <a:endParaRPr lang="ko-KR" altLang="en-US" sz="1100" b="0">
              <a:solidFill>
                <a:srgbClr val="0066CC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91181" name="Text Box 198"/>
          <p:cNvSpPr txBox="1">
            <a:spLocks noChangeArrowheads="1"/>
          </p:cNvSpPr>
          <p:nvPr/>
        </p:nvSpPr>
        <p:spPr bwMode="gray">
          <a:xfrm>
            <a:off x="2736850" y="5934075"/>
            <a:ext cx="2189163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>
            <a:lvl1pPr marL="180975" indent="-18097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spcBef>
                <a:spcPct val="20000"/>
              </a:spcBef>
              <a:buSzPct val="100000"/>
              <a:buFont typeface="Arial" charset="0"/>
              <a:buChar char="→"/>
            </a:pPr>
            <a:r>
              <a:rPr lang="en-US" altLang="ko-KR" sz="1100" b="0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TV</a:t>
            </a:r>
            <a:r>
              <a:rPr lang="ko-KR" altLang="en-US" sz="1100" b="0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는 </a:t>
            </a:r>
            <a:r>
              <a:rPr lang="ko-KR" altLang="en-US" sz="1100" b="0" u="sng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브랜드</a:t>
            </a:r>
            <a:r>
              <a:rPr lang="en-US" altLang="ko-KR" sz="1100" b="0" u="sng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, </a:t>
            </a:r>
            <a:r>
              <a:rPr lang="ko-KR" altLang="en-US" sz="1100" b="0" u="sng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규격</a:t>
            </a:r>
            <a:r>
              <a:rPr lang="en-US" altLang="ko-KR" sz="1100" b="0" u="sng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, </a:t>
            </a:r>
            <a:r>
              <a:rPr lang="ko-KR" altLang="en-US" sz="1100" b="0" u="sng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패널</a:t>
            </a:r>
            <a:r>
              <a:rPr lang="ko-KR" altLang="en-US" sz="1100" b="0">
                <a:solidFill>
                  <a:srgbClr val="0066CC"/>
                </a:solidFill>
                <a:latin typeface="+mj-ea"/>
                <a:ea typeface="+mj-ea"/>
                <a:cs typeface="Arial" charset="0"/>
                <a:sym typeface="Wingdings" pitchFamily="2" charset="2"/>
              </a:rPr>
              <a:t> 등이 주요 의사결정 기준임</a:t>
            </a:r>
            <a:endParaRPr lang="ko-KR" altLang="en-US" sz="1100" b="0">
              <a:solidFill>
                <a:srgbClr val="0066CC"/>
              </a:solidFill>
              <a:latin typeface="+mj-ea"/>
              <a:ea typeface="+mj-ea"/>
              <a:cs typeface="Arial" charset="0"/>
            </a:endParaRPr>
          </a:p>
        </p:txBody>
      </p:sp>
      <p:grpSp>
        <p:nvGrpSpPr>
          <p:cNvPr id="91182" name="Group 46"/>
          <p:cNvGrpSpPr>
            <a:grpSpLocks/>
          </p:cNvGrpSpPr>
          <p:nvPr/>
        </p:nvGrpSpPr>
        <p:grpSpPr bwMode="auto">
          <a:xfrm>
            <a:off x="2540000" y="4706938"/>
            <a:ext cx="1116013" cy="358775"/>
            <a:chOff x="829" y="2455"/>
            <a:chExt cx="703" cy="281"/>
          </a:xfrm>
        </p:grpSpPr>
        <p:sp>
          <p:nvSpPr>
            <p:cNvPr id="114" name="위쪽/아래쪽 화살표 113"/>
            <p:cNvSpPr/>
            <p:nvPr/>
          </p:nvSpPr>
          <p:spPr bwMode="auto">
            <a:xfrm>
              <a:off x="829" y="2455"/>
              <a:ext cx="703" cy="281"/>
            </a:xfrm>
            <a:prstGeom prst="up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 dirty="0">
                <a:solidFill>
                  <a:sysClr val="window" lastClr="FFFFFF"/>
                </a:solidFill>
                <a:latin typeface="+mj-ea"/>
                <a:ea typeface="+mj-ea"/>
              </a:endParaRPr>
            </a:p>
          </p:txBody>
        </p:sp>
        <p:sp>
          <p:nvSpPr>
            <p:cNvPr id="115" name="Text Box 19"/>
            <p:cNvSpPr txBox="1">
              <a:spLocks noChangeArrowheads="1"/>
            </p:cNvSpPr>
            <p:nvPr/>
          </p:nvSpPr>
          <p:spPr bwMode="gray">
            <a:xfrm>
              <a:off x="850" y="2476"/>
              <a:ext cx="66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noAutofit/>
            </a:bodyPr>
            <a:lstStyle>
              <a:lvl1pPr marL="114300" indent="-1143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>
                <a:spcBef>
                  <a:spcPct val="20000"/>
                </a:spcBef>
                <a:buSzPct val="100000"/>
                <a:buFont typeface="Wingdings" pitchFamily="2" charset="2"/>
                <a:buNone/>
              </a:pPr>
              <a:r>
                <a:rPr lang="en-US" altLang="ko-KR" sz="1400">
                  <a:solidFill>
                    <a:srgbClr val="000000"/>
                  </a:solidFill>
                  <a:latin typeface="+mj-ea"/>
                  <a:ea typeface="+mj-ea"/>
                  <a:cs typeface="Arial" charset="0"/>
                </a:rPr>
                <a:t>GAP</a:t>
              </a:r>
            </a:p>
          </p:txBody>
        </p:sp>
      </p:grpSp>
      <p:sp>
        <p:nvSpPr>
          <p:cNvPr id="91186" name="Rectangle 50"/>
          <p:cNvSpPr>
            <a:spLocks noChangeArrowheads="1"/>
          </p:cNvSpPr>
          <p:nvPr/>
        </p:nvSpPr>
        <p:spPr bwMode="auto">
          <a:xfrm>
            <a:off x="1279525" y="5140325"/>
            <a:ext cx="28813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85725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30000"/>
              </a:spcBef>
              <a:buFont typeface="맑은 고딕" pitchFamily="50" charset="-127"/>
              <a:buNone/>
            </a:pPr>
            <a:r>
              <a:rPr lang="ko-KR" altLang="en-US" u="sng">
                <a:latin typeface="+mj-ea"/>
                <a:ea typeface="+mj-ea"/>
                <a:cs typeface="Arial" charset="0"/>
              </a:rPr>
              <a:t>상품군 별 고객의 다양한 구매 요소</a:t>
            </a:r>
          </a:p>
        </p:txBody>
      </p:sp>
      <p:sp>
        <p:nvSpPr>
          <p:cNvPr id="91187" name="Text Box 39"/>
          <p:cNvSpPr txBox="1">
            <a:spLocks noChangeArrowheads="1"/>
          </p:cNvSpPr>
          <p:nvPr/>
        </p:nvSpPr>
        <p:spPr bwMode="auto">
          <a:xfrm>
            <a:off x="627063" y="4705350"/>
            <a:ext cx="2016125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18000" rIns="54000" bIns="18000" anchor="ctr">
            <a:noAutofit/>
          </a:bodyPr>
          <a:lstStyle>
            <a:lvl1pPr marL="90488" indent="-90488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ko-KR" altLang="en-US">
                <a:solidFill>
                  <a:srgbClr val="336699"/>
                </a:solidFill>
                <a:latin typeface="+mj-ea"/>
                <a:ea typeface="+mj-ea"/>
                <a:cs typeface="Arial" charset="0"/>
              </a:rPr>
              <a:t>고객 중심의 상품 운영과는 동떨어져있음</a:t>
            </a:r>
          </a:p>
        </p:txBody>
      </p:sp>
      <p:sp>
        <p:nvSpPr>
          <p:cNvPr id="91188" name="Rectangle 52"/>
          <p:cNvSpPr>
            <a:spLocks noChangeArrowheads="1"/>
          </p:cNvSpPr>
          <p:nvPr/>
        </p:nvSpPr>
        <p:spPr bwMode="gray">
          <a:xfrm>
            <a:off x="5216525" y="2097088"/>
            <a:ext cx="4271963" cy="1947862"/>
          </a:xfrm>
          <a:prstGeom prst="rect">
            <a:avLst/>
          </a:prstGeom>
          <a:solidFill>
            <a:schemeClr val="bg1">
              <a:lumMod val="95000"/>
              <a:alpha val="39999"/>
            </a:schemeClr>
          </a:solidFill>
          <a:ln>
            <a:noFill/>
          </a:ln>
          <a:effectLst/>
        </p:spPr>
        <p:txBody>
          <a:bodyPr lIns="72000" tIns="72000" rIns="72000" bIns="7200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1189" name="Rectangle 53"/>
          <p:cNvSpPr>
            <a:spLocks noChangeArrowheads="1"/>
          </p:cNvSpPr>
          <p:nvPr/>
        </p:nvSpPr>
        <p:spPr bwMode="gray">
          <a:xfrm>
            <a:off x="6103938" y="2816225"/>
            <a:ext cx="903287" cy="566738"/>
          </a:xfrm>
          <a:prstGeom prst="rect">
            <a:avLst/>
          </a:prstGeom>
          <a:solidFill>
            <a:srgbClr val="F8F8F8"/>
          </a:solidFill>
          <a:ln w="63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0" tIns="54000" rIns="0" bIns="0" anchor="ctr">
            <a:no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9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11111</a:t>
            </a:r>
          </a:p>
          <a:p>
            <a:pPr>
              <a:lnSpc>
                <a:spcPct val="6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간장게장 </a:t>
            </a:r>
            <a:r>
              <a:rPr lang="en-US" altLang="ko-KR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5kg</a:t>
            </a:r>
            <a:endParaRPr lang="en-US" altLang="ko-KR" sz="900" b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91190" name="Rectangle 54"/>
          <p:cNvSpPr>
            <a:spLocks noChangeArrowheads="1"/>
          </p:cNvSpPr>
          <p:nvPr/>
        </p:nvSpPr>
        <p:spPr bwMode="gray">
          <a:xfrm>
            <a:off x="8116888" y="2816225"/>
            <a:ext cx="903287" cy="566738"/>
          </a:xfrm>
          <a:prstGeom prst="rect">
            <a:avLst/>
          </a:prstGeom>
          <a:solidFill>
            <a:srgbClr val="F8F8F8"/>
          </a:solidFill>
          <a:ln w="63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0" tIns="54000" rIns="0" bIns="0" anchor="ctr">
            <a:no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9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33333</a:t>
            </a:r>
          </a:p>
          <a:p>
            <a:pPr>
              <a:lnSpc>
                <a:spcPct val="6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간장게장 </a:t>
            </a:r>
            <a:r>
              <a:rPr lang="en-US" altLang="ko-KR" sz="8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10kg</a:t>
            </a:r>
            <a:endParaRPr lang="en-US" altLang="ko-KR" sz="900" b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900">
                <a:solidFill>
                  <a:srgbClr val="993300"/>
                </a:solidFill>
                <a:latin typeface="+mj-ea"/>
                <a:ea typeface="+mj-ea"/>
                <a:cs typeface="Arial" charset="0"/>
              </a:rPr>
              <a:t>사은품 증정</a:t>
            </a:r>
          </a:p>
        </p:txBody>
      </p:sp>
      <p:sp>
        <p:nvSpPr>
          <p:cNvPr id="91191" name="Rectangle 55"/>
          <p:cNvSpPr>
            <a:spLocks noChangeArrowheads="1"/>
          </p:cNvSpPr>
          <p:nvPr/>
        </p:nvSpPr>
        <p:spPr bwMode="gray">
          <a:xfrm>
            <a:off x="7110413" y="2816225"/>
            <a:ext cx="903287" cy="566738"/>
          </a:xfrm>
          <a:prstGeom prst="rect">
            <a:avLst/>
          </a:prstGeom>
          <a:solidFill>
            <a:srgbClr val="F8F8F8"/>
          </a:solidFill>
          <a:ln w="635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0" tIns="54000" rIns="0" bIns="0" anchor="ctr">
            <a:no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ko-KR" sz="9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22222</a:t>
            </a:r>
          </a:p>
          <a:p>
            <a:pPr>
              <a:lnSpc>
                <a:spcPct val="6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ko-KR" altLang="en-US" sz="9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간장게장 </a:t>
            </a:r>
            <a:r>
              <a:rPr lang="en-US" altLang="ko-KR" sz="900" b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10kg</a:t>
            </a:r>
          </a:p>
        </p:txBody>
      </p:sp>
      <p:sp>
        <p:nvSpPr>
          <p:cNvPr id="91192" name="Rectangle 56"/>
          <p:cNvSpPr>
            <a:spLocks noChangeArrowheads="1"/>
          </p:cNvSpPr>
          <p:nvPr/>
        </p:nvSpPr>
        <p:spPr bwMode="auto">
          <a:xfrm>
            <a:off x="6235700" y="2179638"/>
            <a:ext cx="2628900" cy="439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>
            <a:lvl1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lang="ko-KR" altLang="en-US">
                <a:solidFill>
                  <a:srgbClr val="000066"/>
                </a:solidFill>
                <a:latin typeface="+mj-ea"/>
                <a:ea typeface="+mj-ea"/>
                <a:cs typeface="Arial" charset="0"/>
              </a:rPr>
              <a:t>상품 특성이 변경되면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lang="ko-KR" altLang="en-US">
                <a:solidFill>
                  <a:srgbClr val="000066"/>
                </a:solidFill>
                <a:latin typeface="+mj-ea"/>
                <a:ea typeface="+mj-ea"/>
                <a:cs typeface="Arial" charset="0"/>
              </a:rPr>
              <a:t>동일 상품의 다수 코드 생성</a:t>
            </a:r>
          </a:p>
        </p:txBody>
      </p:sp>
      <p:sp>
        <p:nvSpPr>
          <p:cNvPr id="91193" name="AutoShape 57"/>
          <p:cNvSpPr>
            <a:spLocks/>
          </p:cNvSpPr>
          <p:nvPr/>
        </p:nvSpPr>
        <p:spPr bwMode="gray">
          <a:xfrm>
            <a:off x="5599113" y="3465513"/>
            <a:ext cx="530225" cy="204787"/>
          </a:xfrm>
          <a:prstGeom prst="borderCallout2">
            <a:avLst>
              <a:gd name="adj1" fmla="val 55815"/>
              <a:gd name="adj2" fmla="val 114370"/>
              <a:gd name="adj3" fmla="val 55815"/>
              <a:gd name="adj4" fmla="val 130241"/>
              <a:gd name="adj5" fmla="val -79847"/>
              <a:gd name="adj6" fmla="val 139819"/>
            </a:avLst>
          </a:prstGeom>
          <a:solidFill>
            <a:schemeClr val="bg2"/>
          </a:solidFill>
          <a:ln w="3175" algn="ctr">
            <a:solidFill>
              <a:srgbClr val="333333"/>
            </a:solidFill>
            <a:miter lim="800000"/>
            <a:headEnd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63500" dir="5400000" sy="50000" rotWithShape="0">
                    <a:srgbClr val="6666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>
              <a:buSzPct val="80000"/>
              <a:buFont typeface="Wingdings" pitchFamily="2" charset="2"/>
              <a:buNone/>
            </a:pPr>
            <a:r>
              <a:rPr lang="ko-KR" altLang="en-US" sz="900" b="0">
                <a:latin typeface="+mj-ea"/>
                <a:ea typeface="+mj-ea"/>
                <a:cs typeface="Arial" charset="0"/>
              </a:rPr>
              <a:t>공통옵션</a:t>
            </a:r>
          </a:p>
        </p:txBody>
      </p:sp>
      <p:sp>
        <p:nvSpPr>
          <p:cNvPr id="91194" name="Rectangle 58"/>
          <p:cNvSpPr>
            <a:spLocks noChangeArrowheads="1"/>
          </p:cNvSpPr>
          <p:nvPr/>
        </p:nvSpPr>
        <p:spPr bwMode="auto">
          <a:xfrm>
            <a:off x="5264150" y="2859088"/>
            <a:ext cx="8429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174625" indent="-174625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ko-KR" altLang="en-US">
                <a:latin typeface="+mj-ea"/>
                <a:ea typeface="+mj-ea"/>
                <a:cs typeface="Arial" charset="0"/>
              </a:rPr>
              <a:t>상품코드</a:t>
            </a:r>
          </a:p>
        </p:txBody>
      </p:sp>
      <p:sp>
        <p:nvSpPr>
          <p:cNvPr id="91195" name="Rectangle 59"/>
          <p:cNvSpPr>
            <a:spLocks noChangeArrowheads="1"/>
          </p:cNvSpPr>
          <p:nvPr/>
        </p:nvSpPr>
        <p:spPr bwMode="auto">
          <a:xfrm>
            <a:off x="5411788" y="3681413"/>
            <a:ext cx="25273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noAutofit/>
          </a:bodyPr>
          <a:lstStyle>
            <a:lvl1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ko-KR" altLang="en-US">
                <a:solidFill>
                  <a:srgbClr val="000066"/>
                </a:solidFill>
                <a:latin typeface="+mj-ea"/>
                <a:ea typeface="+mj-ea"/>
                <a:cs typeface="Arial" charset="0"/>
              </a:rPr>
              <a:t>컬러</a:t>
            </a:r>
            <a:r>
              <a:rPr lang="en-US" altLang="ko-KR">
                <a:solidFill>
                  <a:srgbClr val="000066"/>
                </a:solidFill>
                <a:latin typeface="+mj-ea"/>
                <a:ea typeface="+mj-ea"/>
                <a:cs typeface="Arial" charset="0"/>
              </a:rPr>
              <a:t>/</a:t>
            </a:r>
            <a:r>
              <a:rPr lang="ko-KR" altLang="en-US">
                <a:solidFill>
                  <a:srgbClr val="000066"/>
                </a:solidFill>
                <a:latin typeface="+mj-ea"/>
                <a:ea typeface="+mj-ea"/>
                <a:cs typeface="Arial" charset="0"/>
              </a:rPr>
              <a:t>스타일 이외의 옵션 추가 불가</a:t>
            </a:r>
          </a:p>
        </p:txBody>
      </p:sp>
      <p:sp>
        <p:nvSpPr>
          <p:cNvPr id="91196" name="AutoShape 60"/>
          <p:cNvSpPr>
            <a:spLocks/>
          </p:cNvSpPr>
          <p:nvPr/>
        </p:nvSpPr>
        <p:spPr bwMode="gray">
          <a:xfrm rot="5400000" flipH="1">
            <a:off x="7489031" y="1275557"/>
            <a:ext cx="144463" cy="2844800"/>
          </a:xfrm>
          <a:prstGeom prst="rightBrace">
            <a:avLst>
              <a:gd name="adj1" fmla="val 164102"/>
              <a:gd name="adj2" fmla="val 50000"/>
            </a:avLst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1197" name="Rectangle 61"/>
          <p:cNvSpPr>
            <a:spLocks noChangeArrowheads="1"/>
          </p:cNvSpPr>
          <p:nvPr/>
        </p:nvSpPr>
        <p:spPr bwMode="auto">
          <a:xfrm>
            <a:off x="5334000" y="4454525"/>
            <a:ext cx="353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180975" indent="-180975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indent="-96838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30000"/>
              </a:spcBef>
              <a:buFontTx/>
              <a:buChar char="•"/>
            </a:pPr>
            <a:r>
              <a:rPr lang="ko-KR" altLang="en-US" b="0">
                <a:latin typeface="+mj-ea"/>
                <a:ea typeface="+mj-ea"/>
                <a:cs typeface="Arial" charset="0"/>
              </a:rPr>
              <a:t>상품 코드의 혼재로 인해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, </a:t>
            </a:r>
            <a:r>
              <a:rPr lang="ko-KR" altLang="en-US" b="0">
                <a:latin typeface="+mj-ea"/>
                <a:ea typeface="+mj-ea"/>
                <a:cs typeface="Arial" charset="0"/>
              </a:rPr>
              <a:t>분석의 한계에 직면함</a:t>
            </a:r>
          </a:p>
        </p:txBody>
      </p:sp>
      <p:sp>
        <p:nvSpPr>
          <p:cNvPr id="91198" name="Rectangle 62"/>
          <p:cNvSpPr>
            <a:spLocks noChangeArrowheads="1"/>
          </p:cNvSpPr>
          <p:nvPr/>
        </p:nvSpPr>
        <p:spPr bwMode="auto">
          <a:xfrm>
            <a:off x="5240338" y="4078288"/>
            <a:ext cx="4248150" cy="3603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78000" anchor="ctr">
            <a:noAutofit/>
          </a:bodyPr>
          <a:lstStyle>
            <a:lvl1pPr marL="180975" indent="-180975" defTabSz="944563" eaLnBrk="0" hangingPunct="0"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12788" indent="-352425" defTabSz="944563" eaLnBrk="0" hangingPunct="0"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30000"/>
              </a:spcBef>
            </a:pPr>
            <a:r>
              <a:rPr lang="ko-KR" altLang="en-US" sz="1300">
                <a:latin typeface="+mj-ea"/>
                <a:ea typeface="+mj-ea"/>
                <a:cs typeface="Arial" charset="0"/>
              </a:rPr>
              <a:t>통합적인 상품 운영 및 실적 분석 어려움</a:t>
            </a:r>
          </a:p>
        </p:txBody>
      </p:sp>
      <p:sp>
        <p:nvSpPr>
          <p:cNvPr id="91199" name="Oval 63"/>
          <p:cNvSpPr>
            <a:spLocks noChangeArrowheads="1"/>
          </p:cNvSpPr>
          <p:nvPr/>
        </p:nvSpPr>
        <p:spPr bwMode="gray">
          <a:xfrm>
            <a:off x="5291138" y="4132263"/>
            <a:ext cx="252412" cy="252412"/>
          </a:xfrm>
          <a:prstGeom prst="ellipse">
            <a:avLst/>
          </a:prstGeom>
          <a:solidFill>
            <a:srgbClr val="000066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eaLnBrk="0" hangingPunct="0">
              <a:lnSpc>
                <a:spcPct val="106000"/>
              </a:lnSpc>
              <a:spcBef>
                <a:spcPct val="50000"/>
              </a:spcBef>
            </a:pP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</a:p>
        </p:txBody>
      </p:sp>
      <p:sp>
        <p:nvSpPr>
          <p:cNvPr id="91200" name="Line 64"/>
          <p:cNvSpPr>
            <a:spLocks noChangeShapeType="1"/>
          </p:cNvSpPr>
          <p:nvPr/>
        </p:nvSpPr>
        <p:spPr bwMode="gray">
          <a:xfrm>
            <a:off x="5218113" y="4941888"/>
            <a:ext cx="3694112" cy="0"/>
          </a:xfrm>
          <a:prstGeom prst="line">
            <a:avLst/>
          </a:prstGeom>
          <a:noFill/>
          <a:ln w="6350">
            <a:solidFill>
              <a:srgbClr val="B2B2B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72000" tIns="72000" rIns="72000" bIns="7200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1201" name="Rectangle 65"/>
          <p:cNvSpPr>
            <a:spLocks noChangeArrowheads="1"/>
          </p:cNvSpPr>
          <p:nvPr/>
        </p:nvSpPr>
        <p:spPr bwMode="auto">
          <a:xfrm>
            <a:off x="5332413" y="5449888"/>
            <a:ext cx="3530600" cy="877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180975" indent="-180975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indent="-96838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30000"/>
              </a:spcBef>
              <a:buFontTx/>
              <a:buChar char="•"/>
            </a:pPr>
            <a:r>
              <a:rPr lang="ko-KR" altLang="en-US" b="0">
                <a:latin typeface="+mj-ea"/>
                <a:ea typeface="+mj-ea"/>
                <a:cs typeface="Arial" charset="0"/>
              </a:rPr>
              <a:t>상품 별 다양한 옵션 수용이 불가하여 소싱의 한계 발생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(e.g AK</a:t>
            </a:r>
            <a:r>
              <a:rPr lang="ko-KR" altLang="en-US" b="0">
                <a:latin typeface="+mj-ea"/>
                <a:ea typeface="+mj-ea"/>
                <a:cs typeface="Arial" charset="0"/>
              </a:rPr>
              <a:t>몰의 일부 패션 상품 입점 불가</a:t>
            </a:r>
            <a:r>
              <a:rPr lang="en-US" altLang="ko-KR" b="0">
                <a:latin typeface="+mj-ea"/>
                <a:ea typeface="+mj-ea"/>
                <a:cs typeface="Arial" charset="0"/>
              </a:rPr>
              <a:t>)</a:t>
            </a:r>
          </a:p>
          <a:p>
            <a:pPr algn="l" eaLnBrk="1" hangingPunct="1">
              <a:spcBef>
                <a:spcPct val="30000"/>
              </a:spcBef>
              <a:buFontTx/>
              <a:buChar char="•"/>
            </a:pPr>
            <a:r>
              <a:rPr lang="ko-KR" altLang="en-US" b="0">
                <a:latin typeface="+mj-ea"/>
                <a:ea typeface="+mj-ea"/>
                <a:cs typeface="Arial" charset="0"/>
              </a:rPr>
              <a:t>상품 선택의 폭이 좁아져 고객 신뢰도 저하</a:t>
            </a:r>
          </a:p>
        </p:txBody>
      </p:sp>
      <p:sp>
        <p:nvSpPr>
          <p:cNvPr id="91202" name="Rectangle 66"/>
          <p:cNvSpPr>
            <a:spLocks noChangeArrowheads="1"/>
          </p:cNvSpPr>
          <p:nvPr/>
        </p:nvSpPr>
        <p:spPr bwMode="auto">
          <a:xfrm>
            <a:off x="5238750" y="5046663"/>
            <a:ext cx="4248150" cy="36195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78000" anchor="ctr">
            <a:noAutofit/>
          </a:bodyPr>
          <a:lstStyle>
            <a:lvl1pPr marL="180975" indent="-180975" defTabSz="944563" eaLnBrk="0" hangingPunct="0"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12788" indent="-352425" defTabSz="944563" eaLnBrk="0" hangingPunct="0"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tabLst>
                <a:tab pos="712788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30000"/>
              </a:spcBef>
            </a:pPr>
            <a:r>
              <a:rPr lang="ko-KR" altLang="en-US" sz="1300">
                <a:latin typeface="+mj-ea"/>
                <a:ea typeface="+mj-ea"/>
                <a:cs typeface="Arial" charset="0"/>
              </a:rPr>
              <a:t>판매 기회 손실 및 고객 불만족 초래</a:t>
            </a:r>
          </a:p>
        </p:txBody>
      </p:sp>
      <p:sp>
        <p:nvSpPr>
          <p:cNvPr id="91203" name="Oval 67"/>
          <p:cNvSpPr>
            <a:spLocks noChangeArrowheads="1"/>
          </p:cNvSpPr>
          <p:nvPr/>
        </p:nvSpPr>
        <p:spPr bwMode="gray">
          <a:xfrm>
            <a:off x="5289550" y="5100638"/>
            <a:ext cx="252413" cy="254000"/>
          </a:xfrm>
          <a:prstGeom prst="ellipse">
            <a:avLst/>
          </a:prstGeom>
          <a:solidFill>
            <a:srgbClr val="000066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eaLnBrk="0" hangingPunct="0">
              <a:lnSpc>
                <a:spcPct val="106000"/>
              </a:lnSpc>
              <a:spcBef>
                <a:spcPct val="50000"/>
              </a:spcBef>
            </a:pP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91204" name="Oval 68"/>
          <p:cNvSpPr>
            <a:spLocks noChangeArrowheads="1"/>
          </p:cNvSpPr>
          <p:nvPr/>
        </p:nvSpPr>
        <p:spPr bwMode="gray">
          <a:xfrm>
            <a:off x="6604000" y="2193925"/>
            <a:ext cx="161925" cy="163513"/>
          </a:xfrm>
          <a:prstGeom prst="ellipse">
            <a:avLst/>
          </a:prstGeom>
          <a:solidFill>
            <a:srgbClr val="000066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eaLnBrk="0" hangingPunct="0">
              <a:lnSpc>
                <a:spcPct val="106000"/>
              </a:lnSpc>
              <a:spcBef>
                <a:spcPct val="50000"/>
              </a:spcBef>
            </a:pPr>
            <a:r>
              <a:rPr lang="en-US" altLang="ko-KR" sz="1100" b="0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</a:p>
        </p:txBody>
      </p:sp>
      <p:sp>
        <p:nvSpPr>
          <p:cNvPr id="91205" name="Oval 69"/>
          <p:cNvSpPr>
            <a:spLocks noChangeArrowheads="1"/>
          </p:cNvSpPr>
          <p:nvPr/>
        </p:nvSpPr>
        <p:spPr bwMode="gray">
          <a:xfrm>
            <a:off x="5300663" y="3746500"/>
            <a:ext cx="161925" cy="163513"/>
          </a:xfrm>
          <a:prstGeom prst="ellipse">
            <a:avLst/>
          </a:prstGeom>
          <a:solidFill>
            <a:srgbClr val="000066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eaLnBrk="0" hangingPunct="0">
              <a:lnSpc>
                <a:spcPct val="106000"/>
              </a:lnSpc>
              <a:spcBef>
                <a:spcPct val="50000"/>
              </a:spcBef>
            </a:pPr>
            <a:r>
              <a:rPr lang="en-US" altLang="ko-KR" sz="1100" b="0">
                <a:solidFill>
                  <a:schemeClr val="bg1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91206" name="Oval 301"/>
          <p:cNvSpPr>
            <a:spLocks noChangeArrowheads="1"/>
          </p:cNvSpPr>
          <p:nvPr/>
        </p:nvSpPr>
        <p:spPr bwMode="gray">
          <a:xfrm>
            <a:off x="6643688" y="3444875"/>
            <a:ext cx="539750" cy="192088"/>
          </a:xfrm>
          <a:prstGeom prst="ellipse">
            <a:avLst/>
          </a:prstGeom>
          <a:solidFill>
            <a:schemeClr val="bg1"/>
          </a:solidFill>
          <a:ln w="9525" algn="ctr">
            <a:solidFill>
              <a:srgbClr val="969696"/>
            </a:solidFill>
            <a:round/>
            <a:headEnd/>
            <a:tailEnd/>
          </a:ln>
        </p:spPr>
        <p:txBody>
          <a:bodyPr wrap="none" lIns="0" tIns="46800" rIns="0" bIns="46800" anchor="ctr" anchorCtr="1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Wingdings" pitchFamily="2" charset="2"/>
              <a:buNone/>
            </a:pPr>
            <a:r>
              <a:rPr lang="ko-KR" altLang="en-US" sz="900" b="0">
                <a:latin typeface="+mj-ea"/>
                <a:ea typeface="+mj-ea"/>
                <a:cs typeface="Arial" charset="0"/>
              </a:rPr>
              <a:t>관리속성</a:t>
            </a:r>
          </a:p>
        </p:txBody>
      </p:sp>
      <p:sp>
        <p:nvSpPr>
          <p:cNvPr id="91207" name="Line 71"/>
          <p:cNvSpPr>
            <a:spLocks noChangeShapeType="1"/>
          </p:cNvSpPr>
          <p:nvPr/>
        </p:nvSpPr>
        <p:spPr bwMode="auto">
          <a:xfrm flipH="1" flipV="1">
            <a:off x="6788150" y="3333750"/>
            <a:ext cx="36513" cy="14287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969696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1208" name="Rectangle 72"/>
          <p:cNvSpPr>
            <a:spLocks noChangeArrowheads="1"/>
          </p:cNvSpPr>
          <p:nvPr/>
        </p:nvSpPr>
        <p:spPr bwMode="auto">
          <a:xfrm>
            <a:off x="1604963" y="2136775"/>
            <a:ext cx="8096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85725"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defTabSz="944563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defTabSz="944563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30000"/>
              </a:spcBef>
              <a:buFont typeface="맑은 고딕" pitchFamily="50" charset="-127"/>
              <a:buNone/>
            </a:pPr>
            <a:r>
              <a:rPr lang="ko-KR" altLang="en-US" u="sng">
                <a:latin typeface="+mj-ea"/>
                <a:ea typeface="+mj-ea"/>
                <a:cs typeface="Arial" charset="0"/>
              </a:rPr>
              <a:t>식품군</a:t>
            </a:r>
          </a:p>
        </p:txBody>
      </p:sp>
      <p:sp>
        <p:nvSpPr>
          <p:cNvPr id="91209" name="Rectangle 73"/>
          <p:cNvSpPr>
            <a:spLocks noChangeArrowheads="1"/>
          </p:cNvSpPr>
          <p:nvPr/>
        </p:nvSpPr>
        <p:spPr bwMode="gray">
          <a:xfrm>
            <a:off x="260350" y="434151"/>
            <a:ext cx="6358536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2pPr>
            <a:lvl3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3pPr>
            <a:lvl4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4pPr>
            <a:lvl5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9pPr>
          </a:lstStyle>
          <a:p>
            <a:r>
              <a:rPr lang="ko-KR" altLang="en-US" sz="1800" dirty="0">
                <a:latin typeface="+mj-ea"/>
                <a:ea typeface="+mj-ea"/>
              </a:rPr>
              <a:t>상품정보 체계 수립  </a:t>
            </a:r>
            <a:r>
              <a:rPr lang="en-US" altLang="ko-KR" sz="1800" dirty="0">
                <a:latin typeface="+mj-ea"/>
                <a:ea typeface="+mj-ea"/>
              </a:rPr>
              <a:t>: As-is </a:t>
            </a:r>
            <a:r>
              <a:rPr lang="ko-KR" altLang="en-US" sz="1800" dirty="0">
                <a:latin typeface="+mj-ea"/>
                <a:ea typeface="+mj-ea"/>
              </a:rPr>
              <a:t>상품모델 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91210" name="Picture 7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113" y="2636838"/>
            <a:ext cx="762000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1211" name="Rectangle 75"/>
          <p:cNvSpPr>
            <a:spLocks noChangeArrowheads="1"/>
          </p:cNvSpPr>
          <p:nvPr/>
        </p:nvSpPr>
        <p:spPr bwMode="auto">
          <a:xfrm>
            <a:off x="3368675" y="2600325"/>
            <a:ext cx="936625" cy="230188"/>
          </a:xfrm>
          <a:prstGeom prst="rect">
            <a:avLst/>
          </a:prstGeom>
          <a:noFill/>
          <a:ln w="28575" algn="ctr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endParaRPr lang="ko-KR" altLang="en-US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/>
          <p:cNvSpPr>
            <a:spLocks noChangeArrowheads="1"/>
          </p:cNvSpPr>
          <p:nvPr/>
        </p:nvSpPr>
        <p:spPr bwMode="gray">
          <a:xfrm>
            <a:off x="415925" y="1989138"/>
            <a:ext cx="4267200" cy="45212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20000"/>
              </a:lnSpc>
              <a:buClr>
                <a:schemeClr val="accent2"/>
              </a:buClr>
            </a:pPr>
            <a:endParaRPr lang="ko-KR" altLang="ko-KR">
              <a:latin typeface="+mj-ea"/>
              <a:ea typeface="+mj-ea"/>
            </a:endParaRPr>
          </a:p>
        </p:txBody>
      </p:sp>
      <p:sp>
        <p:nvSpPr>
          <p:cNvPr id="93187" name="Rectangle 4"/>
          <p:cNvSpPr>
            <a:spLocks noChangeArrowheads="1"/>
          </p:cNvSpPr>
          <p:nvPr/>
        </p:nvSpPr>
        <p:spPr bwMode="gray">
          <a:xfrm>
            <a:off x="415925" y="1557338"/>
            <a:ext cx="42672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anchor="ctr" anchorCtr="1">
            <a:noAutofit/>
          </a:bodyPr>
          <a:lstStyle>
            <a:lvl1pPr marL="85725" indent="-857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buClr>
                <a:schemeClr val="accent2"/>
              </a:buClr>
            </a:pPr>
            <a:r>
              <a:rPr lang="en-US" altLang="ko-KR" sz="130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As-Is </a:t>
            </a:r>
            <a:r>
              <a:rPr lang="ko-KR" altLang="en-US" sz="130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현황</a:t>
            </a:r>
          </a:p>
        </p:txBody>
      </p:sp>
      <p:sp>
        <p:nvSpPr>
          <p:cNvPr id="93188" name="AutoShape 5"/>
          <p:cNvSpPr>
            <a:spLocks noChangeArrowheads="1"/>
          </p:cNvSpPr>
          <p:nvPr/>
        </p:nvSpPr>
        <p:spPr bwMode="auto">
          <a:xfrm rot="-5400000">
            <a:off x="2648744" y="3844131"/>
            <a:ext cx="4643438" cy="422275"/>
          </a:xfrm>
          <a:prstGeom prst="flowChartMerge">
            <a:avLst/>
          </a:pr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anchor="ctr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endParaRPr kumimoji="1" lang="ko-KR" altLang="en-US" sz="1000">
              <a:latin typeface="+mj-ea"/>
              <a:ea typeface="+mj-ea"/>
            </a:endParaRPr>
          </a:p>
        </p:txBody>
      </p:sp>
      <p:sp>
        <p:nvSpPr>
          <p:cNvPr id="93189" name="Rectangle 3"/>
          <p:cNvSpPr>
            <a:spLocks noChangeArrowheads="1"/>
          </p:cNvSpPr>
          <p:nvPr/>
        </p:nvSpPr>
        <p:spPr bwMode="gray">
          <a:xfrm>
            <a:off x="5257800" y="1989138"/>
            <a:ext cx="4267200" cy="45212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bg2"/>
            </a:solidFill>
            <a:miter lim="800000"/>
            <a:headEnd/>
            <a:tailEnd/>
          </a:ln>
        </p:spPr>
        <p:txBody>
          <a:bodyPr lIns="90000" tIns="46800" rIns="90000" bIns="46800">
            <a:noAutofit/>
          </a:bodyPr>
          <a:lstStyle>
            <a:lvl1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>
              <a:lnSpc>
                <a:spcPct val="120000"/>
              </a:lnSpc>
              <a:buClr>
                <a:schemeClr val="accent2"/>
              </a:buClr>
            </a:pPr>
            <a:endParaRPr lang="ko-KR" altLang="ko-KR">
              <a:latin typeface="+mj-ea"/>
              <a:ea typeface="+mj-ea"/>
            </a:endParaRPr>
          </a:p>
        </p:txBody>
      </p:sp>
      <p:sp>
        <p:nvSpPr>
          <p:cNvPr id="93190" name="Rectangle 4"/>
          <p:cNvSpPr>
            <a:spLocks noChangeArrowheads="1"/>
          </p:cNvSpPr>
          <p:nvPr/>
        </p:nvSpPr>
        <p:spPr bwMode="gray">
          <a:xfrm>
            <a:off x="5257800" y="1557338"/>
            <a:ext cx="4267200" cy="381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anchor="ctr" anchorCtr="1">
            <a:noAutofit/>
          </a:bodyPr>
          <a:lstStyle>
            <a:lvl1pPr marL="85725" indent="-857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buClr>
                <a:schemeClr val="accent2"/>
              </a:buClr>
            </a:pPr>
            <a:r>
              <a:rPr lang="en-US" altLang="ko-KR" sz="130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To-Be </a:t>
            </a:r>
            <a:r>
              <a:rPr lang="ko-KR" altLang="en-US" sz="1300">
                <a:solidFill>
                  <a:srgbClr val="FFFFFF"/>
                </a:solidFill>
                <a:latin typeface="+mj-ea"/>
                <a:ea typeface="+mj-ea"/>
                <a:cs typeface="Arial" charset="0"/>
              </a:rPr>
              <a:t>이미지</a:t>
            </a:r>
          </a:p>
        </p:txBody>
      </p:sp>
      <p:sp>
        <p:nvSpPr>
          <p:cNvPr id="93191" name="Text Box 7"/>
          <p:cNvSpPr txBox="1">
            <a:spLocks noChangeArrowheads="1"/>
          </p:cNvSpPr>
          <p:nvPr/>
        </p:nvSpPr>
        <p:spPr bwMode="gray">
          <a:xfrm>
            <a:off x="5532438" y="2757488"/>
            <a:ext cx="3687762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>
            <a:lvl1pPr marL="95250" indent="-95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571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714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286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432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004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657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148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lnSpc>
                <a:spcPct val="120000"/>
              </a:lnSpc>
              <a:buFont typeface="Wingdings" pitchFamily="2" charset="2"/>
              <a:buChar char="§"/>
            </a:pPr>
            <a:r>
              <a:rPr kumimoji="1" lang="ko-KR" altLang="en-US" sz="1100" b="0">
                <a:latin typeface="+mj-ea"/>
                <a:ea typeface="+mj-ea"/>
              </a:rPr>
              <a:t>동일상품에 대해서 채널 및 판매조건 등의 운영조건이 변경 가능하도록 상품구조를 유연하게 설계</a:t>
            </a:r>
          </a:p>
          <a:p>
            <a:pPr algn="l" eaLnBrk="1" latinLnBrk="1" hangingPunct="1">
              <a:lnSpc>
                <a:spcPct val="120000"/>
              </a:lnSpc>
              <a:buFont typeface="Wingdings" pitchFamily="2" charset="2"/>
              <a:buChar char="§"/>
            </a:pPr>
            <a:r>
              <a:rPr kumimoji="1" lang="ko-KR" altLang="en-US" sz="1100" b="0">
                <a:latin typeface="+mj-ea"/>
                <a:ea typeface="+mj-ea"/>
              </a:rPr>
              <a:t>공급상품 기준의 상품 마스터를 설계함</a:t>
            </a:r>
          </a:p>
        </p:txBody>
      </p:sp>
      <p:sp>
        <p:nvSpPr>
          <p:cNvPr id="93192" name="Text Box 8"/>
          <p:cNvSpPr txBox="1">
            <a:spLocks noChangeArrowheads="1"/>
          </p:cNvSpPr>
          <p:nvPr/>
        </p:nvSpPr>
        <p:spPr bwMode="gray">
          <a:xfrm>
            <a:off x="5514975" y="5367338"/>
            <a:ext cx="3856038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>
            <a:lvl1pPr marL="95250" indent="-95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571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714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286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432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004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657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148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lnSpc>
                <a:spcPct val="120000"/>
              </a:lnSpc>
              <a:buFont typeface="Wingdings" pitchFamily="2" charset="2"/>
              <a:buChar char="§"/>
            </a:pPr>
            <a:r>
              <a:rPr kumimoji="1" lang="ko-KR" altLang="en-US" sz="1100" b="0">
                <a:latin typeface="+mj-ea"/>
                <a:ea typeface="+mj-ea"/>
              </a:rPr>
              <a:t>경쟁력을 갖춘 신상품의 소싱 및 런칭을 위하여 신상품 기획 및 판매 그리고 문제 상품의 퇴출에 이르는 전과정의 상품정보를 통합 관리함</a:t>
            </a:r>
          </a:p>
          <a:p>
            <a:pPr algn="l" eaLnBrk="1" latinLnBrk="1" hangingPunct="1">
              <a:lnSpc>
                <a:spcPct val="120000"/>
              </a:lnSpc>
              <a:buFont typeface="Wingdings" pitchFamily="2" charset="2"/>
              <a:buChar char="§"/>
            </a:pPr>
            <a:r>
              <a:rPr kumimoji="1" lang="ko-KR" altLang="en-US" sz="1100" b="0">
                <a:latin typeface="+mj-ea"/>
                <a:ea typeface="+mj-ea"/>
              </a:rPr>
              <a:t>상품 기획과 관련한 연관정보를 통합 관리함으로써 업무담당자가 협업할 수 있는 기반 제공</a:t>
            </a:r>
          </a:p>
        </p:txBody>
      </p:sp>
      <p:sp>
        <p:nvSpPr>
          <p:cNvPr id="93193" name="AutoShape 9" descr="25%"/>
          <p:cNvSpPr>
            <a:spLocks noChangeArrowheads="1"/>
          </p:cNvSpPr>
          <p:nvPr/>
        </p:nvSpPr>
        <p:spPr bwMode="gray">
          <a:xfrm>
            <a:off x="5621338" y="2224088"/>
            <a:ext cx="3721100" cy="449262"/>
          </a:xfrm>
          <a:prstGeom prst="roundRect">
            <a:avLst>
              <a:gd name="adj" fmla="val 6236"/>
            </a:avLst>
          </a:prstGeom>
          <a:pattFill prst="pct25">
            <a:fgClr>
              <a:srgbClr val="DDDDDD"/>
            </a:fgClr>
            <a:bgClr>
              <a:srgbClr val="FFFFFF"/>
            </a:bgClr>
          </a:pattFill>
          <a:ln w="12700" algn="ctr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anchor="ctr">
            <a:noAutofit/>
          </a:bodyPr>
          <a:lstStyle>
            <a:lvl1pPr marL="2635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>
                <a:solidFill>
                  <a:srgbClr val="000000"/>
                </a:solidFill>
                <a:latin typeface="+mj-ea"/>
                <a:ea typeface="+mj-ea"/>
              </a:rPr>
              <a:t>공급상품 기준의 유연한 상품구조</a:t>
            </a:r>
          </a:p>
        </p:txBody>
      </p:sp>
      <p:sp>
        <p:nvSpPr>
          <p:cNvPr id="93194" name="Oval 10"/>
          <p:cNvSpPr>
            <a:spLocks noChangeArrowheads="1"/>
          </p:cNvSpPr>
          <p:nvPr/>
        </p:nvSpPr>
        <p:spPr bwMode="auto">
          <a:xfrm>
            <a:off x="5453063" y="2270125"/>
            <a:ext cx="360362" cy="360363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36000" rIns="54000" bIns="36000" anchor="ctr">
            <a:noAutofit/>
          </a:bodyPr>
          <a:lstStyle/>
          <a:p>
            <a:pPr latinLnBrk="1">
              <a:spcBef>
                <a:spcPct val="30000"/>
              </a:spcBef>
            </a:pPr>
            <a:r>
              <a:rPr kumimoji="1" lang="en-US" altLang="ko-KR" sz="1100">
                <a:latin typeface="+mj-ea"/>
                <a:ea typeface="+mj-ea"/>
              </a:rPr>
              <a:t>1</a:t>
            </a:r>
          </a:p>
        </p:txBody>
      </p:sp>
      <p:sp>
        <p:nvSpPr>
          <p:cNvPr id="93195" name="AutoShape 11" descr="25%"/>
          <p:cNvSpPr>
            <a:spLocks noChangeArrowheads="1"/>
          </p:cNvSpPr>
          <p:nvPr/>
        </p:nvSpPr>
        <p:spPr bwMode="gray">
          <a:xfrm>
            <a:off x="5627688" y="4833938"/>
            <a:ext cx="3721100" cy="449262"/>
          </a:xfrm>
          <a:prstGeom prst="roundRect">
            <a:avLst>
              <a:gd name="adj" fmla="val 6236"/>
            </a:avLst>
          </a:prstGeom>
          <a:pattFill prst="pct25">
            <a:fgClr>
              <a:srgbClr val="DDDDDD"/>
            </a:fgClr>
            <a:bgClr>
              <a:srgbClr val="FFFFFF"/>
            </a:bgClr>
          </a:pattFill>
          <a:ln w="12700" algn="ctr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anchor="ctr">
            <a:noAutofit/>
          </a:bodyPr>
          <a:lstStyle>
            <a:lvl1pPr marL="2635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>
                <a:solidFill>
                  <a:srgbClr val="000000"/>
                </a:solidFill>
                <a:latin typeface="+mj-ea"/>
                <a:ea typeface="+mj-ea"/>
              </a:rPr>
              <a:t>상품 </a:t>
            </a:r>
            <a:r>
              <a:rPr kumimoji="1" lang="en-US" altLang="ko-KR">
                <a:solidFill>
                  <a:srgbClr val="000000"/>
                </a:solidFill>
                <a:latin typeface="+mj-ea"/>
                <a:ea typeface="+mj-ea"/>
              </a:rPr>
              <a:t>Lifecycle </a:t>
            </a:r>
            <a:r>
              <a:rPr kumimoji="1" lang="ko-KR" altLang="en-US">
                <a:solidFill>
                  <a:srgbClr val="000000"/>
                </a:solidFill>
                <a:latin typeface="+mj-ea"/>
                <a:ea typeface="+mj-ea"/>
              </a:rPr>
              <a:t>과정에서의 상품정보 통합관리</a:t>
            </a:r>
          </a:p>
        </p:txBody>
      </p:sp>
      <p:sp>
        <p:nvSpPr>
          <p:cNvPr id="93196" name="Rectangle 12" descr="25%"/>
          <p:cNvSpPr>
            <a:spLocks noChangeArrowheads="1"/>
          </p:cNvSpPr>
          <p:nvPr/>
        </p:nvSpPr>
        <p:spPr bwMode="gray">
          <a:xfrm>
            <a:off x="641350" y="2319338"/>
            <a:ext cx="3741738" cy="388937"/>
          </a:xfrm>
          <a:prstGeom prst="rect">
            <a:avLst/>
          </a:prstGeom>
          <a:pattFill prst="pct25">
            <a:fgClr>
              <a:srgbClr val="DDDDDD"/>
            </a:fgClr>
            <a:bgClr>
              <a:srgbClr val="FFFFFF"/>
            </a:bgClr>
          </a:pattFill>
          <a:ln w="12700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anchor="ctr">
            <a:noAutofit/>
          </a:bodyPr>
          <a:lstStyle>
            <a:lvl1pPr marL="2635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>
                <a:solidFill>
                  <a:srgbClr val="000000"/>
                </a:solidFill>
                <a:latin typeface="+mj-ea"/>
                <a:ea typeface="+mj-ea"/>
              </a:rPr>
              <a:t> 부적합한 상품 마스터 관리단위</a:t>
            </a:r>
            <a:endParaRPr kumimoji="1" lang="ko-KR" altLang="en-US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93197" name="Text Box 13"/>
          <p:cNvSpPr txBox="1">
            <a:spLocks noChangeArrowheads="1"/>
          </p:cNvSpPr>
          <p:nvPr/>
        </p:nvSpPr>
        <p:spPr bwMode="gray">
          <a:xfrm>
            <a:off x="685800" y="2914650"/>
            <a:ext cx="3697288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>
            <a:lvl1pPr marL="95250" indent="-95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571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714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286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432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004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657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148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lnSpc>
                <a:spcPct val="110000"/>
              </a:lnSpc>
              <a:buFont typeface="Wingdings" pitchFamily="2" charset="2"/>
              <a:buChar char="§"/>
            </a:pPr>
            <a:r>
              <a:rPr kumimoji="1" lang="ko-KR" altLang="en-US" sz="1100" b="0" dirty="0">
                <a:latin typeface="+mj-ea"/>
                <a:ea typeface="+mj-ea"/>
              </a:rPr>
              <a:t>동일 공급 상품이라도 속성값</a:t>
            </a:r>
            <a:r>
              <a:rPr kumimoji="1" lang="en-US" altLang="ko-KR" sz="1100" b="0" dirty="0">
                <a:latin typeface="+mj-ea"/>
                <a:ea typeface="+mj-ea"/>
              </a:rPr>
              <a:t>(</a:t>
            </a:r>
            <a:r>
              <a:rPr kumimoji="1" lang="ko-KR" altLang="en-US" sz="1100" b="0" dirty="0">
                <a:latin typeface="+mj-ea"/>
                <a:ea typeface="+mj-ea"/>
              </a:rPr>
              <a:t>판매가</a:t>
            </a:r>
            <a:r>
              <a:rPr kumimoji="1" lang="en-US" altLang="ko-KR" sz="1100" b="0" dirty="0">
                <a:latin typeface="+mj-ea"/>
                <a:ea typeface="+mj-ea"/>
              </a:rPr>
              <a:t>, </a:t>
            </a:r>
            <a:r>
              <a:rPr kumimoji="1" lang="ko-KR" altLang="en-US" sz="1100" b="0" dirty="0">
                <a:latin typeface="+mj-ea"/>
                <a:ea typeface="+mj-ea"/>
              </a:rPr>
              <a:t>판매채널 등</a:t>
            </a:r>
            <a:r>
              <a:rPr kumimoji="1" lang="en-US" altLang="ko-KR" sz="1100" b="0" dirty="0">
                <a:latin typeface="+mj-ea"/>
                <a:ea typeface="+mj-ea"/>
              </a:rPr>
              <a:t>)</a:t>
            </a:r>
            <a:r>
              <a:rPr kumimoji="1" lang="ko-KR" altLang="en-US" sz="1100" b="0" dirty="0">
                <a:latin typeface="+mj-ea"/>
                <a:ea typeface="+mj-ea"/>
              </a:rPr>
              <a:t>이 달라지면 새로운 상품코드로 정의되어 별도의 상품으로 취급됨</a:t>
            </a:r>
          </a:p>
        </p:txBody>
      </p:sp>
      <p:sp>
        <p:nvSpPr>
          <p:cNvPr id="93198" name="Rectangle 14" descr="25%"/>
          <p:cNvSpPr>
            <a:spLocks noChangeArrowheads="1"/>
          </p:cNvSpPr>
          <p:nvPr/>
        </p:nvSpPr>
        <p:spPr bwMode="gray">
          <a:xfrm>
            <a:off x="652463" y="4833938"/>
            <a:ext cx="3741737" cy="461962"/>
          </a:xfrm>
          <a:prstGeom prst="rect">
            <a:avLst/>
          </a:prstGeom>
          <a:pattFill prst="pct25">
            <a:fgClr>
              <a:srgbClr val="DDDDDD"/>
            </a:fgClr>
            <a:bgClr>
              <a:srgbClr val="FFFFFF"/>
            </a:bgClr>
          </a:pattFill>
          <a:ln w="12700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anchor="ctr">
            <a:noAutofit/>
          </a:bodyPr>
          <a:lstStyle>
            <a:lvl1pPr marL="2635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상품 관리 업무 효율 저하</a:t>
            </a:r>
          </a:p>
        </p:txBody>
      </p:sp>
      <p:sp>
        <p:nvSpPr>
          <p:cNvPr id="93199" name="Text Box 15"/>
          <p:cNvSpPr txBox="1">
            <a:spLocks noChangeArrowheads="1"/>
          </p:cNvSpPr>
          <p:nvPr/>
        </p:nvSpPr>
        <p:spPr bwMode="gray">
          <a:xfrm>
            <a:off x="696913" y="5372100"/>
            <a:ext cx="3697287" cy="55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>
            <a:lvl1pPr marL="95250" indent="-95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571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714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286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432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004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657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148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lnSpc>
                <a:spcPct val="110000"/>
              </a:lnSpc>
              <a:buFont typeface="Wingdings" pitchFamily="2" charset="2"/>
              <a:buChar char="§"/>
            </a:pPr>
            <a:r>
              <a:rPr kumimoji="1" lang="ko-KR" altLang="en-US" sz="1100" b="0">
                <a:latin typeface="+mj-ea"/>
                <a:ea typeface="+mj-ea"/>
              </a:rPr>
              <a:t>상품 기획정보와 상품 판매정보의 단절로 인한 상품관리 업무 효율성 저하</a:t>
            </a:r>
          </a:p>
          <a:p>
            <a:pPr algn="l" eaLnBrk="1" latinLnBrk="1" hangingPunct="1">
              <a:lnSpc>
                <a:spcPct val="110000"/>
              </a:lnSpc>
              <a:buFont typeface="Wingdings" pitchFamily="2" charset="2"/>
              <a:buChar char="§"/>
            </a:pPr>
            <a:r>
              <a:rPr kumimoji="1" lang="ko-KR" altLang="en-US" sz="1100" b="0">
                <a:latin typeface="+mj-ea"/>
                <a:ea typeface="+mj-ea"/>
              </a:rPr>
              <a:t>체계적인 상품 관리 체계 기반의 업무 지원 요구</a:t>
            </a:r>
          </a:p>
        </p:txBody>
      </p:sp>
      <p:sp>
        <p:nvSpPr>
          <p:cNvPr id="93200" name="Rectangle 16" descr="25%"/>
          <p:cNvSpPr>
            <a:spLocks noChangeArrowheads="1"/>
          </p:cNvSpPr>
          <p:nvPr/>
        </p:nvSpPr>
        <p:spPr bwMode="gray">
          <a:xfrm>
            <a:off x="652463" y="3609975"/>
            <a:ext cx="3741737" cy="387350"/>
          </a:xfrm>
          <a:prstGeom prst="rect">
            <a:avLst/>
          </a:prstGeom>
          <a:pattFill prst="pct25">
            <a:fgClr>
              <a:srgbClr val="DDDDDD"/>
            </a:fgClr>
            <a:bgClr>
              <a:srgbClr val="FFFFFF"/>
            </a:bgClr>
          </a:pattFill>
          <a:ln w="12700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anchor="ctr">
            <a:noAutofit/>
          </a:bodyPr>
          <a:lstStyle>
            <a:lvl1pPr marL="2635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획일화된 상품분류체계</a:t>
            </a:r>
          </a:p>
        </p:txBody>
      </p:sp>
      <p:sp>
        <p:nvSpPr>
          <p:cNvPr id="93201" name="Text Box 17"/>
          <p:cNvSpPr txBox="1">
            <a:spLocks noChangeArrowheads="1"/>
          </p:cNvSpPr>
          <p:nvPr/>
        </p:nvSpPr>
        <p:spPr bwMode="gray">
          <a:xfrm>
            <a:off x="696913" y="4081463"/>
            <a:ext cx="3697287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>
            <a:lvl1pPr marL="95250" indent="-95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571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714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286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432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004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657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148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lnSpc>
                <a:spcPct val="110000"/>
              </a:lnSpc>
              <a:buFont typeface="Wingdings" pitchFamily="2" charset="2"/>
              <a:buChar char="§"/>
            </a:pPr>
            <a:r>
              <a:rPr kumimoji="1" lang="ko-KR" altLang="en-US" sz="1100" b="0">
                <a:latin typeface="+mj-ea"/>
                <a:ea typeface="+mj-ea"/>
              </a:rPr>
              <a:t>하나의 상품은 하나의 카테고리</a:t>
            </a:r>
            <a:r>
              <a:rPr kumimoji="1" lang="en-US" altLang="ko-KR" sz="1100" b="0">
                <a:latin typeface="+mj-ea"/>
                <a:ea typeface="+mj-ea"/>
              </a:rPr>
              <a:t>(</a:t>
            </a:r>
            <a:r>
              <a:rPr kumimoji="1" lang="ko-KR" altLang="en-US" sz="1100" b="0">
                <a:latin typeface="+mj-ea"/>
                <a:ea typeface="+mj-ea"/>
              </a:rPr>
              <a:t>대</a:t>
            </a:r>
            <a:r>
              <a:rPr kumimoji="1" lang="en-US" altLang="ko-KR" sz="1100" b="0">
                <a:latin typeface="+mj-ea"/>
                <a:ea typeface="+mj-ea"/>
              </a:rPr>
              <a:t>,</a:t>
            </a:r>
            <a:r>
              <a:rPr kumimoji="1" lang="ko-KR" altLang="en-US" sz="1100" b="0">
                <a:latin typeface="+mj-ea"/>
                <a:ea typeface="+mj-ea"/>
              </a:rPr>
              <a:t>중</a:t>
            </a:r>
            <a:r>
              <a:rPr kumimoji="1" lang="en-US" altLang="ko-KR" sz="1100" b="0">
                <a:latin typeface="+mj-ea"/>
                <a:ea typeface="+mj-ea"/>
              </a:rPr>
              <a:t>,</a:t>
            </a:r>
            <a:r>
              <a:rPr kumimoji="1" lang="ko-KR" altLang="en-US" sz="1100" b="0">
                <a:latin typeface="+mj-ea"/>
                <a:ea typeface="+mj-ea"/>
              </a:rPr>
              <a:t>소</a:t>
            </a:r>
            <a:r>
              <a:rPr kumimoji="1" lang="en-US" altLang="ko-KR" sz="1100" b="0">
                <a:latin typeface="+mj-ea"/>
                <a:ea typeface="+mj-ea"/>
              </a:rPr>
              <a:t>)</a:t>
            </a:r>
            <a:r>
              <a:rPr kumimoji="1" lang="ko-KR" altLang="en-US" sz="1100" b="0">
                <a:latin typeface="+mj-ea"/>
                <a:ea typeface="+mj-ea"/>
              </a:rPr>
              <a:t>에만 속하여 다양한 관점에서의 상품 분석이 어려움</a:t>
            </a:r>
          </a:p>
        </p:txBody>
      </p:sp>
      <p:sp>
        <p:nvSpPr>
          <p:cNvPr id="93202" name="Text Box 18"/>
          <p:cNvSpPr txBox="1">
            <a:spLocks noChangeArrowheads="1"/>
          </p:cNvSpPr>
          <p:nvPr/>
        </p:nvSpPr>
        <p:spPr bwMode="gray">
          <a:xfrm>
            <a:off x="5514975" y="4054475"/>
            <a:ext cx="3856038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>
            <a:lvl1pPr marL="95250" indent="-95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571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143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7145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2860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432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004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657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148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>
              <a:lnSpc>
                <a:spcPct val="120000"/>
              </a:lnSpc>
              <a:buFont typeface="Wingdings" pitchFamily="2" charset="2"/>
              <a:buChar char="§"/>
            </a:pPr>
            <a:r>
              <a:rPr kumimoji="1" lang="ko-KR" altLang="en-US" sz="1100" b="0">
                <a:latin typeface="+mj-ea"/>
                <a:ea typeface="+mj-ea"/>
              </a:rPr>
              <a:t> 조직별</a:t>
            </a:r>
            <a:r>
              <a:rPr kumimoji="1" lang="en-US" altLang="ko-KR" sz="1100" b="0">
                <a:latin typeface="+mj-ea"/>
                <a:ea typeface="+mj-ea"/>
              </a:rPr>
              <a:t>, </a:t>
            </a:r>
            <a:r>
              <a:rPr kumimoji="1" lang="ko-KR" altLang="en-US" sz="1100" b="0">
                <a:latin typeface="+mj-ea"/>
                <a:ea typeface="+mj-ea"/>
              </a:rPr>
              <a:t>담당자별 동일상품을 바라보는 기준이 다르므로 하나의 상품이 다양한 상품카테고리를 가질 수 있고</a:t>
            </a:r>
            <a:r>
              <a:rPr kumimoji="1" lang="en-US" altLang="ko-KR" sz="1100" b="0">
                <a:latin typeface="+mj-ea"/>
                <a:ea typeface="+mj-ea"/>
              </a:rPr>
              <a:t>, </a:t>
            </a:r>
            <a:r>
              <a:rPr kumimoji="1" lang="ko-KR" altLang="en-US" sz="1100" b="0">
                <a:latin typeface="+mj-ea"/>
                <a:ea typeface="+mj-ea"/>
              </a:rPr>
              <a:t>상품카테고리의 추가가 용이하도록 상품 분류체계 설계</a:t>
            </a:r>
          </a:p>
        </p:txBody>
      </p:sp>
      <p:sp>
        <p:nvSpPr>
          <p:cNvPr id="93203" name="AutoShape 19" descr="25%"/>
          <p:cNvSpPr>
            <a:spLocks noChangeArrowheads="1"/>
          </p:cNvSpPr>
          <p:nvPr/>
        </p:nvSpPr>
        <p:spPr bwMode="gray">
          <a:xfrm>
            <a:off x="5621338" y="3521075"/>
            <a:ext cx="3721100" cy="449263"/>
          </a:xfrm>
          <a:prstGeom prst="roundRect">
            <a:avLst>
              <a:gd name="adj" fmla="val 6236"/>
            </a:avLst>
          </a:prstGeom>
          <a:pattFill prst="pct25">
            <a:fgClr>
              <a:srgbClr val="DDDDDD"/>
            </a:fgClr>
            <a:bgClr>
              <a:srgbClr val="FFFFFF"/>
            </a:bgClr>
          </a:pattFill>
          <a:ln w="12700" algn="ctr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anchor="ctr">
            <a:noAutofit/>
          </a:bodyPr>
          <a:lstStyle>
            <a:lvl1pPr marL="2635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>
                <a:solidFill>
                  <a:srgbClr val="000000"/>
                </a:solidFill>
                <a:latin typeface="+mj-ea"/>
                <a:ea typeface="+mj-ea"/>
              </a:rPr>
              <a:t>다양한 관점의 상품 카테고리 운영</a:t>
            </a:r>
          </a:p>
        </p:txBody>
      </p:sp>
      <p:sp>
        <p:nvSpPr>
          <p:cNvPr id="93204" name="Oval 20"/>
          <p:cNvSpPr>
            <a:spLocks noChangeArrowheads="1"/>
          </p:cNvSpPr>
          <p:nvPr/>
        </p:nvSpPr>
        <p:spPr bwMode="auto">
          <a:xfrm>
            <a:off x="5453063" y="3567113"/>
            <a:ext cx="360362" cy="360362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36000" rIns="54000" bIns="36000" anchor="ctr">
            <a:noAutofit/>
          </a:bodyPr>
          <a:lstStyle/>
          <a:p>
            <a:pPr latinLnBrk="1">
              <a:spcBef>
                <a:spcPct val="30000"/>
              </a:spcBef>
            </a:pPr>
            <a:r>
              <a:rPr kumimoji="1" lang="en-US" altLang="ko-KR" sz="1100">
                <a:latin typeface="+mj-ea"/>
                <a:ea typeface="+mj-ea"/>
              </a:rPr>
              <a:t>2</a:t>
            </a:r>
          </a:p>
        </p:txBody>
      </p:sp>
      <p:sp>
        <p:nvSpPr>
          <p:cNvPr id="93205" name="Rectangle 21"/>
          <p:cNvSpPr>
            <a:spLocks noChangeArrowheads="1"/>
          </p:cNvSpPr>
          <p:nvPr/>
        </p:nvSpPr>
        <p:spPr bwMode="auto">
          <a:xfrm>
            <a:off x="246063" y="868363"/>
            <a:ext cx="945991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r>
              <a:rPr lang="ko-KR" altLang="en-US">
                <a:latin typeface="+mj-ea"/>
                <a:ea typeface="+mj-ea"/>
              </a:rPr>
              <a:t>공급상품 기준의 유연한 상품구조를 설계하고 다양한 관점의 상품 카테고리를 운영하여 상품관리 역량을 강화하고</a:t>
            </a:r>
            <a:r>
              <a:rPr lang="en-US" altLang="ko-KR">
                <a:latin typeface="+mj-ea"/>
                <a:ea typeface="+mj-ea"/>
              </a:rPr>
              <a:t>, </a:t>
            </a:r>
            <a:r>
              <a:rPr lang="ko-KR" altLang="en-US">
                <a:latin typeface="+mj-ea"/>
                <a:ea typeface="+mj-ea"/>
              </a:rPr>
              <a:t>상품의 전 과정에 걸쳐 상품정보를 통합 관리하여 신상품 소싱 및 런칭 역량을 강화함</a:t>
            </a:r>
            <a:endParaRPr lang="ko-KR" altLang="ko-KR">
              <a:latin typeface="+mj-ea"/>
              <a:ea typeface="+mj-ea"/>
            </a:endParaRPr>
          </a:p>
        </p:txBody>
      </p:sp>
      <p:sp>
        <p:nvSpPr>
          <p:cNvPr id="93206" name="Oval 22"/>
          <p:cNvSpPr>
            <a:spLocks noChangeArrowheads="1"/>
          </p:cNvSpPr>
          <p:nvPr/>
        </p:nvSpPr>
        <p:spPr bwMode="auto">
          <a:xfrm>
            <a:off x="5492750" y="4868863"/>
            <a:ext cx="360363" cy="360362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36000" rIns="54000" bIns="36000" anchor="ctr">
            <a:noAutofit/>
          </a:bodyPr>
          <a:lstStyle/>
          <a:p>
            <a:pPr latinLnBrk="1">
              <a:spcBef>
                <a:spcPct val="30000"/>
              </a:spcBef>
            </a:pPr>
            <a:r>
              <a:rPr kumimoji="1" lang="en-US" altLang="ko-KR" sz="1100">
                <a:latin typeface="+mj-ea"/>
                <a:ea typeface="+mj-ea"/>
              </a:rPr>
              <a:t>3</a:t>
            </a:r>
          </a:p>
        </p:txBody>
      </p:sp>
      <p:sp>
        <p:nvSpPr>
          <p:cNvPr id="93209" name="Rectangle 25"/>
          <p:cNvSpPr>
            <a:spLocks noChangeArrowheads="1"/>
          </p:cNvSpPr>
          <p:nvPr/>
        </p:nvSpPr>
        <p:spPr bwMode="gray">
          <a:xfrm>
            <a:off x="260350" y="434151"/>
            <a:ext cx="5619039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2pPr>
            <a:lvl3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3pPr>
            <a:lvl4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4pPr>
            <a:lvl5pPr algn="l" latinLnBrk="1">
              <a:lnSpc>
                <a:spcPct val="90000"/>
              </a:lnSpc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749300" algn="l"/>
              </a:tabLst>
              <a:defRPr kumimoji="1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9pPr>
          </a:lstStyle>
          <a:p>
            <a:r>
              <a:rPr lang="ko-KR" altLang="en-US" sz="1800" dirty="0">
                <a:latin typeface="+mj-ea"/>
                <a:ea typeface="+mj-ea"/>
              </a:rPr>
              <a:t>상품정보 체계 수립  </a:t>
            </a:r>
            <a:r>
              <a:rPr lang="en-US" altLang="ko-KR" sz="1800" dirty="0">
                <a:latin typeface="+mj-ea"/>
                <a:ea typeface="+mj-ea"/>
              </a:rPr>
              <a:t>: To-be </a:t>
            </a:r>
            <a:r>
              <a:rPr lang="ko-KR" altLang="en-US" sz="1800" dirty="0">
                <a:latin typeface="+mj-ea"/>
                <a:ea typeface="+mj-ea"/>
              </a:rPr>
              <a:t>상품모델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7343AE-0C91-BBA3-11EF-BD81BEC3AFD3}"/>
              </a:ext>
            </a:extLst>
          </p:cNvPr>
          <p:cNvSpPr txBox="1"/>
          <p:nvPr/>
        </p:nvSpPr>
        <p:spPr>
          <a:xfrm rot="2700000">
            <a:off x="8531658" y="1556041"/>
            <a:ext cx="1196208" cy="262943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solidFill>
              <a:srgbClr val="FF0000"/>
            </a:solidFill>
          </a:ln>
        </p:spPr>
        <p:txBody>
          <a:bodyPr wrap="square" lIns="82800" tIns="54000" rIns="82800" bIns="54000" rtlCol="0">
            <a:sp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</a:rPr>
              <a:t>ILLUSTRATIVE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8" name="Text Box 6"/>
          <p:cNvSpPr txBox="1">
            <a:spLocks noChangeArrowheads="1"/>
          </p:cNvSpPr>
          <p:nvPr/>
        </p:nvSpPr>
        <p:spPr bwMode="auto">
          <a:xfrm>
            <a:off x="5457825" y="3104964"/>
            <a:ext cx="4233863" cy="2022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latinLnBrk="1">
              <a:lnSpc>
                <a:spcPct val="130000"/>
              </a:lnSpc>
            </a:pP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1. eMall BM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개선에 따른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PI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컨설팅 추진 필요성</a:t>
            </a:r>
            <a:b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</a:b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2. </a:t>
            </a:r>
            <a:r>
              <a:rPr kumimoji="1" lang="ko-KR" altLang="en-US" sz="1400" dirty="0">
                <a:solidFill>
                  <a:schemeClr val="bg2"/>
                </a:solidFill>
                <a:latin typeface="+mj-ea"/>
                <a:ea typeface="+mj-ea"/>
              </a:rPr>
              <a:t>주요 과제부문별 </a:t>
            </a:r>
            <a: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  <a:t>Best Practice</a:t>
            </a:r>
            <a:br>
              <a:rPr kumimoji="1" lang="en-US" altLang="ko-KR" sz="1400" dirty="0">
                <a:solidFill>
                  <a:schemeClr val="bg2"/>
                </a:solidFill>
                <a:latin typeface="+mj-ea"/>
                <a:ea typeface="+mj-ea"/>
              </a:rPr>
            </a:br>
            <a:r>
              <a:rPr kumimoji="1" lang="en-US" altLang="ko-KR" sz="1400" dirty="0">
                <a:latin typeface="+mj-ea"/>
                <a:ea typeface="+mj-ea"/>
              </a:rPr>
              <a:t>3. PI </a:t>
            </a:r>
            <a:r>
              <a:rPr kumimoji="1" lang="ko-KR" altLang="en-US" sz="1400" dirty="0">
                <a:latin typeface="+mj-ea"/>
                <a:ea typeface="+mj-ea"/>
              </a:rPr>
              <a:t>추진 전략</a:t>
            </a:r>
            <a:br>
              <a:rPr kumimoji="1" lang="ko-KR" altLang="en-US" sz="1400" dirty="0">
                <a:latin typeface="+mj-ea"/>
                <a:ea typeface="+mj-ea"/>
              </a:rPr>
            </a:br>
            <a:r>
              <a:rPr kumimoji="1" lang="ko-KR" altLang="en-US" sz="1400" dirty="0"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latin typeface="+mj-ea"/>
                <a:ea typeface="+mj-ea"/>
              </a:rPr>
              <a:t>- </a:t>
            </a:r>
            <a:r>
              <a:rPr kumimoji="1" lang="ko-KR" altLang="en-US" sz="1400" dirty="0">
                <a:latin typeface="+mj-ea"/>
                <a:ea typeface="+mj-ea"/>
              </a:rPr>
              <a:t>업무 프로세스 </a:t>
            </a:r>
            <a:r>
              <a:rPr kumimoji="1" lang="en-US" altLang="ko-KR" sz="1400" dirty="0">
                <a:latin typeface="+mj-ea"/>
                <a:ea typeface="+mj-ea"/>
              </a:rPr>
              <a:t>PI </a:t>
            </a:r>
            <a:r>
              <a:rPr kumimoji="1" lang="ko-KR" altLang="en-US" sz="1400" dirty="0">
                <a:latin typeface="+mj-ea"/>
                <a:ea typeface="+mj-ea"/>
              </a:rPr>
              <a:t>추진 전략</a:t>
            </a:r>
            <a:br>
              <a:rPr kumimoji="1" lang="ko-KR" altLang="en-US" sz="1400" dirty="0">
                <a:latin typeface="+mj-ea"/>
                <a:ea typeface="+mj-ea"/>
              </a:rPr>
            </a:br>
            <a:r>
              <a:rPr kumimoji="1" lang="ko-KR" altLang="en-US" sz="1400" dirty="0"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latin typeface="+mj-ea"/>
                <a:ea typeface="+mj-ea"/>
              </a:rPr>
              <a:t>- TO-BE </a:t>
            </a:r>
            <a:r>
              <a:rPr kumimoji="1" lang="ko-KR" altLang="en-US" sz="1400" dirty="0">
                <a:latin typeface="+mj-ea"/>
                <a:ea typeface="+mj-ea"/>
              </a:rPr>
              <a:t>프로세스 변화관리 전략</a:t>
            </a:r>
            <a:br>
              <a:rPr kumimoji="1" lang="ko-KR" altLang="en-US" sz="1400" dirty="0">
                <a:latin typeface="+mj-ea"/>
                <a:ea typeface="+mj-ea"/>
              </a:rPr>
            </a:br>
            <a:r>
              <a:rPr kumimoji="1" lang="ko-KR" altLang="en-US" sz="1400" dirty="0"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latin typeface="+mj-ea"/>
                <a:ea typeface="+mj-ea"/>
              </a:rPr>
              <a:t>- EA </a:t>
            </a:r>
            <a:r>
              <a:rPr kumimoji="1" lang="ko-KR" altLang="en-US" sz="1400" dirty="0">
                <a:latin typeface="+mj-ea"/>
                <a:ea typeface="+mj-ea"/>
              </a:rPr>
              <a:t>추진 전략</a:t>
            </a:r>
          </a:p>
          <a:p>
            <a:pPr algn="l" latinLnBrk="1">
              <a:lnSpc>
                <a:spcPct val="130000"/>
              </a:lnSpc>
            </a:pPr>
            <a:r>
              <a:rPr kumimoji="1" lang="ko-KR" altLang="en-US" sz="1400" dirty="0">
                <a:latin typeface="+mj-ea"/>
                <a:ea typeface="+mj-ea"/>
              </a:rPr>
              <a:t>    </a:t>
            </a:r>
            <a:r>
              <a:rPr kumimoji="1" lang="en-US" altLang="ko-KR" sz="1400" dirty="0">
                <a:latin typeface="+mj-ea"/>
                <a:ea typeface="+mj-ea"/>
              </a:rPr>
              <a:t>- </a:t>
            </a:r>
            <a:r>
              <a:rPr kumimoji="1" lang="ko-KR" altLang="en-US" sz="1400" dirty="0">
                <a:latin typeface="+mj-ea"/>
                <a:ea typeface="+mj-ea"/>
              </a:rPr>
              <a:t>솔루션 구성 전략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53D5483-F298-D84C-D2DC-079519E12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1763" y="1513295"/>
            <a:ext cx="41293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/>
            <a:r>
              <a:rPr kumimoji="1" lang="en-US" altLang="ko-KR" sz="1800" dirty="0">
                <a:solidFill>
                  <a:schemeClr val="bg1"/>
                </a:solidFill>
                <a:latin typeface="+mj-ea"/>
                <a:ea typeface="+mj-ea"/>
              </a:rPr>
              <a:t>eMall BM (Business Model) </a:t>
            </a:r>
            <a:r>
              <a:rPr kumimoji="1" lang="ko-KR" altLang="en-US" sz="1800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082876-F3A3-C8F7-8181-DA2D2CAF2883}"/>
              </a:ext>
            </a:extLst>
          </p:cNvPr>
          <p:cNvSpPr/>
          <p:nvPr/>
        </p:nvSpPr>
        <p:spPr>
          <a:xfrm>
            <a:off x="1262850" y="3104964"/>
            <a:ext cx="4050190" cy="432000"/>
          </a:xfrm>
          <a:prstGeom prst="rect">
            <a:avLst/>
          </a:prstGeom>
          <a:solidFill>
            <a:srgbClr val="000066">
              <a:alpha val="1693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08000" indent="-108000" algn="ctr" latinLnBrk="0">
              <a:buFont typeface="Arial" panose="020B0604020202020204" pitchFamily="34" charset="0"/>
              <a:buChar char="•"/>
              <a:defRPr/>
            </a:pPr>
            <a:endParaRPr lang="ko-KR" altLang="en-US" sz="1050" kern="0" dirty="0">
              <a:solidFill>
                <a:srgbClr val="646464"/>
              </a:solidFill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2CFC1-4A8A-117F-3C40-FBFA4D78E9C6}"/>
              </a:ext>
            </a:extLst>
          </p:cNvPr>
          <p:cNvSpPr txBox="1"/>
          <p:nvPr/>
        </p:nvSpPr>
        <p:spPr>
          <a:xfrm>
            <a:off x="1405373" y="2198975"/>
            <a:ext cx="2571217" cy="16550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제안개요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eMall BM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개선 전략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PI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컨설팅 추진 방안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dirty="0">
                <a:solidFill>
                  <a:prstClr val="black"/>
                </a:solidFill>
                <a:latin typeface="+mj-ea"/>
                <a:ea typeface="+mj-ea"/>
              </a:rPr>
              <a:t>프로젝트 관리 및 추진 계획</a:t>
            </a:r>
            <a:endParaRPr lang="en-US" altLang="ko-KR" sz="1400" dirty="0">
              <a:solidFill>
                <a:prstClr val="black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2870200" cy="247650"/>
          </a:xfrm>
        </p:spPr>
        <p:txBody>
          <a:bodyPr/>
          <a:lstStyle/>
          <a:p>
            <a:r>
              <a:rPr lang="en-US" altLang="ko-KR" dirty="0"/>
              <a:t>eMall</a:t>
            </a:r>
            <a:r>
              <a:rPr lang="ko-KR" altLang="en-US" dirty="0"/>
              <a:t> </a:t>
            </a:r>
            <a:r>
              <a:rPr lang="en-US" altLang="ko-KR" dirty="0"/>
              <a:t>PI </a:t>
            </a:r>
            <a:r>
              <a:rPr lang="ko-KR" altLang="en-US" dirty="0"/>
              <a:t>추진 수행 전략</a:t>
            </a:r>
          </a:p>
        </p:txBody>
      </p:sp>
      <p:sp>
        <p:nvSpPr>
          <p:cNvPr id="1474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0350" y="914400"/>
            <a:ext cx="9367838" cy="255588"/>
          </a:xfrm>
          <a:noFill/>
          <a:ln/>
        </p:spPr>
        <p:txBody>
          <a:bodyPr/>
          <a:lstStyle/>
          <a:p>
            <a:r>
              <a:rPr lang="en-US" altLang="ko-KR" dirty="0"/>
              <a:t>eMall</a:t>
            </a:r>
            <a:r>
              <a:rPr lang="ko-KR" altLang="en-US" dirty="0"/>
              <a:t> </a:t>
            </a:r>
            <a:r>
              <a:rPr lang="en-US" altLang="ko-KR" dirty="0"/>
              <a:t>PI </a:t>
            </a:r>
            <a:r>
              <a:rPr lang="ko-KR" altLang="en-US" dirty="0"/>
              <a:t>프로젝트의 성공을 위하여 다음의 </a:t>
            </a:r>
            <a:r>
              <a:rPr lang="en-US" altLang="ko-KR" dirty="0"/>
              <a:t>4</a:t>
            </a:r>
            <a:r>
              <a:rPr lang="ko-KR" altLang="en-US" dirty="0"/>
              <a:t>가지 수행 </a:t>
            </a:r>
            <a:r>
              <a:rPr lang="ko-KR" altLang="en-US" dirty="0" err="1"/>
              <a:t>전략하에</a:t>
            </a:r>
            <a:r>
              <a:rPr lang="ko-KR" altLang="en-US" dirty="0"/>
              <a:t> 프로젝트를 진행할 예정임</a:t>
            </a: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473075" y="1557338"/>
            <a:ext cx="1257300" cy="4679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90000" rIns="54000" bIns="90000" anchor="ctr"/>
          <a:lstStyle/>
          <a:p>
            <a:pPr latinLnBrk="1"/>
            <a:endParaRPr kumimoji="1" lang="ko-KR" altLang="en-US" sz="1800" b="0">
              <a:latin typeface="+mj-ea"/>
              <a:ea typeface="+mj-ea"/>
            </a:endParaRPr>
          </a:p>
        </p:txBody>
      </p:sp>
      <p:sp>
        <p:nvSpPr>
          <p:cNvPr id="147462" name="AutoShape 6"/>
          <p:cNvSpPr>
            <a:spLocks noChangeArrowheads="1"/>
          </p:cNvSpPr>
          <p:nvPr/>
        </p:nvSpPr>
        <p:spPr bwMode="auto">
          <a:xfrm>
            <a:off x="1081087" y="1803400"/>
            <a:ext cx="1866899" cy="849313"/>
          </a:xfrm>
          <a:prstGeom prst="homePlate">
            <a:avLst>
              <a:gd name="adj" fmla="val 3381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51014" tIns="85023" rIns="51014" bIns="85023" anchor="ctr"/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en-US" altLang="ko-KR" i="1" dirty="0">
                <a:latin typeface="+mj-ea"/>
                <a:ea typeface="+mj-ea"/>
              </a:rPr>
              <a:t>BM</a:t>
            </a:r>
            <a:r>
              <a:rPr lang="ko-KR" altLang="en-US" i="1" dirty="0">
                <a:latin typeface="+mj-ea"/>
                <a:ea typeface="+mj-ea"/>
              </a:rPr>
              <a:t>과 연계된 실행 중심적 개선 과제 도출 </a:t>
            </a:r>
          </a:p>
        </p:txBody>
      </p:sp>
      <p:sp>
        <p:nvSpPr>
          <p:cNvPr id="147463" name="Text Box 7"/>
          <p:cNvSpPr txBox="1">
            <a:spLocks noChangeArrowheads="1"/>
          </p:cNvSpPr>
          <p:nvPr/>
        </p:nvSpPr>
        <p:spPr bwMode="gray">
          <a:xfrm>
            <a:off x="3090860" y="1836737"/>
            <a:ext cx="3173415" cy="65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92075" indent="-9207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1313" indent="-952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5000" indent="-1143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39800" indent="-1254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330450" indent="-2143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876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448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7020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592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Top-Down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및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Bottom-Up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방식 동시 진행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과 연계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업무 프로세스 중심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(↔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시스템 중심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)</a:t>
            </a:r>
          </a:p>
        </p:txBody>
      </p:sp>
      <p:sp>
        <p:nvSpPr>
          <p:cNvPr id="147464" name="Text Box 8"/>
          <p:cNvSpPr txBox="1">
            <a:spLocks noChangeArrowheads="1"/>
          </p:cNvSpPr>
          <p:nvPr/>
        </p:nvSpPr>
        <p:spPr bwMode="gray">
          <a:xfrm>
            <a:off x="3116967" y="4144963"/>
            <a:ext cx="3131433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92075" indent="-9207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1313" indent="-952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5000" indent="-1143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39800" indent="-1254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330450" indent="-2143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876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448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7020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592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개선 과제의 목표와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To-Be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프로세스의 설계 사상을 연계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변화대상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(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프로세스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·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조직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·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시스템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)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간 통합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/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시너지</a:t>
            </a:r>
          </a:p>
        </p:txBody>
      </p:sp>
      <p:sp>
        <p:nvSpPr>
          <p:cNvPr id="147465" name="Line 9"/>
          <p:cNvSpPr>
            <a:spLocks noChangeShapeType="1"/>
          </p:cNvSpPr>
          <p:nvPr/>
        </p:nvSpPr>
        <p:spPr bwMode="gray">
          <a:xfrm>
            <a:off x="2952750" y="2659063"/>
            <a:ext cx="33115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47466" name="Line 10"/>
          <p:cNvSpPr>
            <a:spLocks noChangeShapeType="1"/>
          </p:cNvSpPr>
          <p:nvPr/>
        </p:nvSpPr>
        <p:spPr bwMode="gray">
          <a:xfrm>
            <a:off x="2952750" y="3800475"/>
            <a:ext cx="33115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47467" name="Line 11"/>
          <p:cNvSpPr>
            <a:spLocks noChangeShapeType="1"/>
          </p:cNvSpPr>
          <p:nvPr/>
        </p:nvSpPr>
        <p:spPr bwMode="gray">
          <a:xfrm>
            <a:off x="2952750" y="4941888"/>
            <a:ext cx="33115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47468" name="AutoShape 12"/>
          <p:cNvSpPr>
            <a:spLocks noChangeArrowheads="1"/>
          </p:cNvSpPr>
          <p:nvPr/>
        </p:nvSpPr>
        <p:spPr bwMode="auto">
          <a:xfrm>
            <a:off x="7397750" y="2955925"/>
            <a:ext cx="1947863" cy="2035175"/>
          </a:xfrm>
          <a:prstGeom prst="star32">
            <a:avLst>
              <a:gd name="adj" fmla="val 43301"/>
            </a:avLst>
          </a:prstGeom>
          <a:solidFill>
            <a:schemeClr val="tx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384" tIns="43191" rIns="86384" bIns="43191" anchor="ctr"/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en-US" altLang="ko-KR" sz="1800" dirty="0">
                <a:solidFill>
                  <a:schemeClr val="bg1"/>
                </a:solidFill>
                <a:latin typeface="+mj-ea"/>
                <a:ea typeface="+mj-ea"/>
              </a:rPr>
              <a:t>0000</a:t>
            </a:r>
            <a:r>
              <a:rPr lang="ko-KR" altLang="en-US" sz="1800" dirty="0">
                <a:solidFill>
                  <a:schemeClr val="bg1"/>
                </a:solidFill>
                <a:latin typeface="+mj-ea"/>
                <a:ea typeface="+mj-ea"/>
              </a:rPr>
              <a:t>년 </a:t>
            </a:r>
          </a:p>
          <a:p>
            <a:r>
              <a:rPr lang="en-US" altLang="ko-KR" sz="1800" dirty="0">
                <a:solidFill>
                  <a:schemeClr val="bg1"/>
                </a:solidFill>
                <a:latin typeface="+mj-ea"/>
                <a:ea typeface="+mj-ea"/>
              </a:rPr>
              <a:t>0000</a:t>
            </a:r>
            <a:r>
              <a:rPr lang="ko-KR" altLang="en-US" sz="1800" dirty="0">
                <a:solidFill>
                  <a:schemeClr val="bg1"/>
                </a:solidFill>
                <a:latin typeface="+mj-ea"/>
                <a:ea typeface="+mj-ea"/>
              </a:rPr>
              <a:t>억의</a:t>
            </a:r>
          </a:p>
          <a:p>
            <a:r>
              <a:rPr lang="ko-KR" altLang="en-US" sz="1800" dirty="0">
                <a:solidFill>
                  <a:schemeClr val="bg1"/>
                </a:solidFill>
                <a:latin typeface="+mj-ea"/>
                <a:ea typeface="+mj-ea"/>
              </a:rPr>
              <a:t> 매출 달성</a:t>
            </a:r>
          </a:p>
        </p:txBody>
      </p:sp>
      <p:sp>
        <p:nvSpPr>
          <p:cNvPr id="147469" name="Text Box 13"/>
          <p:cNvSpPr txBox="1">
            <a:spLocks noChangeArrowheads="1"/>
          </p:cNvSpPr>
          <p:nvPr/>
        </p:nvSpPr>
        <p:spPr bwMode="gray">
          <a:xfrm>
            <a:off x="3113019" y="3074988"/>
            <a:ext cx="3151256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92075" indent="-9207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1313" indent="-952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5000" indent="-1143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39800" indent="-1254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330450" indent="-2143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876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448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7020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592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과제별 오너 및 프로세스 오너 선정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개선 과제 </a:t>
            </a:r>
            <a:r>
              <a:rPr kumimoji="1" lang="ko-KR" altLang="en-US" sz="1100" dirty="0" err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오너별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KPI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달성 책임 부여</a:t>
            </a:r>
          </a:p>
        </p:txBody>
      </p:sp>
      <p:sp>
        <p:nvSpPr>
          <p:cNvPr id="147470" name="Oval 14"/>
          <p:cNvSpPr>
            <a:spLocks noChangeArrowheads="1"/>
          </p:cNvSpPr>
          <p:nvPr/>
        </p:nvSpPr>
        <p:spPr bwMode="gray">
          <a:xfrm>
            <a:off x="938213" y="1700213"/>
            <a:ext cx="360362" cy="358775"/>
          </a:xfrm>
          <a:prstGeom prst="ellipse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F5F5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eaLnBrk="0" hangingPunct="0"/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</a:rPr>
              <a:t>1</a:t>
            </a:r>
          </a:p>
        </p:txBody>
      </p:sp>
      <p:sp>
        <p:nvSpPr>
          <p:cNvPr id="147471" name="AutoShape 15"/>
          <p:cNvSpPr>
            <a:spLocks noChangeArrowheads="1"/>
          </p:cNvSpPr>
          <p:nvPr/>
        </p:nvSpPr>
        <p:spPr bwMode="auto">
          <a:xfrm>
            <a:off x="1081087" y="2933700"/>
            <a:ext cx="1866899" cy="849313"/>
          </a:xfrm>
          <a:prstGeom prst="homePlate">
            <a:avLst>
              <a:gd name="adj" fmla="val 3381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51014" tIns="85023" rIns="51014" bIns="85023" anchor="ctr"/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en-US" altLang="en-US" i="1">
                <a:latin typeface="+mj-ea"/>
                <a:ea typeface="+mj-ea"/>
              </a:rPr>
              <a:t>현업주도의 과제 </a:t>
            </a:r>
          </a:p>
          <a:p>
            <a:r>
              <a:rPr lang="en-US" altLang="en-US" i="1">
                <a:latin typeface="+mj-ea"/>
                <a:ea typeface="+mj-ea"/>
              </a:rPr>
              <a:t>수행체계 구축</a:t>
            </a:r>
            <a:endParaRPr lang="ko-KR" altLang="en-US" i="1">
              <a:latin typeface="+mj-ea"/>
              <a:ea typeface="+mj-ea"/>
            </a:endParaRPr>
          </a:p>
        </p:txBody>
      </p:sp>
      <p:sp>
        <p:nvSpPr>
          <p:cNvPr id="147472" name="Oval 16"/>
          <p:cNvSpPr>
            <a:spLocks noChangeArrowheads="1"/>
          </p:cNvSpPr>
          <p:nvPr/>
        </p:nvSpPr>
        <p:spPr bwMode="gray">
          <a:xfrm>
            <a:off x="938213" y="2835275"/>
            <a:ext cx="360362" cy="358775"/>
          </a:xfrm>
          <a:prstGeom prst="ellipse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F5F5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eaLnBrk="0" hangingPunct="0"/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147473" name="AutoShape 17"/>
          <p:cNvSpPr>
            <a:spLocks noChangeArrowheads="1"/>
          </p:cNvSpPr>
          <p:nvPr/>
        </p:nvSpPr>
        <p:spPr bwMode="auto">
          <a:xfrm>
            <a:off x="1082675" y="4068763"/>
            <a:ext cx="1866900" cy="849312"/>
          </a:xfrm>
          <a:prstGeom prst="homePlate">
            <a:avLst>
              <a:gd name="adj" fmla="val 3381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51014" tIns="85023" rIns="51014" bIns="85023" anchor="ctr"/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i="1">
                <a:latin typeface="+mj-ea"/>
                <a:ea typeface="+mj-ea"/>
              </a:rPr>
              <a:t>개선 과제와 연계된 </a:t>
            </a:r>
          </a:p>
          <a:p>
            <a:r>
              <a:rPr lang="en-US" altLang="ko-KR" i="1">
                <a:latin typeface="+mj-ea"/>
                <a:ea typeface="+mj-ea"/>
              </a:rPr>
              <a:t>TO-BE </a:t>
            </a:r>
            <a:r>
              <a:rPr lang="ko-KR" altLang="en-US" i="1">
                <a:latin typeface="+mj-ea"/>
                <a:ea typeface="+mj-ea"/>
              </a:rPr>
              <a:t>운영 모델 설계</a:t>
            </a:r>
          </a:p>
        </p:txBody>
      </p:sp>
      <p:sp>
        <p:nvSpPr>
          <p:cNvPr id="147474" name="Oval 18"/>
          <p:cNvSpPr>
            <a:spLocks noChangeArrowheads="1"/>
          </p:cNvSpPr>
          <p:nvPr/>
        </p:nvSpPr>
        <p:spPr bwMode="gray">
          <a:xfrm>
            <a:off x="938213" y="3976688"/>
            <a:ext cx="360362" cy="358775"/>
          </a:xfrm>
          <a:prstGeom prst="ellipse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F5F5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eaLnBrk="0" hangingPunct="0"/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</a:rPr>
              <a:t>3</a:t>
            </a:r>
          </a:p>
        </p:txBody>
      </p:sp>
      <p:sp>
        <p:nvSpPr>
          <p:cNvPr id="147475" name="Text Box 19"/>
          <p:cNvSpPr txBox="1">
            <a:spLocks noChangeArrowheads="1"/>
          </p:cNvSpPr>
          <p:nvPr/>
        </p:nvSpPr>
        <p:spPr bwMode="gray">
          <a:xfrm>
            <a:off x="446088" y="2771775"/>
            <a:ext cx="415925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384" tIns="43191" rIns="86384" bIns="43191">
            <a:spAutoFit/>
          </a:bodyPr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P</a:t>
            </a:r>
            <a:b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I</a:t>
            </a:r>
            <a:b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의</a:t>
            </a:r>
            <a:b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</a:br>
            <a:b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수행</a:t>
            </a:r>
            <a:b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전략</a:t>
            </a:r>
          </a:p>
        </p:txBody>
      </p:sp>
      <p:sp>
        <p:nvSpPr>
          <p:cNvPr id="147476" name="AutoShape 20"/>
          <p:cNvSpPr>
            <a:spLocks noChangeArrowheads="1"/>
          </p:cNvSpPr>
          <p:nvPr/>
        </p:nvSpPr>
        <p:spPr bwMode="auto">
          <a:xfrm>
            <a:off x="1082675" y="5183188"/>
            <a:ext cx="1866900" cy="849312"/>
          </a:xfrm>
          <a:prstGeom prst="homePlate">
            <a:avLst>
              <a:gd name="adj" fmla="val 3381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51014" tIns="85023" rIns="51014" bIns="85023" anchor="ctr"/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en-US" altLang="en-US" i="1">
                <a:latin typeface="+mj-ea"/>
                <a:ea typeface="+mj-ea"/>
              </a:rPr>
              <a:t>실행 중심의 </a:t>
            </a:r>
            <a:br>
              <a:rPr lang="ko-KR" altLang="en-US" i="1">
                <a:latin typeface="+mj-ea"/>
                <a:ea typeface="+mj-ea"/>
              </a:rPr>
            </a:br>
            <a:r>
              <a:rPr lang="en-US" altLang="en-US" i="1">
                <a:latin typeface="+mj-ea"/>
                <a:ea typeface="+mj-ea"/>
              </a:rPr>
              <a:t>변화관리</a:t>
            </a:r>
            <a:endParaRPr lang="ko-KR" altLang="en-US" i="1">
              <a:latin typeface="+mj-ea"/>
              <a:ea typeface="+mj-ea"/>
            </a:endParaRPr>
          </a:p>
        </p:txBody>
      </p:sp>
      <p:sp>
        <p:nvSpPr>
          <p:cNvPr id="147477" name="Oval 21"/>
          <p:cNvSpPr>
            <a:spLocks noChangeArrowheads="1"/>
          </p:cNvSpPr>
          <p:nvPr/>
        </p:nvSpPr>
        <p:spPr bwMode="gray">
          <a:xfrm>
            <a:off x="938213" y="5097463"/>
            <a:ext cx="360362" cy="358775"/>
          </a:xfrm>
          <a:prstGeom prst="ellipse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F5F5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eaLnBrk="0" hangingPunct="0"/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</a:rPr>
              <a:t>4</a:t>
            </a:r>
          </a:p>
        </p:txBody>
      </p:sp>
      <p:sp>
        <p:nvSpPr>
          <p:cNvPr id="147478" name="Text Box 22"/>
          <p:cNvSpPr txBox="1">
            <a:spLocks noChangeArrowheads="1"/>
          </p:cNvSpPr>
          <p:nvPr/>
        </p:nvSpPr>
        <p:spPr bwMode="gray">
          <a:xfrm>
            <a:off x="3094037" y="5168900"/>
            <a:ext cx="3154363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92075" indent="-9207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1313" indent="-952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5000" indent="-1143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39800" indent="-1254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330450" indent="-2143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876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448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7020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592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변화 관리의 상시화 체계 구축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(Institutionalization of change management)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변화 수용도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Monitoring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을 통한 선택과 집중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사전 방제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(Pre-emptive)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활동에 초점</a:t>
            </a:r>
          </a:p>
        </p:txBody>
      </p:sp>
      <p:pic>
        <p:nvPicPr>
          <p:cNvPr id="147479" name="Picture 23" descr="13-3"/>
          <p:cNvPicPr>
            <a:picLocks noChangeAspect="1" noChangeArrowheads="1"/>
          </p:cNvPicPr>
          <p:nvPr/>
        </p:nvPicPr>
        <p:blipFill>
          <a:blip r:embed="rId2">
            <a:lum bright="6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425" y="1555750"/>
            <a:ext cx="938213" cy="488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2971800" cy="247650"/>
          </a:xfrm>
        </p:spPr>
        <p:txBody>
          <a:bodyPr/>
          <a:lstStyle/>
          <a:p>
            <a:r>
              <a:rPr lang="en-US" altLang="ko-KR" dirty="0"/>
              <a:t>eMall</a:t>
            </a:r>
            <a:r>
              <a:rPr lang="ko-KR" altLang="en-US" dirty="0"/>
              <a:t> </a:t>
            </a:r>
            <a:r>
              <a:rPr lang="en-US" altLang="ko-KR" dirty="0"/>
              <a:t>EA </a:t>
            </a:r>
            <a:r>
              <a:rPr lang="ko-KR" altLang="en-US" dirty="0"/>
              <a:t>추진 수행 전략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0350" y="914400"/>
            <a:ext cx="9367838" cy="255588"/>
          </a:xfrm>
        </p:spPr>
        <p:txBody>
          <a:bodyPr/>
          <a:lstStyle/>
          <a:p>
            <a:r>
              <a:rPr lang="en-US" altLang="ko-KR" dirty="0"/>
              <a:t>eMall</a:t>
            </a:r>
            <a:r>
              <a:rPr lang="ko-KR" altLang="en-US" dirty="0"/>
              <a:t> </a:t>
            </a:r>
            <a:r>
              <a:rPr lang="en-US" altLang="ko-KR" dirty="0"/>
              <a:t>EA </a:t>
            </a:r>
            <a:r>
              <a:rPr lang="ko-KR" altLang="en-US" dirty="0"/>
              <a:t>프로젝트의 성공을 위하여 다음의 </a:t>
            </a:r>
            <a:r>
              <a:rPr lang="en-US" altLang="ko-KR" dirty="0"/>
              <a:t>4</a:t>
            </a:r>
            <a:r>
              <a:rPr lang="ko-KR" altLang="en-US" dirty="0"/>
              <a:t>가지 수행 </a:t>
            </a:r>
            <a:r>
              <a:rPr lang="ko-KR" altLang="en-US" dirty="0" err="1"/>
              <a:t>전략하에</a:t>
            </a:r>
            <a:r>
              <a:rPr lang="ko-KR" altLang="en-US" dirty="0"/>
              <a:t> 프로젝트를 진행할 예정임</a:t>
            </a:r>
          </a:p>
        </p:txBody>
      </p:sp>
      <p:sp>
        <p:nvSpPr>
          <p:cNvPr id="198661" name="Rectangle 5"/>
          <p:cNvSpPr>
            <a:spLocks noChangeArrowheads="1"/>
          </p:cNvSpPr>
          <p:nvPr/>
        </p:nvSpPr>
        <p:spPr bwMode="auto">
          <a:xfrm>
            <a:off x="473075" y="1557338"/>
            <a:ext cx="1257300" cy="4679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90000" rIns="54000" bIns="90000" anchor="ctr"/>
          <a:lstStyle/>
          <a:p>
            <a:pPr latinLnBrk="1"/>
            <a:endParaRPr kumimoji="1" lang="ko-KR" altLang="en-US" sz="1800" b="0">
              <a:latin typeface="+mj-ea"/>
              <a:ea typeface="+mj-ea"/>
            </a:endParaRPr>
          </a:p>
        </p:txBody>
      </p:sp>
      <p:sp>
        <p:nvSpPr>
          <p:cNvPr id="198662" name="AutoShape 6"/>
          <p:cNvSpPr>
            <a:spLocks noChangeArrowheads="1"/>
          </p:cNvSpPr>
          <p:nvPr/>
        </p:nvSpPr>
        <p:spPr bwMode="auto">
          <a:xfrm>
            <a:off x="1081088" y="1803400"/>
            <a:ext cx="1795462" cy="849313"/>
          </a:xfrm>
          <a:prstGeom prst="homePlate">
            <a:avLst>
              <a:gd name="adj" fmla="val 3381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51014" tIns="85023" rIns="51014" bIns="85023" anchor="ctr"/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i="1">
                <a:latin typeface="+mj-ea"/>
                <a:ea typeface="+mj-ea"/>
              </a:rPr>
              <a:t>비즈니스 요건 상세화와 아키텍처 수립 간의 직접 연계</a:t>
            </a:r>
          </a:p>
        </p:txBody>
      </p:sp>
      <p:sp>
        <p:nvSpPr>
          <p:cNvPr id="198663" name="Text Box 7"/>
          <p:cNvSpPr txBox="1">
            <a:spLocks noChangeArrowheads="1"/>
          </p:cNvSpPr>
          <p:nvPr/>
        </p:nvSpPr>
        <p:spPr bwMode="gray">
          <a:xfrm>
            <a:off x="2949575" y="1906588"/>
            <a:ext cx="3298825" cy="356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92075" indent="-9207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1313" indent="-952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5000" indent="-1143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39800" indent="-1254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330450" indent="-2143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876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448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7020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592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비즈니스 요건 및 개선 과제가 아키텍처 수립을 위한 핵심 </a:t>
            </a:r>
            <a:r>
              <a:rPr kumimoji="1" lang="en-US" altLang="ko-KR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Input</a:t>
            </a:r>
            <a:r>
              <a:rPr kumimoji="1"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으로 직접적으로 활용됨</a:t>
            </a:r>
          </a:p>
        </p:txBody>
      </p:sp>
      <p:sp>
        <p:nvSpPr>
          <p:cNvPr id="198664" name="Text Box 8"/>
          <p:cNvSpPr txBox="1">
            <a:spLocks noChangeArrowheads="1"/>
          </p:cNvSpPr>
          <p:nvPr/>
        </p:nvSpPr>
        <p:spPr bwMode="gray">
          <a:xfrm>
            <a:off x="2949575" y="4152983"/>
            <a:ext cx="3623605" cy="644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92075" indent="-9207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1313" indent="-952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5000" indent="-1143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39800" indent="-1254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330450" indent="-2143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876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448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7020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592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개선 과제의 목표와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To-Be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프로세스의 설계 사상을 연계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안정적이고 효율적인 인프라 구성 및 운영 방안 수립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endParaRPr kumimoji="1" lang="ko-KR" altLang="en-US" sz="110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</p:txBody>
      </p:sp>
      <p:sp>
        <p:nvSpPr>
          <p:cNvPr id="198665" name="Line 9"/>
          <p:cNvSpPr>
            <a:spLocks noChangeShapeType="1"/>
          </p:cNvSpPr>
          <p:nvPr/>
        </p:nvSpPr>
        <p:spPr bwMode="gray">
          <a:xfrm>
            <a:off x="2952750" y="2659063"/>
            <a:ext cx="33115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98666" name="Line 10"/>
          <p:cNvSpPr>
            <a:spLocks noChangeShapeType="1"/>
          </p:cNvSpPr>
          <p:nvPr/>
        </p:nvSpPr>
        <p:spPr bwMode="gray">
          <a:xfrm>
            <a:off x="2952750" y="3800475"/>
            <a:ext cx="33115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98667" name="Line 11"/>
          <p:cNvSpPr>
            <a:spLocks noChangeShapeType="1"/>
          </p:cNvSpPr>
          <p:nvPr/>
        </p:nvSpPr>
        <p:spPr bwMode="gray">
          <a:xfrm>
            <a:off x="2952750" y="4941888"/>
            <a:ext cx="33115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98668" name="AutoShape 12"/>
          <p:cNvSpPr>
            <a:spLocks noChangeArrowheads="1"/>
          </p:cNvSpPr>
          <p:nvPr/>
        </p:nvSpPr>
        <p:spPr bwMode="auto">
          <a:xfrm>
            <a:off x="7397750" y="2955925"/>
            <a:ext cx="1947863" cy="2035175"/>
          </a:xfrm>
          <a:prstGeom prst="star32">
            <a:avLst>
              <a:gd name="adj" fmla="val 43301"/>
            </a:avLst>
          </a:prstGeom>
          <a:solidFill>
            <a:schemeClr val="tx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384" tIns="43191" rIns="86384" bIns="43191" anchor="ctr"/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en-US" altLang="ko-KR" sz="1800">
                <a:solidFill>
                  <a:schemeClr val="bg1"/>
                </a:solidFill>
                <a:latin typeface="+mj-ea"/>
                <a:ea typeface="+mj-ea"/>
              </a:rPr>
              <a:t>PI </a:t>
            </a:r>
            <a:r>
              <a:rPr lang="ko-KR" altLang="en-US" sz="1800">
                <a:solidFill>
                  <a:schemeClr val="bg1"/>
                </a:solidFill>
                <a:latin typeface="+mj-ea"/>
                <a:ea typeface="+mj-ea"/>
              </a:rPr>
              <a:t>결과의 </a:t>
            </a:r>
          </a:p>
          <a:p>
            <a:r>
              <a:rPr lang="ko-KR" altLang="en-US" sz="1800">
                <a:solidFill>
                  <a:schemeClr val="bg1"/>
                </a:solidFill>
                <a:latin typeface="+mj-ea"/>
                <a:ea typeface="+mj-ea"/>
              </a:rPr>
              <a:t>물리적 구현</a:t>
            </a:r>
          </a:p>
          <a:p>
            <a:r>
              <a:rPr lang="ko-KR" altLang="en-US" sz="1800">
                <a:solidFill>
                  <a:schemeClr val="bg1"/>
                </a:solidFill>
                <a:latin typeface="+mj-ea"/>
                <a:ea typeface="+mj-ea"/>
              </a:rPr>
              <a:t>지원</a:t>
            </a:r>
          </a:p>
        </p:txBody>
      </p:sp>
      <p:sp>
        <p:nvSpPr>
          <p:cNvPr id="198669" name="Text Box 13"/>
          <p:cNvSpPr txBox="1">
            <a:spLocks noChangeArrowheads="1"/>
          </p:cNvSpPr>
          <p:nvPr/>
        </p:nvSpPr>
        <p:spPr bwMode="gray">
          <a:xfrm>
            <a:off x="2936875" y="2922588"/>
            <a:ext cx="3221038" cy="7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92075" indent="-9207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1313" indent="-952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5000" indent="-1143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39800" indent="-1254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330450" indent="-2143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876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448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7020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592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en-US" altLang="ko-KR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BA Task </a:t>
            </a:r>
            <a:r>
              <a:rPr kumimoji="1"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를 </a:t>
            </a:r>
            <a:r>
              <a:rPr kumimoji="1" lang="en-US" altLang="ko-KR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PI </a:t>
            </a:r>
            <a:r>
              <a:rPr kumimoji="1"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와 </a:t>
            </a:r>
            <a:r>
              <a:rPr kumimoji="1" lang="en-US" altLang="ko-KR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 </a:t>
            </a:r>
            <a:r>
              <a:rPr kumimoji="1"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 산출물로 대체하여 실행 과정 효율화 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en-US" altLang="ko-KR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IT </a:t>
            </a:r>
            <a:r>
              <a:rPr kumimoji="1"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전략이나 </a:t>
            </a:r>
            <a:r>
              <a:rPr kumimoji="1" lang="en-US" altLang="ko-KR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IT Governance </a:t>
            </a:r>
            <a:r>
              <a:rPr kumimoji="1"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보다 실행적인 아키텍처 수립에 중점을 두고 프로젝트 진행</a:t>
            </a:r>
          </a:p>
        </p:txBody>
      </p:sp>
      <p:sp>
        <p:nvSpPr>
          <p:cNvPr id="198670" name="Oval 14"/>
          <p:cNvSpPr>
            <a:spLocks noChangeArrowheads="1"/>
          </p:cNvSpPr>
          <p:nvPr/>
        </p:nvSpPr>
        <p:spPr bwMode="gray">
          <a:xfrm>
            <a:off x="938213" y="1700213"/>
            <a:ext cx="360362" cy="358775"/>
          </a:xfrm>
          <a:prstGeom prst="ellipse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F5F5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eaLnBrk="0" hangingPunct="0"/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</a:rPr>
              <a:t>1</a:t>
            </a:r>
          </a:p>
        </p:txBody>
      </p:sp>
      <p:sp>
        <p:nvSpPr>
          <p:cNvPr id="198671" name="AutoShape 15"/>
          <p:cNvSpPr>
            <a:spLocks noChangeArrowheads="1"/>
          </p:cNvSpPr>
          <p:nvPr/>
        </p:nvSpPr>
        <p:spPr bwMode="auto">
          <a:xfrm>
            <a:off x="1081088" y="2933700"/>
            <a:ext cx="1795462" cy="849313"/>
          </a:xfrm>
          <a:prstGeom prst="homePlate">
            <a:avLst>
              <a:gd name="adj" fmla="val 3381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51014" tIns="85023" rIns="51014" bIns="85023" anchor="ctr"/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i="1" dirty="0">
                <a:latin typeface="+mj-ea"/>
                <a:ea typeface="+mj-ea"/>
              </a:rPr>
              <a:t>   </a:t>
            </a:r>
            <a:r>
              <a:rPr lang="en-US" altLang="ko-KR" i="1" dirty="0">
                <a:latin typeface="+mj-ea"/>
                <a:ea typeface="+mj-ea"/>
              </a:rPr>
              <a:t>eMall</a:t>
            </a:r>
            <a:r>
              <a:rPr lang="ko-KR" altLang="en-US" i="1" dirty="0">
                <a:latin typeface="+mj-ea"/>
                <a:ea typeface="+mj-ea"/>
              </a:rPr>
              <a:t> 특성에 맞는 효율적인 </a:t>
            </a:r>
            <a:r>
              <a:rPr lang="en-US" altLang="ko-KR" i="1" dirty="0">
                <a:latin typeface="+mj-ea"/>
                <a:ea typeface="+mj-ea"/>
              </a:rPr>
              <a:t>EA </a:t>
            </a:r>
            <a:r>
              <a:rPr lang="ko-KR" altLang="en-US" i="1" dirty="0">
                <a:latin typeface="+mj-ea"/>
                <a:ea typeface="+mj-ea"/>
              </a:rPr>
              <a:t>프레임워크 적용</a:t>
            </a:r>
          </a:p>
        </p:txBody>
      </p:sp>
      <p:sp>
        <p:nvSpPr>
          <p:cNvPr id="198672" name="Oval 16"/>
          <p:cNvSpPr>
            <a:spLocks noChangeArrowheads="1"/>
          </p:cNvSpPr>
          <p:nvPr/>
        </p:nvSpPr>
        <p:spPr bwMode="gray">
          <a:xfrm>
            <a:off x="938213" y="2835275"/>
            <a:ext cx="360362" cy="358775"/>
          </a:xfrm>
          <a:prstGeom prst="ellipse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F5F5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eaLnBrk="0" hangingPunct="0"/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198673" name="AutoShape 17"/>
          <p:cNvSpPr>
            <a:spLocks noChangeArrowheads="1"/>
          </p:cNvSpPr>
          <p:nvPr/>
        </p:nvSpPr>
        <p:spPr bwMode="auto">
          <a:xfrm>
            <a:off x="1082675" y="4068763"/>
            <a:ext cx="1795463" cy="849312"/>
          </a:xfrm>
          <a:prstGeom prst="homePlate">
            <a:avLst>
              <a:gd name="adj" fmla="val 3381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51014" tIns="85023" rIns="51014" bIns="85023" anchor="ctr"/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i="1" dirty="0">
                <a:latin typeface="+mj-ea"/>
                <a:ea typeface="+mj-ea"/>
              </a:rPr>
              <a:t>제안기업의 기술선도 역량을 활용한 </a:t>
            </a:r>
            <a:r>
              <a:rPr lang="en-US" altLang="ko-KR" i="1" dirty="0">
                <a:latin typeface="+mj-ea"/>
                <a:ea typeface="+mj-ea"/>
              </a:rPr>
              <a:t>IT </a:t>
            </a:r>
            <a:r>
              <a:rPr lang="ko-KR" altLang="en-US" i="1" dirty="0">
                <a:latin typeface="+mj-ea"/>
                <a:ea typeface="+mj-ea"/>
              </a:rPr>
              <a:t>아키텍처 상세화 </a:t>
            </a:r>
          </a:p>
        </p:txBody>
      </p:sp>
      <p:sp>
        <p:nvSpPr>
          <p:cNvPr id="198674" name="Oval 18"/>
          <p:cNvSpPr>
            <a:spLocks noChangeArrowheads="1"/>
          </p:cNvSpPr>
          <p:nvPr/>
        </p:nvSpPr>
        <p:spPr bwMode="gray">
          <a:xfrm>
            <a:off x="938213" y="3976688"/>
            <a:ext cx="360362" cy="358775"/>
          </a:xfrm>
          <a:prstGeom prst="ellipse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F5F5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eaLnBrk="0" hangingPunct="0"/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</a:rPr>
              <a:t>3</a:t>
            </a:r>
          </a:p>
        </p:txBody>
      </p:sp>
      <p:sp>
        <p:nvSpPr>
          <p:cNvPr id="198675" name="Text Box 19"/>
          <p:cNvSpPr txBox="1">
            <a:spLocks noChangeArrowheads="1"/>
          </p:cNvSpPr>
          <p:nvPr/>
        </p:nvSpPr>
        <p:spPr bwMode="gray">
          <a:xfrm>
            <a:off x="446088" y="2771775"/>
            <a:ext cx="415925" cy="172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384" tIns="43191" rIns="86384" bIns="43191">
            <a:spAutoFit/>
          </a:bodyPr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  <a:t>EA</a:t>
            </a:r>
            <a:br>
              <a:rPr lang="en-US" altLang="ko-KR" sz="140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의</a:t>
            </a:r>
            <a:b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</a:br>
            <a:b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수행</a:t>
            </a:r>
            <a:b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전략</a:t>
            </a:r>
          </a:p>
        </p:txBody>
      </p:sp>
      <p:sp>
        <p:nvSpPr>
          <p:cNvPr id="198676" name="AutoShape 20"/>
          <p:cNvSpPr>
            <a:spLocks noChangeArrowheads="1"/>
          </p:cNvSpPr>
          <p:nvPr/>
        </p:nvSpPr>
        <p:spPr bwMode="auto">
          <a:xfrm>
            <a:off x="1082675" y="5183188"/>
            <a:ext cx="1795463" cy="849312"/>
          </a:xfrm>
          <a:prstGeom prst="homePlate">
            <a:avLst>
              <a:gd name="adj" fmla="val 3381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51014" tIns="85023" rIns="51014" bIns="85023" anchor="ctr"/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i="1" dirty="0">
                <a:latin typeface="+mj-ea"/>
                <a:ea typeface="+mj-ea"/>
              </a:rPr>
              <a:t>제안기업</a:t>
            </a:r>
            <a:r>
              <a:rPr lang="en-US" altLang="ko-KR" i="1" dirty="0">
                <a:latin typeface="+mj-ea"/>
                <a:ea typeface="+mj-ea"/>
              </a:rPr>
              <a:t> </a:t>
            </a:r>
            <a:r>
              <a:rPr lang="ko-KR" altLang="en-US" i="1" dirty="0">
                <a:latin typeface="+mj-ea"/>
                <a:ea typeface="+mj-ea"/>
              </a:rPr>
              <a:t>운영팀 협업으로 </a:t>
            </a:r>
            <a:r>
              <a:rPr lang="en-US" altLang="ko-KR" i="1" dirty="0">
                <a:latin typeface="+mj-ea"/>
                <a:ea typeface="+mj-ea"/>
              </a:rPr>
              <a:t>eMall</a:t>
            </a:r>
            <a:r>
              <a:rPr lang="ko-KR" altLang="en-US" i="1" dirty="0">
                <a:latin typeface="+mj-ea"/>
                <a:ea typeface="+mj-ea"/>
              </a:rPr>
              <a:t> 고유의 </a:t>
            </a:r>
            <a:r>
              <a:rPr lang="en-US" altLang="ko-KR" i="1" dirty="0">
                <a:latin typeface="+mj-ea"/>
                <a:ea typeface="+mj-ea"/>
              </a:rPr>
              <a:t>Insight </a:t>
            </a:r>
            <a:r>
              <a:rPr lang="ko-KR" altLang="en-US" i="1" dirty="0">
                <a:latin typeface="+mj-ea"/>
                <a:ea typeface="+mj-ea"/>
              </a:rPr>
              <a:t>반영</a:t>
            </a:r>
          </a:p>
        </p:txBody>
      </p:sp>
      <p:sp>
        <p:nvSpPr>
          <p:cNvPr id="198677" name="Oval 21"/>
          <p:cNvSpPr>
            <a:spLocks noChangeArrowheads="1"/>
          </p:cNvSpPr>
          <p:nvPr/>
        </p:nvSpPr>
        <p:spPr bwMode="gray">
          <a:xfrm>
            <a:off x="938213" y="5097463"/>
            <a:ext cx="360362" cy="358775"/>
          </a:xfrm>
          <a:prstGeom prst="ellipse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F5F5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eaLnBrk="0" hangingPunct="0"/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</a:rPr>
              <a:t>4</a:t>
            </a:r>
          </a:p>
        </p:txBody>
      </p:sp>
      <p:sp>
        <p:nvSpPr>
          <p:cNvPr id="198678" name="Text Box 22"/>
          <p:cNvSpPr txBox="1">
            <a:spLocks noChangeArrowheads="1"/>
          </p:cNvSpPr>
          <p:nvPr/>
        </p:nvSpPr>
        <p:spPr bwMode="gray">
          <a:xfrm>
            <a:off x="2936875" y="5168900"/>
            <a:ext cx="3529013" cy="103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92075" indent="-9207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1313" indent="-952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5000" indent="-1143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39800" indent="-1254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330450" indent="-2143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876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448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7020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592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전략적 파트너로서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eMall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</a:t>
            </a:r>
            <a:r>
              <a:rPr kumimoji="1" lang="ko-KR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지속적인 발전에 기여할 수 있는 역량 확보</a:t>
            </a:r>
            <a:endParaRPr kumimoji="1" lang="ko-KR" altLang="en-US" sz="1100" dirty="0">
              <a:solidFill>
                <a:srgbClr val="000000"/>
              </a:solidFill>
              <a:latin typeface="+mj-ea"/>
              <a:ea typeface="+mj-ea"/>
              <a:cs typeface="Arial" charset="0"/>
            </a:endParaRP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홈쇼핑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쇼핑몰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카탈로그 등 매체 특성을 고려한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EA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설계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기존 운영 시스템의 리스크를 최소화한 아키텍처 수립</a:t>
            </a:r>
          </a:p>
        </p:txBody>
      </p:sp>
      <p:pic>
        <p:nvPicPr>
          <p:cNvPr id="198679" name="Picture 23" descr="13-3"/>
          <p:cNvPicPr>
            <a:picLocks noChangeAspect="1" noChangeArrowheads="1"/>
          </p:cNvPicPr>
          <p:nvPr/>
        </p:nvPicPr>
        <p:blipFill>
          <a:blip r:embed="rId2">
            <a:lum bright="6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425" y="1555750"/>
            <a:ext cx="938213" cy="488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2667000" cy="247650"/>
          </a:xfrm>
        </p:spPr>
        <p:txBody>
          <a:bodyPr/>
          <a:lstStyle/>
          <a:p>
            <a:r>
              <a:rPr lang="ko-KR" altLang="en-US" dirty="0"/>
              <a:t>차세대 시스템 요구사항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438" y="868363"/>
            <a:ext cx="9459912" cy="255587"/>
          </a:xfrm>
        </p:spPr>
        <p:txBody>
          <a:bodyPr/>
          <a:lstStyle/>
          <a:p>
            <a:r>
              <a:rPr lang="ko-KR" altLang="en-US"/>
              <a:t>차세대 시스템은 </a:t>
            </a:r>
            <a:r>
              <a:rPr lang="en-US" altLang="ko-KR"/>
              <a:t>BM,PI </a:t>
            </a:r>
            <a:r>
              <a:rPr lang="ko-KR" altLang="en-US"/>
              <a:t>의 결과를 반영하고</a:t>
            </a:r>
            <a:r>
              <a:rPr lang="en-US" altLang="ko-KR"/>
              <a:t>, </a:t>
            </a:r>
            <a:r>
              <a:rPr lang="ko-KR" altLang="en-US"/>
              <a:t>현재 운영상의 개선요구를 수용하는 방향으로 추진되어야 함 </a:t>
            </a:r>
          </a:p>
        </p:txBody>
      </p:sp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1789113" y="5895306"/>
            <a:ext cx="4068762" cy="511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90000" rIns="36000" bIns="25200"/>
          <a:lstStyle>
            <a:lvl1pPr marL="182563" indent="-182563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877888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400175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922463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444750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9019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3591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8163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2735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15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기능 위주의 컴포넌트 개발로 인해 공정마다 중복 개발된 공통 기능의 비즈니스 위주의 공통화가 필요함</a:t>
            </a:r>
          </a:p>
        </p:txBody>
      </p:sp>
      <p:sp>
        <p:nvSpPr>
          <p:cNvPr id="227334" name="AutoShape 6"/>
          <p:cNvSpPr>
            <a:spLocks noChangeArrowheads="1"/>
          </p:cNvSpPr>
          <p:nvPr/>
        </p:nvSpPr>
        <p:spPr bwMode="auto">
          <a:xfrm>
            <a:off x="301625" y="1809081"/>
            <a:ext cx="1327150" cy="1581150"/>
          </a:xfrm>
          <a:prstGeom prst="homePlate">
            <a:avLst>
              <a:gd name="adj" fmla="val 13296"/>
            </a:avLst>
          </a:prstGeom>
          <a:gradFill rotWithShape="1">
            <a:gsLst>
              <a:gs pos="0">
                <a:srgbClr val="EEEEEE"/>
              </a:gs>
              <a:gs pos="100000">
                <a:srgbClr val="DDDDDD"/>
              </a:gs>
            </a:gsLst>
            <a:lin ang="5400000" scaled="1"/>
          </a:gradFill>
          <a:ln w="9525" algn="ctr">
            <a:solidFill>
              <a:srgbClr val="AAAAA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25200" rIns="54000" bIns="25200" anchor="ctr"/>
          <a:lstStyle/>
          <a:p>
            <a:pPr>
              <a:lnSpc>
                <a:spcPct val="110000"/>
              </a:lnSpc>
            </a:pPr>
            <a:r>
              <a:rPr kumimoji="1" lang="en-US" altLang="ko-KR" sz="1400" dirty="0">
                <a:latin typeface="+mj-ea"/>
                <a:ea typeface="+mj-ea"/>
                <a:cs typeface="Arial" charset="0"/>
              </a:rPr>
              <a:t>Business perspective</a:t>
            </a:r>
          </a:p>
        </p:txBody>
      </p:sp>
      <p:sp>
        <p:nvSpPr>
          <p:cNvPr id="227335" name="AutoShape 7"/>
          <p:cNvSpPr>
            <a:spLocks noChangeArrowheads="1"/>
          </p:cNvSpPr>
          <p:nvPr/>
        </p:nvSpPr>
        <p:spPr bwMode="auto">
          <a:xfrm>
            <a:off x="301625" y="3826793"/>
            <a:ext cx="1327150" cy="2543175"/>
          </a:xfrm>
          <a:prstGeom prst="homePlate">
            <a:avLst>
              <a:gd name="adj" fmla="val 13296"/>
            </a:avLst>
          </a:prstGeom>
          <a:gradFill rotWithShape="1">
            <a:gsLst>
              <a:gs pos="0">
                <a:srgbClr val="EEEEEE"/>
              </a:gs>
              <a:gs pos="100000">
                <a:srgbClr val="DDDDDD"/>
              </a:gs>
            </a:gsLst>
            <a:lin ang="5400000" scaled="1"/>
          </a:gradFill>
          <a:ln w="9525" algn="ctr">
            <a:solidFill>
              <a:srgbClr val="AAAAA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25200" rIns="54000" bIns="25200" anchor="ctr"/>
          <a:lstStyle/>
          <a:p>
            <a:pPr>
              <a:lnSpc>
                <a:spcPct val="110000"/>
              </a:lnSpc>
            </a:pPr>
            <a:r>
              <a:rPr kumimoji="1" lang="en-US" altLang="ko-KR" sz="1400" dirty="0">
                <a:latin typeface="+mj-ea"/>
                <a:ea typeface="+mj-ea"/>
                <a:cs typeface="Arial" charset="0"/>
              </a:rPr>
              <a:t>IT perspective</a:t>
            </a:r>
          </a:p>
        </p:txBody>
      </p:sp>
      <p:sp>
        <p:nvSpPr>
          <p:cNvPr id="227336" name="Line 8"/>
          <p:cNvSpPr>
            <a:spLocks noChangeShapeType="1"/>
          </p:cNvSpPr>
          <p:nvPr/>
        </p:nvSpPr>
        <p:spPr bwMode="gray">
          <a:xfrm>
            <a:off x="344488" y="3752181"/>
            <a:ext cx="5543550" cy="0"/>
          </a:xfrm>
          <a:prstGeom prst="line">
            <a:avLst/>
          </a:prstGeom>
          <a:noFill/>
          <a:ln w="6350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hlink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lIns="0" tIns="46800" rIns="0" bIns="46800">
            <a:sp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227337" name="Group 9"/>
          <p:cNvGrpSpPr>
            <a:grpSpLocks/>
          </p:cNvGrpSpPr>
          <p:nvPr/>
        </p:nvGrpSpPr>
        <p:grpSpPr bwMode="auto">
          <a:xfrm>
            <a:off x="311150" y="1340768"/>
            <a:ext cx="6089650" cy="325438"/>
            <a:chOff x="196" y="842"/>
            <a:chExt cx="3836" cy="205"/>
          </a:xfrm>
        </p:grpSpPr>
        <p:sp>
          <p:nvSpPr>
            <p:cNvPr id="227338" name="Text Box 10"/>
            <p:cNvSpPr txBox="1">
              <a:spLocks noChangeArrowheads="1"/>
            </p:cNvSpPr>
            <p:nvPr/>
          </p:nvSpPr>
          <p:spPr bwMode="gray">
            <a:xfrm>
              <a:off x="1489" y="842"/>
              <a:ext cx="1249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accent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46800" rIns="0" bIns="46800">
              <a:spAutoFit/>
            </a:bodyPr>
            <a:lstStyle>
              <a:lvl1pPr marL="457200" indent="-4572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10000"/>
                </a:spcBef>
              </a:pPr>
              <a:r>
                <a:rPr lang="ko-KR" altLang="en-US" sz="1400">
                  <a:latin typeface="+mj-ea"/>
                  <a:ea typeface="+mj-ea"/>
                  <a:cs typeface="Arial" charset="0"/>
                </a:rPr>
                <a:t>차세대 시스템 주요 동인</a:t>
              </a:r>
            </a:p>
          </p:txBody>
        </p:sp>
        <p:sp>
          <p:nvSpPr>
            <p:cNvPr id="227339" name="Line 11"/>
            <p:cNvSpPr>
              <a:spLocks noChangeShapeType="1"/>
            </p:cNvSpPr>
            <p:nvPr/>
          </p:nvSpPr>
          <p:spPr bwMode="gray">
            <a:xfrm>
              <a:off x="196" y="1047"/>
              <a:ext cx="383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</p:grpSp>
      <p:grpSp>
        <p:nvGrpSpPr>
          <p:cNvPr id="227340" name="Group 12"/>
          <p:cNvGrpSpPr>
            <a:grpSpLocks/>
          </p:cNvGrpSpPr>
          <p:nvPr/>
        </p:nvGrpSpPr>
        <p:grpSpPr bwMode="auto">
          <a:xfrm>
            <a:off x="6691313" y="1340768"/>
            <a:ext cx="2795587" cy="325438"/>
            <a:chOff x="4215" y="842"/>
            <a:chExt cx="1761" cy="205"/>
          </a:xfrm>
        </p:grpSpPr>
        <p:sp>
          <p:nvSpPr>
            <p:cNvPr id="227341" name="Line 13"/>
            <p:cNvSpPr>
              <a:spLocks noChangeShapeType="1"/>
            </p:cNvSpPr>
            <p:nvPr/>
          </p:nvSpPr>
          <p:spPr bwMode="gray">
            <a:xfrm>
              <a:off x="4215" y="1047"/>
              <a:ext cx="1761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lIns="0" tIns="46800" rIns="0" bIns="46800">
              <a:spAutoFit/>
            </a:bodyPr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27342" name="Text Box 14"/>
            <p:cNvSpPr txBox="1">
              <a:spLocks noChangeArrowheads="1"/>
            </p:cNvSpPr>
            <p:nvPr/>
          </p:nvSpPr>
          <p:spPr bwMode="gray">
            <a:xfrm>
              <a:off x="4490" y="842"/>
              <a:ext cx="1210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accent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46800" rIns="0" bIns="46800">
              <a:spAutoFit/>
            </a:bodyPr>
            <a:lstStyle>
              <a:lvl1pPr marL="457200" indent="-457200"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eaLnBrk="0" hangingPunct="0"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eaLnBrk="1" hangingPunct="1">
                <a:spcBef>
                  <a:spcPct val="10000"/>
                </a:spcBef>
              </a:pPr>
              <a:r>
                <a:rPr lang="ko-KR" altLang="en-US" sz="1400">
                  <a:latin typeface="+mj-ea"/>
                  <a:ea typeface="+mj-ea"/>
                  <a:cs typeface="Arial" charset="0"/>
                </a:rPr>
                <a:t>차세대 시스템 요구사항</a:t>
              </a:r>
            </a:p>
          </p:txBody>
        </p:sp>
      </p:grpSp>
      <p:sp>
        <p:nvSpPr>
          <p:cNvPr id="227343" name="AutoShape 15"/>
          <p:cNvSpPr>
            <a:spLocks noChangeArrowheads="1"/>
          </p:cNvSpPr>
          <p:nvPr/>
        </p:nvSpPr>
        <p:spPr bwMode="gray">
          <a:xfrm rot="5400000">
            <a:off x="5190442" y="3880609"/>
            <a:ext cx="2376487" cy="259084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C0C0C0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46800" rIns="0" bIns="46800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7344" name="Rectangle 16"/>
          <p:cNvSpPr>
            <a:spLocks noChangeArrowheads="1"/>
          </p:cNvSpPr>
          <p:nvPr/>
        </p:nvSpPr>
        <p:spPr bwMode="gray">
          <a:xfrm>
            <a:off x="6692900" y="2101181"/>
            <a:ext cx="2774950" cy="889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5F5F5F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72000" tIns="46800" rIns="72000" bIns="46800" anchor="ctr"/>
          <a:lstStyle/>
          <a:p>
            <a:pPr>
              <a:spcBef>
                <a:spcPct val="10000"/>
              </a:spcBef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비즈니스 변화 및 확장을 신속하고 적시에 가능하게 하는 기반</a:t>
            </a:r>
          </a:p>
        </p:txBody>
      </p:sp>
      <p:sp>
        <p:nvSpPr>
          <p:cNvPr id="227345" name="Rectangle 17"/>
          <p:cNvSpPr>
            <a:spLocks noChangeArrowheads="1"/>
          </p:cNvSpPr>
          <p:nvPr/>
        </p:nvSpPr>
        <p:spPr bwMode="gray">
          <a:xfrm>
            <a:off x="6692900" y="3171156"/>
            <a:ext cx="2774950" cy="889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5F5F5F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72000" tIns="46800" rIns="72000" bIns="46800" anchor="ctr"/>
          <a:lstStyle/>
          <a:p>
            <a:pPr>
              <a:spcBef>
                <a:spcPct val="10000"/>
              </a:spcBef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새로운 비즈니스 및 기술의 발전에 따라 점진적으로 진화할 수 있는 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</a:rPr>
              <a:t>IT 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체계</a:t>
            </a:r>
          </a:p>
        </p:txBody>
      </p:sp>
      <p:sp>
        <p:nvSpPr>
          <p:cNvPr id="227346" name="Rectangle 18"/>
          <p:cNvSpPr>
            <a:spLocks noChangeArrowheads="1"/>
          </p:cNvSpPr>
          <p:nvPr/>
        </p:nvSpPr>
        <p:spPr bwMode="gray">
          <a:xfrm>
            <a:off x="6692900" y="4241131"/>
            <a:ext cx="2774950" cy="889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5F5F5F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72000" tIns="46800" rIns="72000" bIns="46800" anchor="ctr"/>
          <a:lstStyle/>
          <a:p>
            <a:pPr>
              <a:spcBef>
                <a:spcPct val="10000"/>
              </a:spcBef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표준화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</a:rPr>
              <a:t>/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통합화 요소 및 차별화 요소에 대한 유기적인 결합이 가능한 구조</a:t>
            </a:r>
          </a:p>
        </p:txBody>
      </p:sp>
      <p:sp>
        <p:nvSpPr>
          <p:cNvPr id="227347" name="Rectangle 19"/>
          <p:cNvSpPr>
            <a:spLocks noChangeArrowheads="1"/>
          </p:cNvSpPr>
          <p:nvPr/>
        </p:nvSpPr>
        <p:spPr bwMode="gray">
          <a:xfrm>
            <a:off x="6692900" y="5312693"/>
            <a:ext cx="2774950" cy="889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5F5F5F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72000" tIns="46800" rIns="72000" bIns="46800" anchor="ctr"/>
          <a:lstStyle/>
          <a:p>
            <a:pPr>
              <a:spcBef>
                <a:spcPct val="10000"/>
              </a:spcBef>
            </a:pP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그룹 내</a:t>
            </a:r>
            <a:r>
              <a:rPr lang="en-US" altLang="ko-KR">
                <a:solidFill>
                  <a:srgbClr val="000000"/>
                </a:solidFill>
                <a:latin typeface="+mj-ea"/>
                <a:ea typeface="+mj-ea"/>
              </a:rPr>
              <a:t>/</a:t>
            </a:r>
            <a:r>
              <a:rPr lang="ko-KR" altLang="en-US">
                <a:solidFill>
                  <a:srgbClr val="000000"/>
                </a:solidFill>
                <a:latin typeface="+mj-ea"/>
                <a:ea typeface="+mj-ea"/>
              </a:rPr>
              <a:t>외 파트너와 전략적 협업을 가능하게 하는 기반</a:t>
            </a:r>
          </a:p>
        </p:txBody>
      </p:sp>
      <p:sp>
        <p:nvSpPr>
          <p:cNvPr id="227348" name="Rectangle 20" descr="25%"/>
          <p:cNvSpPr>
            <a:spLocks noChangeArrowheads="1"/>
          </p:cNvSpPr>
          <p:nvPr/>
        </p:nvSpPr>
        <p:spPr bwMode="gray">
          <a:xfrm>
            <a:off x="1787525" y="5579393"/>
            <a:ext cx="4281599" cy="388938"/>
          </a:xfrm>
          <a:prstGeom prst="rect">
            <a:avLst/>
          </a:prstGeom>
          <a:pattFill prst="pct25">
            <a:fgClr>
              <a:srgbClr val="DDDDDD"/>
            </a:fgClr>
            <a:bgClr>
              <a:srgbClr val="FFFFFF"/>
            </a:bgClr>
          </a:pattFill>
          <a:ln w="12700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anchor="ctr"/>
          <a:lstStyle>
            <a:lvl1pPr marL="2635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en-US" altLang="ko-KR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Add-On / Add-hoc </a:t>
            </a:r>
            <a:r>
              <a:rPr kumimoji="1" lang="ko-KR" altLang="en-US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방식의 개발</a:t>
            </a:r>
          </a:p>
        </p:txBody>
      </p:sp>
      <p:sp>
        <p:nvSpPr>
          <p:cNvPr id="227349" name="Rectangle 21"/>
          <p:cNvSpPr>
            <a:spLocks noChangeArrowheads="1"/>
          </p:cNvSpPr>
          <p:nvPr/>
        </p:nvSpPr>
        <p:spPr bwMode="auto">
          <a:xfrm>
            <a:off x="1789113" y="4203031"/>
            <a:ext cx="4068762" cy="511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90000" rIns="36000" bIns="25200"/>
          <a:lstStyle>
            <a:lvl1pPr marL="182563" indent="-182563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877888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400175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922463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444750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9019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3591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8163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2735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15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새로운 요구사항의 반영이 용이하고</a:t>
            </a:r>
            <a:r>
              <a:rPr kumimoji="1" lang="en-US" altLang="ko-KR" sz="1100" b="0">
                <a:latin typeface="+mj-ea"/>
                <a:ea typeface="+mj-ea"/>
                <a:cs typeface="Arial" charset="0"/>
              </a:rPr>
              <a:t>, </a:t>
            </a: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시스템간 영향도 분석 시간이 단축 되어야함</a:t>
            </a:r>
          </a:p>
        </p:txBody>
      </p:sp>
      <p:sp>
        <p:nvSpPr>
          <p:cNvPr id="227350" name="Rectangle 22" descr="25%"/>
          <p:cNvSpPr>
            <a:spLocks noChangeArrowheads="1"/>
          </p:cNvSpPr>
          <p:nvPr/>
        </p:nvSpPr>
        <p:spPr bwMode="gray">
          <a:xfrm>
            <a:off x="1787525" y="3826793"/>
            <a:ext cx="4281599" cy="388938"/>
          </a:xfrm>
          <a:prstGeom prst="rect">
            <a:avLst/>
          </a:prstGeom>
          <a:pattFill prst="pct25">
            <a:fgClr>
              <a:srgbClr val="DDDDDD"/>
            </a:fgClr>
            <a:bgClr>
              <a:srgbClr val="FFFFFF"/>
            </a:bgClr>
          </a:pattFill>
          <a:ln w="12700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anchor="ctr"/>
          <a:lstStyle>
            <a:lvl1pPr marL="2635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비즈니스 변화와 연계된 시스템 구현</a:t>
            </a:r>
          </a:p>
        </p:txBody>
      </p:sp>
      <p:sp>
        <p:nvSpPr>
          <p:cNvPr id="227351" name="Rectangle 23"/>
          <p:cNvSpPr>
            <a:spLocks noChangeArrowheads="1"/>
          </p:cNvSpPr>
          <p:nvPr/>
        </p:nvSpPr>
        <p:spPr bwMode="auto">
          <a:xfrm>
            <a:off x="1789113" y="3214018"/>
            <a:ext cx="4068762" cy="511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90000" rIns="36000" bIns="25200"/>
          <a:lstStyle>
            <a:lvl1pPr marL="182563" indent="-182563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877888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400175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922463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444750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9019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3591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8163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2735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15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혁신을 선도하고</a:t>
            </a:r>
            <a:r>
              <a:rPr kumimoji="1" lang="en-US" altLang="ko-KR" sz="1100" b="0">
                <a:latin typeface="+mj-ea"/>
                <a:ea typeface="+mj-ea"/>
                <a:cs typeface="Arial" charset="0"/>
              </a:rPr>
              <a:t>, </a:t>
            </a: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내외부 구성원의 유기적인 연계를 지원할 수 있는 체계 수립이 필요함</a:t>
            </a:r>
          </a:p>
        </p:txBody>
      </p:sp>
      <p:sp>
        <p:nvSpPr>
          <p:cNvPr id="227352" name="Rectangle 24" descr="25%"/>
          <p:cNvSpPr>
            <a:spLocks noChangeArrowheads="1"/>
          </p:cNvSpPr>
          <p:nvPr/>
        </p:nvSpPr>
        <p:spPr bwMode="gray">
          <a:xfrm>
            <a:off x="1787525" y="2837781"/>
            <a:ext cx="4281599" cy="388937"/>
          </a:xfrm>
          <a:prstGeom prst="rect">
            <a:avLst/>
          </a:prstGeom>
          <a:pattFill prst="pct25">
            <a:fgClr>
              <a:srgbClr val="DDDDDD"/>
            </a:fgClr>
            <a:bgClr>
              <a:srgbClr val="FFFFFF"/>
            </a:bgClr>
          </a:pattFill>
          <a:ln w="12700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anchor="ctr"/>
          <a:lstStyle>
            <a:lvl1pPr marL="2635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혁신적인 </a:t>
            </a:r>
            <a:r>
              <a:rPr kumimoji="1" lang="en-US" altLang="ko-KR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Process Transformation</a:t>
            </a:r>
          </a:p>
        </p:txBody>
      </p:sp>
      <p:sp>
        <p:nvSpPr>
          <p:cNvPr id="227353" name="Rectangle 25"/>
          <p:cNvSpPr>
            <a:spLocks noChangeArrowheads="1"/>
          </p:cNvSpPr>
          <p:nvPr/>
        </p:nvSpPr>
        <p:spPr bwMode="auto">
          <a:xfrm>
            <a:off x="1789113" y="2188493"/>
            <a:ext cx="4068762" cy="511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90000" rIns="36000" bIns="25200"/>
          <a:lstStyle>
            <a:lvl1pPr marL="182563" indent="-182563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877888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400175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922463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444750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9019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3591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8163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2735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15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신규 개발된 사업모델이 적시에 적용될 수 있는 실행력 확보가 필요함</a:t>
            </a:r>
          </a:p>
        </p:txBody>
      </p:sp>
      <p:sp>
        <p:nvSpPr>
          <p:cNvPr id="227354" name="Rectangle 26" descr="25%"/>
          <p:cNvSpPr>
            <a:spLocks noChangeArrowheads="1"/>
          </p:cNvSpPr>
          <p:nvPr/>
        </p:nvSpPr>
        <p:spPr bwMode="gray">
          <a:xfrm>
            <a:off x="1787525" y="1812256"/>
            <a:ext cx="4281599" cy="388937"/>
          </a:xfrm>
          <a:prstGeom prst="rect">
            <a:avLst/>
          </a:prstGeom>
          <a:pattFill prst="pct25">
            <a:fgClr>
              <a:srgbClr val="DDDDDD"/>
            </a:fgClr>
            <a:bgClr>
              <a:srgbClr val="FFFFFF"/>
            </a:bgClr>
          </a:pattFill>
          <a:ln w="12700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anchor="ctr"/>
          <a:lstStyle>
            <a:lvl1pPr marL="2635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전략적인 </a:t>
            </a:r>
            <a:r>
              <a:rPr kumimoji="1" lang="en-US" altLang="ko-KR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BM</a:t>
            </a:r>
            <a:r>
              <a:rPr kumimoji="1" lang="ko-KR" altLang="en-US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 지속적인 발굴</a:t>
            </a:r>
          </a:p>
        </p:txBody>
      </p:sp>
      <p:sp>
        <p:nvSpPr>
          <p:cNvPr id="227355" name="Rectangle 27"/>
          <p:cNvSpPr>
            <a:spLocks noChangeArrowheads="1"/>
          </p:cNvSpPr>
          <p:nvPr/>
        </p:nvSpPr>
        <p:spPr bwMode="auto">
          <a:xfrm>
            <a:off x="1789113" y="5038056"/>
            <a:ext cx="4068762" cy="511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90000" rIns="36000" bIns="25200"/>
          <a:lstStyle>
            <a:lvl1pPr marL="182563" indent="-182563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877888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1400175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922463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444750" indent="-342900" eaLnBrk="0" hangingPunct="0"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9019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3591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8163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273550" indent="-3429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438275" algn="l"/>
              </a:tabLs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spcBef>
                <a:spcPct val="15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b="0">
                <a:latin typeface="+mj-ea"/>
                <a:ea typeface="+mj-ea"/>
                <a:cs typeface="Arial" charset="0"/>
              </a:rPr>
              <a:t>다양한 업무 처리 채널과 디바이스를 유연하게 지원할 수 있는 스트럭처가 요구됨</a:t>
            </a:r>
          </a:p>
        </p:txBody>
      </p:sp>
      <p:sp>
        <p:nvSpPr>
          <p:cNvPr id="227356" name="Rectangle 28" descr="25%"/>
          <p:cNvSpPr>
            <a:spLocks noChangeArrowheads="1"/>
          </p:cNvSpPr>
          <p:nvPr/>
        </p:nvSpPr>
        <p:spPr bwMode="gray">
          <a:xfrm>
            <a:off x="1787525" y="4714206"/>
            <a:ext cx="4281599" cy="388937"/>
          </a:xfrm>
          <a:prstGeom prst="rect">
            <a:avLst/>
          </a:prstGeom>
          <a:pattFill prst="pct25">
            <a:fgClr>
              <a:srgbClr val="DDDDDD"/>
            </a:fgClr>
            <a:bgClr>
              <a:srgbClr val="FFFFFF"/>
            </a:bgClr>
          </a:pattFill>
          <a:ln w="12700" algn="ctr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6800" anchor="ctr"/>
          <a:lstStyle>
            <a:lvl1pPr marL="263525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latinLnBrk="1" hangingPunct="1"/>
            <a:r>
              <a:rPr kumimoji="1" lang="ko-KR" altLang="en-US" sz="14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기술의 변화에 대한 신속한 대응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1981200" cy="247650"/>
          </a:xfrm>
        </p:spPr>
        <p:txBody>
          <a:bodyPr>
            <a:noAutofit/>
          </a:bodyPr>
          <a:lstStyle/>
          <a:p>
            <a:r>
              <a:rPr lang="ko-KR" altLang="en-US" dirty="0"/>
              <a:t>솔루션 구성 전략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0350" y="914400"/>
            <a:ext cx="9367838" cy="255588"/>
          </a:xfrm>
        </p:spPr>
        <p:txBody>
          <a:bodyPr>
            <a:noAutofit/>
          </a:bodyPr>
          <a:lstStyle/>
          <a:p>
            <a:r>
              <a:rPr lang="en-US" altLang="ko-KR" dirty="0"/>
              <a:t>BM </a:t>
            </a:r>
            <a:r>
              <a:rPr lang="ko-KR" altLang="en-US" dirty="0"/>
              <a:t>및 </a:t>
            </a:r>
            <a:r>
              <a:rPr lang="en-US" altLang="ko-KR" dirty="0"/>
              <a:t>PI </a:t>
            </a:r>
            <a:r>
              <a:rPr lang="ko-KR" altLang="en-US" dirty="0"/>
              <a:t>설계 이후 실행단계의 성공적인 비즈니스 목표달성을 위하여 수행 </a:t>
            </a:r>
            <a:r>
              <a:rPr lang="ko-KR" altLang="en-US" dirty="0" err="1"/>
              <a:t>전략하에</a:t>
            </a:r>
            <a:r>
              <a:rPr lang="ko-KR" altLang="en-US" dirty="0"/>
              <a:t> 프로젝트를 진행하여야 함</a:t>
            </a:r>
          </a:p>
        </p:txBody>
      </p:sp>
      <p:sp>
        <p:nvSpPr>
          <p:cNvPr id="228357" name="Rectangle 5"/>
          <p:cNvSpPr>
            <a:spLocks noChangeArrowheads="1"/>
          </p:cNvSpPr>
          <p:nvPr/>
        </p:nvSpPr>
        <p:spPr bwMode="auto">
          <a:xfrm>
            <a:off x="473075" y="1557338"/>
            <a:ext cx="1257300" cy="46799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90000" rIns="54000" bIns="90000" anchor="ctr">
            <a:noAutofit/>
          </a:bodyPr>
          <a:lstStyle/>
          <a:p>
            <a:pPr latinLnBrk="1"/>
            <a:endParaRPr kumimoji="1" lang="ko-KR" altLang="en-US" sz="1800" b="0">
              <a:latin typeface="+mj-ea"/>
              <a:ea typeface="+mj-ea"/>
            </a:endParaRPr>
          </a:p>
        </p:txBody>
      </p:sp>
      <p:sp>
        <p:nvSpPr>
          <p:cNvPr id="228358" name="AutoShape 6"/>
          <p:cNvSpPr>
            <a:spLocks noChangeArrowheads="1"/>
          </p:cNvSpPr>
          <p:nvPr/>
        </p:nvSpPr>
        <p:spPr bwMode="auto">
          <a:xfrm>
            <a:off x="7397750" y="2955925"/>
            <a:ext cx="1947863" cy="2035175"/>
          </a:xfrm>
          <a:prstGeom prst="star32">
            <a:avLst>
              <a:gd name="adj" fmla="val 43301"/>
            </a:avLst>
          </a:prstGeom>
          <a:solidFill>
            <a:schemeClr val="tx1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384" tIns="43191" rIns="86384" bIns="43191" anchor="ctr">
            <a:noAutofit/>
          </a:bodyPr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sz="1800">
                <a:solidFill>
                  <a:schemeClr val="bg1"/>
                </a:solidFill>
                <a:latin typeface="+mj-ea"/>
                <a:ea typeface="+mj-ea"/>
              </a:rPr>
              <a:t>성공적인 </a:t>
            </a:r>
          </a:p>
          <a:p>
            <a:r>
              <a:rPr lang="ko-KR" altLang="en-US" sz="1800">
                <a:solidFill>
                  <a:schemeClr val="bg1"/>
                </a:solidFill>
                <a:latin typeface="+mj-ea"/>
                <a:ea typeface="+mj-ea"/>
              </a:rPr>
              <a:t>차세대 시스템</a:t>
            </a:r>
          </a:p>
          <a:p>
            <a:r>
              <a:rPr lang="ko-KR" altLang="en-US" sz="1800">
                <a:solidFill>
                  <a:schemeClr val="bg1"/>
                </a:solidFill>
                <a:latin typeface="+mj-ea"/>
                <a:ea typeface="+mj-ea"/>
              </a:rPr>
              <a:t>구축</a:t>
            </a:r>
          </a:p>
        </p:txBody>
      </p:sp>
      <p:sp>
        <p:nvSpPr>
          <p:cNvPr id="228359" name="AutoShape 7"/>
          <p:cNvSpPr>
            <a:spLocks noChangeArrowheads="1"/>
          </p:cNvSpPr>
          <p:nvPr/>
        </p:nvSpPr>
        <p:spPr bwMode="auto">
          <a:xfrm>
            <a:off x="1081088" y="1803400"/>
            <a:ext cx="1789112" cy="1141413"/>
          </a:xfrm>
          <a:prstGeom prst="homePlate">
            <a:avLst>
              <a:gd name="adj" fmla="val 2719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51014" tIns="85023" rIns="51014" bIns="85023" anchor="ctr">
            <a:noAutofit/>
          </a:bodyPr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en-US" altLang="ko-KR" i="1">
                <a:latin typeface="+mj-ea"/>
                <a:ea typeface="+mj-ea"/>
              </a:rPr>
              <a:t>PI </a:t>
            </a:r>
            <a:r>
              <a:rPr lang="ko-KR" altLang="en-US" i="1">
                <a:latin typeface="+mj-ea"/>
                <a:ea typeface="+mj-ea"/>
              </a:rPr>
              <a:t>결과의 </a:t>
            </a:r>
            <a:br>
              <a:rPr lang="ko-KR" altLang="en-US" i="1">
                <a:latin typeface="+mj-ea"/>
                <a:ea typeface="+mj-ea"/>
              </a:rPr>
            </a:br>
            <a:r>
              <a:rPr lang="ko-KR" altLang="en-US" i="1">
                <a:latin typeface="+mj-ea"/>
                <a:ea typeface="+mj-ea"/>
              </a:rPr>
              <a:t>일관성 있는 실행</a:t>
            </a:r>
          </a:p>
        </p:txBody>
      </p:sp>
      <p:sp>
        <p:nvSpPr>
          <p:cNvPr id="228360" name="Text Box 8"/>
          <p:cNvSpPr txBox="1">
            <a:spLocks noChangeArrowheads="1"/>
          </p:cNvSpPr>
          <p:nvPr/>
        </p:nvSpPr>
        <p:spPr bwMode="gray">
          <a:xfrm>
            <a:off x="3095673" y="1844675"/>
            <a:ext cx="3441652" cy="60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>
            <a:lvl1pPr marL="92075" indent="-9207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1313" indent="-952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5000" indent="-1143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39800" indent="-1254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330450" indent="-2143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876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448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7020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592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통합 방법론의 적용으로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PI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단계 산출물의 개발단계 활용이 가능함 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요구사항 추적관리 기법을 적용함 </a:t>
            </a:r>
          </a:p>
        </p:txBody>
      </p:sp>
      <p:sp>
        <p:nvSpPr>
          <p:cNvPr id="228361" name="Text Box 9"/>
          <p:cNvSpPr txBox="1">
            <a:spLocks noChangeArrowheads="1"/>
          </p:cNvSpPr>
          <p:nvPr/>
        </p:nvSpPr>
        <p:spPr bwMode="gray">
          <a:xfrm>
            <a:off x="3094923" y="4894263"/>
            <a:ext cx="3666239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>
            <a:lvl1pPr marL="92075" indent="-9207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1313" indent="-952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5000" indent="-1143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39800" indent="-1254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330450" indent="-2143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876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448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7020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592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제안기업은 쇼핑은 물론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현대 홈쇼핑의 인프라 아웃소싱 업체이며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,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자사의 검증된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End to End 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솔루션을 활용하고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Global Network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 지원을 통하여 </a:t>
            </a:r>
            <a:r>
              <a:rPr kumimoji="1" lang="en-US" altLang="ko-KR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Risk</a:t>
            </a:r>
            <a:r>
              <a:rPr kumimoji="1" lang="ko-KR" altLang="en-US" sz="1100" dirty="0" err="1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를</a:t>
            </a:r>
            <a:r>
              <a:rPr kumimoji="1" lang="ko-KR" altLang="en-US" sz="1100" dirty="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 최소화 함 </a:t>
            </a:r>
          </a:p>
        </p:txBody>
      </p:sp>
      <p:sp>
        <p:nvSpPr>
          <p:cNvPr id="228362" name="Line 10"/>
          <p:cNvSpPr>
            <a:spLocks noChangeShapeType="1"/>
          </p:cNvSpPr>
          <p:nvPr/>
        </p:nvSpPr>
        <p:spPr bwMode="gray">
          <a:xfrm>
            <a:off x="2963863" y="3105150"/>
            <a:ext cx="35782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8363" name="Line 11"/>
          <p:cNvSpPr>
            <a:spLocks noChangeShapeType="1"/>
          </p:cNvSpPr>
          <p:nvPr/>
        </p:nvSpPr>
        <p:spPr bwMode="gray">
          <a:xfrm>
            <a:off x="2963863" y="4627563"/>
            <a:ext cx="35782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8364" name="Line 12"/>
          <p:cNvSpPr>
            <a:spLocks noChangeShapeType="1"/>
          </p:cNvSpPr>
          <p:nvPr/>
        </p:nvSpPr>
        <p:spPr bwMode="gray">
          <a:xfrm>
            <a:off x="2949575" y="6153150"/>
            <a:ext cx="35782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8365" name="Text Box 13"/>
          <p:cNvSpPr txBox="1">
            <a:spLocks noChangeArrowheads="1"/>
          </p:cNvSpPr>
          <p:nvPr/>
        </p:nvSpPr>
        <p:spPr bwMode="gray">
          <a:xfrm>
            <a:off x="3095625" y="3644900"/>
            <a:ext cx="3578225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>
            <a:lvl1pPr marL="92075" indent="-92075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341313" indent="-9525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635000" indent="-114300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939800" indent="-1254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2330450" indent="-214313" defTabSz="22225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7876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32448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7020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4159250" indent="-214313" algn="ctr" defTabSz="22225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en-US" altLang="ko-KR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QVC , Amazon </a:t>
            </a:r>
            <a:r>
              <a:rPr kumimoji="1"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참조 아키텍처 및 실행 경험 적용</a:t>
            </a:r>
          </a:p>
          <a:p>
            <a:pPr algn="l" eaLnBrk="1" hangingPunct="1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kumimoji="1"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의사결정 </a:t>
            </a:r>
            <a:r>
              <a:rPr kumimoji="1" lang="en-US" altLang="ko-KR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Lead time</a:t>
            </a:r>
            <a:r>
              <a:rPr kumimoji="1" lang="ko-KR" altLang="en-US" sz="1100">
                <a:solidFill>
                  <a:srgbClr val="000000"/>
                </a:solidFill>
                <a:latin typeface="+mj-ea"/>
                <a:ea typeface="+mj-ea"/>
                <a:cs typeface="Arial" charset="0"/>
              </a:rPr>
              <a:t>단축으로 단기적용 가능</a:t>
            </a:r>
          </a:p>
        </p:txBody>
      </p:sp>
      <p:sp>
        <p:nvSpPr>
          <p:cNvPr id="228366" name="AutoShape 14"/>
          <p:cNvSpPr>
            <a:spLocks noChangeArrowheads="1"/>
          </p:cNvSpPr>
          <p:nvPr/>
        </p:nvSpPr>
        <p:spPr bwMode="auto">
          <a:xfrm>
            <a:off x="1081088" y="3322638"/>
            <a:ext cx="1789112" cy="1141412"/>
          </a:xfrm>
          <a:prstGeom prst="homePlate">
            <a:avLst>
              <a:gd name="adj" fmla="val 2719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51014" tIns="85023" rIns="51014" bIns="85023" anchor="ctr">
            <a:noAutofit/>
          </a:bodyPr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ko-KR" altLang="en-US" i="1">
                <a:latin typeface="+mj-ea"/>
                <a:ea typeface="+mj-ea"/>
              </a:rPr>
              <a:t>참조모델 기반의 단기완성</a:t>
            </a:r>
          </a:p>
        </p:txBody>
      </p:sp>
      <p:sp>
        <p:nvSpPr>
          <p:cNvPr id="228367" name="AutoShape 15"/>
          <p:cNvSpPr>
            <a:spLocks noChangeArrowheads="1"/>
          </p:cNvSpPr>
          <p:nvPr/>
        </p:nvSpPr>
        <p:spPr bwMode="auto">
          <a:xfrm>
            <a:off x="1082675" y="4848225"/>
            <a:ext cx="1789113" cy="1141413"/>
          </a:xfrm>
          <a:prstGeom prst="homePlate">
            <a:avLst>
              <a:gd name="adj" fmla="val 2719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51014" tIns="85023" rIns="51014" bIns="85023" anchor="ctr">
            <a:noAutofit/>
          </a:bodyPr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r>
              <a:rPr lang="en-US" altLang="ko-KR" i="1">
                <a:latin typeface="+mj-ea"/>
                <a:ea typeface="+mj-ea"/>
              </a:rPr>
              <a:t>Risk </a:t>
            </a:r>
            <a:r>
              <a:rPr lang="ko-KR" altLang="en-US" i="1">
                <a:latin typeface="+mj-ea"/>
                <a:ea typeface="+mj-ea"/>
              </a:rPr>
              <a:t>최소화</a:t>
            </a:r>
          </a:p>
        </p:txBody>
      </p:sp>
      <p:sp>
        <p:nvSpPr>
          <p:cNvPr id="228368" name="Text Box 16"/>
          <p:cNvSpPr txBox="1">
            <a:spLocks noChangeArrowheads="1"/>
          </p:cNvSpPr>
          <p:nvPr/>
        </p:nvSpPr>
        <p:spPr bwMode="gray">
          <a:xfrm>
            <a:off x="446088" y="2771775"/>
            <a:ext cx="415925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384" tIns="43191" rIns="86384" bIns="43191">
            <a:noAutofit/>
          </a:bodyPr>
          <a:lstStyle>
            <a:lvl1pPr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1pPr>
            <a:lvl2pPr marL="4318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2pPr>
            <a:lvl3pPr marL="863600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3pPr>
            <a:lvl4pPr marL="1293813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4pPr>
            <a:lvl5pPr marL="1728788" defTabSz="863600" eaLnBrk="0" hangingPunct="0"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5pPr>
            <a:lvl6pPr marL="21859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6pPr>
            <a:lvl7pPr marL="26431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7pPr>
            <a:lvl8pPr marL="31003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8pPr>
            <a:lvl9pPr marL="3557588" algn="ctr" defTabSz="863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charset="0"/>
                <a:ea typeface="맑은 고딕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차세대</a:t>
            </a:r>
            <a:b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</a:br>
            <a:b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수행</a:t>
            </a:r>
            <a:b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ko-KR" altLang="en-US" sz="1400">
                <a:solidFill>
                  <a:schemeClr val="bg1"/>
                </a:solidFill>
                <a:latin typeface="+mj-ea"/>
                <a:ea typeface="+mj-ea"/>
              </a:rPr>
              <a:t>전략</a:t>
            </a:r>
          </a:p>
        </p:txBody>
      </p:sp>
      <p:pic>
        <p:nvPicPr>
          <p:cNvPr id="228369" name="Picture 17" descr="13-3"/>
          <p:cNvPicPr>
            <a:picLocks noChangeAspect="1" noChangeArrowheads="1"/>
          </p:cNvPicPr>
          <p:nvPr/>
        </p:nvPicPr>
        <p:blipFill>
          <a:blip r:embed="rId2">
            <a:lum bright="6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425" y="1419225"/>
            <a:ext cx="938213" cy="488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8370" name="Oval 18"/>
          <p:cNvSpPr>
            <a:spLocks noChangeArrowheads="1"/>
          </p:cNvSpPr>
          <p:nvPr/>
        </p:nvSpPr>
        <p:spPr bwMode="gray">
          <a:xfrm>
            <a:off x="938213" y="1700213"/>
            <a:ext cx="360362" cy="358775"/>
          </a:xfrm>
          <a:prstGeom prst="ellipse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F5F5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 eaLnBrk="0" hangingPunct="0"/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</a:rPr>
              <a:t>1</a:t>
            </a:r>
          </a:p>
        </p:txBody>
      </p:sp>
      <p:sp>
        <p:nvSpPr>
          <p:cNvPr id="228371" name="Oval 19"/>
          <p:cNvSpPr>
            <a:spLocks noChangeArrowheads="1"/>
          </p:cNvSpPr>
          <p:nvPr/>
        </p:nvSpPr>
        <p:spPr bwMode="gray">
          <a:xfrm>
            <a:off x="938213" y="3214688"/>
            <a:ext cx="360362" cy="358775"/>
          </a:xfrm>
          <a:prstGeom prst="ellipse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F5F5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 eaLnBrk="0" hangingPunct="0"/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228372" name="Oval 20"/>
          <p:cNvSpPr>
            <a:spLocks noChangeArrowheads="1"/>
          </p:cNvSpPr>
          <p:nvPr/>
        </p:nvSpPr>
        <p:spPr bwMode="gray">
          <a:xfrm>
            <a:off x="938213" y="4725988"/>
            <a:ext cx="360362" cy="358775"/>
          </a:xfrm>
          <a:prstGeom prst="ellipse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5F5F5F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 eaLnBrk="0" hangingPunct="0"/>
            <a:r>
              <a:rPr lang="en-US" altLang="ko-KR" sz="1300">
                <a:solidFill>
                  <a:schemeClr val="bg1"/>
                </a:solidFill>
                <a:latin typeface="+mj-ea"/>
                <a:ea typeface="+mj-ea"/>
              </a:rPr>
              <a:t>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7306CBA1-159A-1EF1-3DA5-C01D1E018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1763" y="1513295"/>
            <a:ext cx="412933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/>
            <a:r>
              <a:rPr kumimoji="1" lang="en-US" altLang="ko-KR" sz="1800" dirty="0">
                <a:solidFill>
                  <a:schemeClr val="bg1"/>
                </a:solidFill>
                <a:latin typeface="+mj-ea"/>
                <a:ea typeface="+mj-ea"/>
              </a:rPr>
              <a:t>eMall BM (Business Model) </a:t>
            </a:r>
            <a:r>
              <a:rPr kumimoji="1" lang="ko-KR" altLang="en-US" sz="1800" dirty="0">
                <a:solidFill>
                  <a:schemeClr val="bg1"/>
                </a:solidFill>
                <a:latin typeface="+mj-ea"/>
                <a:ea typeface="+mj-ea"/>
              </a:rPr>
              <a:t>프로젝트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D22AEC-0CB8-DC6B-F8FC-E76FD8827A87}"/>
              </a:ext>
            </a:extLst>
          </p:cNvPr>
          <p:cNvSpPr/>
          <p:nvPr/>
        </p:nvSpPr>
        <p:spPr>
          <a:xfrm>
            <a:off x="1262850" y="3501825"/>
            <a:ext cx="4050190" cy="432000"/>
          </a:xfrm>
          <a:prstGeom prst="rect">
            <a:avLst/>
          </a:prstGeom>
          <a:solidFill>
            <a:srgbClr val="000066">
              <a:alpha val="1693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08000" indent="-108000" algn="ctr" latinLnBrk="0">
              <a:buFont typeface="Arial" panose="020B0604020202020204" pitchFamily="34" charset="0"/>
              <a:buChar char="•"/>
              <a:defRPr/>
            </a:pPr>
            <a:endParaRPr lang="ko-KR" altLang="en-US" sz="1050" kern="0" dirty="0">
              <a:solidFill>
                <a:srgbClr val="646464"/>
              </a:solidFill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59A0EC-A004-6D36-8A11-F27228CFE5DE}"/>
              </a:ext>
            </a:extLst>
          </p:cNvPr>
          <p:cNvSpPr txBox="1"/>
          <p:nvPr/>
        </p:nvSpPr>
        <p:spPr>
          <a:xfrm>
            <a:off x="1405373" y="2198975"/>
            <a:ext cx="2571217" cy="16550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제안개요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eMall BM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개선 전략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en-US" sz="1400" b="1" dirty="0">
                <a:solidFill>
                  <a:prstClr val="black"/>
                </a:solidFill>
                <a:latin typeface="+mj-ea"/>
                <a:ea typeface="+mj-ea"/>
              </a:rPr>
              <a:t>PI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컨설팅 추진 방안</a:t>
            </a:r>
            <a:endParaRPr lang="en-US" altLang="ko-KR" sz="1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342900" indent="-342900" algn="l" latinLnBrk="0">
              <a:lnSpc>
                <a:spcPct val="200000"/>
              </a:lnSpc>
              <a:buAutoNum type="arabicPeriod"/>
            </a:pPr>
            <a:r>
              <a:rPr lang="ko-KR" altLang="en-US" sz="1400" dirty="0">
                <a:solidFill>
                  <a:prstClr val="black"/>
                </a:solidFill>
                <a:latin typeface="+mj-ea"/>
                <a:ea typeface="+mj-ea"/>
              </a:rPr>
              <a:t>프로젝트 관리 및 추진 계획</a:t>
            </a:r>
            <a:endParaRPr lang="en-US" altLang="ko-KR" sz="1400" dirty="0">
              <a:solidFill>
                <a:prstClr val="black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5391150" cy="247650"/>
          </a:xfrm>
        </p:spPr>
        <p:txBody>
          <a:bodyPr/>
          <a:lstStyle/>
          <a:p>
            <a:r>
              <a:rPr lang="ko-KR" altLang="en-US" dirty="0"/>
              <a:t>프로젝트 수행 조직 </a:t>
            </a:r>
            <a:r>
              <a:rPr lang="en-US" altLang="ko-KR" dirty="0"/>
              <a:t>&gt; eMall</a:t>
            </a:r>
            <a:r>
              <a:rPr lang="ko-KR" altLang="en-US" dirty="0"/>
              <a:t>과 제안사  수행 조직 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eMall</a:t>
            </a:r>
            <a:r>
              <a:rPr lang="ko-KR" altLang="en-US" dirty="0"/>
              <a:t>과 제안기업</a:t>
            </a:r>
            <a:r>
              <a:rPr lang="en-US" altLang="ko-KR" dirty="0"/>
              <a:t> </a:t>
            </a:r>
            <a:r>
              <a:rPr lang="ko-KR" altLang="en-US" dirty="0"/>
              <a:t>프로젝트 수행 조직은 과제 협업 체계를 수립하여 </a:t>
            </a:r>
            <a:r>
              <a:rPr lang="en-US" altLang="ko-KR" dirty="0"/>
              <a:t>One Team</a:t>
            </a:r>
            <a:r>
              <a:rPr lang="ko-KR" altLang="en-US" dirty="0" err="1"/>
              <a:t>으로서</a:t>
            </a:r>
            <a:r>
              <a:rPr lang="ko-KR" altLang="en-US" dirty="0"/>
              <a:t> 수행하고자 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DE26FB-21C6-D7B1-2881-85969E776DAC}"/>
              </a:ext>
            </a:extLst>
          </p:cNvPr>
          <p:cNvSpPr txBox="1"/>
          <p:nvPr/>
        </p:nvSpPr>
        <p:spPr>
          <a:xfrm>
            <a:off x="4267555" y="3429000"/>
            <a:ext cx="1370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latin typeface="+mj-ea"/>
                <a:ea typeface="+mj-ea"/>
              </a:rPr>
              <a:t>프로젝트 수행</a:t>
            </a:r>
            <a:endParaRPr kumimoji="1" lang="en-US" altLang="ko-KR" dirty="0">
              <a:latin typeface="+mj-ea"/>
              <a:ea typeface="+mj-ea"/>
            </a:endParaRPr>
          </a:p>
          <a:p>
            <a:r>
              <a:rPr kumimoji="1" lang="ko-KR" altLang="en-US" dirty="0">
                <a:latin typeface="+mj-ea"/>
                <a:ea typeface="+mj-ea"/>
              </a:rPr>
              <a:t>전체 조직도 삽입</a:t>
            </a:r>
            <a:endParaRPr kumimoji="1" lang="ko-Kore-KR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434975"/>
            <a:ext cx="5391150" cy="247650"/>
          </a:xfrm>
        </p:spPr>
        <p:txBody>
          <a:bodyPr/>
          <a:lstStyle/>
          <a:p>
            <a:r>
              <a:rPr lang="ko-KR" altLang="en-US" dirty="0"/>
              <a:t>프로젝트 수행 조직 </a:t>
            </a:r>
            <a:r>
              <a:rPr lang="en-US" altLang="ko-KR" dirty="0"/>
              <a:t>&gt; </a:t>
            </a:r>
            <a:r>
              <a:rPr lang="ko-KR" altLang="en-US" dirty="0"/>
              <a:t>제안사  수행 조직 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제안사는 본 프로젝트의 성공적인 완수를 위해 아래와 같은 수행조직을 구성함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DE26FB-21C6-D7B1-2881-85969E776DAC}"/>
              </a:ext>
            </a:extLst>
          </p:cNvPr>
          <p:cNvSpPr txBox="1"/>
          <p:nvPr/>
        </p:nvSpPr>
        <p:spPr>
          <a:xfrm>
            <a:off x="4267559" y="3429000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latin typeface="+mj-ea"/>
                <a:ea typeface="+mj-ea"/>
              </a:rPr>
              <a:t>제안사 수행 조직</a:t>
            </a:r>
            <a:endParaRPr kumimoji="1" lang="ko-Kore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660012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4" name="Rectangle 90"/>
          <p:cNvSpPr>
            <a:spLocks noChangeArrowheads="1"/>
          </p:cNvSpPr>
          <p:nvPr/>
        </p:nvSpPr>
        <p:spPr bwMode="auto">
          <a:xfrm>
            <a:off x="992188" y="2641600"/>
            <a:ext cx="8281987" cy="79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l" latinLnBrk="1">
              <a:lnSpc>
                <a:spcPct val="120000"/>
              </a:lnSpc>
              <a:buFont typeface="Wingdings" pitchFamily="2" charset="2"/>
              <a:defRPr kumimoji="1" sz="1400" b="1">
                <a:solidFill>
                  <a:schemeClr val="tx1"/>
                </a:solidFill>
                <a:latin typeface="Arial" charset="0"/>
                <a:ea typeface="맑은 고딕" pitchFamily="50" charset="-127"/>
                <a:cs typeface="굴림" pitchFamily="50" charset="-127"/>
              </a:defRPr>
            </a:lvl1pPr>
            <a:lvl2pPr marL="742950" indent="-285750" algn="l" latinLnBrk="1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marL="1143000" indent="-228600" algn="l" latinLnBrk="1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marL="1600200" indent="-228600"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–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marL="2057400" indent="-228600" algn="l" latinLnBrk="1">
              <a:spcBef>
                <a:spcPct val="20000"/>
              </a:spcBef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 Narrow" pitchFamily="34" charset="0"/>
              <a:buChar char="&gt;"/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algn="ctr"/>
            <a:r>
              <a:rPr lang="en-US" altLang="en-US" sz="4800">
                <a:latin typeface="Malgun Gothic" panose="020B0503020000020004" pitchFamily="34" charset="-127"/>
                <a:ea typeface="Malgun Gothic" panose="020B0503020000020004" pitchFamily="34" charset="-127"/>
              </a:rPr>
              <a:t>End of Document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ctmBJ3kkqRSqYAqtYUa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ctmBJ3kkqRSqYAqtYUa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ctmBJ3kkqRSqYAqtYUa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ctmBJ3kkqRSqYAqtYUa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ctmBJ3kkqRSqYAqtYUa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ctmBJ3kkqRSqYAqtYUa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hiccRh0Q0GZbnJHQ1PtS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hiccRh0Q0GZbnJHQ1PtS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hiccRh0Q0GZbnJHQ1PtS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hiccRh0Q0GZbnJHQ1PtS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.r526ZkxEuUNvNAedHwP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.r526ZkxEuUNvNAedHwPg"/>
</p:tagLst>
</file>

<file path=ppt/theme/theme1.xml><?xml version="1.0" encoding="utf-8"?>
<a:theme xmlns:a="http://schemas.openxmlformats.org/drawingml/2006/main" name="2_NSmall BMI&amp;PI 제안">
  <a:themeElements>
    <a:clrScheme name="2_NSmall BMI&amp;PI 제안 1">
      <a:dk1>
        <a:srgbClr val="000000"/>
      </a:dk1>
      <a:lt1>
        <a:srgbClr val="FFFFFF"/>
      </a:lt1>
      <a:dk2>
        <a:srgbClr val="7889FB"/>
      </a:dk2>
      <a:lt2>
        <a:srgbClr val="808080"/>
      </a:lt2>
      <a:accent1>
        <a:srgbClr val="7889FB"/>
      </a:accent1>
      <a:accent2>
        <a:srgbClr val="2DB6B3"/>
      </a:accent2>
      <a:accent3>
        <a:srgbClr val="FFFFFF"/>
      </a:accent3>
      <a:accent4>
        <a:srgbClr val="000000"/>
      </a:accent4>
      <a:accent5>
        <a:srgbClr val="BEC4FD"/>
      </a:accent5>
      <a:accent6>
        <a:srgbClr val="28A5A2"/>
      </a:accent6>
      <a:hlink>
        <a:srgbClr val="C0C0C0"/>
      </a:hlink>
      <a:folHlink>
        <a:srgbClr val="D18213"/>
      </a:folHlink>
    </a:clrScheme>
    <a:fontScheme name="2_NSmall BMI&amp;PI 제안">
      <a:majorFont>
        <a:latin typeface="Arial"/>
        <a:ea typeface="맑은 고딕"/>
        <a:cs typeface="굴림"/>
      </a:majorFont>
      <a:minorFont>
        <a:latin typeface="Arial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ko-KR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맑은 고딕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ko-KR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맑은 고딕" pitchFamily="50" charset="-127"/>
          </a:defRPr>
        </a:defPPr>
      </a:lstStyle>
    </a:lnDef>
  </a:objectDefaults>
  <a:extraClrSchemeLst>
    <a:extraClrScheme>
      <a:clrScheme name="2_NSmall BMI&amp;PI 제안 1">
        <a:dk1>
          <a:srgbClr val="000000"/>
        </a:dk1>
        <a:lt1>
          <a:srgbClr val="FFFFFF"/>
        </a:lt1>
        <a:dk2>
          <a:srgbClr val="7889FB"/>
        </a:dk2>
        <a:lt2>
          <a:srgbClr val="808080"/>
        </a:lt2>
        <a:accent1>
          <a:srgbClr val="7889FB"/>
        </a:accent1>
        <a:accent2>
          <a:srgbClr val="2DB6B3"/>
        </a:accent2>
        <a:accent3>
          <a:srgbClr val="FFFFFF"/>
        </a:accent3>
        <a:accent4>
          <a:srgbClr val="000000"/>
        </a:accent4>
        <a:accent5>
          <a:srgbClr val="BEC4FD"/>
        </a:accent5>
        <a:accent6>
          <a:srgbClr val="28A5A2"/>
        </a:accent6>
        <a:hlink>
          <a:srgbClr val="C0C0C0"/>
        </a:hlink>
        <a:folHlink>
          <a:srgbClr val="D1821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Small BMI&amp;PI 제안 2">
        <a:dk1>
          <a:srgbClr val="808080"/>
        </a:dk1>
        <a:lt1>
          <a:srgbClr val="FFFFFF"/>
        </a:lt1>
        <a:dk2>
          <a:srgbClr val="000000"/>
        </a:dk2>
        <a:lt2>
          <a:srgbClr val="CCCCFF"/>
        </a:lt2>
        <a:accent1>
          <a:srgbClr val="7889FB"/>
        </a:accent1>
        <a:accent2>
          <a:srgbClr val="DFFF66"/>
        </a:accent2>
        <a:accent3>
          <a:srgbClr val="AAAAAA"/>
        </a:accent3>
        <a:accent4>
          <a:srgbClr val="DADADA"/>
        </a:accent4>
        <a:accent5>
          <a:srgbClr val="BEC4FD"/>
        </a:accent5>
        <a:accent6>
          <a:srgbClr val="CAE75C"/>
        </a:accent6>
        <a:hlink>
          <a:srgbClr val="C0C0C0"/>
        </a:hlink>
        <a:folHlink>
          <a:srgbClr val="D1821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6545</TotalTime>
  <Words>6585</Words>
  <Application>Microsoft Macintosh PowerPoint</Application>
  <PresentationFormat>A4 용지(210x297mm)</PresentationFormat>
  <Paragraphs>1142</Paragraphs>
  <Slides>44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7" baseType="lpstr">
      <vt:lpstr>돋움체</vt:lpstr>
      <vt:lpstr>굴림</vt:lpstr>
      <vt:lpstr>맑은 고딕</vt:lpstr>
      <vt:lpstr>맑은 고딕</vt:lpstr>
      <vt:lpstr>ＭＳ Ｐゴシック</vt:lpstr>
      <vt:lpstr>SimSun</vt:lpstr>
      <vt:lpstr>Times</vt:lpstr>
      <vt:lpstr>Arial</vt:lpstr>
      <vt:lpstr>Arial Narrow</vt:lpstr>
      <vt:lpstr>Monotype Sorts</vt:lpstr>
      <vt:lpstr>Wingdings</vt:lpstr>
      <vt:lpstr>Wingdings 2</vt:lpstr>
      <vt:lpstr>2_NSmall BMI&amp;PI 제안</vt:lpstr>
      <vt:lpstr>eMall BM (Business Model) 개선 제안서</vt:lpstr>
      <vt:lpstr>PowerPoint 프레젠테이션</vt:lpstr>
      <vt:lpstr>제안 배경</vt:lpstr>
      <vt:lpstr>제안 목적</vt:lpstr>
      <vt:lpstr>제안 범위</vt:lpstr>
      <vt:lpstr>프로젝트 추진 전략</vt:lpstr>
      <vt:lpstr>프로젝트 추진 방안</vt:lpstr>
      <vt:lpstr>PowerPoint 프레젠테이션</vt:lpstr>
      <vt:lpstr>BM 추진 핵심 전략 방향</vt:lpstr>
      <vt:lpstr>BM 도출 영역</vt:lpstr>
      <vt:lpstr>Benchmarking 방향</vt:lpstr>
      <vt:lpstr>BM 도출 영역별 과제 및 BM 리스트</vt:lpstr>
      <vt:lpstr>벤치마킹 BM Overview</vt:lpstr>
      <vt:lpstr> 메인 페이지</vt:lpstr>
      <vt:lpstr>벤치마킹 페이지(콘텐츠) 메뉴 명 작성</vt:lpstr>
      <vt:lpstr>쇼핑 편의성 개선 &gt; 고객 Insight 기반의 전문몰 BM </vt:lpstr>
      <vt:lpstr>Sales Synergy &gt; CPG 업종 INSIGHT 기반의 BM</vt:lpstr>
      <vt:lpstr>모바일 커머스 &gt; 고려 사항</vt:lpstr>
      <vt:lpstr>모바일 커머스 &gt; eMall 모바일 디자인 시안 예시</vt:lpstr>
      <vt:lpstr>그룹 온라인 통합 플랫폼 &gt; 적용 방안</vt:lpstr>
      <vt:lpstr>그룹 온라인 통합 플랫폼 &gt; 온라인 Business 통합 모델</vt:lpstr>
      <vt:lpstr>그룹 통합 고객 멤버십 &gt; 추진 옵션</vt:lpstr>
      <vt:lpstr>Financial Projection</vt:lpstr>
      <vt:lpstr>BM 실행을 위한 조직 변화</vt:lpstr>
      <vt:lpstr>BM 실행을 위한 조직 변화 &gt; To-Be 운영 모델</vt:lpstr>
      <vt:lpstr>eMall BM 추진 방안 </vt:lpstr>
      <vt:lpstr>PowerPoint 프레젠테이션</vt:lpstr>
      <vt:lpstr>Process Transformation 필요성</vt:lpstr>
      <vt:lpstr>BM 중심 Process Transformation 추진 방향성</vt:lpstr>
      <vt:lpstr>PowerPoint 프레젠테이션</vt:lpstr>
      <vt:lpstr>eMall 산업에 대한 풍부한 경험</vt:lpstr>
      <vt:lpstr>개선과제 후보 도출 및 벤치마킹</vt:lpstr>
      <vt:lpstr>PowerPoint 프레젠테이션</vt:lpstr>
      <vt:lpstr>PowerPoint 프레젠테이션</vt:lpstr>
      <vt:lpstr>PowerPoint 프레젠테이션</vt:lpstr>
      <vt:lpstr>PowerPoint 프레젠테이션</vt:lpstr>
      <vt:lpstr>eMall PI 추진 수행 전략</vt:lpstr>
      <vt:lpstr>eMall EA 추진 수행 전략</vt:lpstr>
      <vt:lpstr>차세대 시스템 요구사항</vt:lpstr>
      <vt:lpstr>솔루션 구성 전략</vt:lpstr>
      <vt:lpstr>PowerPoint 프레젠테이션</vt:lpstr>
      <vt:lpstr>프로젝트 수행 조직 &gt; eMall과 제안사  수행 조직 </vt:lpstr>
      <vt:lpstr>프로젝트 수행 조직 &gt; 제안사  수행 조직 </vt:lpstr>
      <vt:lpstr>PowerPoint 프레젠테이션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NSmall BMI (Business Model Innovation)</dc:title>
  <dc:creator>kr052745</dc:creator>
  <cp:lastModifiedBy>aiin Hojin.chae</cp:lastModifiedBy>
  <cp:revision>298</cp:revision>
  <dcterms:created xsi:type="dcterms:W3CDTF">2012-04-30T00:51:41Z</dcterms:created>
  <dcterms:modified xsi:type="dcterms:W3CDTF">2023-03-13T04:52:55Z</dcterms:modified>
</cp:coreProperties>
</file>