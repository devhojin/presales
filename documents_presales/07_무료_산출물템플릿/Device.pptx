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707" r:id="rId2"/>
    <p:sldId id="756" r:id="rId3"/>
    <p:sldId id="757" r:id="rId4"/>
    <p:sldId id="708" r:id="rId5"/>
    <p:sldId id="715" r:id="rId6"/>
    <p:sldId id="716" r:id="rId7"/>
    <p:sldId id="710" r:id="rId8"/>
    <p:sldId id="722" r:id="rId9"/>
    <p:sldId id="723" r:id="rId10"/>
    <p:sldId id="724" r:id="rId11"/>
    <p:sldId id="725" r:id="rId12"/>
    <p:sldId id="726" r:id="rId13"/>
    <p:sldId id="750" r:id="rId14"/>
    <p:sldId id="759" r:id="rId15"/>
    <p:sldId id="760" r:id="rId16"/>
    <p:sldId id="761" r:id="rId17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120" userDrawn="1">
          <p15:clr>
            <a:srgbClr val="A4A3A4"/>
          </p15:clr>
        </p15:guide>
        <p15:guide id="3" orient="horz" pos="3339" userDrawn="1">
          <p15:clr>
            <a:srgbClr val="A4A3A4"/>
          </p15:clr>
        </p15:guide>
        <p15:guide id="4" pos="126" userDrawn="1">
          <p15:clr>
            <a:srgbClr val="A4A3A4"/>
          </p15:clr>
        </p15:guide>
        <p15:guide id="5" pos="6114" userDrawn="1">
          <p15:clr>
            <a:srgbClr val="A4A3A4"/>
          </p15:clr>
        </p15:guide>
        <p15:guide id="6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00FF"/>
    <a:srgbClr val="8497B0"/>
    <a:srgbClr val="D6DCE5"/>
    <a:srgbClr val="44546A"/>
    <a:srgbClr val="4D4D4D"/>
    <a:srgbClr val="404040"/>
    <a:srgbClr val="C00000"/>
    <a:srgbClr val="C55A11"/>
    <a:srgbClr val="FEF8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77" autoAdjust="0"/>
    <p:restoredTop sz="96311" autoAdjust="0"/>
  </p:normalViewPr>
  <p:slideViewPr>
    <p:cSldViewPr>
      <p:cViewPr>
        <p:scale>
          <a:sx n="90" d="100"/>
          <a:sy n="90" d="100"/>
        </p:scale>
        <p:origin x="264" y="-406"/>
      </p:cViewPr>
      <p:guideLst>
        <p:guide pos="3120"/>
        <p:guide orient="horz" pos="3339"/>
        <p:guide pos="126"/>
        <p:guide pos="6114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2D289-F6E5-4B70-96AB-CE9C9D9B22B9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2023-06-20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71527-F836-44AC-8918-6C68F98CC512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47457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EBA7BA8-3DA7-4401-A292-992162511280}" type="datetimeFigureOut">
              <a:rPr lang="ko-KR" altLang="en-US" smtClean="0"/>
              <a:pPr/>
              <a:t>2023-06-20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A48D24F0-76B6-4026-8B1F-ED89BCCDE5B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1863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6568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231869" y="602735"/>
            <a:ext cx="946458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410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33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337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5" indent="-228585" algn="l" defTabSz="91433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3" indent="-228585" algn="l" defTabSz="91433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922" indent="-228585" algn="l" defTabSz="91433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600090" indent="-228585" algn="l" defTabSz="91433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59" indent="-228585" algn="l" defTabSz="91433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28" indent="-228585" algn="l" defTabSz="91433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96" indent="-228585" algn="l" defTabSz="91433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65" indent="-228585" algn="l" defTabSz="91433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33" indent="-228585" algn="l" defTabSz="91433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8" algn="l" defTabSz="91433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7" algn="l" defTabSz="91433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06" algn="l" defTabSz="91433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75" algn="l" defTabSz="91433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43" algn="l" defTabSz="91433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12" algn="l" defTabSz="91433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81" algn="l" defTabSz="91433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50" algn="l" defTabSz="91433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412776"/>
            <a:ext cx="5097016" cy="72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Device</a:t>
            </a:r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관리</a:t>
            </a:r>
          </a:p>
        </p:txBody>
      </p:sp>
    </p:spTree>
    <p:extLst>
      <p:ext uri="{BB962C8B-B14F-4D97-AF65-F5344CB8AC3E}">
        <p14:creationId xmlns:p14="http://schemas.microsoft.com/office/powerpoint/2010/main" val="668555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직사각형 76"/>
          <p:cNvSpPr/>
          <p:nvPr/>
        </p:nvSpPr>
        <p:spPr>
          <a:xfrm>
            <a:off x="267159" y="1146353"/>
            <a:ext cx="1228137" cy="9144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Business Model</a:t>
            </a:r>
            <a:endParaRPr lang="ko-KR" altLang="en-US" sz="900" dirty="0">
              <a:solidFill>
                <a:schemeClr val="bg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67159" y="2060848"/>
            <a:ext cx="1228137" cy="6480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현장등록 </a:t>
            </a:r>
            <a:r>
              <a:rPr lang="en-US" altLang="ko-KR" sz="9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Workflow</a:t>
            </a:r>
            <a:endParaRPr lang="ko-KR" altLang="en-US" sz="900" dirty="0">
              <a:solidFill>
                <a:schemeClr val="bg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267159" y="2700724"/>
            <a:ext cx="1228137" cy="368060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건설현장 제품할당 </a:t>
            </a:r>
            <a:r>
              <a:rPr lang="en-US" altLang="ko-KR" sz="9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Workflow</a:t>
            </a:r>
          </a:p>
          <a:p>
            <a:pPr algn="ctr"/>
            <a:endParaRPr lang="en-US" altLang="ko-KR" sz="900" dirty="0">
              <a:solidFill>
                <a:schemeClr val="bg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추가제품 필요상황 </a:t>
            </a:r>
            <a:r>
              <a:rPr lang="en-US" altLang="ko-KR" sz="9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Workflow</a:t>
            </a:r>
            <a:endParaRPr lang="ko-KR" altLang="en-US" sz="900" dirty="0">
              <a:solidFill>
                <a:schemeClr val="bg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1727493" y="663896"/>
            <a:ext cx="1033865" cy="409808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 err="1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배포사</a:t>
            </a:r>
            <a:endParaRPr lang="ko-KR" altLang="en-US" sz="700" dirty="0">
              <a:solidFill>
                <a:schemeClr val="bg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5579951" y="663896"/>
            <a:ext cx="4053573" cy="409808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건설현장</a:t>
            </a:r>
            <a:endParaRPr lang="ko-KR" altLang="en-US" sz="700" dirty="0">
              <a:solidFill>
                <a:schemeClr val="bg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2882990" y="663896"/>
            <a:ext cx="2696961" cy="409808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건설 </a:t>
            </a:r>
            <a:r>
              <a:rPr lang="en-US" altLang="ko-KR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IT</a:t>
            </a:r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사</a:t>
            </a:r>
            <a:r>
              <a:rPr lang="en-US" altLang="ko-KR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(</a:t>
            </a:r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건설사</a:t>
            </a:r>
            <a:r>
              <a:rPr lang="en-US" altLang="ko-KR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  <a:endParaRPr lang="ko-KR" altLang="en-US" sz="700" dirty="0">
              <a:solidFill>
                <a:schemeClr val="bg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2882989" y="859668"/>
            <a:ext cx="1348481" cy="21403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구매</a:t>
            </a:r>
            <a:r>
              <a:rPr lang="en-US" altLang="ko-KR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/</a:t>
            </a:r>
            <a:r>
              <a:rPr lang="ko-KR" altLang="en-US" sz="70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계약 </a:t>
            </a:r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담당자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4231470" y="859668"/>
            <a:ext cx="1348481" cy="21403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영업</a:t>
            </a:r>
            <a:r>
              <a:rPr lang="en-US" altLang="ko-KR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70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재고</a:t>
            </a:r>
            <a:r>
              <a:rPr lang="en-US" altLang="ko-KR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) </a:t>
            </a:r>
            <a:r>
              <a:rPr lang="ko-KR" altLang="en-US" sz="70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담당자</a:t>
            </a:r>
            <a:endParaRPr lang="ko-KR" altLang="en-US" sz="700" dirty="0">
              <a:solidFill>
                <a:schemeClr val="bg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5584016" y="859668"/>
            <a:ext cx="1349836" cy="21403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재고 담당자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6933852" y="859668"/>
            <a:ext cx="1349836" cy="21403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현장 소장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8283688" y="859668"/>
            <a:ext cx="1349836" cy="21403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배포 담당자</a:t>
            </a:r>
          </a:p>
        </p:txBody>
      </p:sp>
      <p:sp>
        <p:nvSpPr>
          <p:cNvPr id="112" name="직사각형 111"/>
          <p:cNvSpPr/>
          <p:nvPr/>
        </p:nvSpPr>
        <p:spPr>
          <a:xfrm>
            <a:off x="4403379" y="3245698"/>
            <a:ext cx="912234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재고확인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150620" y="3184381"/>
            <a:ext cx="695703" cy="8617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임대 요청 리스트</a:t>
            </a:r>
            <a:endParaRPr lang="en-US" altLang="ko-KR" sz="7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임대 완료</a:t>
            </a: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/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중</a:t>
            </a:r>
            <a:endParaRPr lang="en-US" altLang="ko-KR" sz="7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신규 임대 요청</a:t>
            </a:r>
            <a:b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</a:b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 - 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솔루션</a:t>
            </a:r>
            <a:b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</a:b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 - 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디바이스</a:t>
            </a:r>
            <a:endParaRPr lang="en-US" altLang="ko-KR" sz="7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추가 임대 요청</a:t>
            </a:r>
            <a:b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</a:b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 - 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솔루션</a:t>
            </a:r>
            <a:b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</a:b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 - 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디바이스</a:t>
            </a:r>
            <a:endParaRPr lang="ko-KR" altLang="en-US" sz="7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4403379" y="3673590"/>
            <a:ext cx="912234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제품 출고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4403379" y="2834214"/>
            <a:ext cx="912234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임대요청 내역 확인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7150620" y="2834214"/>
            <a:ext cx="912234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제품 임대 요청</a:t>
            </a:r>
          </a:p>
        </p:txBody>
      </p:sp>
      <p:cxnSp>
        <p:nvCxnSpPr>
          <p:cNvPr id="7" name="직선 화살표 연결선 6"/>
          <p:cNvCxnSpPr>
            <a:stCxn id="124" idx="1"/>
            <a:endCxn id="122" idx="3"/>
          </p:cNvCxnSpPr>
          <p:nvPr/>
        </p:nvCxnSpPr>
        <p:spPr>
          <a:xfrm flipH="1">
            <a:off x="5315613" y="2960046"/>
            <a:ext cx="1835007" cy="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122" idx="2"/>
            <a:endCxn id="112" idx="0"/>
          </p:cNvCxnSpPr>
          <p:nvPr/>
        </p:nvCxnSpPr>
        <p:spPr>
          <a:xfrm>
            <a:off x="4859496" y="3085878"/>
            <a:ext cx="0" cy="15982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직사각형 131"/>
          <p:cNvSpPr/>
          <p:nvPr/>
        </p:nvSpPr>
        <p:spPr>
          <a:xfrm>
            <a:off x="7150620" y="2236252"/>
            <a:ext cx="912234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현장 등록 요청</a:t>
            </a:r>
          </a:p>
        </p:txBody>
      </p:sp>
      <p:sp>
        <p:nvSpPr>
          <p:cNvPr id="134" name="직사각형 133"/>
          <p:cNvSpPr/>
          <p:nvPr/>
        </p:nvSpPr>
        <p:spPr>
          <a:xfrm>
            <a:off x="3145558" y="2236252"/>
            <a:ext cx="912234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건설현장 등록</a:t>
            </a:r>
          </a:p>
        </p:txBody>
      </p:sp>
      <p:cxnSp>
        <p:nvCxnSpPr>
          <p:cNvPr id="20" name="직선 화살표 연결선 19"/>
          <p:cNvCxnSpPr/>
          <p:nvPr/>
        </p:nvCxnSpPr>
        <p:spPr>
          <a:xfrm flipH="1">
            <a:off x="4057792" y="2413111"/>
            <a:ext cx="3092828" cy="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화살표 연결선 135"/>
          <p:cNvCxnSpPr/>
          <p:nvPr/>
        </p:nvCxnSpPr>
        <p:spPr>
          <a:xfrm rot="10800000" flipH="1">
            <a:off x="4057792" y="2312303"/>
            <a:ext cx="3092828" cy="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69768" y="2438135"/>
            <a:ext cx="52257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현장 등록 요청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289619" y="2179557"/>
            <a:ext cx="68288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생성 계정정보 통보</a:t>
            </a:r>
          </a:p>
        </p:txBody>
      </p:sp>
      <p:cxnSp>
        <p:nvCxnSpPr>
          <p:cNvPr id="26" name="직선 화살표 연결선 25"/>
          <p:cNvCxnSpPr>
            <a:stCxn id="112" idx="2"/>
            <a:endCxn id="117" idx="0"/>
          </p:cNvCxnSpPr>
          <p:nvPr/>
        </p:nvCxnSpPr>
        <p:spPr>
          <a:xfrm>
            <a:off x="4859496" y="3497362"/>
            <a:ext cx="0" cy="176228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직사각형 141"/>
          <p:cNvSpPr/>
          <p:nvPr/>
        </p:nvSpPr>
        <p:spPr>
          <a:xfrm>
            <a:off x="5802817" y="4365104"/>
            <a:ext cx="912234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제품 수량 확인</a:t>
            </a:r>
          </a:p>
        </p:txBody>
      </p:sp>
      <p:cxnSp>
        <p:nvCxnSpPr>
          <p:cNvPr id="33" name="꺾인 연결선 32"/>
          <p:cNvCxnSpPr>
            <a:stCxn id="117" idx="2"/>
            <a:endCxn id="142" idx="1"/>
          </p:cNvCxnSpPr>
          <p:nvPr/>
        </p:nvCxnSpPr>
        <p:spPr>
          <a:xfrm rot="16200000" flipH="1">
            <a:off x="5048315" y="3736434"/>
            <a:ext cx="565682" cy="943321"/>
          </a:xfrm>
          <a:prstGeom prst="bentConnector2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4403379" y="3979036"/>
            <a:ext cx="1117294" cy="323165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제품 출고</a:t>
            </a: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배송</a:t>
            </a: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예정일 등록</a:t>
            </a:r>
            <a:endParaRPr lang="en-US" altLang="ko-KR" sz="7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제품 출고</a:t>
            </a: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배송</a:t>
            </a: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 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상황 등록</a:t>
            </a:r>
            <a:endParaRPr lang="en-US" altLang="ko-KR" sz="7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제품 출고</a:t>
            </a: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배송</a:t>
            </a: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 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리스트</a:t>
            </a:r>
            <a:endParaRPr lang="ko-KR" altLang="en-US" sz="7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7150620" y="4365104"/>
            <a:ext cx="912234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최종확인</a:t>
            </a:r>
          </a:p>
        </p:txBody>
      </p:sp>
      <p:sp>
        <p:nvSpPr>
          <p:cNvPr id="146" name="직사각형 145"/>
          <p:cNvSpPr/>
          <p:nvPr/>
        </p:nvSpPr>
        <p:spPr>
          <a:xfrm>
            <a:off x="7150620" y="4760777"/>
            <a:ext cx="912234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배포 담당자 지정</a:t>
            </a:r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7160551" y="5068773"/>
            <a:ext cx="1138132" cy="3231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배포 담당자 지정</a:t>
            </a:r>
            <a:endParaRPr lang="en-US" altLang="ko-KR" sz="7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디바이스 별 배포 수량 지정</a:t>
            </a:r>
            <a:endParaRPr lang="en-US" altLang="ko-KR" sz="7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설치 지역 지정</a:t>
            </a:r>
          </a:p>
        </p:txBody>
      </p:sp>
      <p:cxnSp>
        <p:nvCxnSpPr>
          <p:cNvPr id="36" name="직선 화살표 연결선 35"/>
          <p:cNvCxnSpPr>
            <a:stCxn id="144" idx="2"/>
            <a:endCxn id="146" idx="0"/>
          </p:cNvCxnSpPr>
          <p:nvPr/>
        </p:nvCxnSpPr>
        <p:spPr>
          <a:xfrm>
            <a:off x="7606737" y="4616768"/>
            <a:ext cx="0" cy="144009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stCxn id="142" idx="3"/>
            <a:endCxn id="144" idx="1"/>
          </p:cNvCxnSpPr>
          <p:nvPr/>
        </p:nvCxnSpPr>
        <p:spPr>
          <a:xfrm>
            <a:off x="6715051" y="4490936"/>
            <a:ext cx="435570" cy="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직사각형 152"/>
          <p:cNvSpPr/>
          <p:nvPr/>
        </p:nvSpPr>
        <p:spPr>
          <a:xfrm>
            <a:off x="3145558" y="1239620"/>
            <a:ext cx="912234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제품 수량</a:t>
            </a:r>
            <a:r>
              <a:rPr lang="en-US" altLang="ko-KR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/</a:t>
            </a:r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금액 확인</a:t>
            </a:r>
            <a:endParaRPr lang="ko-KR" altLang="en-US" sz="700" dirty="0" err="1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1788308" y="1239620"/>
            <a:ext cx="912234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배포사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제품판매</a:t>
            </a:r>
          </a:p>
        </p:txBody>
      </p:sp>
      <p:cxnSp>
        <p:nvCxnSpPr>
          <p:cNvPr id="156" name="직선 화살표 연결선 155"/>
          <p:cNvCxnSpPr>
            <a:stCxn id="155" idx="3"/>
            <a:endCxn id="153" idx="1"/>
          </p:cNvCxnSpPr>
          <p:nvPr/>
        </p:nvCxnSpPr>
        <p:spPr>
          <a:xfrm>
            <a:off x="2700542" y="1365451"/>
            <a:ext cx="445016" cy="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직사각형 156"/>
          <p:cNvSpPr/>
          <p:nvPr/>
        </p:nvSpPr>
        <p:spPr>
          <a:xfrm>
            <a:off x="3145557" y="1700898"/>
            <a:ext cx="2170055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보관 </a:t>
            </a:r>
            <a:r>
              <a:rPr lang="en-US" altLang="ko-KR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솔루션 보관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창고 </a:t>
            </a:r>
            <a:r>
              <a:rPr lang="en-US" altLang="ko-KR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제품 </a:t>
            </a:r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보관</a:t>
            </a:r>
          </a:p>
        </p:txBody>
      </p:sp>
      <p:sp>
        <p:nvSpPr>
          <p:cNvPr id="161" name="직사각형 160"/>
          <p:cNvSpPr/>
          <p:nvPr/>
        </p:nvSpPr>
        <p:spPr>
          <a:xfrm>
            <a:off x="1712640" y="1483020"/>
            <a:ext cx="10642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6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제품 판매 이후</a:t>
            </a:r>
            <a:r>
              <a:rPr lang="en-US" altLang="ko-KR" sz="6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</a:t>
            </a:r>
            <a:r>
              <a:rPr lang="ko-KR" altLang="en-US" sz="600"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endParaRPr lang="en-US" altLang="ko-KR" sz="6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6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솔루션과 디바이스 연동 검증</a:t>
            </a:r>
            <a:r>
              <a:rPr lang="en-US" altLang="ko-KR" sz="6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600">
                <a:latin typeface="NanumBarunGothic" panose="020B0603020101020101" pitchFamily="34" charset="-127"/>
                <a:ea typeface="NanumBarunGothic" panose="020B0603020101020101" pitchFamily="34" charset="-127"/>
              </a:rPr>
              <a:t>및 운영 교육 필요</a:t>
            </a:r>
            <a:endParaRPr lang="en-US" altLang="ko-KR" sz="6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 flipH="1">
            <a:off x="272480" y="1146352"/>
            <a:ext cx="9361044" cy="0"/>
          </a:xfrm>
          <a:prstGeom prst="line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/>
          <p:cNvCxnSpPr/>
          <p:nvPr/>
        </p:nvCxnSpPr>
        <p:spPr>
          <a:xfrm flipH="1">
            <a:off x="272480" y="2060848"/>
            <a:ext cx="9361044" cy="0"/>
          </a:xfrm>
          <a:prstGeom prst="line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/>
          <p:cNvCxnSpPr/>
          <p:nvPr/>
        </p:nvCxnSpPr>
        <p:spPr>
          <a:xfrm flipH="1">
            <a:off x="272480" y="2701546"/>
            <a:ext cx="9361044" cy="0"/>
          </a:xfrm>
          <a:prstGeom prst="line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직사각형 175"/>
          <p:cNvSpPr/>
          <p:nvPr/>
        </p:nvSpPr>
        <p:spPr>
          <a:xfrm>
            <a:off x="8498423" y="4760777"/>
            <a:ext cx="912234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배포수량</a:t>
            </a:r>
            <a:r>
              <a:rPr lang="en-US" altLang="ko-KR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확인</a:t>
            </a:r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48" name="직선 화살표 연결선 47"/>
          <p:cNvCxnSpPr>
            <a:stCxn id="146" idx="3"/>
            <a:endCxn id="176" idx="1"/>
          </p:cNvCxnSpPr>
          <p:nvPr/>
        </p:nvCxnSpPr>
        <p:spPr>
          <a:xfrm>
            <a:off x="8062854" y="4886609"/>
            <a:ext cx="435569" cy="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직사각형 177"/>
          <p:cNvSpPr/>
          <p:nvPr/>
        </p:nvSpPr>
        <p:spPr>
          <a:xfrm>
            <a:off x="8498423" y="5535954"/>
            <a:ext cx="912234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배포</a:t>
            </a:r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51" name="직선 화살표 연결선 50"/>
          <p:cNvCxnSpPr>
            <a:stCxn id="176" idx="2"/>
            <a:endCxn id="178" idx="0"/>
          </p:cNvCxnSpPr>
          <p:nvPr/>
        </p:nvCxnSpPr>
        <p:spPr>
          <a:xfrm>
            <a:off x="8954540" y="5012441"/>
            <a:ext cx="0" cy="523513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오른쪽 화살표 178"/>
          <p:cNvSpPr/>
          <p:nvPr/>
        </p:nvSpPr>
        <p:spPr>
          <a:xfrm>
            <a:off x="9397442" y="5569923"/>
            <a:ext cx="236082" cy="183726"/>
          </a:xfrm>
          <a:prstGeom prst="rightArrow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8498423" y="5927915"/>
            <a:ext cx="912234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추가제품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필요상황 발생</a:t>
            </a:r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54" name="꺾인 연결선 53"/>
          <p:cNvCxnSpPr>
            <a:stCxn id="218" idx="1"/>
            <a:endCxn id="56" idx="2"/>
          </p:cNvCxnSpPr>
          <p:nvPr/>
        </p:nvCxnSpPr>
        <p:spPr>
          <a:xfrm rot="10800000">
            <a:off x="6222790" y="4618842"/>
            <a:ext cx="2280398" cy="1467861"/>
          </a:xfrm>
          <a:prstGeom prst="bentConnector2">
            <a:avLst/>
          </a:prstGeom>
          <a:ln w="3175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/>
        </p:nvSpPr>
        <p:spPr>
          <a:xfrm>
            <a:off x="6145006" y="4573122"/>
            <a:ext cx="15556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220041" y="6123896"/>
            <a:ext cx="50174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추가제품 요청</a:t>
            </a:r>
          </a:p>
        </p:txBody>
      </p:sp>
      <p:sp>
        <p:nvSpPr>
          <p:cNvPr id="189" name="직사각형 188"/>
          <p:cNvSpPr/>
          <p:nvPr/>
        </p:nvSpPr>
        <p:spPr>
          <a:xfrm>
            <a:off x="5241032" y="3415297"/>
            <a:ext cx="74581" cy="6290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76" name="꺾인 연결선 75"/>
          <p:cNvCxnSpPr>
            <a:stCxn id="195" idx="0"/>
            <a:endCxn id="189" idx="3"/>
          </p:cNvCxnSpPr>
          <p:nvPr/>
        </p:nvCxnSpPr>
        <p:spPr>
          <a:xfrm rot="16200000" flipV="1">
            <a:off x="5306857" y="3455505"/>
            <a:ext cx="921942" cy="904429"/>
          </a:xfrm>
          <a:prstGeom prst="bentConnector2">
            <a:avLst/>
          </a:prstGeom>
          <a:ln w="3175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직사각형 194"/>
          <p:cNvSpPr/>
          <p:nvPr/>
        </p:nvSpPr>
        <p:spPr>
          <a:xfrm>
            <a:off x="6142258" y="4368691"/>
            <a:ext cx="15556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5834980" y="4014715"/>
            <a:ext cx="341440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추가제품</a:t>
            </a:r>
            <a:endParaRPr lang="en-US" altLang="ko-KR" sz="7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할당 요청</a:t>
            </a:r>
          </a:p>
        </p:txBody>
      </p:sp>
      <p:sp>
        <p:nvSpPr>
          <p:cNvPr id="203" name="직사각형 202"/>
          <p:cNvSpPr/>
          <p:nvPr/>
        </p:nvSpPr>
        <p:spPr>
          <a:xfrm>
            <a:off x="6266472" y="4573122"/>
            <a:ext cx="15556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6258933" y="4368691"/>
            <a:ext cx="155567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08" name="직사각형 207"/>
          <p:cNvSpPr/>
          <p:nvPr/>
        </p:nvSpPr>
        <p:spPr>
          <a:xfrm>
            <a:off x="5241032" y="3305217"/>
            <a:ext cx="74581" cy="6290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210" name="꺾인 연결선 209"/>
          <p:cNvCxnSpPr>
            <a:stCxn id="112" idx="3"/>
            <a:endCxn id="206" idx="0"/>
          </p:cNvCxnSpPr>
          <p:nvPr/>
        </p:nvCxnSpPr>
        <p:spPr>
          <a:xfrm>
            <a:off x="5315613" y="3371530"/>
            <a:ext cx="1021104" cy="997161"/>
          </a:xfrm>
          <a:prstGeom prst="bentConnector2">
            <a:avLst/>
          </a:prstGeom>
          <a:ln w="3175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/>
          <p:cNvSpPr txBox="1"/>
          <p:nvPr/>
        </p:nvSpPr>
        <p:spPr>
          <a:xfrm>
            <a:off x="6357796" y="4014715"/>
            <a:ext cx="320601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추가제품</a:t>
            </a:r>
            <a:endParaRPr lang="en-US" altLang="ko-KR" sz="7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할당</a:t>
            </a:r>
          </a:p>
        </p:txBody>
      </p:sp>
      <p:cxnSp>
        <p:nvCxnSpPr>
          <p:cNvPr id="214" name="꺾인 연결선 213"/>
          <p:cNvCxnSpPr>
            <a:stCxn id="203" idx="2"/>
            <a:endCxn id="217" idx="1"/>
          </p:cNvCxnSpPr>
          <p:nvPr/>
        </p:nvCxnSpPr>
        <p:spPr>
          <a:xfrm rot="16200000" flipH="1">
            <a:off x="6902250" y="4060847"/>
            <a:ext cx="1042945" cy="2158932"/>
          </a:xfrm>
          <a:prstGeom prst="bentConnector2">
            <a:avLst/>
          </a:prstGeom>
          <a:ln w="3175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직사각형 216"/>
          <p:cNvSpPr/>
          <p:nvPr/>
        </p:nvSpPr>
        <p:spPr>
          <a:xfrm>
            <a:off x="8503188" y="5624591"/>
            <a:ext cx="77784" cy="7438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18" name="직사각형 217"/>
          <p:cNvSpPr/>
          <p:nvPr/>
        </p:nvSpPr>
        <p:spPr>
          <a:xfrm>
            <a:off x="8503188" y="6049507"/>
            <a:ext cx="77784" cy="7438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6431641" y="5523523"/>
            <a:ext cx="50174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추가제품 제공</a:t>
            </a:r>
          </a:p>
        </p:txBody>
      </p:sp>
      <p:sp>
        <p:nvSpPr>
          <p:cNvPr id="224" name="직사각형 223"/>
          <p:cNvSpPr/>
          <p:nvPr/>
        </p:nvSpPr>
        <p:spPr>
          <a:xfrm>
            <a:off x="3145558" y="3245698"/>
            <a:ext cx="912234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추가제품 구매</a:t>
            </a:r>
          </a:p>
        </p:txBody>
      </p:sp>
      <p:sp>
        <p:nvSpPr>
          <p:cNvPr id="225" name="직사각형 224"/>
          <p:cNvSpPr/>
          <p:nvPr/>
        </p:nvSpPr>
        <p:spPr>
          <a:xfrm>
            <a:off x="1788308" y="3246947"/>
            <a:ext cx="912234" cy="2516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배포사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추가 제품판매</a:t>
            </a:r>
          </a:p>
        </p:txBody>
      </p:sp>
      <p:cxnSp>
        <p:nvCxnSpPr>
          <p:cNvPr id="226" name="직선 화살표 연결선 225"/>
          <p:cNvCxnSpPr/>
          <p:nvPr/>
        </p:nvCxnSpPr>
        <p:spPr>
          <a:xfrm rot="10800000">
            <a:off x="2700542" y="3424237"/>
            <a:ext cx="445016" cy="0"/>
          </a:xfrm>
          <a:prstGeom prst="straightConnector1">
            <a:avLst/>
          </a:prstGeom>
          <a:ln w="3175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화살표 연결선 227"/>
          <p:cNvCxnSpPr>
            <a:stCxn id="112" idx="1"/>
            <a:endCxn id="224" idx="3"/>
          </p:cNvCxnSpPr>
          <p:nvPr/>
        </p:nvCxnSpPr>
        <p:spPr>
          <a:xfrm flipH="1">
            <a:off x="4057792" y="3371530"/>
            <a:ext cx="345587" cy="0"/>
          </a:xfrm>
          <a:prstGeom prst="straightConnector1">
            <a:avLst/>
          </a:prstGeom>
          <a:ln w="3175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/>
          <p:cNvSpPr txBox="1"/>
          <p:nvPr/>
        </p:nvSpPr>
        <p:spPr>
          <a:xfrm>
            <a:off x="4170438" y="3136205"/>
            <a:ext cx="160300" cy="2154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구매</a:t>
            </a:r>
            <a:endParaRPr lang="en-US" altLang="ko-KR" sz="7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요청</a:t>
            </a:r>
          </a:p>
        </p:txBody>
      </p:sp>
      <p:cxnSp>
        <p:nvCxnSpPr>
          <p:cNvPr id="230" name="직선 화살표 연결선 229"/>
          <p:cNvCxnSpPr/>
          <p:nvPr/>
        </p:nvCxnSpPr>
        <p:spPr>
          <a:xfrm>
            <a:off x="2700542" y="3336668"/>
            <a:ext cx="445016" cy="0"/>
          </a:xfrm>
          <a:prstGeom prst="straightConnector1">
            <a:avLst/>
          </a:prstGeom>
          <a:ln w="3175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/>
          <p:cNvSpPr txBox="1"/>
          <p:nvPr/>
        </p:nvSpPr>
        <p:spPr>
          <a:xfrm>
            <a:off x="2768502" y="3446748"/>
            <a:ext cx="320601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판매요청</a:t>
            </a:r>
            <a:endParaRPr lang="ko-KR" altLang="en-US" sz="7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2848652" y="3178461"/>
            <a:ext cx="16030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판매</a:t>
            </a:r>
          </a:p>
        </p:txBody>
      </p:sp>
      <p:cxnSp>
        <p:nvCxnSpPr>
          <p:cNvPr id="233" name="직선 연결선 232"/>
          <p:cNvCxnSpPr/>
          <p:nvPr/>
        </p:nvCxnSpPr>
        <p:spPr>
          <a:xfrm flipH="1">
            <a:off x="272480" y="6381328"/>
            <a:ext cx="9361044" cy="0"/>
          </a:xfrm>
          <a:prstGeom prst="line">
            <a:avLst/>
          </a:prstGeom>
          <a:ln w="31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234"/>
          <p:cNvSpPr txBox="1"/>
          <p:nvPr/>
        </p:nvSpPr>
        <p:spPr>
          <a:xfrm>
            <a:off x="5376691" y="3258387"/>
            <a:ext cx="375103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추가 할당 가능</a:t>
            </a:r>
          </a:p>
        </p:txBody>
      </p:sp>
      <p:cxnSp>
        <p:nvCxnSpPr>
          <p:cNvPr id="239" name="꺾인 연결선 238"/>
          <p:cNvCxnSpPr>
            <a:stCxn id="153" idx="2"/>
            <a:endCxn id="157" idx="0"/>
          </p:cNvCxnSpPr>
          <p:nvPr/>
        </p:nvCxnSpPr>
        <p:spPr>
          <a:xfrm rot="16200000" flipH="1">
            <a:off x="3811323" y="1281636"/>
            <a:ext cx="209614" cy="628910"/>
          </a:xfrm>
          <a:prstGeom prst="bentConnector3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05485" y="36675"/>
            <a:ext cx="217719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Work Process</a:t>
            </a:r>
          </a:p>
          <a:p>
            <a:r>
              <a:rPr lang="en-US" altLang="ko-KR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Business Workflow</a:t>
            </a:r>
          </a:p>
        </p:txBody>
      </p:sp>
    </p:spTree>
    <p:extLst>
      <p:ext uri="{BB962C8B-B14F-4D97-AF65-F5344CB8AC3E}">
        <p14:creationId xmlns:p14="http://schemas.microsoft.com/office/powerpoint/2010/main" val="3868564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직사각형 66"/>
          <p:cNvSpPr/>
          <p:nvPr/>
        </p:nvSpPr>
        <p:spPr>
          <a:xfrm>
            <a:off x="267159" y="1685614"/>
            <a:ext cx="1229457" cy="95129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고정형 디바이스</a:t>
            </a:r>
          </a:p>
          <a:p>
            <a:pPr algn="ctr"/>
            <a:r>
              <a:rPr lang="en-US" altLang="ko-KR" sz="8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80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고정 </a:t>
            </a:r>
            <a:r>
              <a:rPr lang="en-US" altLang="ko-KR" sz="8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AP, </a:t>
            </a:r>
            <a:r>
              <a:rPr lang="ko-KR" altLang="en-US" sz="80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고정 센서비콘</a:t>
            </a:r>
            <a:r>
              <a:rPr lang="en-US" altLang="ko-KR" sz="8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267159" y="2786648"/>
            <a:ext cx="1229457" cy="104613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중장비 디바이스</a:t>
            </a:r>
          </a:p>
          <a:p>
            <a:pPr algn="ctr"/>
            <a:r>
              <a:rPr lang="en-US" altLang="ko-KR" sz="8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80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이동 </a:t>
            </a:r>
            <a:r>
              <a:rPr lang="en-US" altLang="ko-KR" sz="8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AP)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267159" y="3971920"/>
            <a:ext cx="1229457" cy="10355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위험지역 디바이스</a:t>
            </a:r>
            <a:endParaRPr lang="en-US" altLang="ko-KR" sz="800" dirty="0">
              <a:solidFill>
                <a:schemeClr val="bg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r>
              <a:rPr lang="en-US" altLang="ko-KR" sz="8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80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센서비콘</a:t>
            </a:r>
            <a:r>
              <a:rPr lang="en-US" altLang="ko-KR" sz="8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+</a:t>
            </a:r>
            <a:r>
              <a:rPr lang="ko-KR" altLang="en-US" sz="80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밴드</a:t>
            </a:r>
            <a:r>
              <a:rPr lang="en-US" altLang="ko-KR" sz="8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  <a:endParaRPr lang="ko-KR" altLang="en-US" sz="800" dirty="0">
              <a:solidFill>
                <a:schemeClr val="bg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67159" y="5161110"/>
            <a:ext cx="1229457" cy="12438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개인 디바이스</a:t>
            </a:r>
          </a:p>
          <a:p>
            <a:pPr algn="ctr"/>
            <a:r>
              <a:rPr lang="en-US" altLang="ko-KR" sz="8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80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태그</a:t>
            </a:r>
            <a:r>
              <a:rPr lang="en-US" altLang="ko-KR" sz="8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712640" y="1124744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디바이스 확인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1712640" y="1421574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배포</a:t>
            </a:r>
          </a:p>
        </p:txBody>
      </p:sp>
      <p:cxnSp>
        <p:nvCxnSpPr>
          <p:cNvPr id="5" name="직선 화살표 연결선 4"/>
          <p:cNvCxnSpPr>
            <a:stCxn id="19" idx="2"/>
            <a:endCxn id="29" idx="0"/>
          </p:cNvCxnSpPr>
          <p:nvPr/>
        </p:nvCxnSpPr>
        <p:spPr>
          <a:xfrm>
            <a:off x="2252700" y="1327667"/>
            <a:ext cx="0" cy="93907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/>
          <p:cNvSpPr/>
          <p:nvPr/>
        </p:nvSpPr>
        <p:spPr>
          <a:xfrm>
            <a:off x="1483514" y="3982524"/>
            <a:ext cx="8150007" cy="10249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10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1712640" y="4046753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담당자 확인</a:t>
            </a:r>
          </a:p>
        </p:txBody>
      </p:sp>
      <p:sp>
        <p:nvSpPr>
          <p:cNvPr id="147" name="직사각형 146"/>
          <p:cNvSpPr/>
          <p:nvPr/>
        </p:nvSpPr>
        <p:spPr>
          <a:xfrm>
            <a:off x="7138673" y="4046753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수령 </a:t>
            </a:r>
            <a:r>
              <a:rPr lang="en-US" altLang="ko-KR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센서비콘</a:t>
            </a:r>
            <a:r>
              <a:rPr lang="en-US" altLang="ko-KR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+</a:t>
            </a:r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밴드</a:t>
            </a:r>
            <a:r>
              <a:rPr lang="en-US" altLang="ko-KR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148" name="직선 화살표 연결선 147"/>
          <p:cNvCxnSpPr>
            <a:stCxn id="144" idx="3"/>
            <a:endCxn id="147" idx="1"/>
          </p:cNvCxnSpPr>
          <p:nvPr/>
        </p:nvCxnSpPr>
        <p:spPr>
          <a:xfrm>
            <a:off x="2792760" y="4148215"/>
            <a:ext cx="4345913" cy="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직사각형 148"/>
          <p:cNvSpPr/>
          <p:nvPr/>
        </p:nvSpPr>
        <p:spPr>
          <a:xfrm>
            <a:off x="7138673" y="4376250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동작확인</a:t>
            </a:r>
            <a:r>
              <a:rPr lang="en-US" altLang="ko-KR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/ </a:t>
            </a:r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배터리 </a:t>
            </a:r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확인</a:t>
            </a:r>
          </a:p>
        </p:txBody>
      </p:sp>
      <p:sp>
        <p:nvSpPr>
          <p:cNvPr id="150" name="직사각형 149"/>
          <p:cNvSpPr/>
          <p:nvPr/>
        </p:nvSpPr>
        <p:spPr>
          <a:xfrm>
            <a:off x="7138673" y="4706238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업무 종료</a:t>
            </a:r>
            <a:r>
              <a:rPr lang="en-US" altLang="ko-KR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/ </a:t>
            </a:r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반납</a:t>
            </a:r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1712640" y="4702795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제품 이상유무 확인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152" name="직선 화살표 연결선 151"/>
          <p:cNvCxnSpPr>
            <a:stCxn id="147" idx="2"/>
            <a:endCxn id="149" idx="0"/>
          </p:cNvCxnSpPr>
          <p:nvPr/>
        </p:nvCxnSpPr>
        <p:spPr>
          <a:xfrm>
            <a:off x="7678733" y="4249676"/>
            <a:ext cx="0" cy="126574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152"/>
          <p:cNvCxnSpPr>
            <a:stCxn id="149" idx="2"/>
            <a:endCxn id="150" idx="0"/>
          </p:cNvCxnSpPr>
          <p:nvPr/>
        </p:nvCxnSpPr>
        <p:spPr>
          <a:xfrm>
            <a:off x="7678733" y="4579173"/>
            <a:ext cx="0" cy="127065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/>
          <p:cNvCxnSpPr>
            <a:stCxn id="150" idx="1"/>
            <a:endCxn id="151" idx="3"/>
          </p:cNvCxnSpPr>
          <p:nvPr/>
        </p:nvCxnSpPr>
        <p:spPr>
          <a:xfrm flipH="1" flipV="1">
            <a:off x="2792760" y="4804257"/>
            <a:ext cx="4345913" cy="3443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직사각형 155"/>
          <p:cNvSpPr/>
          <p:nvPr/>
        </p:nvSpPr>
        <p:spPr>
          <a:xfrm>
            <a:off x="1483514" y="5157192"/>
            <a:ext cx="8150005" cy="12477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10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45" name="직사각형 144"/>
          <p:cNvSpPr/>
          <p:nvPr/>
        </p:nvSpPr>
        <p:spPr>
          <a:xfrm>
            <a:off x="1712640" y="5220950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용역 업체별 수량 확인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1712640" y="5890373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작업자 인물 </a:t>
            </a:r>
            <a:r>
              <a:rPr lang="ko-KR" altLang="en-US" sz="700" dirty="0" err="1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매칭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4404274" y="5220950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수령 후 수량확인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4404274" y="5520966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인물 </a:t>
            </a:r>
            <a:r>
              <a:rPr lang="ko-KR" altLang="en-US" sz="700" dirty="0" err="1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매칭</a:t>
            </a:r>
            <a:r>
              <a:rPr lang="en-US" altLang="ko-KR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/</a:t>
            </a:r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확인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5747443" y="5523983"/>
            <a:ext cx="3770191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수령</a:t>
            </a:r>
            <a:r>
              <a:rPr lang="en-US" altLang="ko-KR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/ </a:t>
            </a:r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출입 인식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160" name="직선 화살표 연결선 159"/>
          <p:cNvCxnSpPr>
            <a:stCxn id="145" idx="3"/>
            <a:endCxn id="157" idx="1"/>
          </p:cNvCxnSpPr>
          <p:nvPr/>
        </p:nvCxnSpPr>
        <p:spPr>
          <a:xfrm>
            <a:off x="2792760" y="5322412"/>
            <a:ext cx="1611514" cy="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화살표 연결선 160"/>
          <p:cNvCxnSpPr>
            <a:stCxn id="157" idx="2"/>
            <a:endCxn id="158" idx="0"/>
          </p:cNvCxnSpPr>
          <p:nvPr/>
        </p:nvCxnSpPr>
        <p:spPr>
          <a:xfrm>
            <a:off x="4944334" y="5423873"/>
            <a:ext cx="0" cy="97094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/>
          <p:cNvCxnSpPr>
            <a:stCxn id="158" idx="3"/>
            <a:endCxn id="159" idx="1"/>
          </p:cNvCxnSpPr>
          <p:nvPr/>
        </p:nvCxnSpPr>
        <p:spPr>
          <a:xfrm>
            <a:off x="5484394" y="5622428"/>
            <a:ext cx="263049" cy="3017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1712640" y="6174079"/>
            <a:ext cx="1104470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 err="1">
                <a:latin typeface="NanumBarunGothic" panose="020B0603020101020101" pitchFamily="34" charset="-127"/>
                <a:ea typeface="NanumBarunGothic" panose="020B0603020101020101" pitchFamily="34" charset="-127"/>
              </a:rPr>
              <a:t>건설사에서</a:t>
            </a:r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 직접 고용하는 경우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1483514" y="2786649"/>
            <a:ext cx="8150007" cy="10461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altLang="ko-KR" sz="10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1712640" y="2850406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담당자 확인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5752005" y="2850406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이동형 </a:t>
            </a:r>
            <a:r>
              <a:rPr lang="en-US" altLang="ko-KR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AP </a:t>
            </a:r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수령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74" name="직사각형 173"/>
          <p:cNvSpPr/>
          <p:nvPr/>
        </p:nvSpPr>
        <p:spPr>
          <a:xfrm>
            <a:off x="5752005" y="3202173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설치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75" name="직사각형 174"/>
          <p:cNvSpPr/>
          <p:nvPr/>
        </p:nvSpPr>
        <p:spPr>
          <a:xfrm>
            <a:off x="5752005" y="3565162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동작확인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178" name="직선 화살표 연결선 177"/>
          <p:cNvCxnSpPr>
            <a:stCxn id="135" idx="2"/>
            <a:endCxn id="174" idx="0"/>
          </p:cNvCxnSpPr>
          <p:nvPr/>
        </p:nvCxnSpPr>
        <p:spPr>
          <a:xfrm>
            <a:off x="6292065" y="3053329"/>
            <a:ext cx="0" cy="148844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화살표 연결선 179"/>
          <p:cNvCxnSpPr>
            <a:stCxn id="174" idx="2"/>
            <a:endCxn id="175" idx="0"/>
          </p:cNvCxnSpPr>
          <p:nvPr/>
        </p:nvCxnSpPr>
        <p:spPr>
          <a:xfrm>
            <a:off x="6292065" y="3405096"/>
            <a:ext cx="0" cy="160066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/>
          <p:cNvCxnSpPr>
            <a:stCxn id="134" idx="3"/>
            <a:endCxn id="135" idx="1"/>
          </p:cNvCxnSpPr>
          <p:nvPr/>
        </p:nvCxnSpPr>
        <p:spPr>
          <a:xfrm>
            <a:off x="2792760" y="2951868"/>
            <a:ext cx="2959245" cy="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/>
          <p:cNvSpPr/>
          <p:nvPr/>
        </p:nvSpPr>
        <p:spPr>
          <a:xfrm>
            <a:off x="1483514" y="1685615"/>
            <a:ext cx="8150007" cy="95129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10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712640" y="1763735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설치 담당자 확인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3057615" y="1763735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위치 확인 </a:t>
            </a:r>
            <a:r>
              <a:rPr lang="en-US" altLang="ko-KR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(3D Map)</a:t>
            </a:r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057615" y="2064676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AP </a:t>
            </a:r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등록</a:t>
            </a:r>
            <a:r>
              <a:rPr lang="en-US" altLang="ko-KR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/Map </a:t>
            </a:r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매핑</a:t>
            </a:r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3057615" y="2365616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최종 동작 확인</a:t>
            </a:r>
          </a:p>
        </p:txBody>
      </p:sp>
      <p:cxnSp>
        <p:nvCxnSpPr>
          <p:cNvPr id="94" name="직선 화살표 연결선 93"/>
          <p:cNvCxnSpPr>
            <a:stCxn id="20" idx="3"/>
            <a:endCxn id="50" idx="1"/>
          </p:cNvCxnSpPr>
          <p:nvPr/>
        </p:nvCxnSpPr>
        <p:spPr>
          <a:xfrm>
            <a:off x="2792760" y="1865197"/>
            <a:ext cx="264855" cy="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50" idx="2"/>
            <a:endCxn id="51" idx="0"/>
          </p:cNvCxnSpPr>
          <p:nvPr/>
        </p:nvCxnSpPr>
        <p:spPr>
          <a:xfrm>
            <a:off x="3597675" y="1966658"/>
            <a:ext cx="0" cy="98018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51" idx="2"/>
            <a:endCxn id="52" idx="0"/>
          </p:cNvCxnSpPr>
          <p:nvPr/>
        </p:nvCxnSpPr>
        <p:spPr>
          <a:xfrm>
            <a:off x="3597675" y="2267598"/>
            <a:ext cx="0" cy="98018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4180938" y="1770795"/>
            <a:ext cx="134812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Installer 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를 통한 위치 확인 및 등록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842724" y="1473797"/>
            <a:ext cx="190276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배포</a:t>
            </a: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시기 </a:t>
            </a: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일일</a:t>
            </a: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단기 </a:t>
            </a: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주</a:t>
            </a: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~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월</a:t>
            </a: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 , 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장기 </a:t>
            </a: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년</a:t>
            </a: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~</a:t>
            </a:r>
            <a:r>
              <a:rPr lang="ko-KR" altLang="en-US" sz="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정직원</a:t>
            </a:r>
            <a:r>
              <a:rPr lang="en-US" altLang="ko-KR" sz="7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  <a:endParaRPr lang="ko-KR" altLang="en-US" sz="70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272480" y="663896"/>
            <a:ext cx="1211034" cy="409808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디바이스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1640633" y="663896"/>
            <a:ext cx="7992887" cy="409808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건설현장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640632" y="859668"/>
            <a:ext cx="1330802" cy="21403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배포 담당자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2971434" y="859668"/>
            <a:ext cx="1330802" cy="21403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설치 담당자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4306249" y="859668"/>
            <a:ext cx="1332140" cy="21403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용역 담당자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5638388" y="859668"/>
            <a:ext cx="1332140" cy="21403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중장비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6970528" y="859668"/>
            <a:ext cx="1332140" cy="21403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기능 작업자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8301380" y="859668"/>
            <a:ext cx="1332140" cy="214036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일반 작업자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5747443" y="5890373"/>
            <a:ext cx="3770191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수령</a:t>
            </a:r>
            <a:r>
              <a:rPr lang="en-US" altLang="ko-KR" sz="700" dirty="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/ </a:t>
            </a:r>
            <a:r>
              <a:rPr lang="ko-KR" altLang="en-US" sz="700">
                <a:solidFill>
                  <a:schemeClr val="tx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출입 인식</a:t>
            </a:r>
            <a:endParaRPr lang="en-US" altLang="ko-KR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16" name="직선 화살표 연결선 15"/>
          <p:cNvCxnSpPr>
            <a:stCxn id="146" idx="3"/>
            <a:endCxn id="80" idx="1"/>
          </p:cNvCxnSpPr>
          <p:nvPr/>
        </p:nvCxnSpPr>
        <p:spPr>
          <a:xfrm>
            <a:off x="2792760" y="5991835"/>
            <a:ext cx="2954683" cy="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순서도: 자기 디스크 183"/>
          <p:cNvSpPr/>
          <p:nvPr/>
        </p:nvSpPr>
        <p:spPr>
          <a:xfrm>
            <a:off x="8564430" y="4568297"/>
            <a:ext cx="925074" cy="839924"/>
          </a:xfrm>
          <a:prstGeom prst="flowChartMagneticDisk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출입 인식 내역</a:t>
            </a:r>
            <a:endParaRPr lang="en-US" altLang="ko-KR" sz="700" dirty="0">
              <a:solidFill>
                <a:schemeClr val="bg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r>
              <a:rPr lang="ko-KR" altLang="en-US" sz="700" dirty="0" err="1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출역관리</a:t>
            </a:r>
            <a:r>
              <a:rPr lang="ko-KR" altLang="en-US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en-US" altLang="ko-KR" sz="7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DB </a:t>
            </a:r>
            <a:r>
              <a:rPr lang="ko-KR" altLang="en-US" sz="70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누적</a:t>
            </a:r>
            <a:endParaRPr lang="ko-KR" altLang="en-US" sz="700" dirty="0">
              <a:solidFill>
                <a:schemeClr val="bg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2" name="위쪽 화살표 21"/>
          <p:cNvSpPr/>
          <p:nvPr/>
        </p:nvSpPr>
        <p:spPr>
          <a:xfrm>
            <a:off x="8301380" y="5335111"/>
            <a:ext cx="410053" cy="192205"/>
          </a:xfrm>
          <a:prstGeom prst="upArrow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88" name="위쪽 화살표 87"/>
          <p:cNvSpPr/>
          <p:nvPr/>
        </p:nvSpPr>
        <p:spPr>
          <a:xfrm>
            <a:off x="8697416" y="5335112"/>
            <a:ext cx="410053" cy="560332"/>
          </a:xfrm>
          <a:prstGeom prst="upArrow">
            <a:avLst>
              <a:gd name="adj1" fmla="val 50000"/>
              <a:gd name="adj2" fmla="val 29869"/>
            </a:avLst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schemeClr val="tx1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05485" y="36675"/>
            <a:ext cx="2824812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Work Process</a:t>
            </a:r>
          </a:p>
          <a:p>
            <a:r>
              <a:rPr lang="en-US" altLang="ko-KR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Business Workflow - </a:t>
            </a:r>
            <a:r>
              <a:rPr lang="ko-KR" altLang="en-US">
                <a:latin typeface="NanumBarunGothic" panose="020B0603020101020101" pitchFamily="34" charset="-127"/>
                <a:ea typeface="NanumBarunGothic" panose="020B0603020101020101" pitchFamily="34" charset="-127"/>
              </a:rPr>
              <a:t>배포</a:t>
            </a:r>
            <a:endParaRPr lang="en-US" altLang="ko-KR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0519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412776"/>
            <a:ext cx="5097016" cy="72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출입관리</a:t>
            </a:r>
          </a:p>
        </p:txBody>
      </p:sp>
    </p:spTree>
    <p:extLst>
      <p:ext uri="{BB962C8B-B14F-4D97-AF65-F5344CB8AC3E}">
        <p14:creationId xmlns:p14="http://schemas.microsoft.com/office/powerpoint/2010/main" val="32546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직사각형 82"/>
          <p:cNvSpPr/>
          <p:nvPr/>
        </p:nvSpPr>
        <p:spPr>
          <a:xfrm>
            <a:off x="1640632" y="3182363"/>
            <a:ext cx="5040560" cy="255183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487278" y="1196752"/>
          <a:ext cx="8923980" cy="780532"/>
        </p:xfrm>
        <a:graphic>
          <a:graphicData uri="http://schemas.openxmlformats.org/drawingml/2006/table">
            <a:tbl>
              <a:tblPr/>
              <a:tblGrid>
                <a:gridCol w="11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7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922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소속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인가 기간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반납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인적 정보 입력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5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기간 방문자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인적 정보와 태그정보를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맵핑하여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특정 </a:t>
                      </a:r>
                      <a:r>
                        <a:rPr lang="ko-KR" altLang="en-US" sz="9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기간동안</a:t>
                      </a:r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사용 가능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건설사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직원 예상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일 이상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~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인가 기간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인가 기간 내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Legacy system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정보 연동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or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수동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입력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5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일일 방문자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인적 정보와 태그정보를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맵팽하여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일일 사용 후 반납</a:t>
                      </a:r>
                      <a:endParaRPr lang="en-US" sz="900" b="0" i="0" u="none" strike="noStrike" dirty="0">
                        <a:solidFill>
                          <a:srgbClr val="C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외부직원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or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일용직 예상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시간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~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당일 까지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당일 내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1100" b="1" i="0" u="none" strike="noStrike" dirty="0">
                        <a:solidFill>
                          <a:srgbClr val="C00000"/>
                        </a:solidFill>
                        <a:effectLst/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36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05485" y="36675"/>
            <a:ext cx="204895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Work Process</a:t>
            </a:r>
          </a:p>
          <a:p>
            <a:r>
              <a:rPr lang="ko-KR" altLang="en-US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출입</a:t>
            </a:r>
            <a:r>
              <a:rPr lang="en-US" altLang="ko-KR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b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관리 </a:t>
            </a:r>
            <a:r>
              <a:rPr lang="en-US" altLang="ko-KR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b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전제조건</a:t>
            </a:r>
            <a:endParaRPr lang="en-US" altLang="ko-KR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5278" y="2132856"/>
            <a:ext cx="7433125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lang="ko-KR" altLang="en-US" sz="10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건설사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인사정보 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Legacy system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연동 가능할 경우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00" dirty="0" err="1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건설사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직원은 본사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ID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카드를 그대로 이용 고려 본사 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ID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카드를 그대로 이용 불가능할 경우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</a:p>
          <a:p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    현장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ID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 발급 시스템에서 임시 발급하거나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인적 정보 수동 입력</a:t>
            </a:r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endParaRPr lang="en-US" altLang="ko-KR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모든 작업자는 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ID</a:t>
            </a:r>
            <a:r>
              <a:rPr lang="ko-KR" altLang="en-US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카드를 소지하고 있는 것을 고려 </a:t>
            </a:r>
            <a:r>
              <a:rPr lang="en-US" altLang="ko-KR" sz="10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0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7889" y="771734"/>
            <a:ext cx="118942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■ 방문자 구분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889" y="3059253"/>
            <a:ext cx="86722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■ </a:t>
            </a:r>
            <a:r>
              <a:rPr lang="en-US" altLang="ko-KR" sz="16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Device</a:t>
            </a:r>
            <a:endParaRPr lang="ko-KR" altLang="en-US" sz="16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156" b="100000" l="0" r="100000">
                        <a14:foregroundMark x1="49223" y1="8052" x2="49223" y2="8052"/>
                        <a14:foregroundMark x1="72021" y1="69091" x2="72021" y2="69091"/>
                        <a14:foregroundMark x1="71503" y1="79481" x2="71503" y2="79481"/>
                        <a14:foregroundMark x1="70984" y1="53247" x2="70984" y2="532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84264" y="3737666"/>
            <a:ext cx="834770" cy="1669538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2179956" y="3584575"/>
            <a:ext cx="641510" cy="979727"/>
            <a:chOff x="3821683" y="2386980"/>
            <a:chExt cx="1611584" cy="2461245"/>
          </a:xfrm>
        </p:grpSpPr>
        <p:pic>
          <p:nvPicPr>
            <p:cNvPr id="4" name="Picture 2" descr="http://www.unk.edu/offices/id_card/_images/UNMC-UNK-ID-card-example-B.png"/>
            <p:cNvPicPr>
              <a:picLocks noChangeAspect="1" noChangeArrowheads="1"/>
            </p:cNvPicPr>
            <p:nvPr/>
          </p:nvPicPr>
          <p:blipFill>
            <a:blip r:embed="rId4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1683" y="2386980"/>
              <a:ext cx="1611584" cy="24612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직사각형 4"/>
            <p:cNvSpPr/>
            <p:nvPr/>
          </p:nvSpPr>
          <p:spPr>
            <a:xfrm>
              <a:off x="4255145" y="4509120"/>
              <a:ext cx="739130" cy="164480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400" dirty="0">
                  <a:solidFill>
                    <a:prstClr val="white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Worker</a:t>
              </a:r>
              <a:endParaRPr lang="ko-KR" altLang="en-US" sz="400" dirty="0" err="1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922500" y="3929937"/>
            <a:ext cx="703697" cy="2890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기존 </a:t>
            </a:r>
            <a:r>
              <a:rPr lang="en-US" altLang="ko-KR" sz="9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ID </a:t>
            </a:r>
            <a:r>
              <a:rPr lang="ko-KR" altLang="en-US" sz="9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 </a:t>
            </a:r>
            <a:endParaRPr lang="en-US" altLang="ko-KR" sz="9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(NFC or</a:t>
            </a:r>
            <a:r>
              <a:rPr lang="ko-KR" altLang="en-US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RFID)</a:t>
            </a:r>
            <a:endParaRPr lang="ko-KR" altLang="en-US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22273" y="3228090"/>
            <a:ext cx="1332132" cy="2528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위치 정보 </a:t>
            </a:r>
            <a:r>
              <a:rPr lang="en-US" altLang="ko-KR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태그</a:t>
            </a:r>
            <a:endParaRPr lang="en-US" altLang="ko-KR" sz="14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덧셈 기호 11"/>
          <p:cNvSpPr/>
          <p:nvPr/>
        </p:nvSpPr>
        <p:spPr>
          <a:xfrm>
            <a:off x="4222588" y="4362941"/>
            <a:ext cx="468562" cy="423241"/>
          </a:xfrm>
          <a:prstGeom prst="mathPlus">
            <a:avLst>
              <a:gd name="adj1" fmla="val 19147"/>
            </a:avLst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2215995" y="4702906"/>
            <a:ext cx="567230" cy="821679"/>
          </a:xfrm>
          <a:prstGeom prst="roundRect">
            <a:avLst>
              <a:gd name="adj" fmla="val 10261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ID</a:t>
            </a:r>
            <a:r>
              <a:rPr lang="ko-KR" altLang="en-US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 </a:t>
            </a:r>
            <a:endParaRPr lang="en-US" altLang="ko-KR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2500" y="4969243"/>
            <a:ext cx="1072480" cy="28900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임시 </a:t>
            </a:r>
            <a:r>
              <a:rPr lang="en-US" altLang="ko-KR" sz="9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ID </a:t>
            </a:r>
            <a:r>
              <a:rPr lang="ko-KR" altLang="en-US" sz="9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</a:t>
            </a:r>
            <a:endParaRPr lang="en-US" altLang="ko-KR" sz="9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(NFC or</a:t>
            </a:r>
            <a:r>
              <a:rPr lang="ko-KR" altLang="en-US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RFID or</a:t>
            </a:r>
            <a:r>
              <a:rPr lang="ko-KR" altLang="en-US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7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None)</a:t>
            </a:r>
            <a:endParaRPr lang="ko-KR" altLang="en-US" sz="700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25407" y="3228090"/>
            <a:ext cx="1537221" cy="2528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인적 정보 </a:t>
            </a:r>
            <a:r>
              <a:rPr lang="en-US" altLang="ko-KR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ID</a:t>
            </a:r>
            <a:r>
              <a:rPr lang="ko-KR" altLang="en-US" sz="1400" b="1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카드</a:t>
            </a:r>
            <a:endParaRPr lang="en-US" altLang="ko-KR" sz="1400" b="1" dirty="0"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1800927" y="5854935"/>
            <a:ext cx="2586179" cy="710432"/>
            <a:chOff x="1928664" y="5943814"/>
            <a:chExt cx="2586179" cy="710432"/>
          </a:xfrm>
        </p:grpSpPr>
        <p:pic>
          <p:nvPicPr>
            <p:cNvPr id="21" name="그림 20"/>
            <p:cNvPicPr>
              <a:picLocks noChangeAspect="1"/>
            </p:cNvPicPr>
            <p:nvPr/>
          </p:nvPicPr>
          <p:blipFill rotWithShape="1">
            <a:blip r:embed="rId5"/>
            <a:srcRect l="21199" r="31858" b="771"/>
            <a:stretch/>
          </p:blipFill>
          <p:spPr>
            <a:xfrm>
              <a:off x="1928664" y="5943814"/>
              <a:ext cx="1008258" cy="710432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3039714" y="6136465"/>
              <a:ext cx="1475129" cy="32513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900" dirty="0">
                  <a:solidFill>
                    <a:prstClr val="black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현장에서 인적 정보 입력 후 </a:t>
              </a:r>
              <a:endParaRPr lang="en-US" altLang="ko-KR" sz="9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r>
                <a:rPr lang="ko-KR" altLang="en-US" sz="900" dirty="0">
                  <a:solidFill>
                    <a:prstClr val="black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임시 </a:t>
              </a:r>
              <a:r>
                <a:rPr lang="en-US" altLang="ko-KR" sz="900" dirty="0">
                  <a:solidFill>
                    <a:prstClr val="black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ID </a:t>
              </a:r>
              <a:r>
                <a:rPr lang="ko-KR" altLang="en-US" sz="900" dirty="0">
                  <a:solidFill>
                    <a:prstClr val="black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카드 발급</a:t>
              </a:r>
              <a:endParaRPr lang="en-US" altLang="ko-KR" sz="900" dirty="0">
                <a:solidFill>
                  <a:prstClr val="black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cxnSp>
        <p:nvCxnSpPr>
          <p:cNvPr id="32" name="직선 화살표 연결선 31"/>
          <p:cNvCxnSpPr/>
          <p:nvPr/>
        </p:nvCxnSpPr>
        <p:spPr>
          <a:xfrm flipV="1">
            <a:off x="2936922" y="5524585"/>
            <a:ext cx="0" cy="419229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>
            <a:off x="2155544" y="4608517"/>
            <a:ext cx="181698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188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272479" y="3455753"/>
            <a:ext cx="7848873" cy="131851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사용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72480" y="4895913"/>
            <a:ext cx="7848872" cy="8449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반납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272479" y="1188178"/>
            <a:ext cx="7848873" cy="129400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배포</a:t>
            </a:r>
            <a:endParaRPr lang="en-US" altLang="ko-KR" sz="10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272479" y="2597511"/>
            <a:ext cx="7848873" cy="74867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 dirty="0">
                <a:solidFill>
                  <a:prstClr val="white">
                    <a:lumMod val="65000"/>
                  </a:prstClr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TAG&amp;ID Card </a:t>
            </a:r>
            <a:r>
              <a:rPr lang="ko-KR" altLang="en-US" sz="1000" dirty="0">
                <a:solidFill>
                  <a:prstClr val="white">
                    <a:lumMod val="65000"/>
                  </a:prstClr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결착</a:t>
            </a:r>
            <a:endParaRPr lang="en-US" altLang="ko-KR" sz="1000" dirty="0">
              <a:solidFill>
                <a:prstClr val="white">
                  <a:lumMod val="65000"/>
                </a:prstClr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grpSp>
        <p:nvGrpSpPr>
          <p:cNvPr id="52" name="그룹 51"/>
          <p:cNvGrpSpPr/>
          <p:nvPr/>
        </p:nvGrpSpPr>
        <p:grpSpPr>
          <a:xfrm flipV="1">
            <a:off x="1992283" y="1170127"/>
            <a:ext cx="986401" cy="4777518"/>
            <a:chOff x="6615092" y="3339840"/>
            <a:chExt cx="986401" cy="5099012"/>
          </a:xfrm>
        </p:grpSpPr>
        <p:sp>
          <p:nvSpPr>
            <p:cNvPr id="53" name="직사각형 52"/>
            <p:cNvSpPr/>
            <p:nvPr/>
          </p:nvSpPr>
          <p:spPr>
            <a:xfrm>
              <a:off x="6615092" y="3339840"/>
              <a:ext cx="985935" cy="5099012"/>
            </a:xfrm>
            <a:prstGeom prst="rect">
              <a:avLst/>
            </a:prstGeom>
            <a:noFill/>
            <a:ln w="9525">
              <a:solidFill>
                <a:srgbClr val="95AD1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54" name="직사각형 53"/>
            <p:cNvSpPr>
              <a:spLocks/>
            </p:cNvSpPr>
            <p:nvPr/>
          </p:nvSpPr>
          <p:spPr>
            <a:xfrm rot="10800000">
              <a:off x="6615093" y="3341117"/>
              <a:ext cx="986400" cy="144000"/>
            </a:xfrm>
            <a:prstGeom prst="rect">
              <a:avLst/>
            </a:prstGeom>
            <a:solidFill>
              <a:srgbClr val="A4E33D"/>
            </a:solidFill>
            <a:ln w="12700">
              <a:solidFill>
                <a:srgbClr val="95AD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일일 사용자</a:t>
              </a:r>
            </a:p>
          </p:txBody>
        </p:sp>
      </p:grpSp>
      <p:grpSp>
        <p:nvGrpSpPr>
          <p:cNvPr id="55" name="그룹 54"/>
          <p:cNvGrpSpPr/>
          <p:nvPr/>
        </p:nvGrpSpPr>
        <p:grpSpPr>
          <a:xfrm flipV="1">
            <a:off x="3035316" y="1170127"/>
            <a:ext cx="986401" cy="4777518"/>
            <a:chOff x="6615092" y="3339840"/>
            <a:chExt cx="986401" cy="5099012"/>
          </a:xfrm>
        </p:grpSpPr>
        <p:sp>
          <p:nvSpPr>
            <p:cNvPr id="56" name="직사각형 55"/>
            <p:cNvSpPr/>
            <p:nvPr/>
          </p:nvSpPr>
          <p:spPr>
            <a:xfrm>
              <a:off x="6615092" y="3339840"/>
              <a:ext cx="985935" cy="5099012"/>
            </a:xfrm>
            <a:prstGeom prst="rect">
              <a:avLst/>
            </a:prstGeom>
            <a:noFill/>
            <a:ln w="9525">
              <a:solidFill>
                <a:srgbClr val="FF66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anumBarunGothic" panose="020B0603020101020101" pitchFamily="34" charset="-127"/>
                <a:ea typeface="NanumBarunGothic" panose="020B0603020101020101" pitchFamily="34" charset="-127"/>
              </a:endParaRPr>
            </a:p>
          </p:txBody>
        </p:sp>
        <p:sp>
          <p:nvSpPr>
            <p:cNvPr id="57" name="직사각형 56"/>
            <p:cNvSpPr>
              <a:spLocks/>
            </p:cNvSpPr>
            <p:nvPr/>
          </p:nvSpPr>
          <p:spPr>
            <a:xfrm rot="10800000">
              <a:off x="6615093" y="3341117"/>
              <a:ext cx="986400" cy="144000"/>
            </a:xfrm>
            <a:prstGeom prst="rect">
              <a:avLst/>
            </a:prstGeom>
            <a:solidFill>
              <a:srgbClr val="FF6600">
                <a:alpha val="38000"/>
              </a:srgbClr>
            </a:solidFill>
            <a:ln w="127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기간 사용자</a:t>
              </a:r>
            </a:p>
          </p:txBody>
        </p:sp>
      </p:grpSp>
      <p:sp>
        <p:nvSpPr>
          <p:cNvPr id="38" name="직사각형 37"/>
          <p:cNvSpPr/>
          <p:nvPr/>
        </p:nvSpPr>
        <p:spPr>
          <a:xfrm>
            <a:off x="2461611" y="3627863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출근 </a:t>
            </a:r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출입</a:t>
            </a:r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  <a:endParaRPr lang="ko-KR" altLang="en-US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2461611" y="4059911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출역감지</a:t>
            </a:r>
            <a:endParaRPr lang="ko-KR" altLang="en-US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037675" y="4473053"/>
            <a:ext cx="504055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퇴근</a:t>
            </a:r>
          </a:p>
        </p:txBody>
      </p:sp>
      <p:cxnSp>
        <p:nvCxnSpPr>
          <p:cNvPr id="43" name="직선 화살표 연결선 42"/>
          <p:cNvCxnSpPr>
            <a:stCxn id="38" idx="2"/>
            <a:endCxn id="40" idx="0"/>
          </p:cNvCxnSpPr>
          <p:nvPr/>
        </p:nvCxnSpPr>
        <p:spPr>
          <a:xfrm>
            <a:off x="3001671" y="3830786"/>
            <a:ext cx="0" cy="229125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2461611" y="4959671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기간 만료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2461611" y="5399969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반납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4981891" y="1251935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Legacy system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4981891" y="1603702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수동입력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272480" y="663896"/>
            <a:ext cx="1224136" cy="409808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00" dirty="0">
                <a:solidFill>
                  <a:prstClr val="whit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기간</a:t>
            </a:r>
            <a:r>
              <a:rPr lang="en-US" altLang="ko-KR" sz="700" dirty="0">
                <a:solidFill>
                  <a:prstClr val="whit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/</a:t>
            </a:r>
            <a:r>
              <a:rPr lang="ko-KR" altLang="en-US" sz="700" dirty="0">
                <a:solidFill>
                  <a:prstClr val="whit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일일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5485" y="36675"/>
            <a:ext cx="3065263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Work Process</a:t>
            </a:r>
          </a:p>
          <a:p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Device </a:t>
            </a:r>
            <a:r>
              <a:rPr lang="ko-KR" altLang="en-US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관리 </a:t>
            </a:r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: TAG</a:t>
            </a:r>
            <a:r>
              <a:rPr lang="ko-KR" altLang="en-US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배포 개념도</a:t>
            </a:r>
            <a:endParaRPr lang="en-US" altLang="ko-KR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2461611" y="1251935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TAG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발급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2461611" y="1902223"/>
            <a:ext cx="1080120" cy="20292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ID Card 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정보를</a:t>
            </a:r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</a:p>
          <a:p>
            <a:pPr algn="ctr"/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TAG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에 </a:t>
            </a:r>
            <a:r>
              <a:rPr lang="ko-KR" altLang="en-US" sz="700" dirty="0" err="1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맵핑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101" name="직선 화살표 연결선 100"/>
          <p:cNvCxnSpPr>
            <a:stCxn id="98" idx="2"/>
            <a:endCxn id="99" idx="0"/>
          </p:cNvCxnSpPr>
          <p:nvPr/>
        </p:nvCxnSpPr>
        <p:spPr>
          <a:xfrm>
            <a:off x="3001671" y="1454858"/>
            <a:ext cx="0" cy="447365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/>
          <p:cNvCxnSpPr>
            <a:stCxn id="132" idx="1"/>
            <a:endCxn id="99" idx="3"/>
          </p:cNvCxnSpPr>
          <p:nvPr/>
        </p:nvCxnSpPr>
        <p:spPr>
          <a:xfrm flipH="1">
            <a:off x="3541731" y="2003684"/>
            <a:ext cx="307364" cy="1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꺾인 연결선 112"/>
          <p:cNvCxnSpPr>
            <a:stCxn id="41" idx="3"/>
            <a:endCxn id="38" idx="3"/>
          </p:cNvCxnSpPr>
          <p:nvPr/>
        </p:nvCxnSpPr>
        <p:spPr>
          <a:xfrm flipV="1">
            <a:off x="3541730" y="3729325"/>
            <a:ext cx="1" cy="845190"/>
          </a:xfrm>
          <a:prstGeom prst="bentConnector3">
            <a:avLst>
              <a:gd name="adj1" fmla="val 22860100000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3810845" y="4036099"/>
            <a:ext cx="185948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기간 사용자는 </a:t>
            </a:r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TAG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에 인가된 해당 기간 만큼 반복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116" name="직선 화살표 연결선 115"/>
          <p:cNvCxnSpPr>
            <a:stCxn id="47" idx="2"/>
            <a:endCxn id="48" idx="0"/>
          </p:cNvCxnSpPr>
          <p:nvPr/>
        </p:nvCxnSpPr>
        <p:spPr>
          <a:xfrm>
            <a:off x="3001671" y="5162594"/>
            <a:ext cx="0" cy="237375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4113001" y="1299535"/>
            <a:ext cx="56746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건설사</a:t>
            </a:r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직원       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3969533" y="1651302"/>
            <a:ext cx="70852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외부</a:t>
            </a:r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직원 </a:t>
            </a:r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or 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일용직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125" name="직선 화살표 연결선 124"/>
          <p:cNvCxnSpPr>
            <a:stCxn id="69" idx="1"/>
            <a:endCxn id="120" idx="3"/>
          </p:cNvCxnSpPr>
          <p:nvPr/>
        </p:nvCxnSpPr>
        <p:spPr>
          <a:xfrm flipH="1" flipV="1">
            <a:off x="4678060" y="1705163"/>
            <a:ext cx="303831" cy="1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/>
          <p:cNvCxnSpPr>
            <a:stCxn id="68" idx="1"/>
            <a:endCxn id="119" idx="3"/>
          </p:cNvCxnSpPr>
          <p:nvPr/>
        </p:nvCxnSpPr>
        <p:spPr>
          <a:xfrm flipH="1" flipV="1">
            <a:off x="4680464" y="1353396"/>
            <a:ext cx="301427" cy="1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3849095" y="1949823"/>
            <a:ext cx="1173398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NFC or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RFID card 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정보 </a:t>
            </a:r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&amp; 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사진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136" name="꺾인 연결선 135"/>
          <p:cNvCxnSpPr>
            <a:stCxn id="120" idx="1"/>
            <a:endCxn id="98" idx="3"/>
          </p:cNvCxnSpPr>
          <p:nvPr/>
        </p:nvCxnSpPr>
        <p:spPr>
          <a:xfrm rot="10800000">
            <a:off x="3541731" y="1353397"/>
            <a:ext cx="427802" cy="351766"/>
          </a:xfrm>
          <a:prstGeom prst="bentConnector3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꺾인 연결선 137"/>
          <p:cNvCxnSpPr>
            <a:endCxn id="98" idx="3"/>
          </p:cNvCxnSpPr>
          <p:nvPr/>
        </p:nvCxnSpPr>
        <p:spPr>
          <a:xfrm rot="10800000" flipV="1">
            <a:off x="3541732" y="1353089"/>
            <a:ext cx="567463" cy="308"/>
          </a:xfrm>
          <a:prstGeom prst="bentConnector3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/>
          <p:cNvCxnSpPr/>
          <p:nvPr/>
        </p:nvCxnSpPr>
        <p:spPr>
          <a:xfrm>
            <a:off x="3253699" y="4262834"/>
            <a:ext cx="0" cy="229125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/>
          <p:cNvCxnSpPr/>
          <p:nvPr/>
        </p:nvCxnSpPr>
        <p:spPr>
          <a:xfrm>
            <a:off x="2749643" y="4262833"/>
            <a:ext cx="0" cy="70200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/>
          <p:cNvCxnSpPr/>
          <p:nvPr/>
        </p:nvCxnSpPr>
        <p:spPr>
          <a:xfrm>
            <a:off x="3253699" y="4679888"/>
            <a:ext cx="0" cy="28800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1221370" y="4464691"/>
            <a:ext cx="1420261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일일 사용자는 퇴근 시 반납 절차 진행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308886" y="1651302"/>
            <a:ext cx="1564531" cy="3231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※ 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담당자 지정은 현장정보 확인 필요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    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수동입력은 </a:t>
            </a:r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PC or Mobile 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모두 고려하며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    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정보 </a:t>
            </a:r>
            <a:r>
              <a:rPr lang="ko-KR" altLang="en-US" sz="700" dirty="0" err="1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입력자는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700" dirty="0" err="1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여러명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일 수 있음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6308886" y="1299228"/>
            <a:ext cx="111729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※ Legacy 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연동 가능 확인 필요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3197583" y="2791342"/>
            <a:ext cx="52899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건설사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직원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endParaRPr lang="en-US" altLang="ko-KR" sz="6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기존 </a:t>
            </a:r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ID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카드를 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TAG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에 결착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2068929" y="2768258"/>
            <a:ext cx="687689" cy="47705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외부직원 </a:t>
            </a:r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or 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일용직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endParaRPr lang="en-US" altLang="ko-KR" sz="3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현장에서 발급된  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임시 </a:t>
            </a:r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ID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카드를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ctr"/>
            <a:r>
              <a:rPr lang="en-US" altLang="ko-KR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TAG</a:t>
            </a: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에 결착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193" name="꺾인 연결선 192"/>
          <p:cNvCxnSpPr>
            <a:stCxn id="99" idx="2"/>
            <a:endCxn id="190" idx="0"/>
          </p:cNvCxnSpPr>
          <p:nvPr/>
        </p:nvCxnSpPr>
        <p:spPr>
          <a:xfrm rot="16200000" flipH="1">
            <a:off x="2888777" y="2218040"/>
            <a:ext cx="686196" cy="460408"/>
          </a:xfrm>
          <a:prstGeom prst="bentConnector3">
            <a:avLst>
              <a:gd name="adj1" fmla="val 60758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 194"/>
          <p:cNvCxnSpPr>
            <a:stCxn id="99" idx="2"/>
            <a:endCxn id="191" idx="0"/>
          </p:cNvCxnSpPr>
          <p:nvPr/>
        </p:nvCxnSpPr>
        <p:spPr>
          <a:xfrm rot="5400000">
            <a:off x="2375667" y="2142254"/>
            <a:ext cx="663112" cy="588897"/>
          </a:xfrm>
          <a:prstGeom prst="bentConnector3">
            <a:avLst>
              <a:gd name="adj1" fmla="val 62928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꺾인 연결선 197"/>
          <p:cNvCxnSpPr>
            <a:stCxn id="190" idx="2"/>
            <a:endCxn id="38" idx="0"/>
          </p:cNvCxnSpPr>
          <p:nvPr/>
        </p:nvCxnSpPr>
        <p:spPr>
          <a:xfrm rot="5400000">
            <a:off x="3029058" y="3194842"/>
            <a:ext cx="405634" cy="460408"/>
          </a:xfrm>
          <a:prstGeom prst="bentConnector3">
            <a:avLst>
              <a:gd name="adj1" fmla="val 46478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꺾인 연결선 199"/>
          <p:cNvCxnSpPr>
            <a:stCxn id="191" idx="2"/>
            <a:endCxn id="38" idx="0"/>
          </p:cNvCxnSpPr>
          <p:nvPr/>
        </p:nvCxnSpPr>
        <p:spPr>
          <a:xfrm rot="16200000" flipH="1">
            <a:off x="2515947" y="3142138"/>
            <a:ext cx="382551" cy="588897"/>
          </a:xfrm>
          <a:prstGeom prst="bentConnector3">
            <a:avLst>
              <a:gd name="adj1" fmla="val 43776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1568624" y="734207"/>
            <a:ext cx="415177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기간 사용자와 일일 사용자로 구분하며</a:t>
            </a:r>
            <a:r>
              <a:rPr lang="en-US" altLang="ko-KR" sz="9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, TAG</a:t>
            </a:r>
            <a:r>
              <a:rPr lang="ko-KR" altLang="en-US" sz="9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발급과 개인정보</a:t>
            </a:r>
            <a:r>
              <a:rPr lang="en-US" altLang="ko-KR" sz="9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9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카드와의</a:t>
            </a:r>
            <a:r>
              <a:rPr lang="en-US" altLang="ko-KR" sz="9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900" dirty="0" err="1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맵핑</a:t>
            </a:r>
            <a:r>
              <a:rPr lang="ko-KR" altLang="en-US" sz="9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구조는 같음</a:t>
            </a:r>
            <a:r>
              <a:rPr lang="en-US" altLang="ko-KR" sz="9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 </a:t>
            </a:r>
          </a:p>
          <a:p>
            <a:r>
              <a:rPr lang="ko-KR" altLang="en-US" sz="9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기간 사용자는 해당 기간 동안 반복 사용하며</a:t>
            </a:r>
            <a:r>
              <a:rPr lang="en-US" altLang="ko-KR" sz="9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9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일일 사용자는 배포</a:t>
            </a:r>
            <a:r>
              <a:rPr lang="en-US" altLang="ko-KR" sz="9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-</a:t>
            </a:r>
            <a:r>
              <a:rPr lang="ko-KR" altLang="en-US" sz="9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사용</a:t>
            </a:r>
            <a:r>
              <a:rPr lang="en-US" altLang="ko-KR" sz="9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-</a:t>
            </a:r>
            <a:r>
              <a:rPr lang="ko-KR" altLang="en-US" sz="9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반납 절차가 반복됨</a:t>
            </a:r>
            <a:r>
              <a:rPr lang="en-US" altLang="ko-KR" sz="9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3856672" y="2077550"/>
            <a:ext cx="1491114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일용직용 임시 카드 발급 시스템 필요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사진 포함</a:t>
            </a:r>
            <a:endParaRPr lang="en-US" altLang="ko-KR" sz="7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216" name="직선 화살표 연결선 215"/>
          <p:cNvCxnSpPr/>
          <p:nvPr/>
        </p:nvCxnSpPr>
        <p:spPr>
          <a:xfrm>
            <a:off x="2641631" y="4257671"/>
            <a:ext cx="0" cy="1152000"/>
          </a:xfrm>
          <a:prstGeom prst="straightConnector1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1221370" y="5204367"/>
            <a:ext cx="89768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기간 만료 전 중도 반납</a:t>
            </a:r>
          </a:p>
        </p:txBody>
      </p:sp>
    </p:spTree>
    <p:extLst>
      <p:ext uri="{BB962C8B-B14F-4D97-AF65-F5344CB8AC3E}">
        <p14:creationId xmlns:p14="http://schemas.microsoft.com/office/powerpoint/2010/main" val="522941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412776"/>
            <a:ext cx="5097016" cy="72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Device</a:t>
            </a:r>
            <a:r>
              <a:rPr lang="ko-KR" altLang="en-US" sz="2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유지보수</a:t>
            </a:r>
          </a:p>
        </p:txBody>
      </p:sp>
    </p:spTree>
    <p:extLst>
      <p:ext uri="{BB962C8B-B14F-4D97-AF65-F5344CB8AC3E}">
        <p14:creationId xmlns:p14="http://schemas.microsoft.com/office/powerpoint/2010/main" val="2747011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205485" y="36675"/>
            <a:ext cx="3756798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Work Process</a:t>
            </a:r>
          </a:p>
          <a:p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Device </a:t>
            </a:r>
            <a:r>
              <a:rPr lang="ko-KR" altLang="en-US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유지보수 </a:t>
            </a:r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고정형 </a:t>
            </a:r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AP / CCTV)</a:t>
            </a:r>
          </a:p>
        </p:txBody>
      </p:sp>
      <p:grpSp>
        <p:nvGrpSpPr>
          <p:cNvPr id="291" name="그룹 290"/>
          <p:cNvGrpSpPr/>
          <p:nvPr/>
        </p:nvGrpSpPr>
        <p:grpSpPr>
          <a:xfrm>
            <a:off x="2108004" y="3021431"/>
            <a:ext cx="1552723" cy="1887685"/>
            <a:chOff x="240907" y="3021431"/>
            <a:chExt cx="1552723" cy="1887685"/>
          </a:xfrm>
        </p:grpSpPr>
        <p:grpSp>
          <p:nvGrpSpPr>
            <p:cNvPr id="108" name="그룹 107"/>
            <p:cNvGrpSpPr/>
            <p:nvPr/>
          </p:nvGrpSpPr>
          <p:grpSpPr>
            <a:xfrm>
              <a:off x="240907" y="3021431"/>
              <a:ext cx="1552723" cy="495055"/>
              <a:chOff x="240907" y="2314376"/>
              <a:chExt cx="1552723" cy="495055"/>
            </a:xfrm>
          </p:grpSpPr>
          <p:sp>
            <p:nvSpPr>
              <p:cNvPr id="109" name="직사각형 108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요청 확인</a:t>
                </a:r>
              </a:p>
            </p:txBody>
          </p:sp>
          <p:sp>
            <p:nvSpPr>
              <p:cNvPr id="110" name="직사각형 109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Device Installer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7" name="그룹 116"/>
            <p:cNvGrpSpPr/>
            <p:nvPr/>
          </p:nvGrpSpPr>
          <p:grpSpPr>
            <a:xfrm>
              <a:off x="240907" y="3717746"/>
              <a:ext cx="1552723" cy="495055"/>
              <a:chOff x="240907" y="2314376"/>
              <a:chExt cx="1552723" cy="495055"/>
            </a:xfrm>
          </p:grpSpPr>
          <p:sp>
            <p:nvSpPr>
              <p:cNvPr id="118" name="직사각형 117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전원 연결</a:t>
                </a:r>
              </a:p>
            </p:txBody>
          </p:sp>
          <p:sp>
            <p:nvSpPr>
              <p:cNvPr id="119" name="직사각형 118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Offline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0" name="그룹 119"/>
            <p:cNvGrpSpPr/>
            <p:nvPr/>
          </p:nvGrpSpPr>
          <p:grpSpPr>
            <a:xfrm>
              <a:off x="240907" y="4414061"/>
              <a:ext cx="1552723" cy="495055"/>
              <a:chOff x="240907" y="2314376"/>
              <a:chExt cx="1552723" cy="495055"/>
            </a:xfrm>
          </p:grpSpPr>
          <p:sp>
            <p:nvSpPr>
              <p:cNvPr id="121" name="직사각형 120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전원 연결 확인</a:t>
                </a:r>
              </a:p>
            </p:txBody>
          </p:sp>
          <p:sp>
            <p:nvSpPr>
              <p:cNvPr id="122" name="직사각형 121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 / Device Installer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6" name="직선 화살표 연결선 25"/>
            <p:cNvCxnSpPr>
              <a:stCxn id="110" idx="2"/>
              <a:endCxn id="118" idx="0"/>
            </p:cNvCxnSpPr>
            <p:nvPr/>
          </p:nvCxnSpPr>
          <p:spPr>
            <a:xfrm>
              <a:off x="1017269" y="3516486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/>
            <p:cNvCxnSpPr>
              <a:stCxn id="119" idx="2"/>
              <a:endCxn id="121" idx="0"/>
            </p:cNvCxnSpPr>
            <p:nvPr/>
          </p:nvCxnSpPr>
          <p:spPr>
            <a:xfrm>
              <a:off x="1017269" y="4212801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그룹 286"/>
          <p:cNvGrpSpPr/>
          <p:nvPr/>
        </p:nvGrpSpPr>
        <p:grpSpPr>
          <a:xfrm>
            <a:off x="2108004" y="1215368"/>
            <a:ext cx="1552723" cy="1604803"/>
            <a:chOff x="2108004" y="1215368"/>
            <a:chExt cx="1552723" cy="1604803"/>
          </a:xfrm>
        </p:grpSpPr>
        <p:grpSp>
          <p:nvGrpSpPr>
            <p:cNvPr id="124" name="그룹 123"/>
            <p:cNvGrpSpPr/>
            <p:nvPr/>
          </p:nvGrpSpPr>
          <p:grpSpPr>
            <a:xfrm>
              <a:off x="2108004" y="1628800"/>
              <a:ext cx="1552723" cy="495056"/>
              <a:chOff x="240907" y="1628800"/>
              <a:chExt cx="1552723" cy="495056"/>
            </a:xfrm>
          </p:grpSpPr>
          <p:sp>
            <p:nvSpPr>
              <p:cNvPr id="138" name="직사각형 137"/>
              <p:cNvSpPr/>
              <p:nvPr/>
            </p:nvSpPr>
            <p:spPr>
              <a:xfrm>
                <a:off x="240907" y="1628800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꺼짐 </a:t>
                </a:r>
                <a:r>
                  <a:rPr lang="en-US" altLang="ko-KR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/ </a:t>
                </a:r>
                <a:r>
                  <a:rPr lang="ko-KR" altLang="en-US" sz="80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분실 </a:t>
                </a:r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알림</a:t>
                </a:r>
              </a:p>
            </p:txBody>
          </p:sp>
          <p:sp>
            <p:nvSpPr>
              <p:cNvPr id="139" name="직사각형 138"/>
              <p:cNvSpPr/>
              <p:nvPr/>
            </p:nvSpPr>
            <p:spPr>
              <a:xfrm>
                <a:off x="240907" y="1965288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 / Device Installer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5" name="그룹 124"/>
            <p:cNvGrpSpPr/>
            <p:nvPr/>
          </p:nvGrpSpPr>
          <p:grpSpPr>
            <a:xfrm>
              <a:off x="2108004" y="2325116"/>
              <a:ext cx="1552723" cy="495055"/>
              <a:chOff x="240907" y="2314376"/>
              <a:chExt cx="1552723" cy="495055"/>
            </a:xfrm>
          </p:grpSpPr>
          <p:sp>
            <p:nvSpPr>
              <p:cNvPr id="136" name="직사각형 135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현장 확인 요청</a:t>
                </a:r>
              </a:p>
            </p:txBody>
          </p:sp>
          <p:sp>
            <p:nvSpPr>
              <p:cNvPr id="137" name="직사각형 136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6" name="TextBox 125"/>
            <p:cNvSpPr txBox="1"/>
            <p:nvPr/>
          </p:nvSpPr>
          <p:spPr>
            <a:xfrm>
              <a:off x="2108004" y="1215368"/>
              <a:ext cx="1552723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꺼짐</a:t>
              </a:r>
            </a:p>
          </p:txBody>
        </p:sp>
        <p:cxnSp>
          <p:nvCxnSpPr>
            <p:cNvPr id="227" name="직선 화살표 연결선 226"/>
            <p:cNvCxnSpPr>
              <a:stCxn id="139" idx="2"/>
              <a:endCxn id="136" idx="0"/>
            </p:cNvCxnSpPr>
            <p:nvPr/>
          </p:nvCxnSpPr>
          <p:spPr>
            <a:xfrm>
              <a:off x="2884366" y="2123856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꺾인 연결선 36"/>
          <p:cNvCxnSpPr>
            <a:stCxn id="136" idx="3"/>
            <a:endCxn id="262" idx="0"/>
          </p:cNvCxnSpPr>
          <p:nvPr/>
        </p:nvCxnSpPr>
        <p:spPr>
          <a:xfrm>
            <a:off x="3660727" y="2493360"/>
            <a:ext cx="1090736" cy="528071"/>
          </a:xfrm>
          <a:prstGeom prst="bentConnector2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6" name="그룹 285"/>
          <p:cNvGrpSpPr/>
          <p:nvPr/>
        </p:nvGrpSpPr>
        <p:grpSpPr>
          <a:xfrm>
            <a:off x="3975101" y="1215368"/>
            <a:ext cx="1552724" cy="4390062"/>
            <a:chOff x="3975100" y="1215368"/>
            <a:chExt cx="1552724" cy="4390062"/>
          </a:xfrm>
        </p:grpSpPr>
        <p:grpSp>
          <p:nvGrpSpPr>
            <p:cNvPr id="12" name="그룹 11"/>
            <p:cNvGrpSpPr/>
            <p:nvPr/>
          </p:nvGrpSpPr>
          <p:grpSpPr>
            <a:xfrm>
              <a:off x="3975101" y="1215368"/>
              <a:ext cx="1552723" cy="4390062"/>
              <a:chOff x="4006371" y="1215368"/>
              <a:chExt cx="1552723" cy="4390062"/>
            </a:xfrm>
          </p:grpSpPr>
          <p:sp>
            <p:nvSpPr>
              <p:cNvPr id="143" name="TextBox 142"/>
              <p:cNvSpPr txBox="1"/>
              <p:nvPr/>
            </p:nvSpPr>
            <p:spPr>
              <a:xfrm>
                <a:off x="4006371" y="1215368"/>
                <a:ext cx="1552723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10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</a:rPr>
                  <a:t>분실</a:t>
                </a:r>
              </a:p>
            </p:txBody>
          </p:sp>
          <p:grpSp>
            <p:nvGrpSpPr>
              <p:cNvPr id="145" name="그룹 144"/>
              <p:cNvGrpSpPr/>
              <p:nvPr/>
            </p:nvGrpSpPr>
            <p:grpSpPr>
              <a:xfrm>
                <a:off x="4006371" y="3717746"/>
                <a:ext cx="1552723" cy="495055"/>
                <a:chOff x="240907" y="2314376"/>
                <a:chExt cx="1552723" cy="495055"/>
              </a:xfrm>
            </p:grpSpPr>
            <p:sp>
              <p:nvSpPr>
                <p:cNvPr id="149" name="직사각형 148"/>
                <p:cNvSpPr/>
                <p:nvPr/>
              </p:nvSpPr>
              <p:spPr>
                <a:xfrm>
                  <a:off x="240907" y="2314376"/>
                  <a:ext cx="1552723" cy="3364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새 기기 설치</a:t>
                  </a:r>
                </a:p>
              </p:txBody>
            </p:sp>
            <p:sp>
              <p:nvSpPr>
                <p:cNvPr id="150" name="직사각형 149"/>
                <p:cNvSpPr/>
                <p:nvPr/>
              </p:nvSpPr>
              <p:spPr>
                <a:xfrm>
                  <a:off x="240907" y="2650863"/>
                  <a:ext cx="1552723" cy="1585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Offline</a:t>
                  </a:r>
                  <a:endParaRPr lang="ko-KR" altLang="en-US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6" name="그룹 145"/>
              <p:cNvGrpSpPr/>
              <p:nvPr/>
            </p:nvGrpSpPr>
            <p:grpSpPr>
              <a:xfrm>
                <a:off x="4006371" y="4414061"/>
                <a:ext cx="1552723" cy="495055"/>
                <a:chOff x="240907" y="2314376"/>
                <a:chExt cx="1552723" cy="495055"/>
              </a:xfrm>
            </p:grpSpPr>
            <p:sp>
              <p:nvSpPr>
                <p:cNvPr id="147" name="직사각형 146"/>
                <p:cNvSpPr/>
                <p:nvPr/>
              </p:nvSpPr>
              <p:spPr>
                <a:xfrm>
                  <a:off x="240907" y="2314376"/>
                  <a:ext cx="1552723" cy="3364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설치 등록</a:t>
                  </a:r>
                </a:p>
              </p:txBody>
            </p:sp>
            <p:sp>
              <p:nvSpPr>
                <p:cNvPr id="148" name="직사각형 147"/>
                <p:cNvSpPr/>
                <p:nvPr/>
              </p:nvSpPr>
              <p:spPr>
                <a:xfrm>
                  <a:off x="240907" y="2650863"/>
                  <a:ext cx="1552723" cy="1585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Device Installer</a:t>
                  </a:r>
                  <a:endParaRPr lang="ko-KR" altLang="en-US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74" name="그룹 173"/>
              <p:cNvGrpSpPr/>
              <p:nvPr/>
            </p:nvGrpSpPr>
            <p:grpSpPr>
              <a:xfrm>
                <a:off x="4006371" y="5110375"/>
                <a:ext cx="1552723" cy="495055"/>
                <a:chOff x="240907" y="2314376"/>
                <a:chExt cx="1552723" cy="495055"/>
              </a:xfrm>
            </p:grpSpPr>
            <p:sp>
              <p:nvSpPr>
                <p:cNvPr id="175" name="직사각형 174"/>
                <p:cNvSpPr/>
                <p:nvPr/>
              </p:nvSpPr>
              <p:spPr>
                <a:xfrm>
                  <a:off x="240907" y="2314376"/>
                  <a:ext cx="1552723" cy="3364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기기 추가 주문</a:t>
                  </a:r>
                </a:p>
              </p:txBody>
            </p:sp>
            <p:sp>
              <p:nvSpPr>
                <p:cNvPr id="176" name="직사각형 175"/>
                <p:cNvSpPr/>
                <p:nvPr/>
              </p:nvSpPr>
              <p:spPr>
                <a:xfrm>
                  <a:off x="240907" y="2650863"/>
                  <a:ext cx="1552723" cy="1585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PC</a:t>
                  </a:r>
                  <a:endParaRPr lang="ko-KR" altLang="en-US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61" name="그룹 260"/>
            <p:cNvGrpSpPr/>
            <p:nvPr/>
          </p:nvGrpSpPr>
          <p:grpSpPr>
            <a:xfrm>
              <a:off x="3975100" y="3021431"/>
              <a:ext cx="1552723" cy="495055"/>
              <a:chOff x="240907" y="2314376"/>
              <a:chExt cx="1552723" cy="495055"/>
            </a:xfrm>
          </p:grpSpPr>
          <p:sp>
            <p:nvSpPr>
              <p:cNvPr id="262" name="직사각형 261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요청 확인</a:t>
                </a:r>
              </a:p>
            </p:txBody>
          </p:sp>
          <p:sp>
            <p:nvSpPr>
              <p:cNvPr id="263" name="직사각형 262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Device Installer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39" name="직선 화살표 연결선 38"/>
            <p:cNvCxnSpPr>
              <a:stCxn id="263" idx="2"/>
              <a:endCxn id="149" idx="0"/>
            </p:cNvCxnSpPr>
            <p:nvPr/>
          </p:nvCxnSpPr>
          <p:spPr>
            <a:xfrm>
              <a:off x="4751462" y="3516486"/>
              <a:ext cx="1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직선 화살표 연결선 264"/>
            <p:cNvCxnSpPr>
              <a:stCxn id="150" idx="2"/>
              <a:endCxn id="147" idx="0"/>
            </p:cNvCxnSpPr>
            <p:nvPr/>
          </p:nvCxnSpPr>
          <p:spPr>
            <a:xfrm>
              <a:off x="4751463" y="4212801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직선 화살표 연결선 265"/>
            <p:cNvCxnSpPr>
              <a:stCxn id="148" idx="2"/>
              <a:endCxn id="175" idx="0"/>
            </p:cNvCxnSpPr>
            <p:nvPr/>
          </p:nvCxnSpPr>
          <p:spPr>
            <a:xfrm>
              <a:off x="4751463" y="4909116"/>
              <a:ext cx="0" cy="201259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5" name="그룹 284"/>
          <p:cNvGrpSpPr/>
          <p:nvPr/>
        </p:nvGrpSpPr>
        <p:grpSpPr>
          <a:xfrm>
            <a:off x="5842199" y="1215368"/>
            <a:ext cx="1552723" cy="5084951"/>
            <a:chOff x="5842199" y="1215368"/>
            <a:chExt cx="1552723" cy="5084951"/>
          </a:xfrm>
        </p:grpSpPr>
        <p:grpSp>
          <p:nvGrpSpPr>
            <p:cNvPr id="207" name="그룹 206"/>
            <p:cNvGrpSpPr/>
            <p:nvPr/>
          </p:nvGrpSpPr>
          <p:grpSpPr>
            <a:xfrm>
              <a:off x="5842199" y="1628800"/>
              <a:ext cx="1552723" cy="495056"/>
              <a:chOff x="240907" y="1628800"/>
              <a:chExt cx="1552723" cy="495056"/>
            </a:xfrm>
          </p:grpSpPr>
          <p:sp>
            <p:nvSpPr>
              <p:cNvPr id="221" name="직사각형 220"/>
              <p:cNvSpPr/>
              <p:nvPr/>
            </p:nvSpPr>
            <p:spPr>
              <a:xfrm>
                <a:off x="240907" y="1628800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고장 알림</a:t>
                </a:r>
              </a:p>
            </p:txBody>
          </p:sp>
          <p:sp>
            <p:nvSpPr>
              <p:cNvPr id="222" name="직사각형 221"/>
              <p:cNvSpPr/>
              <p:nvPr/>
            </p:nvSpPr>
            <p:spPr>
              <a:xfrm>
                <a:off x="240907" y="1965288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 / Device Installer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08" name="그룹 207"/>
            <p:cNvGrpSpPr/>
            <p:nvPr/>
          </p:nvGrpSpPr>
          <p:grpSpPr>
            <a:xfrm>
              <a:off x="5842199" y="2325116"/>
              <a:ext cx="1552723" cy="495055"/>
              <a:chOff x="240907" y="2314376"/>
              <a:chExt cx="1552723" cy="495055"/>
            </a:xfrm>
          </p:grpSpPr>
          <p:sp>
            <p:nvSpPr>
              <p:cNvPr id="219" name="직사각형 218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기기 교체 요청</a:t>
                </a:r>
              </a:p>
            </p:txBody>
          </p:sp>
          <p:sp>
            <p:nvSpPr>
              <p:cNvPr id="220" name="직사각형 219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09" name="TextBox 208"/>
            <p:cNvSpPr txBox="1"/>
            <p:nvPr/>
          </p:nvSpPr>
          <p:spPr>
            <a:xfrm>
              <a:off x="5842199" y="1215368"/>
              <a:ext cx="1552723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고장</a:t>
              </a:r>
            </a:p>
          </p:txBody>
        </p:sp>
        <p:grpSp>
          <p:nvGrpSpPr>
            <p:cNvPr id="234" name="그룹 233"/>
            <p:cNvGrpSpPr/>
            <p:nvPr/>
          </p:nvGrpSpPr>
          <p:grpSpPr>
            <a:xfrm>
              <a:off x="5842199" y="3716320"/>
              <a:ext cx="1552723" cy="2583999"/>
              <a:chOff x="5842199" y="3021431"/>
              <a:chExt cx="1552723" cy="2583999"/>
            </a:xfrm>
          </p:grpSpPr>
          <p:grpSp>
            <p:nvGrpSpPr>
              <p:cNvPr id="210" name="그룹 209"/>
              <p:cNvGrpSpPr/>
              <p:nvPr/>
            </p:nvGrpSpPr>
            <p:grpSpPr>
              <a:xfrm>
                <a:off x="5842199" y="3021431"/>
                <a:ext cx="1552723" cy="495055"/>
                <a:chOff x="240907" y="2314376"/>
                <a:chExt cx="1552723" cy="495055"/>
              </a:xfrm>
            </p:grpSpPr>
            <p:sp>
              <p:nvSpPr>
                <p:cNvPr id="217" name="직사각형 216"/>
                <p:cNvSpPr/>
                <p:nvPr/>
              </p:nvSpPr>
              <p:spPr>
                <a:xfrm>
                  <a:off x="240907" y="2314376"/>
                  <a:ext cx="1552723" cy="3364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기존 기기 회수</a:t>
                  </a:r>
                </a:p>
              </p:txBody>
            </p:sp>
            <p:sp>
              <p:nvSpPr>
                <p:cNvPr id="218" name="직사각형 217"/>
                <p:cNvSpPr/>
                <p:nvPr/>
              </p:nvSpPr>
              <p:spPr>
                <a:xfrm>
                  <a:off x="240907" y="2650863"/>
                  <a:ext cx="1552723" cy="1585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Offline</a:t>
                  </a:r>
                  <a:endParaRPr lang="ko-KR" altLang="en-US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1" name="그룹 210"/>
              <p:cNvGrpSpPr/>
              <p:nvPr/>
            </p:nvGrpSpPr>
            <p:grpSpPr>
              <a:xfrm>
                <a:off x="5842199" y="3717746"/>
                <a:ext cx="1552723" cy="495055"/>
                <a:chOff x="240907" y="2314376"/>
                <a:chExt cx="1552723" cy="495055"/>
              </a:xfrm>
            </p:grpSpPr>
            <p:sp>
              <p:nvSpPr>
                <p:cNvPr id="215" name="직사각형 214"/>
                <p:cNvSpPr/>
                <p:nvPr/>
              </p:nvSpPr>
              <p:spPr>
                <a:xfrm>
                  <a:off x="240907" y="2314376"/>
                  <a:ext cx="1552723" cy="3364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새 기기 설치</a:t>
                  </a:r>
                </a:p>
              </p:txBody>
            </p:sp>
            <p:sp>
              <p:nvSpPr>
                <p:cNvPr id="216" name="직사각형 215"/>
                <p:cNvSpPr/>
                <p:nvPr/>
              </p:nvSpPr>
              <p:spPr>
                <a:xfrm>
                  <a:off x="240907" y="2650863"/>
                  <a:ext cx="1552723" cy="1585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Offline</a:t>
                  </a:r>
                  <a:endParaRPr lang="ko-KR" altLang="en-US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2" name="그룹 211"/>
              <p:cNvGrpSpPr/>
              <p:nvPr/>
            </p:nvGrpSpPr>
            <p:grpSpPr>
              <a:xfrm>
                <a:off x="5842199" y="4414061"/>
                <a:ext cx="1552723" cy="495055"/>
                <a:chOff x="240907" y="2314376"/>
                <a:chExt cx="1552723" cy="495055"/>
              </a:xfrm>
            </p:grpSpPr>
            <p:sp>
              <p:nvSpPr>
                <p:cNvPr id="213" name="직사각형 212"/>
                <p:cNvSpPr/>
                <p:nvPr/>
              </p:nvSpPr>
              <p:spPr>
                <a:xfrm>
                  <a:off x="240907" y="2314376"/>
                  <a:ext cx="1552723" cy="3364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설치 등록</a:t>
                  </a:r>
                </a:p>
              </p:txBody>
            </p:sp>
            <p:sp>
              <p:nvSpPr>
                <p:cNvPr id="214" name="직사각형 213"/>
                <p:cNvSpPr/>
                <p:nvPr/>
              </p:nvSpPr>
              <p:spPr>
                <a:xfrm>
                  <a:off x="240907" y="2650863"/>
                  <a:ext cx="1552723" cy="1585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Device Installer</a:t>
                  </a:r>
                  <a:endParaRPr lang="ko-KR" altLang="en-US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23" name="그룹 222"/>
              <p:cNvGrpSpPr/>
              <p:nvPr/>
            </p:nvGrpSpPr>
            <p:grpSpPr>
              <a:xfrm>
                <a:off x="5842199" y="5110375"/>
                <a:ext cx="1552723" cy="495055"/>
                <a:chOff x="240907" y="2314376"/>
                <a:chExt cx="1552723" cy="495055"/>
              </a:xfrm>
            </p:grpSpPr>
            <p:sp>
              <p:nvSpPr>
                <p:cNvPr id="224" name="직사각형 223"/>
                <p:cNvSpPr/>
                <p:nvPr/>
              </p:nvSpPr>
              <p:spPr>
                <a:xfrm>
                  <a:off x="240907" y="2314376"/>
                  <a:ext cx="1552723" cy="3364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기존 기기 고장 접수</a:t>
                  </a:r>
                </a:p>
              </p:txBody>
            </p:sp>
            <p:sp>
              <p:nvSpPr>
                <p:cNvPr id="225" name="직사각형 224"/>
                <p:cNvSpPr/>
                <p:nvPr/>
              </p:nvSpPr>
              <p:spPr>
                <a:xfrm>
                  <a:off x="240907" y="2650863"/>
                  <a:ext cx="1552723" cy="1585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PC</a:t>
                  </a:r>
                  <a:endParaRPr lang="ko-KR" altLang="en-US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35" name="그룹 234"/>
            <p:cNvGrpSpPr/>
            <p:nvPr/>
          </p:nvGrpSpPr>
          <p:grpSpPr>
            <a:xfrm>
              <a:off x="5842199" y="3021431"/>
              <a:ext cx="1552723" cy="495055"/>
              <a:chOff x="240907" y="2314376"/>
              <a:chExt cx="1552723" cy="495055"/>
            </a:xfrm>
          </p:grpSpPr>
          <p:sp>
            <p:nvSpPr>
              <p:cNvPr id="236" name="직사각형 235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요청 확인</a:t>
                </a:r>
              </a:p>
            </p:txBody>
          </p:sp>
          <p:sp>
            <p:nvSpPr>
              <p:cNvPr id="237" name="직사각형 236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Device Installer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70" name="직선 화살표 연결선 269"/>
            <p:cNvCxnSpPr>
              <a:stCxn id="222" idx="2"/>
              <a:endCxn id="219" idx="0"/>
            </p:cNvCxnSpPr>
            <p:nvPr/>
          </p:nvCxnSpPr>
          <p:spPr>
            <a:xfrm>
              <a:off x="6618561" y="2123856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직선 화살표 연결선 271"/>
            <p:cNvCxnSpPr>
              <a:stCxn id="220" idx="2"/>
              <a:endCxn id="236" idx="0"/>
            </p:cNvCxnSpPr>
            <p:nvPr/>
          </p:nvCxnSpPr>
          <p:spPr>
            <a:xfrm>
              <a:off x="6618561" y="2820171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직선 화살표 연결선 272"/>
            <p:cNvCxnSpPr>
              <a:stCxn id="237" idx="2"/>
              <a:endCxn id="217" idx="0"/>
            </p:cNvCxnSpPr>
            <p:nvPr/>
          </p:nvCxnSpPr>
          <p:spPr>
            <a:xfrm>
              <a:off x="6618561" y="3516486"/>
              <a:ext cx="0" cy="199834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화살표 연결선 276"/>
            <p:cNvCxnSpPr>
              <a:stCxn id="218" idx="2"/>
              <a:endCxn id="215" idx="0"/>
            </p:cNvCxnSpPr>
            <p:nvPr/>
          </p:nvCxnSpPr>
          <p:spPr>
            <a:xfrm>
              <a:off x="6618561" y="4211375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직선 화살표 연결선 278"/>
            <p:cNvCxnSpPr>
              <a:stCxn id="216" idx="2"/>
              <a:endCxn id="213" idx="0"/>
            </p:cNvCxnSpPr>
            <p:nvPr/>
          </p:nvCxnSpPr>
          <p:spPr>
            <a:xfrm>
              <a:off x="6618561" y="4907690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직선 화살표 연결선 280"/>
            <p:cNvCxnSpPr>
              <a:stCxn id="214" idx="2"/>
              <a:endCxn id="224" idx="0"/>
            </p:cNvCxnSpPr>
            <p:nvPr/>
          </p:nvCxnSpPr>
          <p:spPr>
            <a:xfrm>
              <a:off x="6618561" y="5604005"/>
              <a:ext cx="0" cy="201259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0" name="TextBox 289"/>
          <p:cNvSpPr txBox="1"/>
          <p:nvPr/>
        </p:nvSpPr>
        <p:spPr>
          <a:xfrm>
            <a:off x="7797235" y="815040"/>
            <a:ext cx="190829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u="sng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특이사항</a:t>
            </a:r>
            <a:endParaRPr lang="en-US" altLang="ko-KR" sz="800" u="sng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endParaRPr lang="en-US" altLang="ko-KR" sz="8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꺼짐과 분실은 구분하기 어렵기 때문에 현장 확인 과정 필요</a:t>
            </a:r>
            <a:endParaRPr lang="en-US" altLang="ko-KR" sz="8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고정형 </a:t>
            </a:r>
            <a:r>
              <a:rPr lang="en-US" altLang="ko-KR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AP</a:t>
            </a:r>
            <a:r>
              <a:rPr lang="ko-KR" altLang="en-US" sz="80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는 전원을 연결하는 방식이기 때문에 배터리 상태 알림이 필요 없음</a:t>
            </a:r>
            <a:endParaRPr lang="en-US" altLang="ko-KR" sz="8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293" name="직선 화살표 연결선 292"/>
          <p:cNvCxnSpPr>
            <a:stCxn id="137" idx="2"/>
            <a:endCxn id="109" idx="0"/>
          </p:cNvCxnSpPr>
          <p:nvPr/>
        </p:nvCxnSpPr>
        <p:spPr>
          <a:xfrm>
            <a:off x="2884366" y="2820171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531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205485" y="36675"/>
            <a:ext cx="3759812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Work Process</a:t>
            </a:r>
          </a:p>
          <a:p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Device </a:t>
            </a:r>
            <a:r>
              <a:rPr lang="ko-KR" altLang="en-US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유지보수 </a:t>
            </a:r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이동형 </a:t>
            </a:r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AP : </a:t>
            </a:r>
            <a:r>
              <a:rPr lang="ko-KR" altLang="en-US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중장비</a:t>
            </a:r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</p:txBody>
      </p:sp>
      <p:grpSp>
        <p:nvGrpSpPr>
          <p:cNvPr id="288" name="그룹 287"/>
          <p:cNvGrpSpPr/>
          <p:nvPr/>
        </p:nvGrpSpPr>
        <p:grpSpPr>
          <a:xfrm>
            <a:off x="240907" y="1215368"/>
            <a:ext cx="1552723" cy="3693748"/>
            <a:chOff x="240907" y="1215368"/>
            <a:chExt cx="1552723" cy="3693748"/>
          </a:xfrm>
        </p:grpSpPr>
        <p:grpSp>
          <p:nvGrpSpPr>
            <p:cNvPr id="5" name="그룹 4"/>
            <p:cNvGrpSpPr/>
            <p:nvPr/>
          </p:nvGrpSpPr>
          <p:grpSpPr>
            <a:xfrm>
              <a:off x="240907" y="1628800"/>
              <a:ext cx="1552723" cy="495056"/>
              <a:chOff x="240907" y="1628800"/>
              <a:chExt cx="1552723" cy="495056"/>
            </a:xfrm>
          </p:grpSpPr>
          <p:sp>
            <p:nvSpPr>
              <p:cNvPr id="51" name="직사각형 50"/>
              <p:cNvSpPr/>
              <p:nvPr/>
            </p:nvSpPr>
            <p:spPr>
              <a:xfrm>
                <a:off x="240907" y="1628800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배터리 적음 알림</a:t>
                </a: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240907" y="1965288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 / Device Installer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" name="그룹 2"/>
            <p:cNvGrpSpPr/>
            <p:nvPr/>
          </p:nvGrpSpPr>
          <p:grpSpPr>
            <a:xfrm>
              <a:off x="240907" y="2325116"/>
              <a:ext cx="1552723" cy="495055"/>
              <a:chOff x="240907" y="2314376"/>
              <a:chExt cx="1552723" cy="495055"/>
            </a:xfrm>
          </p:grpSpPr>
          <p:sp>
            <p:nvSpPr>
              <p:cNvPr id="53" name="직사각형 52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배터리 교체 요청</a:t>
                </a: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240907" y="1215368"/>
              <a:ext cx="1552723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배터리 적음</a:t>
              </a:r>
            </a:p>
          </p:txBody>
        </p:sp>
        <p:grpSp>
          <p:nvGrpSpPr>
            <p:cNvPr id="108" name="그룹 107"/>
            <p:cNvGrpSpPr/>
            <p:nvPr/>
          </p:nvGrpSpPr>
          <p:grpSpPr>
            <a:xfrm>
              <a:off x="240907" y="3021431"/>
              <a:ext cx="1552723" cy="495055"/>
              <a:chOff x="240907" y="2314376"/>
              <a:chExt cx="1552723" cy="495055"/>
            </a:xfrm>
          </p:grpSpPr>
          <p:sp>
            <p:nvSpPr>
              <p:cNvPr id="109" name="직사각형 108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요청 확인</a:t>
                </a:r>
              </a:p>
            </p:txBody>
          </p:sp>
          <p:sp>
            <p:nvSpPr>
              <p:cNvPr id="110" name="직사각형 109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Device Installer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7" name="그룹 116"/>
            <p:cNvGrpSpPr/>
            <p:nvPr/>
          </p:nvGrpSpPr>
          <p:grpSpPr>
            <a:xfrm>
              <a:off x="240907" y="3717746"/>
              <a:ext cx="1552723" cy="495055"/>
              <a:chOff x="240907" y="2314376"/>
              <a:chExt cx="1552723" cy="495055"/>
            </a:xfrm>
          </p:grpSpPr>
          <p:sp>
            <p:nvSpPr>
              <p:cNvPr id="118" name="직사각형 117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배터리 교체</a:t>
                </a:r>
              </a:p>
            </p:txBody>
          </p:sp>
          <p:sp>
            <p:nvSpPr>
              <p:cNvPr id="119" name="직사각형 118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Offline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0" name="그룹 119"/>
            <p:cNvGrpSpPr/>
            <p:nvPr/>
          </p:nvGrpSpPr>
          <p:grpSpPr>
            <a:xfrm>
              <a:off x="240907" y="4414061"/>
              <a:ext cx="1552723" cy="495055"/>
              <a:chOff x="240907" y="2314376"/>
              <a:chExt cx="1552723" cy="495055"/>
            </a:xfrm>
          </p:grpSpPr>
          <p:sp>
            <p:nvSpPr>
              <p:cNvPr id="121" name="직사각형 120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배터리 교체 확인</a:t>
                </a:r>
              </a:p>
            </p:txBody>
          </p:sp>
          <p:sp>
            <p:nvSpPr>
              <p:cNvPr id="122" name="직사각형 121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 / Device Installer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8" name="직선 화살표 연결선 17"/>
            <p:cNvCxnSpPr>
              <a:stCxn id="52" idx="2"/>
              <a:endCxn id="53" idx="0"/>
            </p:cNvCxnSpPr>
            <p:nvPr/>
          </p:nvCxnSpPr>
          <p:spPr>
            <a:xfrm>
              <a:off x="1017269" y="2123856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/>
            <p:cNvCxnSpPr>
              <a:stCxn id="54" idx="2"/>
              <a:endCxn id="109" idx="0"/>
            </p:cNvCxnSpPr>
            <p:nvPr/>
          </p:nvCxnSpPr>
          <p:spPr>
            <a:xfrm>
              <a:off x="1017269" y="2820171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/>
            <p:cNvCxnSpPr>
              <a:stCxn id="110" idx="2"/>
              <a:endCxn id="118" idx="0"/>
            </p:cNvCxnSpPr>
            <p:nvPr/>
          </p:nvCxnSpPr>
          <p:spPr>
            <a:xfrm>
              <a:off x="1017269" y="3516486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/>
            <p:cNvCxnSpPr>
              <a:stCxn id="119" idx="2"/>
              <a:endCxn id="121" idx="0"/>
            </p:cNvCxnSpPr>
            <p:nvPr/>
          </p:nvCxnSpPr>
          <p:spPr>
            <a:xfrm>
              <a:off x="1017269" y="4212801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7" name="그룹 286"/>
          <p:cNvGrpSpPr/>
          <p:nvPr/>
        </p:nvGrpSpPr>
        <p:grpSpPr>
          <a:xfrm>
            <a:off x="2108004" y="1215368"/>
            <a:ext cx="1552723" cy="1604803"/>
            <a:chOff x="2108004" y="1215368"/>
            <a:chExt cx="1552723" cy="1604803"/>
          </a:xfrm>
        </p:grpSpPr>
        <p:grpSp>
          <p:nvGrpSpPr>
            <p:cNvPr id="124" name="그룹 123"/>
            <p:cNvGrpSpPr/>
            <p:nvPr/>
          </p:nvGrpSpPr>
          <p:grpSpPr>
            <a:xfrm>
              <a:off x="2108004" y="1628800"/>
              <a:ext cx="1552723" cy="495056"/>
              <a:chOff x="240907" y="1628800"/>
              <a:chExt cx="1552723" cy="495056"/>
            </a:xfrm>
          </p:grpSpPr>
          <p:sp>
            <p:nvSpPr>
              <p:cNvPr id="138" name="직사각형 137"/>
              <p:cNvSpPr/>
              <p:nvPr/>
            </p:nvSpPr>
            <p:spPr>
              <a:xfrm>
                <a:off x="240907" y="1628800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꺼짐 </a:t>
                </a:r>
                <a:r>
                  <a:rPr lang="en-US" altLang="ko-KR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/ </a:t>
                </a:r>
                <a:r>
                  <a:rPr lang="ko-KR" altLang="en-US" sz="80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분실 </a:t>
                </a:r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알림</a:t>
                </a:r>
              </a:p>
            </p:txBody>
          </p:sp>
          <p:sp>
            <p:nvSpPr>
              <p:cNvPr id="139" name="직사각형 138"/>
              <p:cNvSpPr/>
              <p:nvPr/>
            </p:nvSpPr>
            <p:spPr>
              <a:xfrm>
                <a:off x="240907" y="1965288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 / Device Installer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5" name="그룹 124"/>
            <p:cNvGrpSpPr/>
            <p:nvPr/>
          </p:nvGrpSpPr>
          <p:grpSpPr>
            <a:xfrm>
              <a:off x="2108004" y="2325116"/>
              <a:ext cx="1552723" cy="495055"/>
              <a:chOff x="240907" y="2314376"/>
              <a:chExt cx="1552723" cy="495055"/>
            </a:xfrm>
          </p:grpSpPr>
          <p:sp>
            <p:nvSpPr>
              <p:cNvPr id="136" name="직사각형 135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현장 확인 요청</a:t>
                </a:r>
              </a:p>
            </p:txBody>
          </p:sp>
          <p:sp>
            <p:nvSpPr>
              <p:cNvPr id="137" name="직사각형 136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6" name="TextBox 125"/>
            <p:cNvSpPr txBox="1"/>
            <p:nvPr/>
          </p:nvSpPr>
          <p:spPr>
            <a:xfrm>
              <a:off x="2108004" y="1215368"/>
              <a:ext cx="1552723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꺼짐</a:t>
              </a:r>
            </a:p>
          </p:txBody>
        </p:sp>
        <p:cxnSp>
          <p:nvCxnSpPr>
            <p:cNvPr id="227" name="직선 화살표 연결선 226"/>
            <p:cNvCxnSpPr>
              <a:stCxn id="139" idx="2"/>
              <a:endCxn id="136" idx="0"/>
            </p:cNvCxnSpPr>
            <p:nvPr/>
          </p:nvCxnSpPr>
          <p:spPr>
            <a:xfrm>
              <a:off x="2884366" y="2123856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9" name="꺾인 연결선 238"/>
          <p:cNvCxnSpPr>
            <a:stCxn id="137" idx="2"/>
            <a:endCxn id="109" idx="3"/>
          </p:cNvCxnSpPr>
          <p:nvPr/>
        </p:nvCxnSpPr>
        <p:spPr>
          <a:xfrm rot="5400000">
            <a:off x="2154246" y="2459555"/>
            <a:ext cx="369504" cy="1090736"/>
          </a:xfrm>
          <a:prstGeom prst="bentConnector2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136" idx="3"/>
            <a:endCxn id="262" idx="0"/>
          </p:cNvCxnSpPr>
          <p:nvPr/>
        </p:nvCxnSpPr>
        <p:spPr>
          <a:xfrm>
            <a:off x="3660727" y="2493360"/>
            <a:ext cx="1090736" cy="528071"/>
          </a:xfrm>
          <a:prstGeom prst="bentConnector2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6" name="그룹 285"/>
          <p:cNvGrpSpPr/>
          <p:nvPr/>
        </p:nvGrpSpPr>
        <p:grpSpPr>
          <a:xfrm>
            <a:off x="3975101" y="1215368"/>
            <a:ext cx="1552724" cy="4390062"/>
            <a:chOff x="3975100" y="1215368"/>
            <a:chExt cx="1552724" cy="4390062"/>
          </a:xfrm>
        </p:grpSpPr>
        <p:grpSp>
          <p:nvGrpSpPr>
            <p:cNvPr id="12" name="그룹 11"/>
            <p:cNvGrpSpPr/>
            <p:nvPr/>
          </p:nvGrpSpPr>
          <p:grpSpPr>
            <a:xfrm>
              <a:off x="3975101" y="1215368"/>
              <a:ext cx="1552723" cy="4390062"/>
              <a:chOff x="4006371" y="1215368"/>
              <a:chExt cx="1552723" cy="4390062"/>
            </a:xfrm>
          </p:grpSpPr>
          <p:sp>
            <p:nvSpPr>
              <p:cNvPr id="143" name="TextBox 142"/>
              <p:cNvSpPr txBox="1"/>
              <p:nvPr/>
            </p:nvSpPr>
            <p:spPr>
              <a:xfrm>
                <a:off x="4006371" y="1215368"/>
                <a:ext cx="1552723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10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</a:rPr>
                  <a:t>분실</a:t>
                </a:r>
              </a:p>
            </p:txBody>
          </p:sp>
          <p:grpSp>
            <p:nvGrpSpPr>
              <p:cNvPr id="145" name="그룹 144"/>
              <p:cNvGrpSpPr/>
              <p:nvPr/>
            </p:nvGrpSpPr>
            <p:grpSpPr>
              <a:xfrm>
                <a:off x="4006371" y="3717746"/>
                <a:ext cx="1552723" cy="495055"/>
                <a:chOff x="240907" y="2314376"/>
                <a:chExt cx="1552723" cy="495055"/>
              </a:xfrm>
            </p:grpSpPr>
            <p:sp>
              <p:nvSpPr>
                <p:cNvPr id="149" name="직사각형 148"/>
                <p:cNvSpPr/>
                <p:nvPr/>
              </p:nvSpPr>
              <p:spPr>
                <a:xfrm>
                  <a:off x="240907" y="2314376"/>
                  <a:ext cx="1552723" cy="3364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새 기기 설치</a:t>
                  </a:r>
                </a:p>
              </p:txBody>
            </p:sp>
            <p:sp>
              <p:nvSpPr>
                <p:cNvPr id="150" name="직사각형 149"/>
                <p:cNvSpPr/>
                <p:nvPr/>
              </p:nvSpPr>
              <p:spPr>
                <a:xfrm>
                  <a:off x="240907" y="2650863"/>
                  <a:ext cx="1552723" cy="1585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Offline</a:t>
                  </a:r>
                  <a:endParaRPr lang="ko-KR" altLang="en-US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6" name="그룹 145"/>
              <p:cNvGrpSpPr/>
              <p:nvPr/>
            </p:nvGrpSpPr>
            <p:grpSpPr>
              <a:xfrm>
                <a:off x="4006371" y="4414061"/>
                <a:ext cx="1552723" cy="495055"/>
                <a:chOff x="240907" y="2314376"/>
                <a:chExt cx="1552723" cy="495055"/>
              </a:xfrm>
            </p:grpSpPr>
            <p:sp>
              <p:nvSpPr>
                <p:cNvPr id="147" name="직사각형 146"/>
                <p:cNvSpPr/>
                <p:nvPr/>
              </p:nvSpPr>
              <p:spPr>
                <a:xfrm>
                  <a:off x="240907" y="2314376"/>
                  <a:ext cx="1552723" cy="3364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설치 등록</a:t>
                  </a:r>
                </a:p>
              </p:txBody>
            </p:sp>
            <p:sp>
              <p:nvSpPr>
                <p:cNvPr id="148" name="직사각형 147"/>
                <p:cNvSpPr/>
                <p:nvPr/>
              </p:nvSpPr>
              <p:spPr>
                <a:xfrm>
                  <a:off x="240907" y="2650863"/>
                  <a:ext cx="1552723" cy="1585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Device Installer</a:t>
                  </a:r>
                  <a:endParaRPr lang="ko-KR" altLang="en-US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74" name="그룹 173"/>
              <p:cNvGrpSpPr/>
              <p:nvPr/>
            </p:nvGrpSpPr>
            <p:grpSpPr>
              <a:xfrm>
                <a:off x="4006371" y="5110375"/>
                <a:ext cx="1552723" cy="495055"/>
                <a:chOff x="240907" y="2314376"/>
                <a:chExt cx="1552723" cy="495055"/>
              </a:xfrm>
            </p:grpSpPr>
            <p:sp>
              <p:nvSpPr>
                <p:cNvPr id="175" name="직사각형 174"/>
                <p:cNvSpPr/>
                <p:nvPr/>
              </p:nvSpPr>
              <p:spPr>
                <a:xfrm>
                  <a:off x="240907" y="2314376"/>
                  <a:ext cx="1552723" cy="336488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기기 추가 주문</a:t>
                  </a:r>
                </a:p>
              </p:txBody>
            </p:sp>
            <p:sp>
              <p:nvSpPr>
                <p:cNvPr id="176" name="직사각형 175"/>
                <p:cNvSpPr/>
                <p:nvPr/>
              </p:nvSpPr>
              <p:spPr>
                <a:xfrm>
                  <a:off x="240907" y="2650863"/>
                  <a:ext cx="1552723" cy="15856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prstClr val="black"/>
                      </a:solidFill>
                      <a:latin typeface="NanumBarunGothic" panose="020B0603020101020101" pitchFamily="34" charset="-127"/>
                      <a:ea typeface="NanumBarunGothic" panose="020B0603020101020101" pitchFamily="34" charset="-127"/>
                      <a:cs typeface="Arial" panose="020B0604020202020204" pitchFamily="34" charset="0"/>
                    </a:rPr>
                    <a:t>PC</a:t>
                  </a:r>
                  <a:endParaRPr lang="ko-KR" altLang="en-US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61" name="그룹 260"/>
            <p:cNvGrpSpPr/>
            <p:nvPr/>
          </p:nvGrpSpPr>
          <p:grpSpPr>
            <a:xfrm>
              <a:off x="3975100" y="3021431"/>
              <a:ext cx="1552723" cy="495055"/>
              <a:chOff x="240907" y="2314376"/>
              <a:chExt cx="1552723" cy="495055"/>
            </a:xfrm>
          </p:grpSpPr>
          <p:sp>
            <p:nvSpPr>
              <p:cNvPr id="262" name="직사각형 261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요청 확인</a:t>
                </a:r>
              </a:p>
            </p:txBody>
          </p:sp>
          <p:sp>
            <p:nvSpPr>
              <p:cNvPr id="263" name="직사각형 262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Device Installer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39" name="직선 화살표 연결선 38"/>
            <p:cNvCxnSpPr>
              <a:stCxn id="263" idx="2"/>
              <a:endCxn id="149" idx="0"/>
            </p:cNvCxnSpPr>
            <p:nvPr/>
          </p:nvCxnSpPr>
          <p:spPr>
            <a:xfrm>
              <a:off x="4751462" y="3516486"/>
              <a:ext cx="1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직선 화살표 연결선 264"/>
            <p:cNvCxnSpPr>
              <a:stCxn id="150" idx="2"/>
              <a:endCxn id="147" idx="0"/>
            </p:cNvCxnSpPr>
            <p:nvPr/>
          </p:nvCxnSpPr>
          <p:spPr>
            <a:xfrm>
              <a:off x="4751463" y="4212801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직선 화살표 연결선 265"/>
            <p:cNvCxnSpPr>
              <a:stCxn id="148" idx="2"/>
              <a:endCxn id="175" idx="0"/>
            </p:cNvCxnSpPr>
            <p:nvPr/>
          </p:nvCxnSpPr>
          <p:spPr>
            <a:xfrm>
              <a:off x="4751463" y="4909116"/>
              <a:ext cx="0" cy="201259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" name="그룹 206"/>
          <p:cNvGrpSpPr/>
          <p:nvPr/>
        </p:nvGrpSpPr>
        <p:grpSpPr>
          <a:xfrm>
            <a:off x="5842199" y="1628800"/>
            <a:ext cx="1552723" cy="495056"/>
            <a:chOff x="240907" y="1628800"/>
            <a:chExt cx="1552723" cy="495056"/>
          </a:xfrm>
        </p:grpSpPr>
        <p:sp>
          <p:nvSpPr>
            <p:cNvPr id="221" name="직사각형 220"/>
            <p:cNvSpPr/>
            <p:nvPr/>
          </p:nvSpPr>
          <p:spPr>
            <a:xfrm>
              <a:off x="240907" y="1628800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고장 알림</a:t>
              </a:r>
            </a:p>
          </p:txBody>
        </p:sp>
        <p:sp>
          <p:nvSpPr>
            <p:cNvPr id="222" name="직사각형 221"/>
            <p:cNvSpPr/>
            <p:nvPr/>
          </p:nvSpPr>
          <p:spPr>
            <a:xfrm>
              <a:off x="240907" y="1965288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 / Device Installer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08" name="그룹 207"/>
          <p:cNvGrpSpPr/>
          <p:nvPr/>
        </p:nvGrpSpPr>
        <p:grpSpPr>
          <a:xfrm>
            <a:off x="5842199" y="2325116"/>
            <a:ext cx="1552723" cy="495055"/>
            <a:chOff x="240907" y="2314376"/>
            <a:chExt cx="1552723" cy="495055"/>
          </a:xfrm>
        </p:grpSpPr>
        <p:sp>
          <p:nvSpPr>
            <p:cNvPr id="219" name="직사각형 218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기기 교체 요청</a:t>
              </a:r>
            </a:p>
          </p:txBody>
        </p:sp>
        <p:sp>
          <p:nvSpPr>
            <p:cNvPr id="220" name="직사각형 219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209" name="TextBox 208"/>
          <p:cNvSpPr txBox="1"/>
          <p:nvPr/>
        </p:nvSpPr>
        <p:spPr>
          <a:xfrm>
            <a:off x="5842199" y="1215368"/>
            <a:ext cx="15527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고장</a:t>
            </a:r>
          </a:p>
        </p:txBody>
      </p:sp>
      <p:grpSp>
        <p:nvGrpSpPr>
          <p:cNvPr id="210" name="그룹 209"/>
          <p:cNvGrpSpPr/>
          <p:nvPr/>
        </p:nvGrpSpPr>
        <p:grpSpPr>
          <a:xfrm>
            <a:off x="5842199" y="3716320"/>
            <a:ext cx="1552723" cy="495055"/>
            <a:chOff x="240907" y="2314376"/>
            <a:chExt cx="1552723" cy="495055"/>
          </a:xfrm>
        </p:grpSpPr>
        <p:sp>
          <p:nvSpPr>
            <p:cNvPr id="217" name="직사각형 216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기존 기기 회수</a:t>
              </a:r>
            </a:p>
          </p:txBody>
        </p:sp>
        <p:sp>
          <p:nvSpPr>
            <p:cNvPr id="218" name="직사각형 217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11" name="그룹 210"/>
          <p:cNvGrpSpPr/>
          <p:nvPr/>
        </p:nvGrpSpPr>
        <p:grpSpPr>
          <a:xfrm>
            <a:off x="5842199" y="4412635"/>
            <a:ext cx="1552723" cy="495055"/>
            <a:chOff x="240907" y="2314376"/>
            <a:chExt cx="1552723" cy="495055"/>
          </a:xfrm>
        </p:grpSpPr>
        <p:sp>
          <p:nvSpPr>
            <p:cNvPr id="215" name="직사각형 214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새 기기 설치</a:t>
              </a:r>
            </a:p>
          </p:txBody>
        </p:sp>
        <p:sp>
          <p:nvSpPr>
            <p:cNvPr id="216" name="직사각형 215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12" name="그룹 211"/>
          <p:cNvGrpSpPr/>
          <p:nvPr/>
        </p:nvGrpSpPr>
        <p:grpSpPr>
          <a:xfrm>
            <a:off x="5842199" y="5108950"/>
            <a:ext cx="1552723" cy="495055"/>
            <a:chOff x="240907" y="2314376"/>
            <a:chExt cx="1552723" cy="495055"/>
          </a:xfrm>
        </p:grpSpPr>
        <p:sp>
          <p:nvSpPr>
            <p:cNvPr id="213" name="직사각형 212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설치 등록</a:t>
              </a:r>
            </a:p>
          </p:txBody>
        </p:sp>
        <p:sp>
          <p:nvSpPr>
            <p:cNvPr id="214" name="직사각형 213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Device Installer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23" name="그룹 222"/>
          <p:cNvGrpSpPr/>
          <p:nvPr/>
        </p:nvGrpSpPr>
        <p:grpSpPr>
          <a:xfrm>
            <a:off x="5842199" y="5805264"/>
            <a:ext cx="1552723" cy="495055"/>
            <a:chOff x="240907" y="2314376"/>
            <a:chExt cx="1552723" cy="495055"/>
          </a:xfrm>
        </p:grpSpPr>
        <p:sp>
          <p:nvSpPr>
            <p:cNvPr id="224" name="직사각형 223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기존 기기 고장 접수</a:t>
              </a:r>
            </a:p>
          </p:txBody>
        </p:sp>
        <p:sp>
          <p:nvSpPr>
            <p:cNvPr id="225" name="직사각형 224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35" name="그룹 234"/>
          <p:cNvGrpSpPr/>
          <p:nvPr/>
        </p:nvGrpSpPr>
        <p:grpSpPr>
          <a:xfrm>
            <a:off x="5842199" y="3021431"/>
            <a:ext cx="1552723" cy="495055"/>
            <a:chOff x="240907" y="2314376"/>
            <a:chExt cx="1552723" cy="495055"/>
          </a:xfrm>
        </p:grpSpPr>
        <p:sp>
          <p:nvSpPr>
            <p:cNvPr id="236" name="직사각형 235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요청 확인</a:t>
              </a:r>
            </a:p>
          </p:txBody>
        </p:sp>
        <p:sp>
          <p:nvSpPr>
            <p:cNvPr id="237" name="직사각형 236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Device Installer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270" name="직선 화살표 연결선 269"/>
          <p:cNvCxnSpPr>
            <a:stCxn id="222" idx="2"/>
            <a:endCxn id="219" idx="0"/>
          </p:cNvCxnSpPr>
          <p:nvPr/>
        </p:nvCxnSpPr>
        <p:spPr>
          <a:xfrm>
            <a:off x="6618561" y="2123856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화살표 연결선 271"/>
          <p:cNvCxnSpPr>
            <a:stCxn id="220" idx="2"/>
            <a:endCxn id="236" idx="0"/>
          </p:cNvCxnSpPr>
          <p:nvPr/>
        </p:nvCxnSpPr>
        <p:spPr>
          <a:xfrm>
            <a:off x="6618561" y="2820171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화살표 연결선 272"/>
          <p:cNvCxnSpPr>
            <a:stCxn id="237" idx="2"/>
            <a:endCxn id="217" idx="0"/>
          </p:cNvCxnSpPr>
          <p:nvPr/>
        </p:nvCxnSpPr>
        <p:spPr>
          <a:xfrm>
            <a:off x="6618561" y="3516486"/>
            <a:ext cx="0" cy="199834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화살표 연결선 276"/>
          <p:cNvCxnSpPr>
            <a:stCxn id="218" idx="2"/>
            <a:endCxn id="215" idx="0"/>
          </p:cNvCxnSpPr>
          <p:nvPr/>
        </p:nvCxnSpPr>
        <p:spPr>
          <a:xfrm>
            <a:off x="6618561" y="4211375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화살표 연결선 278"/>
          <p:cNvCxnSpPr>
            <a:stCxn id="216" idx="2"/>
            <a:endCxn id="213" idx="0"/>
          </p:cNvCxnSpPr>
          <p:nvPr/>
        </p:nvCxnSpPr>
        <p:spPr>
          <a:xfrm>
            <a:off x="6618561" y="4907690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직선 화살표 연결선 280"/>
          <p:cNvCxnSpPr>
            <a:stCxn id="214" idx="2"/>
            <a:endCxn id="224" idx="0"/>
          </p:cNvCxnSpPr>
          <p:nvPr/>
        </p:nvCxnSpPr>
        <p:spPr>
          <a:xfrm>
            <a:off x="6618561" y="5604005"/>
            <a:ext cx="0" cy="201259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/>
          <p:cNvSpPr txBox="1"/>
          <p:nvPr/>
        </p:nvSpPr>
        <p:spPr>
          <a:xfrm>
            <a:off x="7797235" y="815040"/>
            <a:ext cx="190829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u="sng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특이사항</a:t>
            </a:r>
            <a:endParaRPr lang="en-US" altLang="ko-KR" sz="800" u="sng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endParaRPr lang="en-US" altLang="ko-KR" sz="8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꺼짐과 분실은 구분하기 어렵기 때문에 현장 확인 과정 필요</a:t>
            </a:r>
            <a:endParaRPr lang="en-US" altLang="ko-KR" sz="8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3387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205485" y="36675"/>
            <a:ext cx="2842894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Work Process</a:t>
            </a:r>
          </a:p>
          <a:p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Device </a:t>
            </a:r>
            <a:r>
              <a:rPr lang="ko-KR" altLang="en-US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유지보수 </a:t>
            </a:r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가스센서</a:t>
            </a:r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240907" y="1628800"/>
            <a:ext cx="1552723" cy="495056"/>
            <a:chOff x="240907" y="1628800"/>
            <a:chExt cx="1552723" cy="495056"/>
          </a:xfrm>
        </p:grpSpPr>
        <p:sp>
          <p:nvSpPr>
            <p:cNvPr id="51" name="직사각형 50"/>
            <p:cNvSpPr/>
            <p:nvPr/>
          </p:nvSpPr>
          <p:spPr>
            <a:xfrm>
              <a:off x="240907" y="1628800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배터리 적음 알림</a:t>
              </a: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240907" y="1965288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AP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240907" y="2325116"/>
            <a:ext cx="1552723" cy="495055"/>
            <a:chOff x="240907" y="2314376"/>
            <a:chExt cx="1552723" cy="495055"/>
          </a:xfrm>
        </p:grpSpPr>
        <p:sp>
          <p:nvSpPr>
            <p:cNvPr id="53" name="직사각형 52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배터리 교체</a:t>
              </a: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240907" y="1215368"/>
            <a:ext cx="15527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배터리 적음</a:t>
            </a:r>
          </a:p>
        </p:txBody>
      </p:sp>
      <p:cxnSp>
        <p:nvCxnSpPr>
          <p:cNvPr id="18" name="직선 화살표 연결선 17"/>
          <p:cNvCxnSpPr>
            <a:stCxn id="52" idx="2"/>
            <a:endCxn id="53" idx="0"/>
          </p:cNvCxnSpPr>
          <p:nvPr/>
        </p:nvCxnSpPr>
        <p:spPr>
          <a:xfrm>
            <a:off x="1017269" y="2123856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그룹 126"/>
          <p:cNvGrpSpPr/>
          <p:nvPr/>
        </p:nvGrpSpPr>
        <p:grpSpPr>
          <a:xfrm>
            <a:off x="2108004" y="1628800"/>
            <a:ext cx="1552723" cy="495056"/>
            <a:chOff x="240907" y="1628800"/>
            <a:chExt cx="1552723" cy="495056"/>
          </a:xfrm>
        </p:grpSpPr>
        <p:sp>
          <p:nvSpPr>
            <p:cNvPr id="156" name="직사각형 155"/>
            <p:cNvSpPr/>
            <p:nvPr/>
          </p:nvSpPr>
          <p:spPr>
            <a:xfrm>
              <a:off x="240907" y="1628800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카트리지 적음 알림</a:t>
              </a: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240907" y="1965288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AP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28" name="그룹 127"/>
          <p:cNvGrpSpPr/>
          <p:nvPr/>
        </p:nvGrpSpPr>
        <p:grpSpPr>
          <a:xfrm>
            <a:off x="2108004" y="2325116"/>
            <a:ext cx="1552723" cy="495055"/>
            <a:chOff x="240907" y="2314376"/>
            <a:chExt cx="1552723" cy="495055"/>
          </a:xfrm>
        </p:grpSpPr>
        <p:sp>
          <p:nvSpPr>
            <p:cNvPr id="154" name="직사각형 153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카트리지 교체</a:t>
              </a:r>
            </a:p>
          </p:txBody>
        </p:sp>
        <p:sp>
          <p:nvSpPr>
            <p:cNvPr id="155" name="직사각형 154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129" name="TextBox 128"/>
          <p:cNvSpPr txBox="1"/>
          <p:nvPr/>
        </p:nvSpPr>
        <p:spPr>
          <a:xfrm>
            <a:off x="2108004" y="1215368"/>
            <a:ext cx="15527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센서 카트리지 적음</a:t>
            </a:r>
          </a:p>
        </p:txBody>
      </p:sp>
      <p:cxnSp>
        <p:nvCxnSpPr>
          <p:cNvPr id="133" name="직선 화살표 연결선 132"/>
          <p:cNvCxnSpPr>
            <a:stCxn id="157" idx="2"/>
            <a:endCxn id="154" idx="0"/>
          </p:cNvCxnSpPr>
          <p:nvPr/>
        </p:nvCxnSpPr>
        <p:spPr>
          <a:xfrm>
            <a:off x="2884366" y="2123856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7797235" y="815040"/>
            <a:ext cx="1908293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u="sng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특이사항</a:t>
            </a:r>
            <a:endParaRPr lang="en-US" altLang="ko-KR" sz="800" u="sng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endParaRPr lang="en-US" altLang="ko-KR" sz="8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가스센서는 작업 도중에만 사용하고 작업자의 가시거리 내에 있기 때문에 꺼짐</a:t>
            </a:r>
            <a:r>
              <a:rPr lang="en-US" altLang="ko-KR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80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분실</a:t>
            </a:r>
            <a:r>
              <a:rPr lang="en-US" altLang="ko-KR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80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고장에 대한 알림이 필요 없음</a:t>
            </a:r>
            <a:endParaRPr lang="en-US" altLang="ko-KR" sz="8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가스센서는 작업자의 가시거리 내에 있기 때문에 배터리 적음 상태는 </a:t>
            </a:r>
            <a:r>
              <a:rPr lang="en-US" altLang="ko-KR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AP</a:t>
            </a:r>
            <a:r>
              <a:rPr lang="ko-KR" altLang="en-US" sz="80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를 통해 음성 안내</a:t>
            </a:r>
            <a:endParaRPr lang="en-US" altLang="ko-KR" sz="8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분실과 고장은 작업자가 직접 보고하는 방식</a:t>
            </a:r>
            <a:endParaRPr lang="en-US" altLang="ko-KR" sz="8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3975102" y="1215368"/>
            <a:ext cx="15527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분실</a:t>
            </a:r>
          </a:p>
        </p:txBody>
      </p:sp>
      <p:grpSp>
        <p:nvGrpSpPr>
          <p:cNvPr id="171" name="그룹 170"/>
          <p:cNvGrpSpPr/>
          <p:nvPr/>
        </p:nvGrpSpPr>
        <p:grpSpPr>
          <a:xfrm>
            <a:off x="5842199" y="1628800"/>
            <a:ext cx="1552723" cy="495056"/>
            <a:chOff x="240907" y="1628800"/>
            <a:chExt cx="1552723" cy="495056"/>
          </a:xfrm>
        </p:grpSpPr>
        <p:sp>
          <p:nvSpPr>
            <p:cNvPr id="172" name="직사각형 171"/>
            <p:cNvSpPr/>
            <p:nvPr/>
          </p:nvSpPr>
          <p:spPr>
            <a:xfrm>
              <a:off x="240907" y="1628800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고장 보고</a:t>
              </a:r>
            </a:p>
          </p:txBody>
        </p:sp>
        <p:sp>
          <p:nvSpPr>
            <p:cNvPr id="173" name="직사각형 172"/>
            <p:cNvSpPr/>
            <p:nvPr/>
          </p:nvSpPr>
          <p:spPr>
            <a:xfrm>
              <a:off x="240907" y="1965288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77" name="그룹 176"/>
          <p:cNvGrpSpPr/>
          <p:nvPr/>
        </p:nvGrpSpPr>
        <p:grpSpPr>
          <a:xfrm>
            <a:off x="5842199" y="2325116"/>
            <a:ext cx="1552723" cy="495055"/>
            <a:chOff x="240907" y="2314376"/>
            <a:chExt cx="1552723" cy="495055"/>
          </a:xfrm>
        </p:grpSpPr>
        <p:sp>
          <p:nvSpPr>
            <p:cNvPr id="178" name="직사각형 177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새 기기 배포</a:t>
              </a:r>
            </a:p>
          </p:txBody>
        </p:sp>
        <p:sp>
          <p:nvSpPr>
            <p:cNvPr id="179" name="직사각형 178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180" name="TextBox 179"/>
          <p:cNvSpPr txBox="1"/>
          <p:nvPr/>
        </p:nvSpPr>
        <p:spPr>
          <a:xfrm>
            <a:off x="5842199" y="1215368"/>
            <a:ext cx="15527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고장</a:t>
            </a:r>
          </a:p>
        </p:txBody>
      </p:sp>
      <p:grpSp>
        <p:nvGrpSpPr>
          <p:cNvPr id="182" name="그룹 181"/>
          <p:cNvGrpSpPr/>
          <p:nvPr/>
        </p:nvGrpSpPr>
        <p:grpSpPr>
          <a:xfrm>
            <a:off x="5842199" y="3716320"/>
            <a:ext cx="1552723" cy="495055"/>
            <a:chOff x="240907" y="2314376"/>
            <a:chExt cx="1552723" cy="495055"/>
          </a:xfrm>
        </p:grpSpPr>
        <p:sp>
          <p:nvSpPr>
            <p:cNvPr id="192" name="직사각형 191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기존 기기 회수</a:t>
              </a:r>
            </a:p>
          </p:txBody>
        </p:sp>
        <p:sp>
          <p:nvSpPr>
            <p:cNvPr id="193" name="직사각형 192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83" name="그룹 182"/>
          <p:cNvGrpSpPr/>
          <p:nvPr/>
        </p:nvGrpSpPr>
        <p:grpSpPr>
          <a:xfrm>
            <a:off x="5842199" y="4412635"/>
            <a:ext cx="1552723" cy="495055"/>
            <a:chOff x="240907" y="2314376"/>
            <a:chExt cx="1552723" cy="495055"/>
          </a:xfrm>
        </p:grpSpPr>
        <p:sp>
          <p:nvSpPr>
            <p:cNvPr id="190" name="직사각형 189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기존 기기 고장 접수</a:t>
              </a:r>
            </a:p>
          </p:txBody>
        </p:sp>
        <p:sp>
          <p:nvSpPr>
            <p:cNvPr id="191" name="직사각형 190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94" name="그룹 193"/>
          <p:cNvGrpSpPr/>
          <p:nvPr/>
        </p:nvGrpSpPr>
        <p:grpSpPr>
          <a:xfrm>
            <a:off x="5842199" y="3021431"/>
            <a:ext cx="1552723" cy="495055"/>
            <a:chOff x="240907" y="2314376"/>
            <a:chExt cx="1552723" cy="495055"/>
          </a:xfrm>
        </p:grpSpPr>
        <p:sp>
          <p:nvSpPr>
            <p:cNvPr id="195" name="직사각형 194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작업자 맵핑</a:t>
              </a:r>
            </a:p>
          </p:txBody>
        </p:sp>
        <p:sp>
          <p:nvSpPr>
            <p:cNvPr id="196" name="직사각형 195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97" name="직선 화살표 연결선 196"/>
          <p:cNvCxnSpPr>
            <a:stCxn id="173" idx="2"/>
            <a:endCxn id="178" idx="0"/>
          </p:cNvCxnSpPr>
          <p:nvPr/>
        </p:nvCxnSpPr>
        <p:spPr>
          <a:xfrm>
            <a:off x="6618561" y="2123856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/>
          <p:cNvCxnSpPr>
            <a:stCxn id="179" idx="2"/>
            <a:endCxn id="195" idx="0"/>
          </p:cNvCxnSpPr>
          <p:nvPr/>
        </p:nvCxnSpPr>
        <p:spPr>
          <a:xfrm>
            <a:off x="6618561" y="2820171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화살표 연결선 198"/>
          <p:cNvCxnSpPr>
            <a:stCxn id="196" idx="2"/>
            <a:endCxn id="192" idx="0"/>
          </p:cNvCxnSpPr>
          <p:nvPr/>
        </p:nvCxnSpPr>
        <p:spPr>
          <a:xfrm>
            <a:off x="6618561" y="3516486"/>
            <a:ext cx="0" cy="199834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/>
          <p:cNvCxnSpPr>
            <a:stCxn id="193" idx="2"/>
            <a:endCxn id="190" idx="0"/>
          </p:cNvCxnSpPr>
          <p:nvPr/>
        </p:nvCxnSpPr>
        <p:spPr>
          <a:xfrm>
            <a:off x="6618561" y="4211375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3975100" y="1628800"/>
            <a:ext cx="1552725" cy="2584001"/>
            <a:chOff x="3975100" y="1628800"/>
            <a:chExt cx="1552725" cy="2584001"/>
          </a:xfrm>
        </p:grpSpPr>
        <p:grpSp>
          <p:nvGrpSpPr>
            <p:cNvPr id="160" name="그룹 159"/>
            <p:cNvGrpSpPr/>
            <p:nvPr/>
          </p:nvGrpSpPr>
          <p:grpSpPr>
            <a:xfrm>
              <a:off x="3975102" y="3717746"/>
              <a:ext cx="1552723" cy="495055"/>
              <a:chOff x="240907" y="2314376"/>
              <a:chExt cx="1552723" cy="495055"/>
            </a:xfrm>
          </p:grpSpPr>
          <p:sp>
            <p:nvSpPr>
              <p:cNvPr id="161" name="직사각형 160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기기 추가 주문</a:t>
                </a:r>
              </a:p>
            </p:txBody>
          </p:sp>
          <p:sp>
            <p:nvSpPr>
              <p:cNvPr id="162" name="직사각형 161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03" name="그룹 202"/>
            <p:cNvGrpSpPr/>
            <p:nvPr/>
          </p:nvGrpSpPr>
          <p:grpSpPr>
            <a:xfrm>
              <a:off x="3975100" y="1628800"/>
              <a:ext cx="1552723" cy="495056"/>
              <a:chOff x="240907" y="1628800"/>
              <a:chExt cx="1552723" cy="495056"/>
            </a:xfrm>
          </p:grpSpPr>
          <p:sp>
            <p:nvSpPr>
              <p:cNvPr id="204" name="직사각형 203"/>
              <p:cNvSpPr/>
              <p:nvPr/>
            </p:nvSpPr>
            <p:spPr>
              <a:xfrm>
                <a:off x="240907" y="1628800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분실 보고</a:t>
                </a:r>
              </a:p>
            </p:txBody>
          </p:sp>
          <p:sp>
            <p:nvSpPr>
              <p:cNvPr id="205" name="직사각형 204"/>
              <p:cNvSpPr/>
              <p:nvPr/>
            </p:nvSpPr>
            <p:spPr>
              <a:xfrm>
                <a:off x="240907" y="1965288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Offline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06" name="직선 화살표 연결선 205"/>
            <p:cNvCxnSpPr>
              <a:stCxn id="205" idx="2"/>
              <a:endCxn id="228" idx="0"/>
            </p:cNvCxnSpPr>
            <p:nvPr/>
          </p:nvCxnSpPr>
          <p:spPr>
            <a:xfrm>
              <a:off x="4751462" y="2123856"/>
              <a:ext cx="2" cy="201259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6" name="그룹 225"/>
            <p:cNvGrpSpPr/>
            <p:nvPr/>
          </p:nvGrpSpPr>
          <p:grpSpPr>
            <a:xfrm>
              <a:off x="3975102" y="2325115"/>
              <a:ext cx="1552723" cy="495055"/>
              <a:chOff x="240907" y="2314376"/>
              <a:chExt cx="1552723" cy="495055"/>
            </a:xfrm>
          </p:grpSpPr>
          <p:sp>
            <p:nvSpPr>
              <p:cNvPr id="228" name="직사각형 227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새 기기 배포</a:t>
                </a:r>
              </a:p>
            </p:txBody>
          </p:sp>
          <p:sp>
            <p:nvSpPr>
              <p:cNvPr id="229" name="직사각형 228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Offline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30" name="그룹 229"/>
            <p:cNvGrpSpPr/>
            <p:nvPr/>
          </p:nvGrpSpPr>
          <p:grpSpPr>
            <a:xfrm>
              <a:off x="3975100" y="3021431"/>
              <a:ext cx="1552723" cy="495055"/>
              <a:chOff x="240907" y="2314376"/>
              <a:chExt cx="1552723" cy="495055"/>
            </a:xfrm>
          </p:grpSpPr>
          <p:sp>
            <p:nvSpPr>
              <p:cNvPr id="231" name="직사각형 230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작업자 맵핑</a:t>
                </a:r>
              </a:p>
            </p:txBody>
          </p:sp>
          <p:sp>
            <p:nvSpPr>
              <p:cNvPr id="232" name="직사각형 231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33" name="직선 화살표 연결선 232"/>
            <p:cNvCxnSpPr>
              <a:stCxn id="229" idx="2"/>
              <a:endCxn id="231" idx="0"/>
            </p:cNvCxnSpPr>
            <p:nvPr/>
          </p:nvCxnSpPr>
          <p:spPr>
            <a:xfrm flipH="1">
              <a:off x="4751462" y="2820170"/>
              <a:ext cx="2" cy="201261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직선 화살표 연결선 237"/>
            <p:cNvCxnSpPr>
              <a:stCxn id="232" idx="2"/>
              <a:endCxn id="161" idx="0"/>
            </p:cNvCxnSpPr>
            <p:nvPr/>
          </p:nvCxnSpPr>
          <p:spPr>
            <a:xfrm>
              <a:off x="4751462" y="3516486"/>
              <a:ext cx="2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8114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205485" y="36675"/>
            <a:ext cx="2432525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Work Process</a:t>
            </a:r>
          </a:p>
          <a:p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Device </a:t>
            </a:r>
            <a:r>
              <a:rPr lang="ko-KR" altLang="en-US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유지보수 </a:t>
            </a:r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태그</a:t>
            </a:r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</p:txBody>
      </p:sp>
      <p:grpSp>
        <p:nvGrpSpPr>
          <p:cNvPr id="288" name="그룹 287"/>
          <p:cNvGrpSpPr/>
          <p:nvPr/>
        </p:nvGrpSpPr>
        <p:grpSpPr>
          <a:xfrm>
            <a:off x="240907" y="1215368"/>
            <a:ext cx="1552723" cy="3693748"/>
            <a:chOff x="240907" y="1215368"/>
            <a:chExt cx="1552723" cy="3693748"/>
          </a:xfrm>
        </p:grpSpPr>
        <p:grpSp>
          <p:nvGrpSpPr>
            <p:cNvPr id="5" name="그룹 4"/>
            <p:cNvGrpSpPr/>
            <p:nvPr/>
          </p:nvGrpSpPr>
          <p:grpSpPr>
            <a:xfrm>
              <a:off x="240907" y="1628800"/>
              <a:ext cx="1552723" cy="495056"/>
              <a:chOff x="240907" y="1628800"/>
              <a:chExt cx="1552723" cy="495056"/>
            </a:xfrm>
          </p:grpSpPr>
          <p:sp>
            <p:nvSpPr>
              <p:cNvPr id="51" name="직사각형 50"/>
              <p:cNvSpPr/>
              <p:nvPr/>
            </p:nvSpPr>
            <p:spPr>
              <a:xfrm>
                <a:off x="240907" y="1628800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배터리 적음 알림</a:t>
                </a: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240907" y="1965288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" name="그룹 2"/>
            <p:cNvGrpSpPr/>
            <p:nvPr/>
          </p:nvGrpSpPr>
          <p:grpSpPr>
            <a:xfrm>
              <a:off x="240907" y="2325116"/>
              <a:ext cx="1552723" cy="495055"/>
              <a:chOff x="240907" y="2314376"/>
              <a:chExt cx="1552723" cy="495055"/>
            </a:xfrm>
          </p:grpSpPr>
          <p:sp>
            <p:nvSpPr>
              <p:cNvPr id="53" name="직사각형 52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배터리 교체 요청</a:t>
                </a: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240907" y="1215368"/>
              <a:ext cx="1552723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</a:rPr>
                <a:t>배터리 적음</a:t>
              </a:r>
            </a:p>
          </p:txBody>
        </p:sp>
        <p:grpSp>
          <p:nvGrpSpPr>
            <p:cNvPr id="108" name="그룹 107"/>
            <p:cNvGrpSpPr/>
            <p:nvPr/>
          </p:nvGrpSpPr>
          <p:grpSpPr>
            <a:xfrm>
              <a:off x="240907" y="3021431"/>
              <a:ext cx="1552723" cy="495055"/>
              <a:chOff x="240907" y="2314376"/>
              <a:chExt cx="1552723" cy="495055"/>
            </a:xfrm>
          </p:grpSpPr>
          <p:sp>
            <p:nvSpPr>
              <p:cNvPr id="109" name="직사각형 108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요청 확인</a:t>
                </a:r>
              </a:p>
            </p:txBody>
          </p:sp>
          <p:sp>
            <p:nvSpPr>
              <p:cNvPr id="110" name="직사각형 109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Smart Phone (</a:t>
                </a:r>
                <a:r>
                  <a:rPr lang="ko-KR" altLang="en-US" sz="70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미정</a:t>
                </a:r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)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7" name="그룹 116"/>
            <p:cNvGrpSpPr/>
            <p:nvPr/>
          </p:nvGrpSpPr>
          <p:grpSpPr>
            <a:xfrm>
              <a:off x="240907" y="3717746"/>
              <a:ext cx="1552723" cy="495055"/>
              <a:chOff x="240907" y="2314376"/>
              <a:chExt cx="1552723" cy="495055"/>
            </a:xfrm>
          </p:grpSpPr>
          <p:sp>
            <p:nvSpPr>
              <p:cNvPr id="118" name="직사각형 117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배터리 교체</a:t>
                </a:r>
              </a:p>
            </p:txBody>
          </p:sp>
          <p:sp>
            <p:nvSpPr>
              <p:cNvPr id="119" name="직사각형 118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Offline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0" name="그룹 119"/>
            <p:cNvGrpSpPr/>
            <p:nvPr/>
          </p:nvGrpSpPr>
          <p:grpSpPr>
            <a:xfrm>
              <a:off x="240907" y="4414061"/>
              <a:ext cx="1552723" cy="495055"/>
              <a:chOff x="240907" y="2314376"/>
              <a:chExt cx="1552723" cy="495055"/>
            </a:xfrm>
          </p:grpSpPr>
          <p:sp>
            <p:nvSpPr>
              <p:cNvPr id="121" name="직사각형 120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배터리 교체 확인</a:t>
                </a:r>
              </a:p>
            </p:txBody>
          </p:sp>
          <p:sp>
            <p:nvSpPr>
              <p:cNvPr id="122" name="직사각형 121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8" name="직선 화살표 연결선 17"/>
            <p:cNvCxnSpPr>
              <a:stCxn id="52" idx="2"/>
              <a:endCxn id="53" idx="0"/>
            </p:cNvCxnSpPr>
            <p:nvPr/>
          </p:nvCxnSpPr>
          <p:spPr>
            <a:xfrm>
              <a:off x="1017269" y="2123856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/>
            <p:cNvCxnSpPr>
              <a:stCxn id="54" idx="2"/>
              <a:endCxn id="109" idx="0"/>
            </p:cNvCxnSpPr>
            <p:nvPr/>
          </p:nvCxnSpPr>
          <p:spPr>
            <a:xfrm>
              <a:off x="1017269" y="2820171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/>
            <p:cNvCxnSpPr>
              <a:stCxn id="110" idx="2"/>
              <a:endCxn id="118" idx="0"/>
            </p:cNvCxnSpPr>
            <p:nvPr/>
          </p:nvCxnSpPr>
          <p:spPr>
            <a:xfrm>
              <a:off x="1017269" y="3516486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/>
            <p:cNvCxnSpPr>
              <a:stCxn id="119" idx="2"/>
              <a:endCxn id="121" idx="0"/>
            </p:cNvCxnSpPr>
            <p:nvPr/>
          </p:nvCxnSpPr>
          <p:spPr>
            <a:xfrm>
              <a:off x="1017269" y="4212801"/>
              <a:ext cx="0" cy="20126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그룹 123"/>
          <p:cNvGrpSpPr/>
          <p:nvPr/>
        </p:nvGrpSpPr>
        <p:grpSpPr>
          <a:xfrm>
            <a:off x="2108004" y="1628800"/>
            <a:ext cx="1552723" cy="495056"/>
            <a:chOff x="240907" y="1628800"/>
            <a:chExt cx="1552723" cy="495056"/>
          </a:xfrm>
        </p:grpSpPr>
        <p:sp>
          <p:nvSpPr>
            <p:cNvPr id="138" name="직사각형 137"/>
            <p:cNvSpPr/>
            <p:nvPr/>
          </p:nvSpPr>
          <p:spPr>
            <a:xfrm>
              <a:off x="240907" y="1628800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꺼짐 알림</a:t>
              </a:r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240907" y="1965288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126" name="TextBox 125"/>
          <p:cNvSpPr txBox="1"/>
          <p:nvPr/>
        </p:nvSpPr>
        <p:spPr>
          <a:xfrm>
            <a:off x="2108004" y="1215368"/>
            <a:ext cx="15527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꺼짐</a:t>
            </a:r>
          </a:p>
        </p:txBody>
      </p:sp>
      <p:cxnSp>
        <p:nvCxnSpPr>
          <p:cNvPr id="239" name="꺾인 연결선 238"/>
          <p:cNvCxnSpPr>
            <a:stCxn id="139" idx="2"/>
            <a:endCxn id="53" idx="3"/>
          </p:cNvCxnSpPr>
          <p:nvPr/>
        </p:nvCxnSpPr>
        <p:spPr>
          <a:xfrm rot="5400000">
            <a:off x="2154246" y="1763240"/>
            <a:ext cx="369504" cy="1090736"/>
          </a:xfrm>
          <a:prstGeom prst="bentConnector2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3975102" y="1215368"/>
            <a:ext cx="15527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분실</a:t>
            </a:r>
          </a:p>
        </p:txBody>
      </p:sp>
      <p:grpSp>
        <p:nvGrpSpPr>
          <p:cNvPr id="145" name="그룹 144"/>
          <p:cNvGrpSpPr/>
          <p:nvPr/>
        </p:nvGrpSpPr>
        <p:grpSpPr>
          <a:xfrm>
            <a:off x="3975102" y="3717746"/>
            <a:ext cx="1552723" cy="495055"/>
            <a:chOff x="240907" y="2314376"/>
            <a:chExt cx="1552723" cy="495055"/>
          </a:xfrm>
        </p:grpSpPr>
        <p:sp>
          <p:nvSpPr>
            <p:cNvPr id="149" name="직사각형 148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새 기기 배포</a:t>
              </a:r>
            </a:p>
          </p:txBody>
        </p:sp>
        <p:sp>
          <p:nvSpPr>
            <p:cNvPr id="150" name="직사각형 149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46" name="그룹 145"/>
          <p:cNvGrpSpPr/>
          <p:nvPr/>
        </p:nvGrpSpPr>
        <p:grpSpPr>
          <a:xfrm>
            <a:off x="3975102" y="4414061"/>
            <a:ext cx="1552723" cy="495055"/>
            <a:chOff x="240907" y="2314376"/>
            <a:chExt cx="1552723" cy="495055"/>
          </a:xfrm>
        </p:grpSpPr>
        <p:sp>
          <p:nvSpPr>
            <p:cNvPr id="147" name="직사각형 146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작업자 맵핑</a:t>
              </a:r>
            </a:p>
          </p:txBody>
        </p:sp>
        <p:sp>
          <p:nvSpPr>
            <p:cNvPr id="148" name="직사각형 147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74" name="그룹 173"/>
          <p:cNvGrpSpPr/>
          <p:nvPr/>
        </p:nvGrpSpPr>
        <p:grpSpPr>
          <a:xfrm>
            <a:off x="3975102" y="5110375"/>
            <a:ext cx="1552723" cy="495055"/>
            <a:chOff x="240907" y="2314376"/>
            <a:chExt cx="1552723" cy="495055"/>
          </a:xfrm>
        </p:grpSpPr>
        <p:sp>
          <p:nvSpPr>
            <p:cNvPr id="175" name="직사각형 174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기기 추가 주문</a:t>
              </a:r>
            </a:p>
          </p:txBody>
        </p:sp>
        <p:sp>
          <p:nvSpPr>
            <p:cNvPr id="176" name="직사각형 175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265" name="직선 화살표 연결선 264"/>
          <p:cNvCxnSpPr>
            <a:stCxn id="150" idx="2"/>
            <a:endCxn id="147" idx="0"/>
          </p:cNvCxnSpPr>
          <p:nvPr/>
        </p:nvCxnSpPr>
        <p:spPr>
          <a:xfrm>
            <a:off x="4751464" y="4212801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직선 화살표 연결선 265"/>
          <p:cNvCxnSpPr>
            <a:stCxn id="148" idx="2"/>
            <a:endCxn id="175" idx="0"/>
          </p:cNvCxnSpPr>
          <p:nvPr/>
        </p:nvCxnSpPr>
        <p:spPr>
          <a:xfrm>
            <a:off x="4751464" y="4909116"/>
            <a:ext cx="0" cy="201259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7" name="그룹 206"/>
          <p:cNvGrpSpPr/>
          <p:nvPr/>
        </p:nvGrpSpPr>
        <p:grpSpPr>
          <a:xfrm>
            <a:off x="5842199" y="1628800"/>
            <a:ext cx="1552723" cy="495056"/>
            <a:chOff x="240907" y="1628800"/>
            <a:chExt cx="1552723" cy="495056"/>
          </a:xfrm>
        </p:grpSpPr>
        <p:sp>
          <p:nvSpPr>
            <p:cNvPr id="221" name="직사각형 220"/>
            <p:cNvSpPr/>
            <p:nvPr/>
          </p:nvSpPr>
          <p:spPr>
            <a:xfrm>
              <a:off x="240907" y="1628800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고장 알림</a:t>
              </a:r>
            </a:p>
          </p:txBody>
        </p:sp>
        <p:sp>
          <p:nvSpPr>
            <p:cNvPr id="222" name="직사각형 221"/>
            <p:cNvSpPr/>
            <p:nvPr/>
          </p:nvSpPr>
          <p:spPr>
            <a:xfrm>
              <a:off x="240907" y="1965288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08" name="그룹 207"/>
          <p:cNvGrpSpPr/>
          <p:nvPr/>
        </p:nvGrpSpPr>
        <p:grpSpPr>
          <a:xfrm>
            <a:off x="5842199" y="2325116"/>
            <a:ext cx="1552723" cy="495055"/>
            <a:chOff x="240907" y="2314376"/>
            <a:chExt cx="1552723" cy="495055"/>
          </a:xfrm>
        </p:grpSpPr>
        <p:sp>
          <p:nvSpPr>
            <p:cNvPr id="219" name="직사각형 218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기기 교체 요청</a:t>
              </a:r>
            </a:p>
          </p:txBody>
        </p:sp>
        <p:sp>
          <p:nvSpPr>
            <p:cNvPr id="220" name="직사각형 219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209" name="TextBox 208"/>
          <p:cNvSpPr txBox="1"/>
          <p:nvPr/>
        </p:nvSpPr>
        <p:spPr>
          <a:xfrm>
            <a:off x="5842199" y="1215368"/>
            <a:ext cx="15527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고장</a:t>
            </a:r>
          </a:p>
        </p:txBody>
      </p:sp>
      <p:grpSp>
        <p:nvGrpSpPr>
          <p:cNvPr id="234" name="그룹 233"/>
          <p:cNvGrpSpPr/>
          <p:nvPr/>
        </p:nvGrpSpPr>
        <p:grpSpPr>
          <a:xfrm>
            <a:off x="5842199" y="3716320"/>
            <a:ext cx="1552723" cy="2583999"/>
            <a:chOff x="5842199" y="3021431"/>
            <a:chExt cx="1552723" cy="2583999"/>
          </a:xfrm>
        </p:grpSpPr>
        <p:grpSp>
          <p:nvGrpSpPr>
            <p:cNvPr id="210" name="그룹 209"/>
            <p:cNvGrpSpPr/>
            <p:nvPr/>
          </p:nvGrpSpPr>
          <p:grpSpPr>
            <a:xfrm>
              <a:off x="5842199" y="3021431"/>
              <a:ext cx="1552723" cy="495055"/>
              <a:chOff x="240907" y="2314376"/>
              <a:chExt cx="1552723" cy="495055"/>
            </a:xfrm>
          </p:grpSpPr>
          <p:sp>
            <p:nvSpPr>
              <p:cNvPr id="217" name="직사각형 216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기존 기기 회수</a:t>
                </a:r>
              </a:p>
            </p:txBody>
          </p:sp>
          <p:sp>
            <p:nvSpPr>
              <p:cNvPr id="218" name="직사각형 217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Offline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1" name="그룹 210"/>
            <p:cNvGrpSpPr/>
            <p:nvPr/>
          </p:nvGrpSpPr>
          <p:grpSpPr>
            <a:xfrm>
              <a:off x="5842199" y="3717746"/>
              <a:ext cx="1552723" cy="495055"/>
              <a:chOff x="240907" y="2314376"/>
              <a:chExt cx="1552723" cy="495055"/>
            </a:xfrm>
          </p:grpSpPr>
          <p:sp>
            <p:nvSpPr>
              <p:cNvPr id="215" name="직사각형 214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새 기기 배포</a:t>
                </a:r>
              </a:p>
            </p:txBody>
          </p:sp>
          <p:sp>
            <p:nvSpPr>
              <p:cNvPr id="216" name="직사각형 215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Offline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2" name="그룹 211"/>
            <p:cNvGrpSpPr/>
            <p:nvPr/>
          </p:nvGrpSpPr>
          <p:grpSpPr>
            <a:xfrm>
              <a:off x="5842199" y="4414061"/>
              <a:ext cx="1552723" cy="495055"/>
              <a:chOff x="240907" y="2314376"/>
              <a:chExt cx="1552723" cy="495055"/>
            </a:xfrm>
          </p:grpSpPr>
          <p:sp>
            <p:nvSpPr>
              <p:cNvPr id="213" name="직사각형 212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작업자 맵핑</a:t>
                </a:r>
              </a:p>
            </p:txBody>
          </p:sp>
          <p:sp>
            <p:nvSpPr>
              <p:cNvPr id="214" name="직사각형 213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23" name="그룹 222"/>
            <p:cNvGrpSpPr/>
            <p:nvPr/>
          </p:nvGrpSpPr>
          <p:grpSpPr>
            <a:xfrm>
              <a:off x="5842199" y="5110375"/>
              <a:ext cx="1552723" cy="495055"/>
              <a:chOff x="240907" y="2314376"/>
              <a:chExt cx="1552723" cy="495055"/>
            </a:xfrm>
          </p:grpSpPr>
          <p:sp>
            <p:nvSpPr>
              <p:cNvPr id="224" name="직사각형 223"/>
              <p:cNvSpPr/>
              <p:nvPr/>
            </p:nvSpPr>
            <p:spPr>
              <a:xfrm>
                <a:off x="240907" y="2314376"/>
                <a:ext cx="1552723" cy="3364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기존 기기 고장 접수</a:t>
                </a:r>
              </a:p>
            </p:txBody>
          </p:sp>
          <p:sp>
            <p:nvSpPr>
              <p:cNvPr id="225" name="직사각형 224"/>
              <p:cNvSpPr/>
              <p:nvPr/>
            </p:nvSpPr>
            <p:spPr>
              <a:xfrm>
                <a:off x="240907" y="2650863"/>
                <a:ext cx="1552723" cy="1585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prstClr val="black"/>
                    </a:solidFill>
                    <a:latin typeface="NanumBarunGothic" panose="020B0603020101020101" pitchFamily="34" charset="-127"/>
                    <a:ea typeface="NanumBarunGothic" panose="020B0603020101020101" pitchFamily="34" charset="-127"/>
                    <a:cs typeface="Arial" panose="020B0604020202020204" pitchFamily="34" charset="0"/>
                  </a:rPr>
                  <a:t>PC</a:t>
                </a:r>
                <a:endParaRPr lang="ko-KR" altLang="en-US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35" name="그룹 234"/>
          <p:cNvGrpSpPr/>
          <p:nvPr/>
        </p:nvGrpSpPr>
        <p:grpSpPr>
          <a:xfrm>
            <a:off x="5842199" y="3021431"/>
            <a:ext cx="1552723" cy="495055"/>
            <a:chOff x="240907" y="2314376"/>
            <a:chExt cx="1552723" cy="495055"/>
          </a:xfrm>
        </p:grpSpPr>
        <p:sp>
          <p:nvSpPr>
            <p:cNvPr id="236" name="직사각형 235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요청 확인</a:t>
              </a:r>
            </a:p>
          </p:txBody>
        </p:sp>
        <p:sp>
          <p:nvSpPr>
            <p:cNvPr id="237" name="직사각형 236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Smart Phone (</a:t>
              </a:r>
              <a:r>
                <a:rPr lang="ko-KR" altLang="en-US" sz="70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미정</a:t>
              </a:r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)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270" name="직선 화살표 연결선 269"/>
          <p:cNvCxnSpPr>
            <a:stCxn id="222" idx="2"/>
            <a:endCxn id="219" idx="0"/>
          </p:cNvCxnSpPr>
          <p:nvPr/>
        </p:nvCxnSpPr>
        <p:spPr>
          <a:xfrm>
            <a:off x="6618561" y="2123856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화살표 연결선 271"/>
          <p:cNvCxnSpPr>
            <a:stCxn id="220" idx="2"/>
            <a:endCxn id="236" idx="0"/>
          </p:cNvCxnSpPr>
          <p:nvPr/>
        </p:nvCxnSpPr>
        <p:spPr>
          <a:xfrm>
            <a:off x="6618561" y="2820171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화살표 연결선 272"/>
          <p:cNvCxnSpPr>
            <a:stCxn id="237" idx="2"/>
            <a:endCxn id="217" idx="0"/>
          </p:cNvCxnSpPr>
          <p:nvPr/>
        </p:nvCxnSpPr>
        <p:spPr>
          <a:xfrm>
            <a:off x="6618561" y="3516486"/>
            <a:ext cx="0" cy="199834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화살표 연결선 276"/>
          <p:cNvCxnSpPr>
            <a:stCxn id="218" idx="2"/>
            <a:endCxn id="215" idx="0"/>
          </p:cNvCxnSpPr>
          <p:nvPr/>
        </p:nvCxnSpPr>
        <p:spPr>
          <a:xfrm>
            <a:off x="6618561" y="4211375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화살표 연결선 278"/>
          <p:cNvCxnSpPr>
            <a:stCxn id="216" idx="2"/>
            <a:endCxn id="213" idx="0"/>
          </p:cNvCxnSpPr>
          <p:nvPr/>
        </p:nvCxnSpPr>
        <p:spPr>
          <a:xfrm>
            <a:off x="6618561" y="4907690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직선 화살표 연결선 280"/>
          <p:cNvCxnSpPr>
            <a:stCxn id="214" idx="2"/>
            <a:endCxn id="224" idx="0"/>
          </p:cNvCxnSpPr>
          <p:nvPr/>
        </p:nvCxnSpPr>
        <p:spPr>
          <a:xfrm>
            <a:off x="6618561" y="5604005"/>
            <a:ext cx="0" cy="201259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/>
          <p:cNvSpPr txBox="1"/>
          <p:nvPr/>
        </p:nvSpPr>
        <p:spPr>
          <a:xfrm>
            <a:off x="7797235" y="815040"/>
            <a:ext cx="190829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u="sng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특이사항</a:t>
            </a:r>
            <a:endParaRPr lang="en-US" altLang="ko-KR" sz="800" u="sng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endParaRPr lang="en-US" altLang="ko-KR" sz="8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태그의 분실은 작업자가 직접 보고</a:t>
            </a:r>
            <a:endParaRPr lang="en-US" altLang="ko-KR" sz="8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3975100" y="1628800"/>
            <a:ext cx="1552723" cy="495056"/>
            <a:chOff x="240907" y="1628800"/>
            <a:chExt cx="1552723" cy="495056"/>
          </a:xfrm>
        </p:grpSpPr>
        <p:sp>
          <p:nvSpPr>
            <p:cNvPr id="85" name="직사각형 84"/>
            <p:cNvSpPr/>
            <p:nvPr/>
          </p:nvSpPr>
          <p:spPr>
            <a:xfrm>
              <a:off x="240907" y="1628800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분실 보고</a:t>
              </a: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240907" y="1965288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7" name="직선 화살표 연결선 6"/>
          <p:cNvCxnSpPr>
            <a:stCxn id="86" idx="2"/>
            <a:endCxn id="96" idx="0"/>
          </p:cNvCxnSpPr>
          <p:nvPr/>
        </p:nvCxnSpPr>
        <p:spPr>
          <a:xfrm>
            <a:off x="4751462" y="2123856"/>
            <a:ext cx="2" cy="201259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그룹 94"/>
          <p:cNvGrpSpPr/>
          <p:nvPr/>
        </p:nvGrpSpPr>
        <p:grpSpPr>
          <a:xfrm>
            <a:off x="3975102" y="2325115"/>
            <a:ext cx="1552723" cy="495055"/>
            <a:chOff x="240907" y="2314376"/>
            <a:chExt cx="1552723" cy="495055"/>
          </a:xfrm>
        </p:grpSpPr>
        <p:sp>
          <p:nvSpPr>
            <p:cNvPr id="96" name="직사각형 95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기기 배포 요청</a:t>
              </a: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01" name="그룹 100"/>
          <p:cNvGrpSpPr/>
          <p:nvPr/>
        </p:nvGrpSpPr>
        <p:grpSpPr>
          <a:xfrm>
            <a:off x="3975100" y="3021431"/>
            <a:ext cx="1552723" cy="495055"/>
            <a:chOff x="240907" y="2314376"/>
            <a:chExt cx="1552723" cy="495055"/>
          </a:xfrm>
        </p:grpSpPr>
        <p:sp>
          <p:nvSpPr>
            <p:cNvPr id="102" name="직사각형 101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요청 확인</a:t>
              </a: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Smart Phone (</a:t>
              </a:r>
              <a:r>
                <a:rPr lang="ko-KR" altLang="en-US" sz="70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미정</a:t>
              </a:r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)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7" name="직선 화살표 연결선 16"/>
          <p:cNvCxnSpPr>
            <a:stCxn id="97" idx="2"/>
            <a:endCxn id="102" idx="0"/>
          </p:cNvCxnSpPr>
          <p:nvPr/>
        </p:nvCxnSpPr>
        <p:spPr>
          <a:xfrm flipH="1">
            <a:off x="4751462" y="2820170"/>
            <a:ext cx="2" cy="201261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103" idx="2"/>
            <a:endCxn id="149" idx="0"/>
          </p:cNvCxnSpPr>
          <p:nvPr/>
        </p:nvCxnSpPr>
        <p:spPr>
          <a:xfrm>
            <a:off x="4751462" y="3516486"/>
            <a:ext cx="2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908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205485" y="36675"/>
            <a:ext cx="2432525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Work Process</a:t>
            </a:r>
          </a:p>
          <a:p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Device </a:t>
            </a:r>
            <a:r>
              <a:rPr lang="ko-KR" altLang="en-US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유지보수 </a:t>
            </a:r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밴드</a:t>
            </a:r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7797235" y="815040"/>
            <a:ext cx="190829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u="sng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특이사항</a:t>
            </a:r>
            <a:endParaRPr lang="en-US" altLang="ko-KR" sz="800" u="sng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endParaRPr lang="en-US" altLang="ko-KR" sz="8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밴드는 작업 도중에만 사용하고 작업자가 착용하고 있기 때문에 꺼짐</a:t>
            </a:r>
            <a:r>
              <a:rPr lang="en-US" altLang="ko-KR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80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분실</a:t>
            </a:r>
            <a:r>
              <a:rPr lang="en-US" altLang="ko-KR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80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고장에 대한 알림이 필요 없음</a:t>
            </a:r>
            <a:endParaRPr lang="en-US" altLang="ko-KR" sz="8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밴드의 꺼짐</a:t>
            </a:r>
            <a:r>
              <a:rPr lang="en-US" altLang="ko-KR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80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분실</a:t>
            </a:r>
            <a:r>
              <a:rPr lang="en-US" altLang="ko-KR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80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고장은 작업자가 직접 보고</a:t>
            </a:r>
            <a:endParaRPr lang="en-US" altLang="ko-KR" sz="8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grpSp>
        <p:nvGrpSpPr>
          <p:cNvPr id="111" name="그룹 110"/>
          <p:cNvGrpSpPr/>
          <p:nvPr/>
        </p:nvGrpSpPr>
        <p:grpSpPr>
          <a:xfrm>
            <a:off x="240907" y="1628800"/>
            <a:ext cx="1552723" cy="495056"/>
            <a:chOff x="240907" y="1628800"/>
            <a:chExt cx="1552723" cy="495056"/>
          </a:xfrm>
        </p:grpSpPr>
        <p:sp>
          <p:nvSpPr>
            <p:cNvPr id="112" name="직사각형 111"/>
            <p:cNvSpPr/>
            <p:nvPr/>
          </p:nvSpPr>
          <p:spPr>
            <a:xfrm>
              <a:off x="240907" y="1628800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배터리 적음 알림</a:t>
              </a:r>
            </a:p>
          </p:txBody>
        </p:sp>
        <p:sp>
          <p:nvSpPr>
            <p:cNvPr id="113" name="직사각형 112"/>
            <p:cNvSpPr/>
            <p:nvPr/>
          </p:nvSpPr>
          <p:spPr>
            <a:xfrm>
              <a:off x="240907" y="1965288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Band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14" name="그룹 113"/>
          <p:cNvGrpSpPr/>
          <p:nvPr/>
        </p:nvGrpSpPr>
        <p:grpSpPr>
          <a:xfrm>
            <a:off x="240907" y="2325116"/>
            <a:ext cx="1552723" cy="495055"/>
            <a:chOff x="240907" y="2314376"/>
            <a:chExt cx="1552723" cy="495055"/>
          </a:xfrm>
        </p:grpSpPr>
        <p:sp>
          <p:nvSpPr>
            <p:cNvPr id="115" name="직사각형 114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기존 기기 회수</a:t>
              </a: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123" name="TextBox 122"/>
          <p:cNvSpPr txBox="1"/>
          <p:nvPr/>
        </p:nvSpPr>
        <p:spPr>
          <a:xfrm>
            <a:off x="240907" y="1215368"/>
            <a:ext cx="15527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배터리 적음</a:t>
            </a:r>
          </a:p>
        </p:txBody>
      </p:sp>
      <p:cxnSp>
        <p:nvCxnSpPr>
          <p:cNvPr id="125" name="직선 화살표 연결선 124"/>
          <p:cNvCxnSpPr>
            <a:stCxn id="113" idx="2"/>
            <a:endCxn id="115" idx="0"/>
          </p:cNvCxnSpPr>
          <p:nvPr/>
        </p:nvCxnSpPr>
        <p:spPr>
          <a:xfrm>
            <a:off x="1017269" y="2123856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그룹 126"/>
          <p:cNvGrpSpPr/>
          <p:nvPr/>
        </p:nvGrpSpPr>
        <p:grpSpPr>
          <a:xfrm>
            <a:off x="2108004" y="1628800"/>
            <a:ext cx="1552723" cy="495056"/>
            <a:chOff x="240907" y="1628800"/>
            <a:chExt cx="1552723" cy="495056"/>
          </a:xfrm>
        </p:grpSpPr>
        <p:sp>
          <p:nvSpPr>
            <p:cNvPr id="128" name="직사각형 127"/>
            <p:cNvSpPr/>
            <p:nvPr/>
          </p:nvSpPr>
          <p:spPr>
            <a:xfrm>
              <a:off x="240907" y="1628800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꺼짐 보고</a:t>
              </a:r>
            </a:p>
          </p:txBody>
        </p:sp>
        <p:sp>
          <p:nvSpPr>
            <p:cNvPr id="129" name="직사각형 128"/>
            <p:cNvSpPr/>
            <p:nvPr/>
          </p:nvSpPr>
          <p:spPr>
            <a:xfrm>
              <a:off x="240907" y="1965288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133" name="TextBox 132"/>
          <p:cNvSpPr txBox="1"/>
          <p:nvPr/>
        </p:nvSpPr>
        <p:spPr>
          <a:xfrm>
            <a:off x="2108004" y="1215368"/>
            <a:ext cx="15527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꺼짐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975102" y="1215368"/>
            <a:ext cx="15527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분실</a:t>
            </a:r>
          </a:p>
        </p:txBody>
      </p:sp>
      <p:grpSp>
        <p:nvGrpSpPr>
          <p:cNvPr id="136" name="그룹 135"/>
          <p:cNvGrpSpPr/>
          <p:nvPr/>
        </p:nvGrpSpPr>
        <p:grpSpPr>
          <a:xfrm>
            <a:off x="5842199" y="1628800"/>
            <a:ext cx="1552723" cy="495056"/>
            <a:chOff x="240907" y="1628800"/>
            <a:chExt cx="1552723" cy="495056"/>
          </a:xfrm>
        </p:grpSpPr>
        <p:sp>
          <p:nvSpPr>
            <p:cNvPr id="137" name="직사각형 136"/>
            <p:cNvSpPr/>
            <p:nvPr/>
          </p:nvSpPr>
          <p:spPr>
            <a:xfrm>
              <a:off x="240907" y="1628800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고장 보고</a:t>
              </a:r>
            </a:p>
          </p:txBody>
        </p:sp>
        <p:sp>
          <p:nvSpPr>
            <p:cNvPr id="140" name="직사각형 139"/>
            <p:cNvSpPr/>
            <p:nvPr/>
          </p:nvSpPr>
          <p:spPr>
            <a:xfrm>
              <a:off x="240907" y="1965288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41" name="그룹 140"/>
          <p:cNvGrpSpPr/>
          <p:nvPr/>
        </p:nvGrpSpPr>
        <p:grpSpPr>
          <a:xfrm>
            <a:off x="5842199" y="2325116"/>
            <a:ext cx="1552723" cy="495055"/>
            <a:chOff x="240907" y="2314376"/>
            <a:chExt cx="1552723" cy="495055"/>
          </a:xfrm>
        </p:grpSpPr>
        <p:sp>
          <p:nvSpPr>
            <p:cNvPr id="142" name="직사각형 141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새 기기 배포</a:t>
              </a:r>
            </a:p>
          </p:txBody>
        </p:sp>
        <p:sp>
          <p:nvSpPr>
            <p:cNvPr id="144" name="직사각형 143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151" name="TextBox 150"/>
          <p:cNvSpPr txBox="1"/>
          <p:nvPr/>
        </p:nvSpPr>
        <p:spPr>
          <a:xfrm>
            <a:off x="5842199" y="1215368"/>
            <a:ext cx="15527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고장</a:t>
            </a:r>
          </a:p>
        </p:txBody>
      </p:sp>
      <p:grpSp>
        <p:nvGrpSpPr>
          <p:cNvPr id="152" name="그룹 151"/>
          <p:cNvGrpSpPr/>
          <p:nvPr/>
        </p:nvGrpSpPr>
        <p:grpSpPr>
          <a:xfrm>
            <a:off x="5842199" y="3716320"/>
            <a:ext cx="1552723" cy="495055"/>
            <a:chOff x="240907" y="2314376"/>
            <a:chExt cx="1552723" cy="495055"/>
          </a:xfrm>
        </p:grpSpPr>
        <p:sp>
          <p:nvSpPr>
            <p:cNvPr id="153" name="직사각형 152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기존 기기 회수</a:t>
              </a:r>
            </a:p>
          </p:txBody>
        </p:sp>
        <p:sp>
          <p:nvSpPr>
            <p:cNvPr id="154" name="직사각형 153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55" name="그룹 154"/>
          <p:cNvGrpSpPr/>
          <p:nvPr/>
        </p:nvGrpSpPr>
        <p:grpSpPr>
          <a:xfrm>
            <a:off x="5842199" y="4412635"/>
            <a:ext cx="1552723" cy="495055"/>
            <a:chOff x="240907" y="2314376"/>
            <a:chExt cx="1552723" cy="495055"/>
          </a:xfrm>
        </p:grpSpPr>
        <p:sp>
          <p:nvSpPr>
            <p:cNvPr id="156" name="직사각형 155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기존 기기 고장 접수</a:t>
              </a: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58" name="그룹 157"/>
          <p:cNvGrpSpPr/>
          <p:nvPr/>
        </p:nvGrpSpPr>
        <p:grpSpPr>
          <a:xfrm>
            <a:off x="5842199" y="3021431"/>
            <a:ext cx="1552723" cy="495055"/>
            <a:chOff x="240907" y="2314376"/>
            <a:chExt cx="1552723" cy="495055"/>
          </a:xfrm>
        </p:grpSpPr>
        <p:sp>
          <p:nvSpPr>
            <p:cNvPr id="159" name="직사각형 158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작업자 맵핑</a:t>
              </a:r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61" name="직선 화살표 연결선 160"/>
          <p:cNvCxnSpPr>
            <a:stCxn id="140" idx="2"/>
            <a:endCxn id="142" idx="0"/>
          </p:cNvCxnSpPr>
          <p:nvPr/>
        </p:nvCxnSpPr>
        <p:spPr>
          <a:xfrm>
            <a:off x="6618561" y="2123856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/>
          <p:cNvCxnSpPr>
            <a:stCxn id="144" idx="2"/>
            <a:endCxn id="159" idx="0"/>
          </p:cNvCxnSpPr>
          <p:nvPr/>
        </p:nvCxnSpPr>
        <p:spPr>
          <a:xfrm>
            <a:off x="6618561" y="2820171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162"/>
          <p:cNvCxnSpPr>
            <a:stCxn id="160" idx="2"/>
            <a:endCxn id="153" idx="0"/>
          </p:cNvCxnSpPr>
          <p:nvPr/>
        </p:nvCxnSpPr>
        <p:spPr>
          <a:xfrm>
            <a:off x="6618561" y="3516486"/>
            <a:ext cx="0" cy="199834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화살표 연결선 163"/>
          <p:cNvCxnSpPr>
            <a:stCxn id="154" idx="2"/>
            <a:endCxn id="156" idx="0"/>
          </p:cNvCxnSpPr>
          <p:nvPr/>
        </p:nvCxnSpPr>
        <p:spPr>
          <a:xfrm>
            <a:off x="6618561" y="4211375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그룹 165"/>
          <p:cNvGrpSpPr/>
          <p:nvPr/>
        </p:nvGrpSpPr>
        <p:grpSpPr>
          <a:xfrm>
            <a:off x="3975102" y="3717746"/>
            <a:ext cx="1552723" cy="495055"/>
            <a:chOff x="240907" y="2314376"/>
            <a:chExt cx="1552723" cy="495055"/>
          </a:xfrm>
        </p:grpSpPr>
        <p:sp>
          <p:nvSpPr>
            <p:cNvPr id="182" name="직사각형 181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기기 추가 주문</a:t>
              </a:r>
            </a:p>
          </p:txBody>
        </p:sp>
        <p:sp>
          <p:nvSpPr>
            <p:cNvPr id="183" name="직사각형 182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67" name="그룹 166"/>
          <p:cNvGrpSpPr/>
          <p:nvPr/>
        </p:nvGrpSpPr>
        <p:grpSpPr>
          <a:xfrm>
            <a:off x="3975100" y="1628800"/>
            <a:ext cx="1552723" cy="495056"/>
            <a:chOff x="240907" y="1628800"/>
            <a:chExt cx="1552723" cy="495056"/>
          </a:xfrm>
        </p:grpSpPr>
        <p:sp>
          <p:nvSpPr>
            <p:cNvPr id="180" name="직사각형 179"/>
            <p:cNvSpPr/>
            <p:nvPr/>
          </p:nvSpPr>
          <p:spPr>
            <a:xfrm>
              <a:off x="240907" y="1628800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분실 보고</a:t>
              </a:r>
            </a:p>
          </p:txBody>
        </p:sp>
        <p:sp>
          <p:nvSpPr>
            <p:cNvPr id="181" name="직사각형 180"/>
            <p:cNvSpPr/>
            <p:nvPr/>
          </p:nvSpPr>
          <p:spPr>
            <a:xfrm>
              <a:off x="240907" y="1965288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68" name="직선 화살표 연결선 167"/>
          <p:cNvCxnSpPr>
            <a:stCxn id="181" idx="2"/>
            <a:endCxn id="178" idx="0"/>
          </p:cNvCxnSpPr>
          <p:nvPr/>
        </p:nvCxnSpPr>
        <p:spPr>
          <a:xfrm>
            <a:off x="4751462" y="2123856"/>
            <a:ext cx="2" cy="201259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그룹 168"/>
          <p:cNvGrpSpPr/>
          <p:nvPr/>
        </p:nvGrpSpPr>
        <p:grpSpPr>
          <a:xfrm>
            <a:off x="3975102" y="2325115"/>
            <a:ext cx="1552723" cy="495055"/>
            <a:chOff x="240907" y="2314376"/>
            <a:chExt cx="1552723" cy="495055"/>
          </a:xfrm>
        </p:grpSpPr>
        <p:sp>
          <p:nvSpPr>
            <p:cNvPr id="178" name="직사각형 177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새 기기 배포</a:t>
              </a:r>
            </a:p>
          </p:txBody>
        </p:sp>
        <p:sp>
          <p:nvSpPr>
            <p:cNvPr id="179" name="직사각형 178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70" name="그룹 169"/>
          <p:cNvGrpSpPr/>
          <p:nvPr/>
        </p:nvGrpSpPr>
        <p:grpSpPr>
          <a:xfrm>
            <a:off x="3975100" y="3021431"/>
            <a:ext cx="1552723" cy="495055"/>
            <a:chOff x="240907" y="2314376"/>
            <a:chExt cx="1552723" cy="495055"/>
          </a:xfrm>
        </p:grpSpPr>
        <p:sp>
          <p:nvSpPr>
            <p:cNvPr id="173" name="직사각형 172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작업자 맵핑</a:t>
              </a:r>
            </a:p>
          </p:txBody>
        </p:sp>
        <p:sp>
          <p:nvSpPr>
            <p:cNvPr id="177" name="직사각형 176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71" name="직선 화살표 연결선 170"/>
          <p:cNvCxnSpPr>
            <a:stCxn id="179" idx="2"/>
            <a:endCxn id="173" idx="0"/>
          </p:cNvCxnSpPr>
          <p:nvPr/>
        </p:nvCxnSpPr>
        <p:spPr>
          <a:xfrm flipH="1">
            <a:off x="4751462" y="2820170"/>
            <a:ext cx="2" cy="201261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화살표 연결선 171"/>
          <p:cNvCxnSpPr>
            <a:stCxn id="177" idx="2"/>
            <a:endCxn id="182" idx="0"/>
          </p:cNvCxnSpPr>
          <p:nvPr/>
        </p:nvCxnSpPr>
        <p:spPr>
          <a:xfrm>
            <a:off x="4751462" y="3516486"/>
            <a:ext cx="2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4" name="그룹 183"/>
          <p:cNvGrpSpPr/>
          <p:nvPr/>
        </p:nvGrpSpPr>
        <p:grpSpPr>
          <a:xfrm>
            <a:off x="240906" y="3021431"/>
            <a:ext cx="1552723" cy="495055"/>
            <a:chOff x="240907" y="2314376"/>
            <a:chExt cx="1552723" cy="495055"/>
          </a:xfrm>
        </p:grpSpPr>
        <p:sp>
          <p:nvSpPr>
            <p:cNvPr id="185" name="직사각형 184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새 기기 배포</a:t>
              </a:r>
            </a:p>
          </p:txBody>
        </p:sp>
        <p:sp>
          <p:nvSpPr>
            <p:cNvPr id="186" name="직사각형 185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8" name="꺾인 연결선 7"/>
          <p:cNvCxnSpPr>
            <a:stCxn id="129" idx="2"/>
            <a:endCxn id="115" idx="3"/>
          </p:cNvCxnSpPr>
          <p:nvPr/>
        </p:nvCxnSpPr>
        <p:spPr>
          <a:xfrm rot="5400000">
            <a:off x="2154246" y="1763240"/>
            <a:ext cx="369504" cy="1090736"/>
          </a:xfrm>
          <a:prstGeom prst="bentConnector2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116" idx="2"/>
            <a:endCxn id="185" idx="0"/>
          </p:cNvCxnSpPr>
          <p:nvPr/>
        </p:nvCxnSpPr>
        <p:spPr>
          <a:xfrm flipH="1">
            <a:off x="1017268" y="2820171"/>
            <a:ext cx="1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7" name="그룹 186"/>
          <p:cNvGrpSpPr/>
          <p:nvPr/>
        </p:nvGrpSpPr>
        <p:grpSpPr>
          <a:xfrm>
            <a:off x="240905" y="3717746"/>
            <a:ext cx="1552723" cy="495055"/>
            <a:chOff x="240907" y="2314376"/>
            <a:chExt cx="1552723" cy="495055"/>
          </a:xfrm>
        </p:grpSpPr>
        <p:sp>
          <p:nvSpPr>
            <p:cNvPr id="188" name="직사각형 187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작업자 맵핑</a:t>
              </a:r>
            </a:p>
          </p:txBody>
        </p:sp>
        <p:sp>
          <p:nvSpPr>
            <p:cNvPr id="189" name="직사각형 188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6" name="직선 화살표 연결선 15"/>
          <p:cNvCxnSpPr>
            <a:stCxn id="186" idx="2"/>
            <a:endCxn id="188" idx="0"/>
          </p:cNvCxnSpPr>
          <p:nvPr/>
        </p:nvCxnSpPr>
        <p:spPr>
          <a:xfrm flipH="1">
            <a:off x="1017267" y="3516486"/>
            <a:ext cx="1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855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205485" y="36675"/>
            <a:ext cx="2763898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Work Process</a:t>
            </a:r>
          </a:p>
          <a:p>
            <a:r>
              <a:rPr lang="en-US" altLang="ko-KR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Device </a:t>
            </a:r>
            <a:r>
              <a:rPr lang="ko-KR" altLang="en-US">
                <a:latin typeface="NanumBarunGothic" panose="020B0603020101020101" pitchFamily="34" charset="-127"/>
                <a:ea typeface="NanumBarunGothic" panose="020B0603020101020101" pitchFamily="34" charset="-127"/>
              </a:rPr>
              <a:t>유지보수 </a:t>
            </a:r>
            <a:r>
              <a:rPr lang="en-US" altLang="ko-KR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lang="ko-KR" altLang="en-US">
                <a:latin typeface="NanumBarunGothic" panose="020B0603020101020101" pitchFamily="34" charset="-127"/>
                <a:ea typeface="NanumBarunGothic" panose="020B0603020101020101" pitchFamily="34" charset="-127"/>
              </a:rPr>
              <a:t>고려사항</a:t>
            </a:r>
            <a:endParaRPr lang="en-US" altLang="ko-KR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6434" y="921668"/>
            <a:ext cx="9500043" cy="5678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유지보수 방법</a:t>
            </a:r>
            <a:endParaRPr lang="en-US" altLang="ko-KR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AP 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충전 방식 확인 필요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충전지 교체가 가능한지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  <a:endParaRPr lang="en-US" altLang="ko-KR" sz="1200" dirty="0">
              <a:solidFill>
                <a:srgbClr val="00B0F0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AP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를 현장에서 충전이 용이한지 검토 필요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배터리가 낮은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AP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의 교체여부 검토 필요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배터리만 교체하지 않고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기기 전체 교체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AP 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배포 시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여유분 확보 필요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배터리 없음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고장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분실로 인한 교체하는 상황이 발생하기 때문에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작업자가 착용하는 디바이스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태그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밴드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에 대한 일일 충전 관리 시스템 필요</a:t>
            </a:r>
            <a:endParaRPr lang="en-US" altLang="ko-KR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circleNumDbPlain"/>
            </a:pPr>
            <a:endParaRPr lang="en-US" altLang="ko-KR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작업 프로세스</a:t>
            </a:r>
            <a:endParaRPr lang="en-US" altLang="ko-KR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유지보수를 지시하고 수행하는 담당자 결정 필요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건설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IT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사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Device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운용 대행사 등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알림 로직</a:t>
            </a:r>
            <a:endParaRPr lang="en-US" altLang="ko-KR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작업자가 착용하는 디바이스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태그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 디바이스가 고장이라는 판단을 사람이 할지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시스템이 할지 결정 필요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디바이스가 고장이라는 판단을 사람이 할 경우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디바이스가 송신하는 데이터를 비교 확인할 수 있는 그래프 필요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디바이스가 고장이라는 판단을 시스템이 할 경우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고장에 대한 규칙 엔진 필요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신호가 설정 값에서 일정 범위를 벗어날 경우 알림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rgbClr val="00B0F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고장에 대한 케이스 정의 필요</a:t>
            </a:r>
            <a:endParaRPr lang="en-US" altLang="ko-KR" sz="1200" dirty="0">
              <a:solidFill>
                <a:srgbClr val="00B0F0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디바이스의 배터리가 없을 경우와 분실되었을 경우를 구분할 수 없음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시스템은 동일하게 판단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rgbClr val="00B0F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현장 확인 절차 필요</a:t>
            </a:r>
            <a:endParaRPr lang="en-US" altLang="ko-KR" sz="1200" dirty="0">
              <a:solidFill>
                <a:srgbClr val="00B0F0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시스템이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AP 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분실을 판단할 수 있는지 확인 필요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(AP 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위치 이동 시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>
                <a:latin typeface="NanumBarunGothic" panose="020B0603020101020101" pitchFamily="34" charset="-127"/>
                <a:ea typeface="NanumBarunGothic" panose="020B0603020101020101" pitchFamily="34" charset="-127"/>
              </a:rPr>
              <a:t>분실로 판단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>
                <a:solidFill>
                  <a:srgbClr val="00B0F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AP</a:t>
            </a:r>
            <a:r>
              <a:rPr lang="ko-KR" altLang="en-US" sz="1200">
                <a:solidFill>
                  <a:srgbClr val="00B0F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는 분실 판단 불가능 </a:t>
            </a:r>
            <a:r>
              <a:rPr lang="en-US" altLang="ko-KR" sz="1200" dirty="0">
                <a:solidFill>
                  <a:srgbClr val="00B0F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(GPS</a:t>
            </a:r>
            <a:r>
              <a:rPr lang="ko-KR" altLang="en-US" sz="1200">
                <a:solidFill>
                  <a:srgbClr val="00B0F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가 내장되어 있으면 가능</a:t>
            </a:r>
            <a:r>
              <a:rPr lang="en-US" altLang="ko-KR" sz="1200" dirty="0">
                <a:solidFill>
                  <a:srgbClr val="00B0F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0502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412776"/>
            <a:ext cx="5097016" cy="720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28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센서</a:t>
            </a:r>
            <a:r>
              <a:rPr lang="en-US" altLang="ko-KR" sz="28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Device</a:t>
            </a:r>
            <a:r>
              <a:rPr lang="ko-KR" altLang="en-US" sz="2800" dirty="0">
                <a:solidFill>
                  <a:schemeClr val="bg1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현장배포 및 회수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84432" y="2276872"/>
            <a:ext cx="785471" cy="123880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- </a:t>
            </a:r>
            <a:r>
              <a:rPr lang="ko-KR" altLang="en-US" sz="1400">
                <a:latin typeface="NanumBarunGothic" panose="020B0603020101020101" pitchFamily="34" charset="-127"/>
                <a:ea typeface="NanumBarunGothic" panose="020B0603020101020101" pitchFamily="34" charset="-127"/>
              </a:rPr>
              <a:t>센서비콘</a:t>
            </a:r>
            <a:endParaRPr lang="en-US" altLang="ko-KR" sz="14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4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- </a:t>
            </a:r>
            <a:r>
              <a:rPr lang="ko-KR" altLang="en-US" sz="1400">
                <a:latin typeface="NanumBarunGothic" panose="020B0603020101020101" pitchFamily="34" charset="-127"/>
                <a:ea typeface="NanumBarunGothic" panose="020B0603020101020101" pitchFamily="34" charset="-127"/>
              </a:rPr>
              <a:t>밴드</a:t>
            </a:r>
            <a:endParaRPr lang="en-US" altLang="ko-KR" sz="14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4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- CCTV</a:t>
            </a:r>
            <a:endParaRPr lang="ko-KR" altLang="en-US" sz="140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167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205485" y="36675"/>
            <a:ext cx="5011949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Work Process</a:t>
            </a:r>
          </a:p>
          <a:p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Device </a:t>
            </a:r>
            <a:r>
              <a:rPr lang="ko-KR" altLang="en-US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현장 배포 및 회수 </a:t>
            </a:r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가스센서</a:t>
            </a:r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/ </a:t>
            </a:r>
            <a:r>
              <a:rPr lang="ko-KR" altLang="en-US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밴드 </a:t>
            </a:r>
            <a:r>
              <a:rPr lang="en-US" altLang="ko-KR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/ CCTV)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56330" y="711024"/>
            <a:ext cx="944919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2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밀폐 공간에서의 작업은 공종 별 작업자들이 정해져 있기 때문에 사전에 </a:t>
            </a:r>
            <a:r>
              <a:rPr lang="en-US" altLang="ko-KR" sz="12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PC PoC</a:t>
            </a:r>
            <a:r>
              <a:rPr lang="ko-KR" altLang="en-US" sz="120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에서 맵핑 후 현장에서는 배포 및 사용법 교육만 진행</a:t>
            </a:r>
            <a:endParaRPr lang="en-US" altLang="ko-KR" sz="12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grpSp>
        <p:nvGrpSpPr>
          <p:cNvPr id="66" name="그룹 65"/>
          <p:cNvGrpSpPr/>
          <p:nvPr/>
        </p:nvGrpSpPr>
        <p:grpSpPr>
          <a:xfrm>
            <a:off x="240907" y="1628800"/>
            <a:ext cx="1552723" cy="495056"/>
            <a:chOff x="240907" y="1628800"/>
            <a:chExt cx="1552723" cy="495056"/>
          </a:xfrm>
        </p:grpSpPr>
        <p:sp>
          <p:nvSpPr>
            <p:cNvPr id="67" name="직사각형 66"/>
            <p:cNvSpPr/>
            <p:nvPr/>
          </p:nvSpPr>
          <p:spPr>
            <a:xfrm>
              <a:off x="240907" y="1628800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작업자 그룹과 맵핑</a:t>
              </a: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240907" y="1965288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240907" y="2325116"/>
            <a:ext cx="1552723" cy="495055"/>
            <a:chOff x="240907" y="2314376"/>
            <a:chExt cx="1552723" cy="495055"/>
          </a:xfrm>
        </p:grpSpPr>
        <p:sp>
          <p:nvSpPr>
            <p:cNvPr id="71" name="직사각형 70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기기 배포</a:t>
              </a: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240907" y="1215368"/>
            <a:ext cx="15527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가스센서 </a:t>
            </a:r>
            <a:r>
              <a:rPr lang="en-US" altLang="ko-KR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/ </a:t>
            </a:r>
            <a:r>
              <a:rPr lang="ko-KR" altLang="en-US" sz="100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밴드</a:t>
            </a:r>
            <a:endParaRPr lang="ko-KR" altLang="en-US" sz="10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cxnSp>
        <p:nvCxnSpPr>
          <p:cNvPr id="74" name="직선 화살표 연결선 73"/>
          <p:cNvCxnSpPr>
            <a:stCxn id="68" idx="2"/>
            <a:endCxn id="71" idx="0"/>
          </p:cNvCxnSpPr>
          <p:nvPr/>
        </p:nvCxnSpPr>
        <p:spPr>
          <a:xfrm>
            <a:off x="1017269" y="2123856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108006" y="1215368"/>
            <a:ext cx="15527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CCTV</a:t>
            </a:r>
            <a:endParaRPr lang="ko-KR" altLang="en-US" sz="10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grpSp>
        <p:nvGrpSpPr>
          <p:cNvPr id="86" name="그룹 85"/>
          <p:cNvGrpSpPr/>
          <p:nvPr/>
        </p:nvGrpSpPr>
        <p:grpSpPr>
          <a:xfrm>
            <a:off x="2108004" y="1628800"/>
            <a:ext cx="1552723" cy="495056"/>
            <a:chOff x="240907" y="1628800"/>
            <a:chExt cx="1552723" cy="495056"/>
          </a:xfrm>
        </p:grpSpPr>
        <p:sp>
          <p:nvSpPr>
            <p:cNvPr id="97" name="직사각형 96"/>
            <p:cNvSpPr/>
            <p:nvPr/>
          </p:nvSpPr>
          <p:spPr>
            <a:xfrm>
              <a:off x="240907" y="1628800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기기 배포</a:t>
              </a: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240907" y="1965288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87" name="직선 화살표 연결선 86"/>
          <p:cNvCxnSpPr>
            <a:stCxn id="98" idx="2"/>
            <a:endCxn id="94" idx="0"/>
          </p:cNvCxnSpPr>
          <p:nvPr/>
        </p:nvCxnSpPr>
        <p:spPr>
          <a:xfrm>
            <a:off x="2884366" y="2123856"/>
            <a:ext cx="2" cy="201259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그룹 100"/>
          <p:cNvGrpSpPr/>
          <p:nvPr/>
        </p:nvGrpSpPr>
        <p:grpSpPr>
          <a:xfrm>
            <a:off x="3975103" y="1628800"/>
            <a:ext cx="1552723" cy="495056"/>
            <a:chOff x="240907" y="1628800"/>
            <a:chExt cx="1552723" cy="495056"/>
          </a:xfrm>
        </p:grpSpPr>
        <p:sp>
          <p:nvSpPr>
            <p:cNvPr id="102" name="직사각형 101"/>
            <p:cNvSpPr/>
            <p:nvPr/>
          </p:nvSpPr>
          <p:spPr>
            <a:xfrm>
              <a:off x="240907" y="1628800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중장비와 맵핑</a:t>
              </a: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240907" y="1965288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PC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3975103" y="2325116"/>
            <a:ext cx="1552723" cy="495055"/>
            <a:chOff x="240907" y="2314376"/>
            <a:chExt cx="1552723" cy="495055"/>
          </a:xfrm>
        </p:grpSpPr>
        <p:sp>
          <p:nvSpPr>
            <p:cNvPr id="105" name="직사각형 104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기기 배포</a:t>
              </a: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107" name="TextBox 106"/>
          <p:cNvSpPr txBox="1"/>
          <p:nvPr/>
        </p:nvSpPr>
        <p:spPr>
          <a:xfrm>
            <a:off x="3975103" y="1215368"/>
            <a:ext cx="15527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00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중장비 </a:t>
            </a:r>
            <a:r>
              <a:rPr lang="en-US" altLang="ko-KR" sz="10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AP</a:t>
            </a:r>
            <a:endParaRPr lang="ko-KR" altLang="en-US" sz="1000" dirty="0">
              <a:solidFill>
                <a:prstClr val="black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grpSp>
        <p:nvGrpSpPr>
          <p:cNvPr id="114" name="그룹 113"/>
          <p:cNvGrpSpPr/>
          <p:nvPr/>
        </p:nvGrpSpPr>
        <p:grpSpPr>
          <a:xfrm>
            <a:off x="3975103" y="3021431"/>
            <a:ext cx="1552723" cy="495055"/>
            <a:chOff x="240907" y="2314376"/>
            <a:chExt cx="1552723" cy="495055"/>
          </a:xfrm>
        </p:grpSpPr>
        <p:sp>
          <p:nvSpPr>
            <p:cNvPr id="115" name="직사각형 114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기기 부착</a:t>
              </a: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19" name="직선 화살표 연결선 118"/>
          <p:cNvCxnSpPr>
            <a:stCxn id="103" idx="2"/>
            <a:endCxn id="105" idx="0"/>
          </p:cNvCxnSpPr>
          <p:nvPr/>
        </p:nvCxnSpPr>
        <p:spPr>
          <a:xfrm>
            <a:off x="4751465" y="2123856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/>
          <p:cNvCxnSpPr>
            <a:stCxn id="106" idx="2"/>
            <a:endCxn id="115" idx="0"/>
          </p:cNvCxnSpPr>
          <p:nvPr/>
        </p:nvCxnSpPr>
        <p:spPr>
          <a:xfrm>
            <a:off x="4751465" y="2820171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그룹 84"/>
          <p:cNvGrpSpPr/>
          <p:nvPr/>
        </p:nvGrpSpPr>
        <p:grpSpPr>
          <a:xfrm>
            <a:off x="2108006" y="3717746"/>
            <a:ext cx="1552723" cy="495055"/>
            <a:chOff x="240907" y="2314376"/>
            <a:chExt cx="1552723" cy="495055"/>
          </a:xfrm>
        </p:grpSpPr>
        <p:sp>
          <p:nvSpPr>
            <p:cNvPr id="99" name="직사각형 98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기기 </a:t>
              </a:r>
              <a:r>
                <a:rPr lang="ko-KR" altLang="en-US" sz="80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설치 등록 </a:t>
              </a:r>
              <a:r>
                <a:rPr lang="en-US" altLang="ko-KR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(</a:t>
              </a:r>
              <a:r>
                <a:rPr lang="ko-KR" altLang="en-US" sz="80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맵핑</a:t>
              </a:r>
              <a:r>
                <a:rPr lang="en-US" altLang="ko-KR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)</a:t>
              </a:r>
              <a:endParaRPr lang="ko-KR" altLang="en-US" sz="8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Device Installer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2108006" y="2325115"/>
            <a:ext cx="1552723" cy="495055"/>
            <a:chOff x="240907" y="2314376"/>
            <a:chExt cx="1552723" cy="495055"/>
          </a:xfrm>
        </p:grpSpPr>
        <p:sp>
          <p:nvSpPr>
            <p:cNvPr id="94" name="직사각형 93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화재 위험 지역 확인</a:t>
              </a: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Device Installer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89" name="그룹 88"/>
          <p:cNvGrpSpPr/>
          <p:nvPr/>
        </p:nvGrpSpPr>
        <p:grpSpPr>
          <a:xfrm>
            <a:off x="2108004" y="3021431"/>
            <a:ext cx="1552723" cy="495055"/>
            <a:chOff x="240907" y="2314376"/>
            <a:chExt cx="1552723" cy="495055"/>
          </a:xfrm>
        </p:grpSpPr>
        <p:sp>
          <p:nvSpPr>
            <p:cNvPr id="92" name="직사각형 91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기기 설치</a:t>
              </a: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90" name="직선 화살표 연결선 89"/>
          <p:cNvCxnSpPr>
            <a:stCxn id="96" idx="2"/>
            <a:endCxn id="92" idx="0"/>
          </p:cNvCxnSpPr>
          <p:nvPr/>
        </p:nvCxnSpPr>
        <p:spPr>
          <a:xfrm flipH="1">
            <a:off x="2884366" y="2820170"/>
            <a:ext cx="2" cy="201261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>
            <a:stCxn id="93" idx="2"/>
            <a:endCxn id="99" idx="0"/>
          </p:cNvCxnSpPr>
          <p:nvPr/>
        </p:nvCxnSpPr>
        <p:spPr>
          <a:xfrm>
            <a:off x="2884366" y="3516486"/>
            <a:ext cx="2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그룹 124"/>
          <p:cNvGrpSpPr/>
          <p:nvPr/>
        </p:nvGrpSpPr>
        <p:grpSpPr>
          <a:xfrm>
            <a:off x="2108006" y="4412635"/>
            <a:ext cx="1552723" cy="495055"/>
            <a:chOff x="240907" y="2314376"/>
            <a:chExt cx="1552723" cy="495055"/>
          </a:xfrm>
        </p:grpSpPr>
        <p:sp>
          <p:nvSpPr>
            <p:cNvPr id="127" name="직사각형 126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시야각 튜닝</a:t>
              </a:r>
            </a:p>
          </p:txBody>
        </p:sp>
        <p:sp>
          <p:nvSpPr>
            <p:cNvPr id="128" name="직사각형 127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Device Installer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6" name="직선 화살표 연결선 5"/>
          <p:cNvCxnSpPr>
            <a:stCxn id="100" idx="2"/>
            <a:endCxn id="127" idx="0"/>
          </p:cNvCxnSpPr>
          <p:nvPr/>
        </p:nvCxnSpPr>
        <p:spPr>
          <a:xfrm>
            <a:off x="2884368" y="4212801"/>
            <a:ext cx="0" cy="199834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1" name="그룹 180"/>
          <p:cNvGrpSpPr/>
          <p:nvPr/>
        </p:nvGrpSpPr>
        <p:grpSpPr>
          <a:xfrm>
            <a:off x="2108006" y="5108950"/>
            <a:ext cx="1552723" cy="495055"/>
            <a:chOff x="240907" y="2314376"/>
            <a:chExt cx="1552723" cy="495055"/>
          </a:xfrm>
        </p:grpSpPr>
        <p:sp>
          <p:nvSpPr>
            <p:cNvPr id="182" name="직사각형 181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작업 후 회수</a:t>
              </a:r>
            </a:p>
          </p:txBody>
        </p:sp>
        <p:sp>
          <p:nvSpPr>
            <p:cNvPr id="183" name="직사각형 182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8" name="직선 화살표 연결선 7"/>
          <p:cNvCxnSpPr>
            <a:stCxn id="128" idx="2"/>
            <a:endCxn id="182" idx="0"/>
          </p:cNvCxnSpPr>
          <p:nvPr/>
        </p:nvCxnSpPr>
        <p:spPr>
          <a:xfrm>
            <a:off x="2884368" y="4907690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9" name="그룹 188"/>
          <p:cNvGrpSpPr/>
          <p:nvPr/>
        </p:nvGrpSpPr>
        <p:grpSpPr>
          <a:xfrm>
            <a:off x="240907" y="3021431"/>
            <a:ext cx="1552723" cy="495055"/>
            <a:chOff x="240907" y="2314376"/>
            <a:chExt cx="1552723" cy="495055"/>
          </a:xfrm>
        </p:grpSpPr>
        <p:sp>
          <p:nvSpPr>
            <p:cNvPr id="192" name="직사각형 191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설치 및 사용 방법 숙지</a:t>
              </a:r>
            </a:p>
          </p:txBody>
        </p:sp>
        <p:sp>
          <p:nvSpPr>
            <p:cNvPr id="193" name="직사각형 192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97" name="그룹 196"/>
          <p:cNvGrpSpPr/>
          <p:nvPr/>
        </p:nvGrpSpPr>
        <p:grpSpPr>
          <a:xfrm>
            <a:off x="240907" y="3717746"/>
            <a:ext cx="1552723" cy="495055"/>
            <a:chOff x="240907" y="2314376"/>
            <a:chExt cx="1552723" cy="495055"/>
          </a:xfrm>
        </p:grpSpPr>
        <p:sp>
          <p:nvSpPr>
            <p:cNvPr id="198" name="직사각형 197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설치 및 착용</a:t>
              </a:r>
            </a:p>
          </p:txBody>
        </p:sp>
        <p:sp>
          <p:nvSpPr>
            <p:cNvPr id="199" name="직사각형 198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03" name="그룹 202"/>
          <p:cNvGrpSpPr/>
          <p:nvPr/>
        </p:nvGrpSpPr>
        <p:grpSpPr>
          <a:xfrm>
            <a:off x="240906" y="5108950"/>
            <a:ext cx="1552723" cy="495055"/>
            <a:chOff x="240907" y="2314376"/>
            <a:chExt cx="1552723" cy="495055"/>
          </a:xfrm>
        </p:grpSpPr>
        <p:sp>
          <p:nvSpPr>
            <p:cNvPr id="204" name="직사각형 203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작업 후 회수</a:t>
              </a:r>
            </a:p>
          </p:txBody>
        </p:sp>
        <p:sp>
          <p:nvSpPr>
            <p:cNvPr id="205" name="직사각형 204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2" name="직선 화살표 연결선 11"/>
          <p:cNvCxnSpPr>
            <a:stCxn id="72" idx="2"/>
            <a:endCxn id="192" idx="0"/>
          </p:cNvCxnSpPr>
          <p:nvPr/>
        </p:nvCxnSpPr>
        <p:spPr>
          <a:xfrm>
            <a:off x="1017269" y="2820171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193" idx="2"/>
            <a:endCxn id="198" idx="0"/>
          </p:cNvCxnSpPr>
          <p:nvPr/>
        </p:nvCxnSpPr>
        <p:spPr>
          <a:xfrm>
            <a:off x="1017269" y="3516486"/>
            <a:ext cx="0" cy="201260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199" idx="2"/>
            <a:endCxn id="204" idx="0"/>
          </p:cNvCxnSpPr>
          <p:nvPr/>
        </p:nvCxnSpPr>
        <p:spPr>
          <a:xfrm flipH="1">
            <a:off x="1017268" y="4212801"/>
            <a:ext cx="1" cy="896149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3975103" y="5108950"/>
            <a:ext cx="1552723" cy="495055"/>
            <a:chOff x="240907" y="2314376"/>
            <a:chExt cx="1552723" cy="495055"/>
          </a:xfrm>
        </p:grpSpPr>
        <p:sp>
          <p:nvSpPr>
            <p:cNvPr id="210" name="직사각형 209"/>
            <p:cNvSpPr/>
            <p:nvPr/>
          </p:nvSpPr>
          <p:spPr>
            <a:xfrm>
              <a:off x="240907" y="2314376"/>
              <a:ext cx="1552723" cy="3364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작업 후 회수</a:t>
              </a:r>
            </a:p>
          </p:txBody>
        </p:sp>
        <p:sp>
          <p:nvSpPr>
            <p:cNvPr id="211" name="직사각형 210"/>
            <p:cNvSpPr/>
            <p:nvPr/>
          </p:nvSpPr>
          <p:spPr>
            <a:xfrm>
              <a:off x="240907" y="2650863"/>
              <a:ext cx="1552723" cy="158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700" dirty="0">
                  <a:solidFill>
                    <a:prstClr val="black"/>
                  </a:solidFill>
                  <a:latin typeface="NanumBarunGothic" panose="020B0603020101020101" pitchFamily="34" charset="-127"/>
                  <a:ea typeface="NanumBarunGothic" panose="020B0603020101020101" pitchFamily="34" charset="-127"/>
                  <a:cs typeface="Arial" panose="020B0604020202020204" pitchFamily="34" charset="0"/>
                </a:rPr>
                <a:t>Offline</a:t>
              </a:r>
              <a:endParaRPr lang="ko-KR" altLang="en-US" sz="700" dirty="0">
                <a:solidFill>
                  <a:prstClr val="black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9" name="직선 화살표 연결선 18"/>
          <p:cNvCxnSpPr>
            <a:stCxn id="116" idx="2"/>
            <a:endCxn id="210" idx="0"/>
          </p:cNvCxnSpPr>
          <p:nvPr/>
        </p:nvCxnSpPr>
        <p:spPr>
          <a:xfrm>
            <a:off x="4751465" y="3516486"/>
            <a:ext cx="0" cy="1592464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980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205485" y="36675"/>
            <a:ext cx="2763898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Work Process</a:t>
            </a:r>
          </a:p>
          <a:p>
            <a:r>
              <a:rPr lang="en-US" altLang="ko-KR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Device </a:t>
            </a:r>
            <a:r>
              <a:rPr lang="ko-KR" altLang="en-US">
                <a:latin typeface="NanumBarunGothic" panose="020B0603020101020101" pitchFamily="34" charset="-127"/>
                <a:ea typeface="NanumBarunGothic" panose="020B0603020101020101" pitchFamily="34" charset="-127"/>
              </a:rPr>
              <a:t>유지보수 </a:t>
            </a:r>
            <a:r>
              <a:rPr lang="en-US" altLang="ko-KR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lang="ko-KR" altLang="en-US">
                <a:latin typeface="NanumBarunGothic" panose="020B0603020101020101" pitchFamily="34" charset="-127"/>
                <a:ea typeface="NanumBarunGothic" panose="020B0603020101020101" pitchFamily="34" charset="-127"/>
              </a:rPr>
              <a:t>고려사항</a:t>
            </a:r>
            <a:endParaRPr lang="en-US" altLang="ko-KR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6434" y="921668"/>
            <a:ext cx="9500043" cy="48243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유지보수 방법</a:t>
            </a:r>
            <a:endParaRPr lang="en-US" altLang="ko-KR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AP 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충전 방식 확인 필요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충전지 교체가 가능한지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  <a:endParaRPr lang="en-US" altLang="ko-KR" sz="1200" dirty="0">
              <a:solidFill>
                <a:srgbClr val="FF0000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AP</a:t>
            </a:r>
            <a:r>
              <a:rPr lang="ko-KR" altLang="en-US" sz="1200" dirty="0" err="1">
                <a:latin typeface="NanumBarunGothic" panose="020B0603020101020101" pitchFamily="34" charset="-127"/>
                <a:ea typeface="NanumBarunGothic" panose="020B0603020101020101" pitchFamily="34" charset="-127"/>
              </a:rPr>
              <a:t>를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 현장에서 충전이 용이한지 검토 필요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배터리가 낮은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AP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의 교체여부 검토 필요</a:t>
            </a:r>
            <a:endParaRPr lang="en-US" altLang="ko-KR" sz="1200" dirty="0">
              <a:solidFill>
                <a:srgbClr val="FF0000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AP 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배포 시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여유분 확보 필요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배터리 없음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고장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분실로 인한 교체하는 상황이 발생하기 때문에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작업자가 착용하는 디바이스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태그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밴드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에 대한 일일 충전 관리 시스템 필요</a:t>
            </a:r>
            <a:endParaRPr lang="en-US" altLang="ko-KR" sz="1200" dirty="0">
              <a:solidFill>
                <a:srgbClr val="FF0000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circleNumDbPlain"/>
            </a:pPr>
            <a:endParaRPr lang="en-US" altLang="ko-KR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작업 프로세스</a:t>
            </a:r>
            <a:endParaRPr lang="en-US" altLang="ko-KR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유지보수를 지시하고 수행하는 담당자 결정 필요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건설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IT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사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Device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운용 대행사 등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알림 로직</a:t>
            </a:r>
            <a:endParaRPr lang="en-US" altLang="ko-KR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작업자가 착용하는 디바이스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태그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 디바이스가 고장이라는 판단을 사람이 할지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시스템이 할지 결정 필요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디바이스가 고장이라는 판단을 사람이 할 경우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디바이스가 송신하는 데이터를 비교 확인할 수 있는 그래프 필요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디바이스가 고장이라는 판단을 시스템이 할 경우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고장에 대한 규칙 엔진 필요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신호가 설정 값에서 일정 범위를 벗어날 경우 알림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디바이스의 배터리가 없을 경우와 분실되었을 경우를 구분할 수 없음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시스템은 동일하게 판단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시스템이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AP 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분실을 판단할 수 있는지 확인 필요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(AP 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위치 이동 시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분실로 판단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3240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317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 sz="700" dirty="0" smtClean="0">
            <a:solidFill>
              <a:schemeClr val="tx1"/>
            </a:solidFill>
            <a:latin typeface="나눔바른고딕" panose="020B0603020101020101" pitchFamily="50" charset="-127"/>
            <a:ea typeface="나눔바른고딕" panose="020B060302010102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>
              <a:lumMod val="50000"/>
              <a:lumOff val="50000"/>
            </a:schemeClr>
          </a:solidFill>
          <a:prstDash val="solid"/>
          <a:headEnd type="none" w="med" len="med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700" smtClean="0">
            <a:latin typeface="나눔바른고딕" panose="020B0603020101020101" pitchFamily="50" charset="-127"/>
            <a:ea typeface="나눔바른고딕" panose="020B0603020101020101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1646</Words>
  <Application>Microsoft Office PowerPoint</Application>
  <PresentationFormat>A4 용지(210x297mm)</PresentationFormat>
  <Paragraphs>474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NanumBarunGothic</vt:lpstr>
      <vt:lpstr>나눔바른고딕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2023-06-20T12:49:52Z</dcterms:created>
  <dcterms:modified xsi:type="dcterms:W3CDTF">2023-06-20T12:50:39Z</dcterms:modified>
</cp:coreProperties>
</file>